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9" r:id="rId4"/>
    <p:sldId id="258" r:id="rId5"/>
    <p:sldId id="260" r:id="rId6"/>
    <p:sldId id="280" r:id="rId31"/>
    <p:sldId id="25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555"/>
    <p:restoredTop sz="94653"/>
  </p:normalViewPr>
  <p:slideViewPr>
    <p:cSldViewPr snapToGrid="0" snapToObjects="1">
      <p:cViewPr varScale="1">
        <p:scale>
          <a:sx n="151" d="100"/>
          <a:sy n="151" d="100"/>
        </p:scale>
        <p:origin x="44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38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research question. Explain that this is a project overview: the biology, model idea, data, and test plan are ready to discuss, while results are intentionally not shown in this draft.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only need one idea here: accessible DNA is easier for the Tn5 enzyme to reach. ATAC-seq turns those accessible regions into measurable DNA fragments.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12DD8-8C61-74A6-2199-7713531FB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BE5DC-169C-7CB8-CBA3-775118CD8FF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DB38B9-B799-94F5-54BB-353341F5981B}"/>
              </a:ext>
            </a:extLst>
          </p:cNvPr>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a:extLst>
              <a:ext uri="{FF2B5EF4-FFF2-40B4-BE49-F238E27FC236}">
                <a16:creationId xmlns:a16="http://schemas.microsoft.com/office/drawing/2014/main" id="{A2C9769A-C013-685B-50C9-7C7E1B5F0FE2}"/>
              </a:ext>
            </a:extLst>
          </p:cNvPr>
          <p:cNvSpPr>
            <a:spLocks noGrp="1"/>
          </p:cNvSpPr>
          <p:nvPr>
            <p:ph type="sldNum" sz="quarter" idx="5"/>
          </p:nvPr>
        </p:nvSpPr>
        <p:spPr/>
      </p:sp>
    </p:spTree>
    <p:extLst>
      <p:ext uri="{BB962C8B-B14F-4D97-AF65-F5344CB8AC3E}">
        <p14:creationId xmlns:p14="http://schemas.microsoft.com/office/powerpoint/2010/main" val="3541389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uses only two cell types. Read the T-cell reference above the B-cell reference, then compare both with the unknown spot's observed ATAC peak-count profile. The teaching counts are T = [10, 2, 8, 4], B = [2, 10, 4, 8], and mixed = [8, 4, 7, 5]. At every peak, the mixed profile equals 0.75 times the T reference plus 0.25 times the B reference. The three profiles all total 24 cut sites, so the example isolates composition rather than sequencing depth. Real data fluctuate, so a fitted reconstruction is usually approximate.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spatial spot is like a collection bucket placed over a tiny region of tissue. It keeps the location, but it may mix fragments from several cell types. The task is to estimate the ingredients of that mixture.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establishes the common setup before comparing individual methods. A labeled single-cell reference becomes a cell-type-by-peak fingerprint. The spatial measurement becomes one total count per peak. The algorithms differ in how they fit the mixture, but this transferred-ATAC setup usually discards the parent-fragment length before inference starts.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NNLS and SpatialDWLS are linear mixture methods; SpatialDWLS adds feature selection and weights. RCTD and cell2location write probabilistic count-generating models. Tangram optimizes a mapping from single cells to space, while DestVI uses a deep generative latent-variable model. These categories are simplified for teaching. In the published spatial-ATAC benchmark, peaks were substituted for genes, so these methods still used peak totals rather than parent-fragment shape.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project’s central idea. Each panel shows 12 fragments, and this conceptual example assigns both Tn5 cut sites from every fragment to the same peak, for 24 cut sites total. Cell type A allocates those cuts 14 short, 6 middle, and 4 long; cell type B allocates them 4 short, 8 middle, and 12 long. Ordinary deconvolution keeps only the total. ShapeMix also records the parent-fragment length pattern. The biological labels for bins are useful approximations, not perfect one-to-one assignments.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Bayesian does not mean guessing. The model first states a forward scientific story: a hidden recipe produces expected ATAC signals, and measurements fluctuate around them. Inference runs that story backward. The prior rules out impossible negative amounts and discourages unsupported extremes; the likelihood lets the observed data update the answer. ShapeMix's MVP summarizes the posterior by its highest point, called MAP.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 is the only unknown shown here. A is the learned mean peak count per training-reference cell type. Omega is the learned length-bin distribution for that type and peak. The model multiplies amount by accessibility to predict the total, and uses omega to predict how that total should be divided among short, middle, and long parent-fragment bins. The output z is depth-scaled effective abundance, not a calibrated nucleus count.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negative binomial is a probability model for noisy counts. It allows variance greater than the mean, which is common in sequencing data. The multinomial is like dividing a fixed number of colored marbles among three boxes. Conditioning on N means ShapeMix's extra term scores only the length composition. If there is just one bin, or every cell type has the same shape fingerprint, this extra term contributes no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ShapeMix performs MAP inference: it searches for the mixture with the largest posterior density. The count likelihood, shape likelihood, and Gamma prior are added on the log scale. The Gamma prior is defined only for positive amounts and discourages unsupported extremes. Optimization begins from a nonnegative least-squares solution, uses z = exp(raw) + 1e-8 to keep abundance positive, and runs Adam from three deterministic restarts. The best finite converged full objective is selected. This numerical search reduces but cannot eliminate the risk of a local maximum. It is not full posterior sampling, so the MVP does not report credible intervals.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math verbal unless someone asks. ShapeMix learns reference fingerprints, reads a mixed spot, tries possible combinations, and chooses the mixture that best explains both the total counts and the length composition. MAP means choosing the most supported values after combining the data with a reasonable prior.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strongest part of the experimental design. If the models differ, it should be because ShapeMix saw fragment-length composition—not because it got different cells, peaks, or extra computing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PBMC means peripheral blood mononuclear cell. This dataset contains many related immune types, so it is a useful challenge. Simulated spots are essential because we know exactly which cells were mixed together. The one-donor limitation will be stated clearly.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each dataset has a different role. Simulations can provide exact composition truth. Physical dilutions provide planned mixing ratios. Real tissues need indirect checks using anatomy or other molecular measurements.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colored bars make the metrics intuitive: the model should reproduce the known recipe. RMSE looks at individual proportion errors; JSD compares the full mixture. Rare-cell F1 asks whether uncommon populations are detected without too many false alarms.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Science does not require the hypothesis to win. If ShapeMix ties or loses, that still tells us that this particular fragment representation did not justify its complexity under the tested conditions.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limitations do not invalidate a project; they define what can be concluded. The biggest limitation is that the first benchmark uses one donor, so it cannot establish broad biological generalization by itself.</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explicit with the audience: this is not a results talk. When results are ready, add the actual comparison, uncertainty, controls, and limitations rather than showing placeholder charts that could be mistaken for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returning to the one-sentence question. The project is not trying to prove that a more complicated model must win; it is testing whether a specific ATAC-native clue adds measurable value.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if the audience asks about biological terms, datasets, or method sources. The algorithm papers are grouped compactly; full links and citations are in the repository proposal.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appendix slide separates the model from the inference method. ShapeMix is Bayesian because it combines likelihoods with a prior. Its inference method is MAP optimization, which reports one best-supported point rather than sampling the full posterior. Negative binomial models total-count noise; multinomial models how a fixed total is divided among the three parent-fragment length bins.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58368" y="502920"/>
            <a:ext cx="2999232"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PROJECT OVERVIEW • RESULTS-FREE DRAFT</a:t>
            </a:r>
          </a:p>
        </p:txBody>
      </p:sp>
      <p:sp>
        <p:nvSpPr>
          <p:cNvPr id="3" name="TextBox 2"/>
          <p:cNvSpPr txBox="1"/>
          <p:nvPr/>
        </p:nvSpPr>
        <p:spPr>
          <a:xfrm>
            <a:off x="658368" y="1170432"/>
            <a:ext cx="6583680" cy="731520"/>
          </a:xfrm>
          <a:prstGeom prst="rect">
            <a:avLst/>
          </a:prstGeom>
          <a:noFill/>
        </p:spPr>
        <p:txBody>
          <a:bodyPr wrap="square" lIns="36576" tIns="36576" rIns="36576" bIns="36576" anchor="t">
            <a:spAutoFit/>
          </a:bodyPr>
          <a:lstStyle/>
          <a:p>
            <a:pPr algn="l">
              <a:spcBef>
                <a:spcPts val="0"/>
              </a:spcBef>
              <a:spcAft>
                <a:spcPts val="0"/>
              </a:spcAft>
            </a:pPr>
            <a:r>
              <a:rPr sz="4000" b="1" i="0">
                <a:solidFill>
                  <a:srgbClr val="FFFFFF"/>
                </a:solidFill>
                <a:latin typeface="Aptos Display"/>
              </a:rPr>
              <a:t>ShapeMix-ATAC</a:t>
            </a:r>
          </a:p>
        </p:txBody>
      </p:sp>
      <p:sp>
        <p:nvSpPr>
          <p:cNvPr id="4" name="TextBox 3"/>
          <p:cNvSpPr txBox="1"/>
          <p:nvPr/>
        </p:nvSpPr>
        <p:spPr>
          <a:xfrm>
            <a:off x="676656" y="1975104"/>
            <a:ext cx="5943600" cy="987552"/>
          </a:xfrm>
          <a:prstGeom prst="rect">
            <a:avLst/>
          </a:prstGeom>
          <a:noFill/>
        </p:spPr>
        <p:txBody>
          <a:bodyPr wrap="square" lIns="36576" tIns="36576" rIns="36576" bIns="36576" anchor="t">
            <a:spAutoFit/>
          </a:bodyPr>
          <a:lstStyle/>
          <a:p>
            <a:pPr algn="l">
              <a:spcBef>
                <a:spcPts val="0"/>
              </a:spcBef>
              <a:spcAft>
                <a:spcPts val="0"/>
              </a:spcAft>
            </a:pPr>
            <a:r>
              <a:rPr sz="2600" b="0" i="0">
                <a:solidFill>
                  <a:srgbClr val="D7E2EE"/>
                </a:solidFill>
                <a:latin typeface="Aptos Display"/>
              </a:rPr>
              <a:t>Can fragment shape help us unmix spatial chromatin data?</a:t>
            </a:r>
          </a:p>
        </p:txBody>
      </p:sp>
      <p:sp>
        <p:nvSpPr>
          <p:cNvPr id="5" name="TextBox 4"/>
          <p:cNvSpPr txBox="1"/>
          <p:nvPr/>
        </p:nvSpPr>
        <p:spPr>
          <a:xfrm>
            <a:off x="694944" y="5980176"/>
            <a:ext cx="5394960" cy="320040"/>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D7E2EE"/>
                </a:solidFill>
                <a:latin typeface="Aptos"/>
              </a:rPr>
              <a:t>Andy Zhuang  •  High School Science Research</a:t>
            </a:r>
          </a:p>
        </p:txBody>
      </p:sp>
      <p:sp>
        <p:nvSpPr>
          <p:cNvPr id="6" name="Oval 5"/>
          <p:cNvSpPr/>
          <p:nvPr/>
        </p:nvSpPr>
        <p:spPr>
          <a:xfrm>
            <a:off x="7818120" y="941832"/>
            <a:ext cx="3154680" cy="315468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47888" y="1417320"/>
            <a:ext cx="658368" cy="65836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471733" y="1627997"/>
            <a:ext cx="197510" cy="197510"/>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17152" y="1197864"/>
            <a:ext cx="585216" cy="585216"/>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416125" y="1385133"/>
            <a:ext cx="175564" cy="17556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857232" y="1856231"/>
            <a:ext cx="749808" cy="74980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112166" y="2096170"/>
            <a:ext cx="224942" cy="224942"/>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759952" y="2240280"/>
            <a:ext cx="841248" cy="84124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045976" y="2509479"/>
            <a:ext cx="252374" cy="25237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183879" y="2788920"/>
            <a:ext cx="603504" cy="60350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89071" y="2982041"/>
            <a:ext cx="181051" cy="18105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692640" y="2898648"/>
            <a:ext cx="640080" cy="64008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910267" y="3103473"/>
            <a:ext cx="192024" cy="19202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833104" y="3401568"/>
            <a:ext cx="566928" cy="56692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025859" y="3582984"/>
            <a:ext cx="170078" cy="17007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28431" y="4242816"/>
            <a:ext cx="2743200" cy="320040"/>
          </a:xfrm>
          <a:prstGeom prst="rect">
            <a:avLst/>
          </a:prstGeom>
          <a:noFill/>
        </p:spPr>
        <p:txBody>
          <a:bodyPr wrap="square" lIns="36576" tIns="36576" rIns="36576" bIns="36576" anchor="t">
            <a:spAutoFit/>
          </a:bodyPr>
          <a:lstStyle/>
          <a:p>
            <a:pPr algn="ctr">
              <a:spcBef>
                <a:spcPts val="0"/>
              </a:spcBef>
              <a:spcAft>
                <a:spcPts val="0"/>
              </a:spcAft>
            </a:pPr>
            <a:r>
              <a:rPr sz="1400" b="1" i="0">
                <a:solidFill>
                  <a:srgbClr val="D7E2EE"/>
                </a:solidFill>
                <a:latin typeface="Aptos"/>
              </a:rPr>
              <a:t>mixed spatial spot</a:t>
            </a:r>
          </a:p>
        </p:txBody>
      </p:sp>
      <p:cxnSp>
        <p:nvCxnSpPr>
          <p:cNvPr id="22" name="Connector 21"/>
          <p:cNvCxnSpPr/>
          <p:nvPr/>
        </p:nvCxnSpPr>
        <p:spPr>
          <a:xfrm>
            <a:off x="7936992" y="4965192"/>
            <a:ext cx="5029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369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399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77072" y="5221224"/>
            <a:ext cx="868679"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7707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445751"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17152" y="4965192"/>
            <a:ext cx="384048"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1715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01200"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57232" y="5221224"/>
            <a:ext cx="1152144"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5723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009376"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497312" y="4965192"/>
            <a:ext cx="64008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4973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1373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BIOLOGY BACKGROUND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Chromatin controls which DNA instructions can be used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02</a:t>
            </a:r>
          </a:p>
        </p:txBody>
      </p:sp>
      <p:sp>
        <p:nvSpPr>
          <p:cNvPr id="5" name="Rounded Rectangle 4"/>
          <p:cNvSpPr/>
          <p:nvPr/>
        </p:nvSpPr>
        <p:spPr>
          <a:xfrm>
            <a:off x="621792" y="1243584"/>
            <a:ext cx="3236976" cy="4553712"/>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572768"/>
            <a:ext cx="2697480" cy="47548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Same DNA, different cells</a:t>
            </a:r>
          </a:p>
        </p:txBody>
      </p:sp>
      <p:sp>
        <p:nvSpPr>
          <p:cNvPr id="7" name="TextBox 6"/>
          <p:cNvSpPr txBox="1"/>
          <p:nvPr/>
        </p:nvSpPr>
        <p:spPr>
          <a:xfrm>
            <a:off x="896112" y="2267712"/>
            <a:ext cx="2670048" cy="2414016"/>
          </a:xfrm>
          <a:prstGeom prst="rect">
            <a:avLst/>
          </a:prstGeom>
          <a:noFill/>
        </p:spPr>
        <p:txBody>
          <a:bodyPr wrap="square" lIns="36576" tIns="18288" rIns="18288" bIns="18288">
            <a:spAutoFit/>
          </a:bodyPr>
          <a:lstStyle/>
          <a:p>
            <a:pPr algn="l">
              <a:lnSpc>
                <a:spcPct val="105000"/>
              </a:lnSpc>
              <a:spcAft>
                <a:spcPts val="800"/>
              </a:spcAft>
            </a:pPr>
            <a:r>
              <a:rPr sz="1750" b="1">
                <a:solidFill>
                  <a:srgbClr val="18A999"/>
                </a:solidFill>
                <a:latin typeface="Aptos"/>
              </a:rPr>
              <a:t>•  </a:t>
            </a:r>
            <a:r>
              <a:rPr sz="1750">
                <a:solidFill>
                  <a:srgbClr val="213047"/>
                </a:solidFill>
                <a:latin typeface="Aptos"/>
              </a:rPr>
              <a:t>Most cells contain nearly the same genome.</a:t>
            </a:r>
          </a:p>
          <a:p>
            <a:pPr algn="l">
              <a:lnSpc>
                <a:spcPct val="105000"/>
              </a:lnSpc>
              <a:spcAft>
                <a:spcPts val="800"/>
              </a:spcAft>
            </a:pPr>
            <a:r>
              <a:rPr sz="1750" b="1">
                <a:solidFill>
                  <a:srgbClr val="18A999"/>
                </a:solidFill>
                <a:latin typeface="Aptos"/>
              </a:rPr>
              <a:t>•  </a:t>
            </a:r>
            <a:r>
              <a:rPr sz="1750">
                <a:solidFill>
                  <a:srgbClr val="213047"/>
                </a:solidFill>
                <a:latin typeface="Aptos"/>
              </a:rPr>
              <a:t>Cell types differ in which DNA regions are open and active.</a:t>
            </a:r>
          </a:p>
          <a:p>
            <a:pPr algn="l">
              <a:lnSpc>
                <a:spcPct val="105000"/>
              </a:lnSpc>
              <a:spcAft>
                <a:spcPts val="800"/>
              </a:spcAft>
            </a:pPr>
            <a:r>
              <a:rPr sz="1750" b="1">
                <a:solidFill>
                  <a:srgbClr val="18A999"/>
                </a:solidFill>
                <a:latin typeface="Aptos"/>
              </a:rPr>
              <a:t>•  </a:t>
            </a:r>
            <a:r>
              <a:rPr sz="1750">
                <a:solidFill>
                  <a:srgbClr val="213047"/>
                </a:solidFill>
                <a:latin typeface="Aptos"/>
              </a:rPr>
              <a:t>Those open regions help reveal cell identity and state.</a:t>
            </a:r>
          </a:p>
        </p:txBody>
      </p:sp>
      <p:sp>
        <p:nvSpPr>
          <p:cNvPr id="8" name="Rounded Rectangle 7"/>
          <p:cNvSpPr/>
          <p:nvPr/>
        </p:nvSpPr>
        <p:spPr>
          <a:xfrm>
            <a:off x="969264" y="5084064"/>
            <a:ext cx="2514600" cy="38404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CHROMATIN = DNA + PACKAGING</a:t>
            </a:r>
          </a:p>
        </p:txBody>
      </p:sp>
      <p:sp>
        <p:nvSpPr>
          <p:cNvPr id="9" name="TextBox 8"/>
          <p:cNvSpPr txBox="1"/>
          <p:nvPr/>
        </p:nvSpPr>
        <p:spPr>
          <a:xfrm>
            <a:off x="4416552"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52627A"/>
                </a:solidFill>
                <a:latin typeface="Aptos"/>
              </a:rPr>
              <a:t>CLOSED</a:t>
            </a:r>
          </a:p>
        </p:txBody>
      </p:sp>
      <p:sp>
        <p:nvSpPr>
          <p:cNvPr id="10" name="TextBox 9"/>
          <p:cNvSpPr txBox="1"/>
          <p:nvPr/>
        </p:nvSpPr>
        <p:spPr>
          <a:xfrm>
            <a:off x="8375904"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0C7F75"/>
                </a:solidFill>
                <a:latin typeface="Aptos"/>
              </a:rPr>
              <a:t>OPEN</a:t>
            </a:r>
          </a:p>
        </p:txBody>
      </p:sp>
      <p:sp>
        <p:nvSpPr>
          <p:cNvPr id="11" name="Rounded Rectangle 10"/>
          <p:cNvSpPr/>
          <p:nvPr/>
        </p:nvSpPr>
        <p:spPr>
          <a:xfrm>
            <a:off x="4151376" y="1673352"/>
            <a:ext cx="3044952" cy="315468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074152" y="1673352"/>
            <a:ext cx="3044952" cy="31546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471416" y="2240280"/>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074920" y="2368296"/>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678424" y="2240280"/>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281927" y="2368296"/>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471416" y="2898648"/>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074920" y="3026664"/>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678424" y="2898648"/>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4407408" y="2468880"/>
            <a:ext cx="2468880" cy="932688"/>
          </a:xfrm>
          <a:prstGeom prst="line">
            <a:avLst/>
          </a:prstGeom>
          <a:ln w="381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407408" y="2468880"/>
            <a:ext cx="2468880" cy="932688"/>
          </a:xfrm>
          <a:prstGeom prst="line">
            <a:avLst/>
          </a:prstGeom>
          <a:ln w="381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94192" y="2176272"/>
            <a:ext cx="2395728" cy="1133856"/>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558784" y="306324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26880" y="269748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076688" y="2340864"/>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570464" y="210312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17152" y="3566160"/>
            <a:ext cx="713232" cy="34747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200" b="1">
                <a:solidFill>
                  <a:srgbClr val="FFFFFF"/>
                </a:solidFill>
                <a:latin typeface="Aptos"/>
              </a:rPr>
              <a:t>Tn5</a:t>
            </a:r>
          </a:p>
        </p:txBody>
      </p:sp>
      <p:cxnSp>
        <p:nvCxnSpPr>
          <p:cNvPr id="28" name="Connector 27"/>
          <p:cNvCxnSpPr/>
          <p:nvPr/>
        </p:nvCxnSpPr>
        <p:spPr>
          <a:xfrm flipH="1" flipV="1">
            <a:off x="9162288" y="3200400"/>
            <a:ext cx="146304" cy="374904"/>
          </a:xfrm>
          <a:prstGeom prst="line">
            <a:avLst/>
          </a:prstGeom>
          <a:ln w="228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829800" y="2862072"/>
            <a:ext cx="118872" cy="713232"/>
          </a:xfrm>
          <a:prstGeom prst="line">
            <a:avLst/>
          </a:prstGeom>
          <a:ln w="22860">
            <a:solidFill>
              <a:srgbClr val="F26B5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08576" y="5129784"/>
            <a:ext cx="6236208" cy="53035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ATAC-seq uses Tn5 to cut and tag accessible DNA.</a:t>
            </a:r>
          </a:p>
        </p:txBody>
      </p:sp>
      <p:cxnSp>
        <p:nvCxnSpPr>
          <p:cNvPr id="31" name="Connector 3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Buenrostro et al., Nature Methods (2013). Diagram is conceptual.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60C7F-6AE1-1004-55FD-847F5D2539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A2674A-80BD-044C-9C7E-BF393F27F6C3}"/>
              </a:ext>
            </a:extLst>
          </p:cNvPr>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a:extLst>
              <a:ext uri="{FF2B5EF4-FFF2-40B4-BE49-F238E27FC236}">
                <a16:creationId xmlns:a16="http://schemas.microsoft.com/office/drawing/2014/main" id="{17658337-BA12-BAE2-E36B-9D805A60949C}"/>
              </a:ext>
            </a:extLst>
          </p:cNvPr>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a:extLst>
              <a:ext uri="{FF2B5EF4-FFF2-40B4-BE49-F238E27FC236}">
                <a16:creationId xmlns:a16="http://schemas.microsoft.com/office/drawing/2014/main" id="{233C0275-F834-D744-CE47-93B7FDFDA5A0}"/>
              </a:ext>
            </a:extLst>
          </p:cNvPr>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a:extLst>
              <a:ext uri="{FF2B5EF4-FFF2-40B4-BE49-F238E27FC236}">
                <a16:creationId xmlns:a16="http://schemas.microsoft.com/office/drawing/2014/main" id="{53C56D46-FDC9-199C-0A81-0EE284AD4798}"/>
              </a:ext>
            </a:extLst>
          </p:cNvPr>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a:extLst>
              <a:ext uri="{FF2B5EF4-FFF2-40B4-BE49-F238E27FC236}">
                <a16:creationId xmlns:a16="http://schemas.microsoft.com/office/drawing/2014/main" id="{1A859F15-D3E7-C240-E80C-53FC5D81EF6C}"/>
              </a:ext>
            </a:extLst>
          </p:cNvPr>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D08A94D4-4E5F-90CB-0841-A6CB4F81BBDA}"/>
              </a:ext>
            </a:extLst>
          </p:cNvPr>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AB7FE0FD-DE21-7B01-03E8-8EEDE3EDA26B}"/>
              </a:ext>
            </a:extLst>
          </p:cNvPr>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FA2E7867-6775-E1B2-9746-B4EF8545DE95}"/>
              </a:ext>
            </a:extLst>
          </p:cNvPr>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8597FA12-7231-5EDC-3EFC-84019F56B5D3}"/>
              </a:ext>
            </a:extLst>
          </p:cNvPr>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522FECF9-9C6A-7613-4C7D-8A68589C5A5D}"/>
              </a:ext>
            </a:extLst>
          </p:cNvPr>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D574A7A3-CDC0-E6A5-C030-AAC500F615DB}"/>
              </a:ext>
            </a:extLst>
          </p:cNvPr>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991C4FA9-7746-639E-56B1-EA721CA2F602}"/>
              </a:ext>
            </a:extLst>
          </p:cNvPr>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741A3C4A-EB2E-31DA-D68D-3723680DF263}"/>
              </a:ext>
            </a:extLst>
          </p:cNvPr>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22A00206-61CB-C9C3-6225-CBB3CA6AEA71}"/>
              </a:ext>
            </a:extLst>
          </p:cNvPr>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78A23D8-DC88-68A7-50A5-C520C0A0EA50}"/>
              </a:ext>
            </a:extLst>
          </p:cNvPr>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a:extLst>
              <a:ext uri="{FF2B5EF4-FFF2-40B4-BE49-F238E27FC236}">
                <a16:creationId xmlns:a16="http://schemas.microsoft.com/office/drawing/2014/main" id="{546BDB9B-BF9C-C6C3-DD51-07800309784E}"/>
              </a:ext>
            </a:extLst>
          </p:cNvPr>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a:extLst>
              <a:ext uri="{FF2B5EF4-FFF2-40B4-BE49-F238E27FC236}">
                <a16:creationId xmlns:a16="http://schemas.microsoft.com/office/drawing/2014/main" id="{C618D045-C90F-6271-10F7-9A1300CBF63A}"/>
              </a:ext>
            </a:extLst>
          </p:cNvPr>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8F745C71-21CC-AC56-6F8F-27E7347615AE}"/>
              </a:ext>
            </a:extLst>
          </p:cNvPr>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48AEB723-FEDA-32CF-A740-283E5F7BD1B6}"/>
              </a:ext>
            </a:extLst>
          </p:cNvPr>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a:extLst>
              <a:ext uri="{FF2B5EF4-FFF2-40B4-BE49-F238E27FC236}">
                <a16:creationId xmlns:a16="http://schemas.microsoft.com/office/drawing/2014/main" id="{F90D84A8-020D-74EE-0937-185AD656C14A}"/>
              </a:ext>
            </a:extLst>
          </p:cNvPr>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a:extLst>
              <a:ext uri="{FF2B5EF4-FFF2-40B4-BE49-F238E27FC236}">
                <a16:creationId xmlns:a16="http://schemas.microsoft.com/office/drawing/2014/main" id="{2585F334-81B2-7400-32E9-FE9019100DB4}"/>
              </a:ext>
            </a:extLst>
          </p:cNvPr>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a:extLst>
              <a:ext uri="{FF2B5EF4-FFF2-40B4-BE49-F238E27FC236}">
                <a16:creationId xmlns:a16="http://schemas.microsoft.com/office/drawing/2014/main" id="{9AFDEFBE-29A0-A58B-5251-8B49F5E87031}"/>
              </a:ext>
            </a:extLst>
          </p:cNvPr>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a:extLst>
              <a:ext uri="{FF2B5EF4-FFF2-40B4-BE49-F238E27FC236}">
                <a16:creationId xmlns:a16="http://schemas.microsoft.com/office/drawing/2014/main" id="{57A7DC97-5057-D6E4-BB9E-95943F4D484A}"/>
              </a:ext>
            </a:extLst>
          </p:cNvPr>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D2D10061-886D-6A4A-6450-FC98AA76DFBD}"/>
              </a:ext>
            </a:extLst>
          </p:cNvPr>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0B3DAA40-5B63-9CD0-5FAD-45843D93116C}"/>
              </a:ext>
            </a:extLst>
          </p:cNvPr>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a:extLst>
              <a:ext uri="{FF2B5EF4-FFF2-40B4-BE49-F238E27FC236}">
                <a16:creationId xmlns:a16="http://schemas.microsoft.com/office/drawing/2014/main" id="{D6517473-51F9-4117-19DD-D7F8C48044DD}"/>
              </a:ext>
            </a:extLst>
          </p:cNvPr>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a:extLst>
              <a:ext uri="{FF2B5EF4-FFF2-40B4-BE49-F238E27FC236}">
                <a16:creationId xmlns:a16="http://schemas.microsoft.com/office/drawing/2014/main" id="{BB9ADBF0-F617-C459-925B-CB68DB9B9CE1}"/>
              </a:ext>
            </a:extLst>
          </p:cNvPr>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a:extLst>
              <a:ext uri="{FF2B5EF4-FFF2-40B4-BE49-F238E27FC236}">
                <a16:creationId xmlns:a16="http://schemas.microsoft.com/office/drawing/2014/main" id="{F001C68D-28BD-EB11-CBF6-D83430C226CA}"/>
              </a:ext>
            </a:extLst>
          </p:cNvPr>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a:extLst>
              <a:ext uri="{FF2B5EF4-FFF2-40B4-BE49-F238E27FC236}">
                <a16:creationId xmlns:a16="http://schemas.microsoft.com/office/drawing/2014/main" id="{6CEAD696-EA7B-2246-547A-B48B35F5D250}"/>
              </a:ext>
            </a:extLst>
          </p:cNvPr>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030E1115-13B5-58FF-FB53-823DB4BBE692}"/>
              </a:ext>
            </a:extLst>
          </p:cNvPr>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a:extLst>
              <a:ext uri="{FF2B5EF4-FFF2-40B4-BE49-F238E27FC236}">
                <a16:creationId xmlns:a16="http://schemas.microsoft.com/office/drawing/2014/main" id="{A9D4B1B3-6BDA-E8F5-0CB9-F4B7CB10DF6B}"/>
              </a:ext>
            </a:extLst>
          </p:cNvPr>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6A2F77A1-DC61-61E8-DE06-369121DA9A2F}"/>
              </a:ext>
            </a:extLst>
          </p:cNvPr>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a:extLst>
              <a:ext uri="{FF2B5EF4-FFF2-40B4-BE49-F238E27FC236}">
                <a16:creationId xmlns:a16="http://schemas.microsoft.com/office/drawing/2014/main" id="{65E1E8FB-BCB2-DCE0-C43E-D5007AC2E7C1}"/>
              </a:ext>
            </a:extLst>
          </p:cNvPr>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309C70EE-9146-50D8-942B-FEE28287EC17}"/>
              </a:ext>
            </a:extLst>
          </p:cNvPr>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a:extLst>
              <a:ext uri="{FF2B5EF4-FFF2-40B4-BE49-F238E27FC236}">
                <a16:creationId xmlns:a16="http://schemas.microsoft.com/office/drawing/2014/main" id="{11F52A8E-0647-9612-CF47-A7FE1E0D6762}"/>
              </a:ext>
            </a:extLst>
          </p:cNvPr>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57DB5DDF-7FB3-5773-2396-DA7B85C1743E}"/>
              </a:ext>
            </a:extLst>
          </p:cNvPr>
          <p:cNvGrpSpPr/>
          <p:nvPr/>
        </p:nvGrpSpPr>
        <p:grpSpPr>
          <a:xfrm>
            <a:off x="10671413" y="1888053"/>
            <a:ext cx="639348" cy="521573"/>
            <a:chOff x="10671413" y="1888053"/>
            <a:chExt cx="639348" cy="521573"/>
          </a:xfrm>
        </p:grpSpPr>
        <p:sp>
          <p:nvSpPr>
            <p:cNvPr id="43" name="Oval 42">
              <a:extLst>
                <a:ext uri="{FF2B5EF4-FFF2-40B4-BE49-F238E27FC236}">
                  <a16:creationId xmlns:a16="http://schemas.microsoft.com/office/drawing/2014/main" id="{7438E768-8D33-C65D-67AC-B7B53229A135}"/>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a:extLst>
                <a:ext uri="{FF2B5EF4-FFF2-40B4-BE49-F238E27FC236}">
                  <a16:creationId xmlns:a16="http://schemas.microsoft.com/office/drawing/2014/main" id="{911236D6-ADD8-B5E5-5451-E5D346D66146}"/>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8C335C3A-9365-E066-729F-278362DD9D16}"/>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a:extLst>
                <a:ext uri="{FF2B5EF4-FFF2-40B4-BE49-F238E27FC236}">
                  <a16:creationId xmlns:a16="http://schemas.microsoft.com/office/drawing/2014/main" id="{BE4BC0D0-CB0A-BCC1-200B-BB55B6DB6A6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a:extLst>
                <a:ext uri="{FF2B5EF4-FFF2-40B4-BE49-F238E27FC236}">
                  <a16:creationId xmlns:a16="http://schemas.microsoft.com/office/drawing/2014/main" id="{E7D07B94-36D5-696D-E1B4-A23866808F73}"/>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7CDE4003-CA13-EB37-2822-485C30EE492F}"/>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a:extLst>
              <a:ext uri="{FF2B5EF4-FFF2-40B4-BE49-F238E27FC236}">
                <a16:creationId xmlns:a16="http://schemas.microsoft.com/office/drawing/2014/main" id="{A5BE993E-E242-3B95-589C-5CCA435551ED}"/>
              </a:ext>
            </a:extLst>
          </p:cNvPr>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a:extLst>
              <a:ext uri="{FF2B5EF4-FFF2-40B4-BE49-F238E27FC236}">
                <a16:creationId xmlns:a16="http://schemas.microsoft.com/office/drawing/2014/main" id="{287F4301-6F8A-C74F-E643-9EB77B0E1080}"/>
              </a:ext>
            </a:extLst>
          </p:cNvPr>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a:extLst>
              <a:ext uri="{FF2B5EF4-FFF2-40B4-BE49-F238E27FC236}">
                <a16:creationId xmlns:a16="http://schemas.microsoft.com/office/drawing/2014/main" id="{3752BD6F-BDCB-0D3B-48D5-8E2741FBDFC0}"/>
              </a:ext>
            </a:extLst>
          </p:cNvPr>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B825AAFF-885D-BAA2-5E14-8E4BC865936C}"/>
              </a:ext>
            </a:extLst>
          </p:cNvPr>
          <p:cNvGrpSpPr/>
          <p:nvPr/>
        </p:nvGrpSpPr>
        <p:grpSpPr>
          <a:xfrm>
            <a:off x="3563449" y="2020824"/>
            <a:ext cx="237745" cy="265176"/>
            <a:chOff x="4672583" y="2020824"/>
            <a:chExt cx="237745" cy="265176"/>
          </a:xfrm>
        </p:grpSpPr>
        <p:sp>
          <p:nvSpPr>
            <p:cNvPr id="52" name="Oval 51">
              <a:extLst>
                <a:ext uri="{FF2B5EF4-FFF2-40B4-BE49-F238E27FC236}">
                  <a16:creationId xmlns:a16="http://schemas.microsoft.com/office/drawing/2014/main" id="{935FFB27-F08E-336E-0306-CCBB55075DC5}"/>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a:extLst>
                <a:ext uri="{FF2B5EF4-FFF2-40B4-BE49-F238E27FC236}">
                  <a16:creationId xmlns:a16="http://schemas.microsoft.com/office/drawing/2014/main" id="{351C1FC7-A36F-3EE3-86CB-1C9DC33F0255}"/>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a:extLst>
                <a:ext uri="{FF2B5EF4-FFF2-40B4-BE49-F238E27FC236}">
                  <a16:creationId xmlns:a16="http://schemas.microsoft.com/office/drawing/2014/main" id="{1831F05D-DF96-79A5-3317-0592321B6153}"/>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a:extLst>
              <a:ext uri="{FF2B5EF4-FFF2-40B4-BE49-F238E27FC236}">
                <a16:creationId xmlns:a16="http://schemas.microsoft.com/office/drawing/2014/main" id="{A1450B68-A772-8E7A-6C1E-BA5EFE6D4094}"/>
              </a:ext>
            </a:extLst>
          </p:cNvPr>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a:extLst>
              <a:ext uri="{FF2B5EF4-FFF2-40B4-BE49-F238E27FC236}">
                <a16:creationId xmlns:a16="http://schemas.microsoft.com/office/drawing/2014/main" id="{E8312A30-CC26-4D7F-EEC7-B3C730743090}"/>
              </a:ext>
            </a:extLst>
          </p:cNvPr>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a:extLst>
              <a:ext uri="{FF2B5EF4-FFF2-40B4-BE49-F238E27FC236}">
                <a16:creationId xmlns:a16="http://schemas.microsoft.com/office/drawing/2014/main" id="{BDEFE0AD-9129-666E-DFF9-8657A703472F}"/>
              </a:ext>
            </a:extLst>
          </p:cNvPr>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0AE9A254-0B5D-4760-EAB7-CA0DC15174FC}"/>
              </a:ext>
            </a:extLst>
          </p:cNvPr>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a:extLst>
              <a:ext uri="{FF2B5EF4-FFF2-40B4-BE49-F238E27FC236}">
                <a16:creationId xmlns:a16="http://schemas.microsoft.com/office/drawing/2014/main" id="{7ACEA086-BAEA-B2FB-915D-55F511DA4BCD}"/>
              </a:ext>
            </a:extLst>
          </p:cNvPr>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a:extLst>
              <a:ext uri="{FF2B5EF4-FFF2-40B4-BE49-F238E27FC236}">
                <a16:creationId xmlns:a16="http://schemas.microsoft.com/office/drawing/2014/main" id="{F054C867-75D3-6E3C-6D99-9DE523EE350D}"/>
              </a:ext>
            </a:extLst>
          </p:cNvPr>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24A28BFC-B9BE-6433-3EE0-F01DA23D4E82}"/>
              </a:ext>
            </a:extLst>
          </p:cNvPr>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a:extLst>
              <a:ext uri="{FF2B5EF4-FFF2-40B4-BE49-F238E27FC236}">
                <a16:creationId xmlns:a16="http://schemas.microsoft.com/office/drawing/2014/main" id="{0323A9A7-8D10-1EA5-DC05-8FADFAD3A208}"/>
              </a:ext>
            </a:extLst>
          </p:cNvPr>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a:extLst>
              <a:ext uri="{FF2B5EF4-FFF2-40B4-BE49-F238E27FC236}">
                <a16:creationId xmlns:a16="http://schemas.microsoft.com/office/drawing/2014/main" id="{0C949960-2FC0-D479-8BEC-3F1B801AEC14}"/>
              </a:ext>
            </a:extLst>
          </p:cNvPr>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a:extLst>
              <a:ext uri="{FF2B5EF4-FFF2-40B4-BE49-F238E27FC236}">
                <a16:creationId xmlns:a16="http://schemas.microsoft.com/office/drawing/2014/main" id="{2F5FB672-6500-C842-35B2-7C424474DA17}"/>
              </a:ext>
            </a:extLst>
          </p:cNvPr>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a:extLst>
              <a:ext uri="{FF2B5EF4-FFF2-40B4-BE49-F238E27FC236}">
                <a16:creationId xmlns:a16="http://schemas.microsoft.com/office/drawing/2014/main" id="{09D287D2-974A-2849-7DBF-85BF1692D2FD}"/>
              </a:ext>
            </a:extLst>
          </p:cNvPr>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a:extLst>
              <a:ext uri="{FF2B5EF4-FFF2-40B4-BE49-F238E27FC236}">
                <a16:creationId xmlns:a16="http://schemas.microsoft.com/office/drawing/2014/main" id="{6E1CE0A5-3D84-6911-B861-9F888F62D03F}"/>
              </a:ext>
            </a:extLst>
          </p:cNvPr>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a:extLst>
              <a:ext uri="{FF2B5EF4-FFF2-40B4-BE49-F238E27FC236}">
                <a16:creationId xmlns:a16="http://schemas.microsoft.com/office/drawing/2014/main" id="{59F2703A-D3CD-8AF2-7156-28B94E6E4EC3}"/>
              </a:ext>
            </a:extLst>
          </p:cNvPr>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90205FC3-9B98-1BA9-1159-42540128F367}"/>
              </a:ext>
            </a:extLst>
          </p:cNvPr>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a:extLst>
              <a:ext uri="{FF2B5EF4-FFF2-40B4-BE49-F238E27FC236}">
                <a16:creationId xmlns:a16="http://schemas.microsoft.com/office/drawing/2014/main" id="{93E23AC3-C4EA-4141-517B-489AED34D1E9}"/>
              </a:ext>
            </a:extLst>
          </p:cNvPr>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grpSp>
        <p:nvGrpSpPr>
          <p:cNvPr id="148" name="Group 147">
            <a:extLst>
              <a:ext uri="{FF2B5EF4-FFF2-40B4-BE49-F238E27FC236}">
                <a16:creationId xmlns:a16="http://schemas.microsoft.com/office/drawing/2014/main" id="{CCBC380A-FD72-39C5-A576-6BAD7644B1ED}"/>
              </a:ext>
            </a:extLst>
          </p:cNvPr>
          <p:cNvGrpSpPr/>
          <p:nvPr/>
        </p:nvGrpSpPr>
        <p:grpSpPr>
          <a:xfrm>
            <a:off x="3167042" y="3351276"/>
            <a:ext cx="576072" cy="64008"/>
            <a:chOff x="2921508" y="3351276"/>
            <a:chExt cx="576072" cy="64008"/>
          </a:xfrm>
        </p:grpSpPr>
        <p:cxnSp>
          <p:nvCxnSpPr>
            <p:cNvPr id="76" name="Connector 75">
              <a:extLst>
                <a:ext uri="{FF2B5EF4-FFF2-40B4-BE49-F238E27FC236}">
                  <a16:creationId xmlns:a16="http://schemas.microsoft.com/office/drawing/2014/main" id="{E1AD3213-E925-055E-99EE-64731BCDB3F6}"/>
                </a:ext>
              </a:extLst>
            </p:cNvPr>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a:extLst>
                <a:ext uri="{FF2B5EF4-FFF2-40B4-BE49-F238E27FC236}">
                  <a16:creationId xmlns:a16="http://schemas.microsoft.com/office/drawing/2014/main" id="{1AA3722E-1AE6-4FEB-026F-601E3625BBB6}"/>
                </a:ext>
              </a:extLst>
            </p:cNvPr>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a:extLst>
                <a:ext uri="{FF2B5EF4-FFF2-40B4-BE49-F238E27FC236}">
                  <a16:creationId xmlns:a16="http://schemas.microsoft.com/office/drawing/2014/main" id="{047AB988-8B68-5D3B-FD2E-4A26EC3E696E}"/>
                </a:ext>
              </a:extLst>
            </p:cNvPr>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9CE46F6D-EE63-C34E-7433-4252571B145B}"/>
                </a:ext>
              </a:extLst>
            </p:cNvPr>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a:extLst>
                <a:ext uri="{FF2B5EF4-FFF2-40B4-BE49-F238E27FC236}">
                  <a16:creationId xmlns:a16="http://schemas.microsoft.com/office/drawing/2014/main" id="{E8799DF5-F4CC-FA2F-3B86-06A57AAFB186}"/>
                </a:ext>
              </a:extLst>
            </p:cNvPr>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6A83A8B7-CC3B-4135-1362-0C18D8D80B28}"/>
              </a:ext>
            </a:extLst>
          </p:cNvPr>
          <p:cNvGrpSpPr/>
          <p:nvPr/>
        </p:nvGrpSpPr>
        <p:grpSpPr>
          <a:xfrm>
            <a:off x="3694176" y="3520439"/>
            <a:ext cx="667512" cy="64008"/>
            <a:chOff x="4046220" y="3945635"/>
            <a:chExt cx="667512" cy="64008"/>
          </a:xfrm>
        </p:grpSpPr>
        <p:cxnSp>
          <p:nvCxnSpPr>
            <p:cNvPr id="86" name="Connector 85">
              <a:extLst>
                <a:ext uri="{FF2B5EF4-FFF2-40B4-BE49-F238E27FC236}">
                  <a16:creationId xmlns:a16="http://schemas.microsoft.com/office/drawing/2014/main" id="{79FA2054-8E5A-556B-C3AF-CD761A304DEB}"/>
                </a:ext>
              </a:extLst>
            </p:cNvPr>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a:extLst>
                <a:ext uri="{FF2B5EF4-FFF2-40B4-BE49-F238E27FC236}">
                  <a16:creationId xmlns:a16="http://schemas.microsoft.com/office/drawing/2014/main" id="{EFAF406C-72B2-9592-C87A-E173CADFF099}"/>
                </a:ext>
              </a:extLst>
            </p:cNvPr>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a:extLst>
                <a:ext uri="{FF2B5EF4-FFF2-40B4-BE49-F238E27FC236}">
                  <a16:creationId xmlns:a16="http://schemas.microsoft.com/office/drawing/2014/main" id="{BE7A25A5-485B-B4DF-9568-FC3F8FA775FD}"/>
                </a:ext>
              </a:extLst>
            </p:cNvPr>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E9E23BC3-24F3-3A7A-633B-ABD308D43126}"/>
                </a:ext>
              </a:extLst>
            </p:cNvPr>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a:extLst>
                <a:ext uri="{FF2B5EF4-FFF2-40B4-BE49-F238E27FC236}">
                  <a16:creationId xmlns:a16="http://schemas.microsoft.com/office/drawing/2014/main" id="{C8A3F36B-18EA-917B-0317-957A3643BC28}"/>
                </a:ext>
              </a:extLst>
            </p:cNvPr>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a:extLst>
              <a:ext uri="{FF2B5EF4-FFF2-40B4-BE49-F238E27FC236}">
                <a16:creationId xmlns:a16="http://schemas.microsoft.com/office/drawing/2014/main" id="{ED63F295-C890-9FE4-E766-30C1C0DD211D}"/>
              </a:ext>
            </a:extLst>
          </p:cNvPr>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a:extLst>
              <a:ext uri="{FF2B5EF4-FFF2-40B4-BE49-F238E27FC236}">
                <a16:creationId xmlns:a16="http://schemas.microsoft.com/office/drawing/2014/main" id="{1ECD3363-9CEA-15F8-44B9-0F8E54059E83}"/>
              </a:ext>
            </a:extLst>
          </p:cNvPr>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a:extLst>
              <a:ext uri="{FF2B5EF4-FFF2-40B4-BE49-F238E27FC236}">
                <a16:creationId xmlns:a16="http://schemas.microsoft.com/office/drawing/2014/main" id="{E4ACBFAF-7FEE-115B-D205-FBF5B0E18D6E}"/>
              </a:ext>
            </a:extLst>
          </p:cNvPr>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a:extLst>
              <a:ext uri="{FF2B5EF4-FFF2-40B4-BE49-F238E27FC236}">
                <a16:creationId xmlns:a16="http://schemas.microsoft.com/office/drawing/2014/main" id="{9F754EF1-60A9-8449-FB65-2D3083D81C59}"/>
              </a:ext>
            </a:extLst>
          </p:cNvPr>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a:extLst>
              <a:ext uri="{FF2B5EF4-FFF2-40B4-BE49-F238E27FC236}">
                <a16:creationId xmlns:a16="http://schemas.microsoft.com/office/drawing/2014/main" id="{0EA3617A-2F12-7F6E-5AC5-7423E339F48C}"/>
              </a:ext>
            </a:extLst>
          </p:cNvPr>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a:extLst>
              <a:ext uri="{FF2B5EF4-FFF2-40B4-BE49-F238E27FC236}">
                <a16:creationId xmlns:a16="http://schemas.microsoft.com/office/drawing/2014/main" id="{31C829DB-A4B8-4553-5C32-B878DEDD66E4}"/>
              </a:ext>
            </a:extLst>
          </p:cNvPr>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a:extLst>
              <a:ext uri="{FF2B5EF4-FFF2-40B4-BE49-F238E27FC236}">
                <a16:creationId xmlns:a16="http://schemas.microsoft.com/office/drawing/2014/main" id="{8201EC3F-FB8D-42F5-E29E-CA0D1D585053}"/>
              </a:ext>
            </a:extLst>
          </p:cNvPr>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a:extLst>
              <a:ext uri="{FF2B5EF4-FFF2-40B4-BE49-F238E27FC236}">
                <a16:creationId xmlns:a16="http://schemas.microsoft.com/office/drawing/2014/main" id="{211DA5C4-9592-E50E-E53F-F26A16331E09}"/>
              </a:ext>
            </a:extLst>
          </p:cNvPr>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a:extLst>
              <a:ext uri="{FF2B5EF4-FFF2-40B4-BE49-F238E27FC236}">
                <a16:creationId xmlns:a16="http://schemas.microsoft.com/office/drawing/2014/main" id="{BDBF41B3-FF97-EBDA-C72A-0AD210AAE33A}"/>
              </a:ext>
            </a:extLst>
          </p:cNvPr>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a:extLst>
              <a:ext uri="{FF2B5EF4-FFF2-40B4-BE49-F238E27FC236}">
                <a16:creationId xmlns:a16="http://schemas.microsoft.com/office/drawing/2014/main" id="{2C811F76-C071-C098-B518-A45A1F5F3F1B}"/>
              </a:ext>
            </a:extLst>
          </p:cNvPr>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a:extLst>
              <a:ext uri="{FF2B5EF4-FFF2-40B4-BE49-F238E27FC236}">
                <a16:creationId xmlns:a16="http://schemas.microsoft.com/office/drawing/2014/main" id="{13D61EC6-1C16-F02D-396A-F38BB0755100}"/>
              </a:ext>
            </a:extLst>
          </p:cNvPr>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a:extLst>
              <a:ext uri="{FF2B5EF4-FFF2-40B4-BE49-F238E27FC236}">
                <a16:creationId xmlns:a16="http://schemas.microsoft.com/office/drawing/2014/main" id="{E7243536-E7E5-3258-9FEE-C1F9FD533D02}"/>
              </a:ext>
            </a:extLst>
          </p:cNvPr>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a:extLst>
              <a:ext uri="{FF2B5EF4-FFF2-40B4-BE49-F238E27FC236}">
                <a16:creationId xmlns:a16="http://schemas.microsoft.com/office/drawing/2014/main" id="{14373F53-51BC-B6E1-97F1-13CFC46BDBEF}"/>
              </a:ext>
            </a:extLst>
          </p:cNvPr>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a:extLst>
              <a:ext uri="{FF2B5EF4-FFF2-40B4-BE49-F238E27FC236}">
                <a16:creationId xmlns:a16="http://schemas.microsoft.com/office/drawing/2014/main" id="{D646C629-FB44-B8C4-EEB7-3B124E3AE578}"/>
              </a:ext>
            </a:extLst>
          </p:cNvPr>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a:extLst>
              <a:ext uri="{FF2B5EF4-FFF2-40B4-BE49-F238E27FC236}">
                <a16:creationId xmlns:a16="http://schemas.microsoft.com/office/drawing/2014/main" id="{526ED27F-A3D6-81E7-E3AF-1C391BE61552}"/>
              </a:ext>
            </a:extLst>
          </p:cNvPr>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D9709092-F13A-C190-47D9-82381DEEFDB2}"/>
              </a:ext>
            </a:extLst>
          </p:cNvPr>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a:extLst>
              <a:ext uri="{FF2B5EF4-FFF2-40B4-BE49-F238E27FC236}">
                <a16:creationId xmlns:a16="http://schemas.microsoft.com/office/drawing/2014/main" id="{A8D59B87-E33D-3BBA-F722-614DDAA38EF5}"/>
              </a:ext>
            </a:extLst>
          </p:cNvPr>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7945B587-26B8-E9BA-D689-C94E2CA820C5}"/>
              </a:ext>
            </a:extLst>
          </p:cNvPr>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a:extLst>
              <a:ext uri="{FF2B5EF4-FFF2-40B4-BE49-F238E27FC236}">
                <a16:creationId xmlns:a16="http://schemas.microsoft.com/office/drawing/2014/main" id="{37B0694E-28BA-91C5-4B1A-28D2910A948C}"/>
              </a:ext>
            </a:extLst>
          </p:cNvPr>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EF5B3716-A39B-C392-071D-1F9DBEF11C68}"/>
              </a:ext>
            </a:extLst>
          </p:cNvPr>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a:extLst>
              <a:ext uri="{FF2B5EF4-FFF2-40B4-BE49-F238E27FC236}">
                <a16:creationId xmlns:a16="http://schemas.microsoft.com/office/drawing/2014/main" id="{DB21799F-A69E-7AC4-352F-BDB2BD5C5691}"/>
              </a:ext>
            </a:extLst>
          </p:cNvPr>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AAF2FAF4-463B-B505-2775-5964351CEFC2}"/>
              </a:ext>
            </a:extLst>
          </p:cNvPr>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a:extLst>
              <a:ext uri="{FF2B5EF4-FFF2-40B4-BE49-F238E27FC236}">
                <a16:creationId xmlns:a16="http://schemas.microsoft.com/office/drawing/2014/main" id="{8703776A-39E1-B89F-A1E6-BF2F942B4CFE}"/>
              </a:ext>
            </a:extLst>
          </p:cNvPr>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a:extLst>
              <a:ext uri="{FF2B5EF4-FFF2-40B4-BE49-F238E27FC236}">
                <a16:creationId xmlns:a16="http://schemas.microsoft.com/office/drawing/2014/main" id="{066DE099-BB64-75DF-98F8-FD7FBE424518}"/>
              </a:ext>
            </a:extLst>
          </p:cNvPr>
          <p:cNvSpPr/>
          <p:nvPr/>
        </p:nvSpPr>
        <p:spPr>
          <a:xfrm>
            <a:off x="2788920" y="4901184"/>
            <a:ext cx="2103120" cy="79552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0" name="TextBox 119">
            <a:extLst>
              <a:ext uri="{FF2B5EF4-FFF2-40B4-BE49-F238E27FC236}">
                <a16:creationId xmlns:a16="http://schemas.microsoft.com/office/drawing/2014/main" id="{770A5BA2-1574-FF8D-8CCD-CA68D0D4C6BA}"/>
              </a:ext>
            </a:extLst>
          </p:cNvPr>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a:extLst>
              <a:ext uri="{FF2B5EF4-FFF2-40B4-BE49-F238E27FC236}">
                <a16:creationId xmlns:a16="http://schemas.microsoft.com/office/drawing/2014/main" id="{834E86BC-899D-790A-53BD-3061671A421D}"/>
              </a:ext>
            </a:extLst>
          </p:cNvPr>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a:extLst>
              <a:ext uri="{FF2B5EF4-FFF2-40B4-BE49-F238E27FC236}">
                <a16:creationId xmlns:a16="http://schemas.microsoft.com/office/drawing/2014/main" id="{268F7FCA-596F-A7F3-2263-DC4B4A742BD6}"/>
              </a:ext>
            </a:extLst>
          </p:cNvPr>
          <p:cNvSpPr/>
          <p:nvPr/>
        </p:nvSpPr>
        <p:spPr>
          <a:xfrm>
            <a:off x="5532120" y="5084064"/>
            <a:ext cx="2377440" cy="6126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a:extLst>
              <a:ext uri="{FF2B5EF4-FFF2-40B4-BE49-F238E27FC236}">
                <a16:creationId xmlns:a16="http://schemas.microsoft.com/office/drawing/2014/main" id="{74F85FAB-0DDB-18F4-9D3B-FBBBD8343DE7}"/>
              </a:ext>
            </a:extLst>
          </p:cNvPr>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a:extLst>
              <a:ext uri="{FF2B5EF4-FFF2-40B4-BE49-F238E27FC236}">
                <a16:creationId xmlns:a16="http://schemas.microsoft.com/office/drawing/2014/main" id="{5071C369-64CB-5A90-9613-EE3E9453014E}"/>
              </a:ext>
            </a:extLst>
          </p:cNvPr>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a:extLst>
              <a:ext uri="{FF2B5EF4-FFF2-40B4-BE49-F238E27FC236}">
                <a16:creationId xmlns:a16="http://schemas.microsoft.com/office/drawing/2014/main" id="{FF1C236A-BFB8-CE77-54C6-789E50A2046F}"/>
              </a:ext>
            </a:extLst>
          </p:cNvPr>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a:extLst>
              <a:ext uri="{FF2B5EF4-FFF2-40B4-BE49-F238E27FC236}">
                <a16:creationId xmlns:a16="http://schemas.microsoft.com/office/drawing/2014/main" id="{41292A6F-FE66-AE2B-4419-E09C9C9AB7EA}"/>
              </a:ext>
            </a:extLst>
          </p:cNvPr>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a:extLst>
              <a:ext uri="{FF2B5EF4-FFF2-40B4-BE49-F238E27FC236}">
                <a16:creationId xmlns:a16="http://schemas.microsoft.com/office/drawing/2014/main" id="{14F88D13-39CF-B292-EE77-62A596546A16}"/>
              </a:ext>
            </a:extLst>
          </p:cNvPr>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a:extLst>
              <a:ext uri="{FF2B5EF4-FFF2-40B4-BE49-F238E27FC236}">
                <a16:creationId xmlns:a16="http://schemas.microsoft.com/office/drawing/2014/main" id="{F94BD5CD-BE32-B449-89C2-F2BA6F3D6B51}"/>
              </a:ext>
            </a:extLst>
          </p:cNvPr>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dirty="0">
                <a:solidFill>
                  <a:srgbClr val="FFFFFF"/>
                </a:solidFill>
                <a:latin typeface="Aptos"/>
              </a:rPr>
              <a:t>P1: 5   |   P2: 4   |   P3: 3</a:t>
            </a:r>
          </a:p>
        </p:txBody>
      </p:sp>
      <p:cxnSp>
        <p:nvCxnSpPr>
          <p:cNvPr id="129" name="Connector 128">
            <a:extLst>
              <a:ext uri="{FF2B5EF4-FFF2-40B4-BE49-F238E27FC236}">
                <a16:creationId xmlns:a16="http://schemas.microsoft.com/office/drawing/2014/main" id="{6685CEB5-87DB-DDBF-F787-9CFB82B11B44}"/>
              </a:ext>
            </a:extLst>
          </p:cNvPr>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A399BD10-8435-9FDF-D569-5B194D016E29}"/>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76B0DEBD-4320-B96F-9723-873E705381D1}"/>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5D41A573-CD77-6659-3B49-2F8B57C54131}"/>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FCBC74D3-AA73-5AE1-8223-AD5E6E086A64}"/>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8D39D93-2D21-23B7-9B85-0CF2B63CC293}"/>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2FCE07DA-F816-505B-BC94-98485E9AA236}"/>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D64378A5-2909-88E3-15CB-9FA4D993B7AA}"/>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167BDB7C-6FD9-10B2-CC37-DEFC5F1565A0}"/>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7325355B-183F-DE0A-CA40-4592EA76814E}"/>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A7BF5A4E-CC40-66FE-7FB8-CC9E9682FC27}"/>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14A2B877-6D69-B342-58B6-5983701793E4}"/>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76CE2D8A-EE13-07D4-5742-67B36B11B53D}"/>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E7C15A7A-F1C7-994D-F6EA-8E456050A50B}"/>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699A64FB-51FF-5AF3-BE06-8BE845AF65FB}"/>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95858177-5515-D4FC-666D-FE681A1DC65D}"/>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AB629C03-C735-C90B-EE67-25315F76AA2D}"/>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028AFB95-B4A2-D478-5D6D-9364B322738E}"/>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56435E59-1ECF-077A-33FE-136B8CBBEDCF}"/>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35522634-D0D6-E4DE-D335-9D1B73E16A2A}"/>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47A4B78C-8310-A9E9-656F-C18C60F76494}"/>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C1A355BA-A155-D0FF-2039-8B5817F6778C}"/>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E75BB669-6AE2-491B-392C-F78209A3AFA0}"/>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C0D750C5-D5B4-B214-B5AC-09B97376AD8D}"/>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1773AD43-0BED-E6EF-CE97-8166F2F4588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5B3CC3C6-9E3D-CFB6-062D-EE57261CF7C9}"/>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57584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ACCA3A73-A975-5D66-5B21-1DA90F32D180}"/>
              </a:ext>
            </a:extLst>
          </p:cNvPr>
          <p:cNvGrpSpPr/>
          <p:nvPr/>
        </p:nvGrpSpPr>
        <p:grpSpPr>
          <a:xfrm>
            <a:off x="10671413" y="1888053"/>
            <a:ext cx="639348" cy="521573"/>
            <a:chOff x="10671413" y="1888053"/>
            <a:chExt cx="639348" cy="521573"/>
          </a:xfrm>
        </p:grpSpPr>
        <p:sp>
          <p:nvSpPr>
            <p:cNvPr id="43" name="Oval 42"/>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A6F05E57-BDCD-D5B9-73E5-CAC437BD6E69}"/>
              </a:ext>
            </a:extLst>
          </p:cNvPr>
          <p:cNvGrpSpPr/>
          <p:nvPr/>
        </p:nvGrpSpPr>
        <p:grpSpPr>
          <a:xfrm>
            <a:off x="3563449" y="2020824"/>
            <a:ext cx="237745" cy="265176"/>
            <a:chOff x="4672583" y="2020824"/>
            <a:chExt cx="237745" cy="265176"/>
          </a:xfrm>
        </p:grpSpPr>
        <p:sp>
          <p:nvSpPr>
            <p:cNvPr id="52" name="Oval 51"/>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sp>
        <p:nvSpPr>
          <p:cNvPr id="73" name="Rounded Rectangle 72"/>
          <p:cNvSpPr/>
          <p:nvPr/>
        </p:nvSpPr>
        <p:spPr>
          <a:xfrm>
            <a:off x="834222" y="3342303"/>
            <a:ext cx="1671234" cy="21945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00" b="1" dirty="0">
                <a:solidFill>
                  <a:srgbClr val="FFFFFF"/>
                </a:solidFill>
                <a:latin typeface="Aptos"/>
              </a:rPr>
              <a:t>SHORT • OPEN DNA</a:t>
            </a:r>
          </a:p>
        </p:txBody>
      </p:sp>
      <p:sp>
        <p:nvSpPr>
          <p:cNvPr id="74" name="Rounded Rectangle 73"/>
          <p:cNvSpPr/>
          <p:nvPr/>
        </p:nvSpPr>
        <p:spPr>
          <a:xfrm>
            <a:off x="834222" y="3644397"/>
            <a:ext cx="1671233" cy="21945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13233B"/>
                </a:solidFill>
                <a:latin typeface="Aptos"/>
              </a:rPr>
              <a:t>MEDIUM • SPANS 1 NUCLEOSOME</a:t>
            </a:r>
          </a:p>
        </p:txBody>
      </p:sp>
      <p:sp>
        <p:nvSpPr>
          <p:cNvPr id="75" name="Rounded Rectangle 74"/>
          <p:cNvSpPr/>
          <p:nvPr/>
        </p:nvSpPr>
        <p:spPr>
          <a:xfrm>
            <a:off x="834222" y="3933280"/>
            <a:ext cx="1671234" cy="21945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FFFFFF"/>
                </a:solidFill>
                <a:latin typeface="Aptos"/>
              </a:rPr>
              <a:t>LONG • SPANS 2 NUCLEOSOMES</a:t>
            </a:r>
          </a:p>
        </p:txBody>
      </p:sp>
      <p:grpSp>
        <p:nvGrpSpPr>
          <p:cNvPr id="148" name="Group 147">
            <a:extLst>
              <a:ext uri="{FF2B5EF4-FFF2-40B4-BE49-F238E27FC236}">
                <a16:creationId xmlns:a16="http://schemas.microsoft.com/office/drawing/2014/main" id="{78FAA9B0-6594-4E1A-E16A-6FEA77BBCC36}"/>
              </a:ext>
            </a:extLst>
          </p:cNvPr>
          <p:cNvGrpSpPr/>
          <p:nvPr/>
        </p:nvGrpSpPr>
        <p:grpSpPr>
          <a:xfrm>
            <a:off x="3167042" y="3351276"/>
            <a:ext cx="576072" cy="64008"/>
            <a:chOff x="2921508" y="3351276"/>
            <a:chExt cx="576072" cy="64008"/>
          </a:xfrm>
        </p:grpSpPr>
        <p:cxnSp>
          <p:nvCxnSpPr>
            <p:cNvPr id="76" name="Connector 75"/>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283AB225-E1CF-47A4-653A-105E33D7BB83}"/>
              </a:ext>
            </a:extLst>
          </p:cNvPr>
          <p:cNvGrpSpPr/>
          <p:nvPr/>
        </p:nvGrpSpPr>
        <p:grpSpPr>
          <a:xfrm>
            <a:off x="3694176" y="3520439"/>
            <a:ext cx="667512" cy="64008"/>
            <a:chOff x="4046220" y="3945635"/>
            <a:chExt cx="667512" cy="64008"/>
          </a:xfrm>
        </p:grpSpPr>
        <p:cxnSp>
          <p:nvCxnSpPr>
            <p:cNvPr id="86" name="Connector 85"/>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788920" y="5074920"/>
            <a:ext cx="2103120" cy="621792"/>
          </a:xfrm>
          <a:prstGeom prst="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p:cNvSpPr/>
          <p:nvPr/>
        </p:nvSpPr>
        <p:spPr>
          <a:xfrm>
            <a:off x="5532120" y="5385816"/>
            <a:ext cx="2377440" cy="310896"/>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P1: 4 short + 1 medium = 5   |   P2: 2 medium + 2 long = 4   |   P3: 3 medium = 3</a:t>
            </a:r>
          </a:p>
        </p:txBody>
      </p:sp>
      <p:cxnSp>
        <p:nvCxnSpPr>
          <p:cNvPr id="129" name="Connector 12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11DE9F79-728C-4034-9189-78B7052450D2}"/>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8D6186E8-9F9D-9BF3-6906-2FF6685E9480}"/>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E07082EB-53D1-E15C-9824-24C37F5563AA}"/>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01F5811A-78D8-B932-2660-BFC35436EE0E}"/>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94C759A-E9B3-C751-8F45-C28BEF9190E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9319E1C6-5B1A-5B10-5D4A-184321C79C78}"/>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1CEE1483-ECB0-8346-B113-9E56CCE5F6E8}"/>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8B578617-B8AD-22EB-8FE6-DE0498D5FF98}"/>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686BAE1D-119C-315C-8D43-EE08683DF742}"/>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2FCB1CC9-2315-9A61-3C8F-A514EA889DA9}"/>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86AE6355-591D-8139-0F18-34272AE7FA50}"/>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DFB0169C-5962-5D52-C9E0-C7137A8FD201}"/>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B31EB16C-5F46-3FB5-280F-E33B2D0E311A}"/>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5FAB11DE-6063-835E-AC58-684BC47CE59A}"/>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CD4931C4-1494-0123-D01A-56BEB5D1FA4E}"/>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45C247A5-529E-86B8-6A5B-A30E48F2C840}"/>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EF920130-0478-7CE5-58D5-635611990681}"/>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1F9912B1-511A-438E-6CE3-2AACEC9A574D}"/>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89FB7EEE-B50C-7B71-450A-FDB0C0D21772}"/>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21E4F913-B0B0-6FD5-E580-439CEF2025FA}"/>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D829176B-BD1A-6929-3794-0C9ECBB0B43D}"/>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6F7734E6-1F99-4DC6-6E66-0C2E134781B1}"/>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F306B23F-011F-0088-FA9B-2A64DCE21717}"/>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6831C35F-4C41-1439-26D3-24C9AE45AEA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61CE2E0C-26EB-1812-CAB3-31AA4EAA5C6F}"/>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163" name="Peak count stack P1 medium"/>
          <p:cNvSpPr/>
          <p:nvPr/>
        </p:nvSpPr>
        <p:spPr>
          <a:xfrm>
            <a:off x="2788920" y="4919472"/>
            <a:ext cx="2103120" cy="1554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Peak count stack P2 long"/>
          <p:cNvSpPr/>
          <p:nvPr/>
        </p:nvSpPr>
        <p:spPr>
          <a:xfrm>
            <a:off x="5532120" y="5074920"/>
            <a:ext cx="2377440" cy="310896"/>
          </a:xfrm>
          <a:prstGeom prst="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Peak count stack label P1 short"/>
          <p:cNvSpPr txBox="1"/>
          <p:nvPr/>
        </p:nvSpPr>
        <p:spPr>
          <a:xfrm>
            <a:off x="2788920" y="5074920"/>
            <a:ext cx="2103120" cy="621792"/>
          </a:xfrm>
          <a:prstGeom prst="rect">
            <a:avLst/>
          </a:prstGeom>
          <a:noFill/>
        </p:spPr>
        <p:txBody>
          <a:bodyPr wrap="none" lIns="0" tIns="0" rIns="0" bIns="0" anchor="ctr">
            <a:spAutoFit/>
          </a:bodyPr>
          <a:lstStyle/>
          <a:p>
            <a:pPr algn="ctr"/>
            <a:r>
              <a:rPr sz="1200" b="1">
                <a:solidFill>
                  <a:srgbClr val="FFFFFF"/>
                </a:solidFill>
                <a:latin typeface="Aptos"/>
              </a:rPr>
              <a:t>4</a:t>
            </a:r>
          </a:p>
        </p:txBody>
      </p:sp>
      <p:sp>
        <p:nvSpPr>
          <p:cNvPr id="166" name="Peak count stack label P1 medium"/>
          <p:cNvSpPr txBox="1"/>
          <p:nvPr/>
        </p:nvSpPr>
        <p:spPr>
          <a:xfrm>
            <a:off x="2788920" y="4919472"/>
            <a:ext cx="2103120" cy="155448"/>
          </a:xfrm>
          <a:prstGeom prst="rect">
            <a:avLst/>
          </a:prstGeom>
          <a:noFill/>
        </p:spPr>
        <p:txBody>
          <a:bodyPr wrap="none" lIns="0" tIns="0" rIns="0" bIns="0" anchor="ctr">
            <a:spAutoFit/>
          </a:bodyPr>
          <a:lstStyle/>
          <a:p>
            <a:pPr algn="ctr"/>
            <a:r>
              <a:rPr sz="750" b="1">
                <a:solidFill>
                  <a:srgbClr val="13233B"/>
                </a:solidFill>
                <a:latin typeface="Aptos"/>
              </a:rPr>
              <a:t>1</a:t>
            </a:r>
          </a:p>
        </p:txBody>
      </p:sp>
      <p:sp>
        <p:nvSpPr>
          <p:cNvPr id="167" name="Peak count stack label P2 medium"/>
          <p:cNvSpPr txBox="1"/>
          <p:nvPr/>
        </p:nvSpPr>
        <p:spPr>
          <a:xfrm>
            <a:off x="5532120" y="5385816"/>
            <a:ext cx="2377440" cy="310896"/>
          </a:xfrm>
          <a:prstGeom prst="rect">
            <a:avLst/>
          </a:prstGeom>
          <a:noFill/>
        </p:spPr>
        <p:txBody>
          <a:bodyPr wrap="none" lIns="0" tIns="0" rIns="0" bIns="0" anchor="ctr">
            <a:spAutoFit/>
          </a:bodyPr>
          <a:lstStyle/>
          <a:p>
            <a:pPr algn="ctr"/>
            <a:r>
              <a:rPr sz="1000" b="1">
                <a:solidFill>
                  <a:srgbClr val="13233B"/>
                </a:solidFill>
                <a:latin typeface="Aptos"/>
              </a:rPr>
              <a:t>2</a:t>
            </a:r>
          </a:p>
        </p:txBody>
      </p:sp>
      <p:sp>
        <p:nvSpPr>
          <p:cNvPr id="168" name="Peak count stack label P2 long"/>
          <p:cNvSpPr txBox="1"/>
          <p:nvPr/>
        </p:nvSpPr>
        <p:spPr>
          <a:xfrm>
            <a:off x="5532120" y="5074920"/>
            <a:ext cx="2377440" cy="310896"/>
          </a:xfrm>
          <a:prstGeom prst="rect">
            <a:avLst/>
          </a:prstGeom>
          <a:noFill/>
        </p:spPr>
        <p:txBody>
          <a:bodyPr wrap="none" lIns="0" tIns="0" rIns="0" bIns="0" anchor="ctr">
            <a:spAutoFit/>
          </a:bodyPr>
          <a:lstStyle/>
          <a:p>
            <a:pPr algn="ctr"/>
            <a:r>
              <a:rPr sz="1000" b="1">
                <a:solidFill>
                  <a:srgbClr val="FFFFFF"/>
                </a:solidFill>
                <a:latin typeface="Aptos"/>
              </a:rPr>
              <a:t>2</a:t>
            </a:r>
          </a:p>
        </p:txBody>
      </p:sp>
      <p:sp>
        <p:nvSpPr>
          <p:cNvPr id="169" name="Peak count stack label P3 medium"/>
          <p:cNvSpPr txBox="1"/>
          <p:nvPr/>
        </p:nvSpPr>
        <p:spPr>
          <a:xfrm>
            <a:off x="8641080" y="5230368"/>
            <a:ext cx="2148840" cy="466344"/>
          </a:xfrm>
          <a:prstGeom prst="rect">
            <a:avLst/>
          </a:prstGeom>
          <a:noFill/>
        </p:spPr>
        <p:txBody>
          <a:bodyPr wrap="none" lIns="0" tIns="0" rIns="0" bIns="0" anchor="ctr">
            <a:spAutoFit/>
          </a:bodyPr>
          <a:lstStyle/>
          <a:p>
            <a:pPr algn="ctr"/>
            <a:r>
              <a:rPr sz="1100" b="1">
                <a:solidFill>
                  <a:srgbClr val="13233B"/>
                </a:solidFill>
                <a:latin typeface="Aptos"/>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49224" y="1069848"/>
            <a:ext cx="10881360" cy="420624"/>
          </a:xfrm>
          <a:prstGeom prst="rect">
            <a:avLst/>
          </a:prstGeom>
          <a:noFill/>
        </p:spPr>
        <p:txBody>
          <a:bodyPr wrap="square" lIns="36576" tIns="36576" r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847088"/>
            <a:ext cx="2907792" cy="1389888"/>
          </a:xfrm>
          <a:prstGeom prst="roundRect">
            <a:avLst/>
          </a:prstGeom>
          <a:solidFill>
            <a:srgbClr val="FFFFFF"/>
          </a:solidFill>
          <a:ln w="1524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276856"/>
            <a:ext cx="475488" cy="47548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8992" y="2432304"/>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20299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18A999"/>
                </a:solidFill>
                <a:latin typeface="Aptos"/>
              </a:rPr>
              <a:t>T cell</a:t>
            </a:r>
          </a:p>
        </p:txBody>
      </p:sp>
      <p:sp>
        <p:nvSpPr>
          <p:cNvPr id="10" name="Rounded Rectangle 9"/>
          <p:cNvSpPr/>
          <p:nvPr/>
        </p:nvSpPr>
        <p:spPr>
          <a:xfrm>
            <a:off x="1508760" y="2350008"/>
            <a:ext cx="859536" cy="210312"/>
          </a:xfrm>
          <a:prstGeom prst="roundRect">
            <a:avLst/>
          </a:prstGeom>
          <a:solidFill>
            <a:srgbClr val="DDF4F1"/>
          </a:solidFill>
          <a:ln w="12700">
            <a:solidFill>
              <a:srgbClr val="DDF4F1"/>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18A999"/>
                </a:solidFill>
                <a:latin typeface="Aptos"/>
              </a:rPr>
              <a:t>REFERENCE</a:t>
            </a:r>
          </a:p>
        </p:txBody>
      </p:sp>
      <p:sp>
        <p:nvSpPr>
          <p:cNvPr id="11" name="Rectangle 10"/>
          <p:cNvSpPr/>
          <p:nvPr/>
        </p:nvSpPr>
        <p:spPr>
          <a:xfrm>
            <a:off x="2414016" y="2404872"/>
            <a:ext cx="182880" cy="50292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40864" y="2240279"/>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13" name="TextBox 12"/>
          <p:cNvSpPr txBox="1"/>
          <p:nvPr/>
        </p:nvSpPr>
        <p:spPr>
          <a:xfrm>
            <a:off x="2340864"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14" name="Rectangle 13"/>
          <p:cNvSpPr/>
          <p:nvPr/>
        </p:nvSpPr>
        <p:spPr>
          <a:xfrm>
            <a:off x="2724912" y="2807208"/>
            <a:ext cx="182880" cy="10058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51760" y="2642615"/>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16" name="TextBox 15"/>
          <p:cNvSpPr txBox="1"/>
          <p:nvPr/>
        </p:nvSpPr>
        <p:spPr>
          <a:xfrm>
            <a:off x="2651760"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17" name="Rectangle 16"/>
          <p:cNvSpPr/>
          <p:nvPr/>
        </p:nvSpPr>
        <p:spPr>
          <a:xfrm>
            <a:off x="3035808" y="2505456"/>
            <a:ext cx="182880" cy="40233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62656" y="23408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19" name="TextBox 18"/>
          <p:cNvSpPr txBox="1"/>
          <p:nvPr/>
        </p:nvSpPr>
        <p:spPr>
          <a:xfrm>
            <a:off x="2962656"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20" name="Rectangle 19"/>
          <p:cNvSpPr/>
          <p:nvPr/>
        </p:nvSpPr>
        <p:spPr>
          <a:xfrm>
            <a:off x="3346704" y="2706623"/>
            <a:ext cx="182880" cy="201168"/>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73552" y="2542031"/>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22" name="TextBox 21"/>
          <p:cNvSpPr txBox="1"/>
          <p:nvPr/>
        </p:nvSpPr>
        <p:spPr>
          <a:xfrm>
            <a:off x="3273552"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23" name="Connector 22"/>
          <p:cNvCxnSpPr/>
          <p:nvPr/>
        </p:nvCxnSpPr>
        <p:spPr>
          <a:xfrm>
            <a:off x="2359152" y="2907791"/>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 y="3675887"/>
            <a:ext cx="2907792" cy="1389888"/>
          </a:xfrm>
          <a:prstGeom prst="roundRect">
            <a:avLst/>
          </a:prstGeom>
          <a:solidFill>
            <a:srgbClr val="FFFF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14400" y="4105655"/>
            <a:ext cx="475488" cy="47548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78992" y="4261103"/>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08760" y="38587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3B82F6"/>
                </a:solidFill>
                <a:latin typeface="Aptos"/>
              </a:rPr>
              <a:t>B cell</a:t>
            </a:r>
          </a:p>
        </p:txBody>
      </p:sp>
      <p:sp>
        <p:nvSpPr>
          <p:cNvPr id="28" name="Rounded Rectangle 27"/>
          <p:cNvSpPr/>
          <p:nvPr/>
        </p:nvSpPr>
        <p:spPr>
          <a:xfrm>
            <a:off x="1508760" y="4178807"/>
            <a:ext cx="859536" cy="210312"/>
          </a:xfrm>
          <a:prstGeom prst="roundRect">
            <a:avLst/>
          </a:prstGeom>
          <a:solidFill>
            <a:srgbClr val="E7F0FE"/>
          </a:solidFill>
          <a:ln w="12700">
            <a:solidFill>
              <a:srgbClr val="E7F0FE"/>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3B82F6"/>
                </a:solidFill>
                <a:latin typeface="Aptos"/>
              </a:rPr>
              <a:t>REFERENCE</a:t>
            </a:r>
          </a:p>
        </p:txBody>
      </p:sp>
      <p:sp>
        <p:nvSpPr>
          <p:cNvPr id="29" name="Rectangle 28"/>
          <p:cNvSpPr/>
          <p:nvPr/>
        </p:nvSpPr>
        <p:spPr>
          <a:xfrm>
            <a:off x="2414016" y="4636007"/>
            <a:ext cx="182880" cy="10058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340864" y="4471416"/>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31" name="TextBox 30"/>
          <p:cNvSpPr txBox="1"/>
          <p:nvPr/>
        </p:nvSpPr>
        <p:spPr>
          <a:xfrm>
            <a:off x="2340864"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32" name="Rectangle 31"/>
          <p:cNvSpPr/>
          <p:nvPr/>
        </p:nvSpPr>
        <p:spPr>
          <a:xfrm>
            <a:off x="2724912" y="4233672"/>
            <a:ext cx="182880" cy="50292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51760" y="4069080"/>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34" name="TextBox 33"/>
          <p:cNvSpPr txBox="1"/>
          <p:nvPr/>
        </p:nvSpPr>
        <p:spPr>
          <a:xfrm>
            <a:off x="2651760"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35" name="Rectangle 34"/>
          <p:cNvSpPr/>
          <p:nvPr/>
        </p:nvSpPr>
        <p:spPr>
          <a:xfrm>
            <a:off x="3035808" y="4535424"/>
            <a:ext cx="182880" cy="201168"/>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62656" y="4370832"/>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37" name="TextBox 36"/>
          <p:cNvSpPr txBox="1"/>
          <p:nvPr/>
        </p:nvSpPr>
        <p:spPr>
          <a:xfrm>
            <a:off x="2962656"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38" name="Rectangle 37"/>
          <p:cNvSpPr/>
          <p:nvPr/>
        </p:nvSpPr>
        <p:spPr>
          <a:xfrm>
            <a:off x="3346704" y="4334255"/>
            <a:ext cx="182880" cy="40233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73552" y="41696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40" name="TextBox 39"/>
          <p:cNvSpPr txBox="1"/>
          <p:nvPr/>
        </p:nvSpPr>
        <p:spPr>
          <a:xfrm>
            <a:off x="3273552"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41" name="Connector 40"/>
          <p:cNvCxnSpPr/>
          <p:nvPr/>
        </p:nvCxnSpPr>
        <p:spPr>
          <a:xfrm>
            <a:off x="2359152" y="4736592"/>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9536" y="5212080"/>
            <a:ext cx="2578608" cy="219456"/>
          </a:xfrm>
          <a:prstGeom prst="rect">
            <a:avLst/>
          </a:prstGeom>
          <a:noFill/>
        </p:spPr>
        <p:txBody>
          <a:bodyPr wrap="square" lIns="27432" tIns="27432" rIns="27432" bIns="27432" anchor="t">
            <a:spAutoFit/>
          </a:bodyPr>
          <a:lstStyle/>
          <a:p>
            <a:pPr algn="ctr">
              <a:spcBef>
                <a:spcPts val="0"/>
              </a:spcBef>
              <a:spcAft>
                <a:spcPts val="0"/>
              </a:spcAft>
            </a:pPr>
            <a:r>
              <a:rPr sz="1050" b="1">
                <a:solidFill>
                  <a:srgbClr val="52627A"/>
                </a:solidFill>
                <a:latin typeface="Aptos"/>
              </a:rPr>
              <a:t>reference ATAC count profiles</a:t>
            </a:r>
          </a:p>
        </p:txBody>
      </p:sp>
      <p:sp>
        <p:nvSpPr>
          <p:cNvPr id="43" name="TextBox 42"/>
          <p:cNvSpPr txBox="1"/>
          <p:nvPr/>
        </p:nvSpPr>
        <p:spPr>
          <a:xfrm>
            <a:off x="3611880" y="3099816"/>
            <a:ext cx="329184" cy="475488"/>
          </a:xfrm>
          <a:prstGeom prst="rect">
            <a:avLst/>
          </a:prstGeom>
          <a:noFill/>
        </p:spPr>
        <p:txBody>
          <a:bodyPr wrap="square" lIns="27432" tIns="27432" rIns="27432" bIns="27432" anchor="t">
            <a:spAutoFit/>
          </a:bodyPr>
          <a:lstStyle/>
          <a:p>
            <a:pPr algn="ctr">
              <a:spcBef>
                <a:spcPts val="0"/>
              </a:spcBef>
              <a:spcAft>
                <a:spcPts val="0"/>
              </a:spcAft>
            </a:pPr>
            <a:r>
              <a:rPr sz="2700" b="1">
                <a:solidFill>
                  <a:srgbClr val="52627A"/>
                </a:solidFill>
                <a:latin typeface="Aptos"/>
              </a:rPr>
              <a:t>+</a:t>
            </a:r>
          </a:p>
        </p:txBody>
      </p:sp>
      <p:sp>
        <p:nvSpPr>
          <p:cNvPr id="44" name="Rounded Rectangle 43"/>
          <p:cNvSpPr/>
          <p:nvPr/>
        </p:nvSpPr>
        <p:spPr>
          <a:xfrm>
            <a:off x="4005072" y="1847088"/>
            <a:ext cx="2944368" cy="321868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97680" y="2084831"/>
            <a:ext cx="2359152" cy="256032"/>
          </a:xfrm>
          <a:prstGeom prst="rect">
            <a:avLst/>
          </a:prstGeom>
          <a:noFill/>
        </p:spPr>
        <p:txBody>
          <a:bodyPr wrap="square" lIns="27432" tIns="27432" rIns="27432" bIns="27432" anchor="t">
            <a:spAutoFit/>
          </a:bodyPr>
          <a:lstStyle/>
          <a:p>
            <a:pPr algn="ctr">
              <a:spcBef>
                <a:spcPts val="0"/>
              </a:spcBef>
              <a:spcAft>
                <a:spcPts val="0"/>
              </a:spcAft>
            </a:pPr>
            <a:r>
              <a:rPr sz="1400" b="1">
                <a:solidFill>
                  <a:srgbClr val="8B5CF6"/>
                </a:solidFill>
                <a:latin typeface="Aptos"/>
              </a:rPr>
              <a:t>UNKNOWN MIXED SPOT</a:t>
            </a:r>
          </a:p>
        </p:txBody>
      </p:sp>
      <p:sp>
        <p:nvSpPr>
          <p:cNvPr id="46" name="TextBox 45"/>
          <p:cNvSpPr txBox="1"/>
          <p:nvPr/>
        </p:nvSpPr>
        <p:spPr>
          <a:xfrm>
            <a:off x="4306824" y="2441448"/>
            <a:ext cx="2340864" cy="219456"/>
          </a:xfrm>
          <a:prstGeom prst="rect">
            <a:avLst/>
          </a:prstGeom>
          <a:noFill/>
        </p:spPr>
        <p:txBody>
          <a:bodyPr wrap="square" lIns="27432" tIns="27432" rIns="27432" bIns="27432" anchor="t">
            <a:spAutoFit/>
          </a:bodyPr>
          <a:lstStyle/>
          <a:p>
            <a:pPr algn="ctr">
              <a:spcBef>
                <a:spcPts val="0"/>
              </a:spcBef>
              <a:spcAft>
                <a:spcPts val="0"/>
              </a:spcAft>
            </a:pPr>
            <a:r>
              <a:rPr sz="1050" b="0">
                <a:solidFill>
                  <a:srgbClr val="52627A"/>
                </a:solidFill>
                <a:latin typeface="Aptos"/>
              </a:rPr>
              <a:t>observed ATAC count profile</a:t>
            </a:r>
          </a:p>
        </p:txBody>
      </p:sp>
      <p:sp>
        <p:nvSpPr>
          <p:cNvPr id="47" name="Rounded Rectangle 46"/>
          <p:cNvSpPr/>
          <p:nvPr/>
        </p:nvSpPr>
        <p:spPr>
          <a:xfrm>
            <a:off x="4297680" y="2889504"/>
            <a:ext cx="2359152" cy="1865376"/>
          </a:xfrm>
          <a:prstGeom prst="roundRect">
            <a:avLst/>
          </a:prstGeom>
          <a:solidFill>
            <a:srgbClr val="EEE8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535424" y="3529584"/>
            <a:ext cx="310896" cy="87782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62272" y="3364992"/>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8</a:t>
            </a:r>
          </a:p>
        </p:txBody>
      </p:sp>
      <p:sp>
        <p:nvSpPr>
          <p:cNvPr id="50" name="TextBox 49"/>
          <p:cNvSpPr txBox="1"/>
          <p:nvPr/>
        </p:nvSpPr>
        <p:spPr>
          <a:xfrm>
            <a:off x="4462272"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P1</a:t>
            </a:r>
          </a:p>
        </p:txBody>
      </p:sp>
      <p:sp>
        <p:nvSpPr>
          <p:cNvPr id="51" name="Rectangle 50"/>
          <p:cNvSpPr/>
          <p:nvPr/>
        </p:nvSpPr>
        <p:spPr>
          <a:xfrm>
            <a:off x="5047488" y="3968496"/>
            <a:ext cx="310896" cy="438912"/>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974336" y="3803904"/>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4</a:t>
            </a:r>
          </a:p>
        </p:txBody>
      </p:sp>
      <p:sp>
        <p:nvSpPr>
          <p:cNvPr id="53" name="TextBox 52"/>
          <p:cNvSpPr txBox="1"/>
          <p:nvPr/>
        </p:nvSpPr>
        <p:spPr>
          <a:xfrm>
            <a:off x="4974336"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P2</a:t>
            </a:r>
          </a:p>
        </p:txBody>
      </p:sp>
      <p:sp>
        <p:nvSpPr>
          <p:cNvPr id="54" name="Rectangle 53"/>
          <p:cNvSpPr/>
          <p:nvPr/>
        </p:nvSpPr>
        <p:spPr>
          <a:xfrm>
            <a:off x="5559552" y="3639312"/>
            <a:ext cx="310896" cy="76809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86400" y="3474720"/>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7</a:t>
            </a:r>
          </a:p>
        </p:txBody>
      </p:sp>
      <p:sp>
        <p:nvSpPr>
          <p:cNvPr id="56" name="TextBox 55"/>
          <p:cNvSpPr txBox="1"/>
          <p:nvPr/>
        </p:nvSpPr>
        <p:spPr>
          <a:xfrm>
            <a:off x="5486400"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P3</a:t>
            </a:r>
          </a:p>
        </p:txBody>
      </p:sp>
      <p:sp>
        <p:nvSpPr>
          <p:cNvPr id="57" name="Rectangle 56"/>
          <p:cNvSpPr/>
          <p:nvPr/>
        </p:nvSpPr>
        <p:spPr>
          <a:xfrm>
            <a:off x="6071616" y="3858768"/>
            <a:ext cx="310896" cy="54864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98464" y="3694176"/>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5</a:t>
            </a:r>
          </a:p>
        </p:txBody>
      </p:sp>
      <p:sp>
        <p:nvSpPr>
          <p:cNvPr id="59" name="TextBox 58"/>
          <p:cNvSpPr txBox="1"/>
          <p:nvPr/>
        </p:nvSpPr>
        <p:spPr>
          <a:xfrm>
            <a:off x="5998464"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P4</a:t>
            </a:r>
          </a:p>
        </p:txBody>
      </p:sp>
      <p:cxnSp>
        <p:nvCxnSpPr>
          <p:cNvPr id="60" name="Connector 59"/>
          <p:cNvCxnSpPr/>
          <p:nvPr/>
        </p:nvCxnSpPr>
        <p:spPr>
          <a:xfrm>
            <a:off x="4480560" y="4407408"/>
            <a:ext cx="195681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79976" y="4800600"/>
            <a:ext cx="2194560" cy="182880"/>
          </a:xfrm>
          <a:prstGeom prst="rect">
            <a:avLst/>
          </a:prstGeom>
          <a:noFill/>
        </p:spPr>
        <p:txBody>
          <a:bodyPr wrap="square" lIns="27432" tIns="27432" rIns="27432" bIns="27432" anchor="t">
            <a:spAutoFit/>
          </a:bodyPr>
          <a:lstStyle/>
          <a:p>
            <a:pPr algn="ctr">
              <a:spcBef>
                <a:spcPts val="0"/>
              </a:spcBef>
              <a:spcAft>
                <a:spcPts val="0"/>
              </a:spcAft>
            </a:pPr>
            <a:r>
              <a:rPr sz="869" b="0">
                <a:solidFill>
                  <a:srgbClr val="52627A"/>
                </a:solidFill>
                <a:latin typeface="Aptos"/>
              </a:rPr>
              <a:t>same four peaks • same count scale</a:t>
            </a:r>
          </a:p>
        </p:txBody>
      </p:sp>
      <p:sp>
        <p:nvSpPr>
          <p:cNvPr id="62" name="Right Arrow 61"/>
          <p:cNvSpPr/>
          <p:nvPr/>
        </p:nvSpPr>
        <p:spPr>
          <a:xfrm>
            <a:off x="7114032" y="2980944"/>
            <a:ext cx="859536" cy="603504"/>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7114032" y="3675887"/>
            <a:ext cx="859536"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19" b="1">
                <a:solidFill>
                  <a:srgbClr val="FFFFFF"/>
                </a:solidFill>
                <a:latin typeface="Aptos"/>
              </a:rPr>
              <a:t>BAYESIAN
MODEL</a:t>
            </a:r>
          </a:p>
        </p:txBody>
      </p:sp>
      <p:sp>
        <p:nvSpPr>
          <p:cNvPr id="64" name="Rounded Rectangle 63"/>
          <p:cNvSpPr/>
          <p:nvPr/>
        </p:nvSpPr>
        <p:spPr>
          <a:xfrm>
            <a:off x="8165592" y="1847088"/>
            <a:ext cx="3383280" cy="3218688"/>
          </a:xfrm>
          <a:prstGeom prst="roundRect">
            <a:avLst/>
          </a:prstGeom>
          <a:solidFill>
            <a:srgbClr val="FFFFFF"/>
          </a:solidFill>
          <a:ln w="1524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439912" y="2112264"/>
            <a:ext cx="2834640" cy="310896"/>
          </a:xfrm>
          <a:prstGeom prst="rect">
            <a:avLst/>
          </a:prstGeom>
          <a:noFill/>
        </p:spPr>
        <p:txBody>
          <a:bodyPr wrap="square" lIns="27432" tIns="27432" rIns="27432" bIns="27432" anchor="t">
            <a:spAutoFit/>
          </a:bodyPr>
          <a:lstStyle/>
          <a:p>
            <a:pPr algn="ctr">
              <a:spcBef>
                <a:spcPts val="0"/>
              </a:spcBef>
              <a:spcAft>
                <a:spcPts val="0"/>
              </a:spcAft>
            </a:pPr>
            <a:r>
              <a:rPr sz="1700" b="1">
                <a:solidFill>
                  <a:srgbClr val="13233B"/>
                </a:solidFill>
                <a:latin typeface="Aptos"/>
              </a:rPr>
              <a:t>Estimated recipe</a:t>
            </a:r>
          </a:p>
        </p:txBody>
      </p:sp>
      <p:sp>
        <p:nvSpPr>
          <p:cNvPr id="66" name="TextBox 65"/>
          <p:cNvSpPr txBox="1"/>
          <p:nvPr/>
        </p:nvSpPr>
        <p:spPr>
          <a:xfrm>
            <a:off x="8439912" y="2496312"/>
            <a:ext cx="2834640" cy="310896"/>
          </a:xfrm>
          <a:prstGeom prst="rect">
            <a:avLst/>
          </a:prstGeom>
          <a:noFill/>
        </p:spPr>
        <p:txBody>
          <a:bodyPr wrap="square" lIns="27432" tIns="27432" rIns="27432" bIns="27432" anchor="t">
            <a:spAutoFit/>
          </a:bodyPr>
          <a:lstStyle/>
          <a:p>
            <a:pPr algn="ctr">
              <a:spcBef>
                <a:spcPts val="0"/>
              </a:spcBef>
              <a:spcAft>
                <a:spcPts val="0"/>
              </a:spcAft>
            </a:pPr>
            <a:r>
              <a:rPr sz="1900" b="1">
                <a:solidFill>
                  <a:srgbClr val="18A999"/>
                </a:solidFill>
                <a:latin typeface="Aptos"/>
              </a:rPr>
              <a:t>75% T  +  25% B</a:t>
            </a:r>
          </a:p>
        </p:txBody>
      </p:sp>
      <p:sp>
        <p:nvSpPr>
          <p:cNvPr id="67" name="Rectangle 66"/>
          <p:cNvSpPr/>
          <p:nvPr/>
        </p:nvSpPr>
        <p:spPr>
          <a:xfrm>
            <a:off x="8540496" y="3072384"/>
            <a:ext cx="1975104" cy="53035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0515600" y="3072384"/>
            <a:ext cx="658367"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540496" y="3072384"/>
            <a:ext cx="2633472" cy="53035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40496" y="3072384"/>
            <a:ext cx="1975104" cy="530352"/>
          </a:xfrm>
          <a:prstGeom prst="rect">
            <a:avLst/>
          </a:prstGeom>
          <a:noFill/>
        </p:spPr>
        <p:txBody>
          <a:bodyPr wrap="square" lIns="0" tIns="0" rIns="0" bIns="0" anchor="ctr">
            <a:spAutoFit/>
          </a:bodyPr>
          <a:lstStyle/>
          <a:p>
            <a:pPr algn="ctr">
              <a:spcBef>
                <a:spcPts val="0"/>
              </a:spcBef>
              <a:spcAft>
                <a:spcPts val="0"/>
              </a:spcAft>
            </a:pPr>
            <a:r>
              <a:rPr sz="1300" b="1">
                <a:solidFill>
                  <a:srgbClr val="FFFFFF"/>
                </a:solidFill>
                <a:latin typeface="Aptos"/>
              </a:rPr>
              <a:t>75%</a:t>
            </a:r>
          </a:p>
        </p:txBody>
      </p:sp>
      <p:sp>
        <p:nvSpPr>
          <p:cNvPr id="71" name="TextBox 70"/>
          <p:cNvSpPr txBox="1"/>
          <p:nvPr/>
        </p:nvSpPr>
        <p:spPr>
          <a:xfrm>
            <a:off x="10515600" y="3072384"/>
            <a:ext cx="658367" cy="53035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25%</a:t>
            </a:r>
          </a:p>
        </p:txBody>
      </p:sp>
      <p:sp>
        <p:nvSpPr>
          <p:cNvPr id="72" name="Oval 71"/>
          <p:cNvSpPr/>
          <p:nvPr/>
        </p:nvSpPr>
        <p:spPr>
          <a:xfrm>
            <a:off x="8558784" y="3886200"/>
            <a:ext cx="182880" cy="18288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842248" y="3831335"/>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T cell</a:t>
            </a:r>
          </a:p>
        </p:txBody>
      </p:sp>
      <p:sp>
        <p:nvSpPr>
          <p:cNvPr id="74" name="TextBox 73"/>
          <p:cNvSpPr txBox="1"/>
          <p:nvPr/>
        </p:nvSpPr>
        <p:spPr>
          <a:xfrm>
            <a:off x="10442448" y="3831335"/>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75%</a:t>
            </a:r>
          </a:p>
        </p:txBody>
      </p:sp>
      <p:sp>
        <p:nvSpPr>
          <p:cNvPr id="75" name="Oval 74"/>
          <p:cNvSpPr/>
          <p:nvPr/>
        </p:nvSpPr>
        <p:spPr>
          <a:xfrm>
            <a:off x="8558784" y="4343400"/>
            <a:ext cx="182880" cy="18288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842248" y="4288536"/>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B cell</a:t>
            </a:r>
          </a:p>
        </p:txBody>
      </p:sp>
      <p:sp>
        <p:nvSpPr>
          <p:cNvPr id="77" name="TextBox 76"/>
          <p:cNvSpPr txBox="1"/>
          <p:nvPr/>
        </p:nvSpPr>
        <p:spPr>
          <a:xfrm>
            <a:off x="10442448" y="4288536"/>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25%</a:t>
            </a:r>
          </a:p>
        </p:txBody>
      </p:sp>
      <p:sp>
        <p:nvSpPr>
          <p:cNvPr id="78" name="Rounded Rectangle 77"/>
          <p:cNvSpPr/>
          <p:nvPr/>
        </p:nvSpPr>
        <p:spPr>
          <a:xfrm>
            <a:off x="8467344" y="4663440"/>
            <a:ext cx="2779776" cy="25603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30" b="1">
                <a:solidFill>
                  <a:srgbClr val="FFFFFF"/>
                </a:solidFill>
                <a:latin typeface="Aptos"/>
              </a:rPr>
              <a:t>mixed = 0.75 × T + 0.25 × B</a:t>
            </a:r>
          </a:p>
        </p:txBody>
      </p:sp>
      <p:sp>
        <p:nvSpPr>
          <p:cNvPr id="79" name="Rounded Rectangle 78"/>
          <p:cNvSpPr/>
          <p:nvPr/>
        </p:nvSpPr>
        <p:spPr>
          <a:xfrm>
            <a:off x="1143000" y="5650992"/>
            <a:ext cx="9912096"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FFFFFF"/>
                </a:solidFill>
                <a:latin typeface="Aptos"/>
              </a:rPr>
              <a:t>THE BAYESIAN MODEL FINDS THE T/B WEIGHTS THAT BEST RECONSTRUCT THE OBSERVED ATAC COUNTS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PROBLEM</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One spatial spot can contain several cell types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04</a:t>
            </a:r>
          </a:p>
        </p:txBody>
      </p:sp>
      <p:sp>
        <p:nvSpPr>
          <p:cNvPr id="5" name="TextBox 4"/>
          <p:cNvSpPr txBox="1"/>
          <p:nvPr/>
        </p:nvSpPr>
        <p:spPr>
          <a:xfrm>
            <a:off x="640080" y="1078992"/>
            <a:ext cx="10698480" cy="438912"/>
          </a:xfrm>
          <a:prstGeom prst="rect">
            <a:avLst/>
          </a:prstGeom>
          <a:noFill/>
        </p:spPr>
        <p:txBody>
          <a:bodyPr wrap="square" lIns="36576" tIns="36576" rIns="36576" bIns="36576" anchor="t">
            <a:spAutoFit/>
          </a:bodyPr>
          <a:lstStyle/>
          <a:p>
            <a:pPr algn="l">
              <a:spcBef>
                <a:spcPts val="0"/>
              </a:spcBef>
              <a:spcAft>
                <a:spcPts val="0"/>
              </a:spcAft>
            </a:pPr>
            <a:r>
              <a:rPr sz="1900" b="0" i="0">
                <a:solidFill>
                  <a:srgbClr val="52627A"/>
                </a:solidFill>
                <a:latin typeface="Aptos"/>
              </a:rPr>
              <a:t>A spatial assay preserves location—but each spot may collect fragments from multiple nearby nuclei.</a:t>
            </a:r>
          </a:p>
        </p:txBody>
      </p:sp>
      <p:sp>
        <p:nvSpPr>
          <p:cNvPr id="6" name="Rounded Rectangle 5"/>
          <p:cNvSpPr/>
          <p:nvPr/>
        </p:nvSpPr>
        <p:spPr>
          <a:xfrm>
            <a:off x="658368" y="1700784"/>
            <a:ext cx="4663440" cy="415137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01952"/>
            <a:ext cx="2011680" cy="320040"/>
          </a:xfrm>
          <a:prstGeom prst="rect">
            <a:avLst/>
          </a:prstGeom>
          <a:noFill/>
        </p:spPr>
        <p:txBody>
          <a:bodyPr wrap="square" lIns="36576" tIns="36576" rIns="36576" bIns="36576" anchor="t">
            <a:spAutoFit/>
          </a:bodyPr>
          <a:lstStyle/>
          <a:p>
            <a:pPr algn="l">
              <a:spcBef>
                <a:spcPts val="0"/>
              </a:spcBef>
              <a:spcAft>
                <a:spcPts val="0"/>
              </a:spcAft>
            </a:pPr>
            <a:r>
              <a:rPr sz="1800" b="1" i="0">
                <a:solidFill>
                  <a:srgbClr val="13233B"/>
                </a:solidFill>
                <a:latin typeface="Aptos"/>
              </a:rPr>
              <a:t>Tissue section</a:t>
            </a:r>
          </a:p>
        </p:txBody>
      </p:sp>
      <p:sp>
        <p:nvSpPr>
          <p:cNvPr id="8" name="Oval 7"/>
          <p:cNvSpPr/>
          <p:nvPr/>
        </p:nvSpPr>
        <p:spPr>
          <a:xfrm>
            <a:off x="987552"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37944"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688336"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538728"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87552" y="3200400"/>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837944" y="3200400"/>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688336" y="3200400"/>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578608" y="3090672"/>
            <a:ext cx="749808" cy="749808"/>
          </a:xfrm>
          <a:prstGeom prst="ellipse">
            <a:avLst/>
          </a:prstGeom>
          <a:noFill/>
          <a:ln w="381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538728" y="3200400"/>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7552" y="3913632"/>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837944"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688336"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538728" y="3913632"/>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87552"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837944"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688336"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538728"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5422392"/>
            <a:ext cx="3493008"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each circle = one measured spot</a:t>
            </a:r>
          </a:p>
        </p:txBody>
      </p:sp>
      <p:sp>
        <p:nvSpPr>
          <p:cNvPr id="26" name="Right Arrow 25"/>
          <p:cNvSpPr/>
          <p:nvPr/>
        </p:nvSpPr>
        <p:spPr>
          <a:xfrm>
            <a:off x="5440680" y="3054096"/>
            <a:ext cx="1005840" cy="65836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647688" y="1700784"/>
            <a:ext cx="4901184" cy="41513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86016" y="1901952"/>
            <a:ext cx="3566160" cy="320040"/>
          </a:xfrm>
          <a:prstGeom prst="rect">
            <a:avLst/>
          </a:prstGeom>
          <a:noFill/>
        </p:spPr>
        <p:txBody>
          <a:bodyPr wrap="square" lIns="36576" tIns="36576" rIns="36576" bIns="36576" anchor="t">
            <a:spAutoFit/>
          </a:bodyPr>
          <a:lstStyle/>
          <a:p>
            <a:pPr algn="l">
              <a:spcBef>
                <a:spcPts val="0"/>
              </a:spcBef>
              <a:spcAft>
                <a:spcPts val="0"/>
              </a:spcAft>
            </a:pPr>
            <a:r>
              <a:rPr sz="1800" b="1" i="0">
                <a:solidFill>
                  <a:srgbClr val="FFFFFF"/>
                </a:solidFill>
                <a:latin typeface="Aptos"/>
              </a:rPr>
              <a:t>Zoom into one spot</a:t>
            </a:r>
          </a:p>
        </p:txBody>
      </p:sp>
      <p:sp>
        <p:nvSpPr>
          <p:cNvPr id="29" name="Oval 28"/>
          <p:cNvSpPr/>
          <p:nvPr/>
        </p:nvSpPr>
        <p:spPr>
          <a:xfrm>
            <a:off x="7077456" y="2596896"/>
            <a:ext cx="950976" cy="950976"/>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400787" y="2910718"/>
            <a:ext cx="256763" cy="256763"/>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010144" y="2980944"/>
            <a:ext cx="841248" cy="84124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296168" y="3258555"/>
            <a:ext cx="227136" cy="227136"/>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750808" y="2468880"/>
            <a:ext cx="1024128" cy="102412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099011" y="2806842"/>
            <a:ext cx="276514" cy="27651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710928" y="3108960"/>
            <a:ext cx="804672" cy="80467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984516" y="3374501"/>
            <a:ext cx="217261" cy="21726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387584" y="2459736"/>
            <a:ext cx="749808" cy="74980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642518" y="2707172"/>
            <a:ext cx="202448" cy="20244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a:off x="7040880" y="4297680"/>
            <a:ext cx="402336"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40880"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44321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36408" y="4572000"/>
            <a:ext cx="658368"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3640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94776"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31936" y="4297680"/>
            <a:ext cx="850392"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63193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482328"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427464" y="4572000"/>
            <a:ext cx="51206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427464"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93952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222992" y="4297680"/>
            <a:ext cx="731520"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22299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95451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022592" y="5074920"/>
            <a:ext cx="4096512" cy="365760"/>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All fragments arrive mixed together</a:t>
            </a:r>
          </a:p>
        </p:txBody>
      </p:sp>
      <p:sp>
        <p:nvSpPr>
          <p:cNvPr id="55" name="Rounded Rectangle 54"/>
          <p:cNvSpPr/>
          <p:nvPr/>
        </p:nvSpPr>
        <p:spPr>
          <a:xfrm>
            <a:off x="7022592" y="5486400"/>
            <a:ext cx="4078224"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WHO IS IN THE SPOT—and in what proportions?</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Deng et al., Nature (2022). Spot drawing is conceptual.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Most existing algorithms start from the same input table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06</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Methods first collapse every ATAC peak to one count, then ask which reference mixture best reconstructs the spot.</a:t>
            </a:r>
          </a:p>
        </p:txBody>
      </p:sp>
      <p:sp>
        <p:nvSpPr>
          <p:cNvPr id="6" name="Rounded Rectangle 5"/>
          <p:cNvSpPr/>
          <p:nvPr/>
        </p:nvSpPr>
        <p:spPr>
          <a:xfrm>
            <a:off x="694944" y="1728216"/>
            <a:ext cx="3063240" cy="396849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956816"/>
            <a:ext cx="1078992"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REFERENCE</a:t>
            </a:r>
          </a:p>
        </p:txBody>
      </p:sp>
      <p:sp>
        <p:nvSpPr>
          <p:cNvPr id="8" name="TextBox 7"/>
          <p:cNvSpPr txBox="1"/>
          <p:nvPr/>
        </p:nvSpPr>
        <p:spPr>
          <a:xfrm>
            <a:off x="2112264" y="1920240"/>
            <a:ext cx="1325880"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 type × peak</a:t>
            </a:r>
          </a:p>
        </p:txBody>
      </p:sp>
      <p:sp>
        <p:nvSpPr>
          <p:cNvPr id="9" name="TextBox 8"/>
          <p:cNvSpPr txBox="1"/>
          <p:nvPr/>
        </p:nvSpPr>
        <p:spPr>
          <a:xfrm>
            <a:off x="905256" y="2468880"/>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3B82F6"/>
                </a:solidFill>
                <a:latin typeface="Aptos"/>
              </a:rPr>
              <a:t>A</a:t>
            </a:r>
          </a:p>
        </p:txBody>
      </p:sp>
      <p:sp>
        <p:nvSpPr>
          <p:cNvPr id="10" name="TextBox 9"/>
          <p:cNvSpPr txBox="1"/>
          <p:nvPr/>
        </p:nvSpPr>
        <p:spPr>
          <a:xfrm>
            <a:off x="905256" y="3008376"/>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0C7F75"/>
                </a:solidFill>
                <a:latin typeface="Aptos"/>
              </a:rPr>
              <a:t>B</a:t>
            </a:r>
          </a:p>
        </p:txBody>
      </p:sp>
      <p:sp>
        <p:nvSpPr>
          <p:cNvPr id="11" name="TextBox 10"/>
          <p:cNvSpPr txBox="1"/>
          <p:nvPr/>
        </p:nvSpPr>
        <p:spPr>
          <a:xfrm>
            <a:off x="905256" y="3547872"/>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F26B5B"/>
                </a:solidFill>
                <a:latin typeface="Aptos"/>
              </a:rPr>
              <a:t>C</a:t>
            </a:r>
          </a:p>
        </p:txBody>
      </p:sp>
      <p:sp>
        <p:nvSpPr>
          <p:cNvPr id="12" name="Rectangle 11"/>
          <p:cNvSpPr/>
          <p:nvPr/>
        </p:nvSpPr>
        <p:spPr>
          <a:xfrm>
            <a:off x="1389888"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89888"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90</a:t>
            </a:r>
          </a:p>
        </p:txBody>
      </p:sp>
      <p:sp>
        <p:nvSpPr>
          <p:cNvPr id="14" name="Rectangle 13"/>
          <p:cNvSpPr/>
          <p:nvPr/>
        </p:nvSpPr>
        <p:spPr>
          <a:xfrm>
            <a:off x="1901952"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01952"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24</a:t>
            </a:r>
          </a:p>
        </p:txBody>
      </p:sp>
      <p:sp>
        <p:nvSpPr>
          <p:cNvPr id="16" name="Rectangle 15"/>
          <p:cNvSpPr/>
          <p:nvPr/>
        </p:nvSpPr>
        <p:spPr>
          <a:xfrm>
            <a:off x="2414016"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14016"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42</a:t>
            </a:r>
          </a:p>
        </p:txBody>
      </p:sp>
      <p:sp>
        <p:nvSpPr>
          <p:cNvPr id="18" name="Rectangle 17"/>
          <p:cNvSpPr/>
          <p:nvPr/>
        </p:nvSpPr>
        <p:spPr>
          <a:xfrm>
            <a:off x="2926080"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0"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18</a:t>
            </a:r>
          </a:p>
        </p:txBody>
      </p:sp>
      <p:sp>
        <p:nvSpPr>
          <p:cNvPr id="20" name="Rectangle 19"/>
          <p:cNvSpPr/>
          <p:nvPr/>
        </p:nvSpPr>
        <p:spPr>
          <a:xfrm>
            <a:off x="1389888"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20</a:t>
            </a:r>
          </a:p>
        </p:txBody>
      </p:sp>
      <p:sp>
        <p:nvSpPr>
          <p:cNvPr id="22" name="Rectangle 21"/>
          <p:cNvSpPr/>
          <p:nvPr/>
        </p:nvSpPr>
        <p:spPr>
          <a:xfrm>
            <a:off x="1901952"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901952"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82</a:t>
            </a:r>
          </a:p>
        </p:txBody>
      </p:sp>
      <p:sp>
        <p:nvSpPr>
          <p:cNvPr id="24" name="Rectangle 23"/>
          <p:cNvSpPr/>
          <p:nvPr/>
        </p:nvSpPr>
        <p:spPr>
          <a:xfrm>
            <a:off x="2414016"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14016"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31</a:t>
            </a:r>
          </a:p>
        </p:txBody>
      </p:sp>
      <p:sp>
        <p:nvSpPr>
          <p:cNvPr id="26" name="Rectangle 25"/>
          <p:cNvSpPr/>
          <p:nvPr/>
        </p:nvSpPr>
        <p:spPr>
          <a:xfrm>
            <a:off x="2926080"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54</a:t>
            </a:r>
          </a:p>
        </p:txBody>
      </p:sp>
      <p:sp>
        <p:nvSpPr>
          <p:cNvPr id="28" name="Rectangle 27"/>
          <p:cNvSpPr/>
          <p:nvPr/>
        </p:nvSpPr>
        <p:spPr>
          <a:xfrm>
            <a:off x="1389888"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9888"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36</a:t>
            </a:r>
          </a:p>
        </p:txBody>
      </p:sp>
      <p:sp>
        <p:nvSpPr>
          <p:cNvPr id="30" name="Rectangle 29"/>
          <p:cNvSpPr/>
          <p:nvPr/>
        </p:nvSpPr>
        <p:spPr>
          <a:xfrm>
            <a:off x="1901952"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901952"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19</a:t>
            </a:r>
          </a:p>
        </p:txBody>
      </p:sp>
      <p:sp>
        <p:nvSpPr>
          <p:cNvPr id="32" name="Rectangle 31"/>
          <p:cNvSpPr/>
          <p:nvPr/>
        </p:nvSpPr>
        <p:spPr>
          <a:xfrm>
            <a:off x="2414016"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14016"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88</a:t>
            </a:r>
          </a:p>
        </p:txBody>
      </p:sp>
      <p:sp>
        <p:nvSpPr>
          <p:cNvPr id="34" name="Rectangle 33"/>
          <p:cNvSpPr/>
          <p:nvPr/>
        </p:nvSpPr>
        <p:spPr>
          <a:xfrm>
            <a:off x="2926080"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26080"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46</a:t>
            </a:r>
          </a:p>
        </p:txBody>
      </p:sp>
      <p:sp>
        <p:nvSpPr>
          <p:cNvPr id="36" name="TextBox 35"/>
          <p:cNvSpPr txBox="1"/>
          <p:nvPr/>
        </p:nvSpPr>
        <p:spPr>
          <a:xfrm>
            <a:off x="1371600"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37" name="TextBox 36"/>
          <p:cNvSpPr txBox="1"/>
          <p:nvPr/>
        </p:nvSpPr>
        <p:spPr>
          <a:xfrm>
            <a:off x="1883664"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38" name="TextBox 37"/>
          <p:cNvSpPr txBox="1"/>
          <p:nvPr/>
        </p:nvSpPr>
        <p:spPr>
          <a:xfrm>
            <a:off x="2395728"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39" name="TextBox 38"/>
          <p:cNvSpPr txBox="1"/>
          <p:nvPr/>
        </p:nvSpPr>
        <p:spPr>
          <a:xfrm>
            <a:off x="2907792"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40" name="TextBox 39"/>
          <p:cNvSpPr txBox="1"/>
          <p:nvPr/>
        </p:nvSpPr>
        <p:spPr>
          <a:xfrm>
            <a:off x="969264" y="4617720"/>
            <a:ext cx="2514600" cy="548640"/>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A fingerprint learned from labeled single cells</a:t>
            </a:r>
          </a:p>
        </p:txBody>
      </p:sp>
      <p:sp>
        <p:nvSpPr>
          <p:cNvPr id="41" name="TextBox 40"/>
          <p:cNvSpPr txBox="1"/>
          <p:nvPr/>
        </p:nvSpPr>
        <p:spPr>
          <a:xfrm>
            <a:off x="3886200" y="3282696"/>
            <a:ext cx="429768" cy="512064"/>
          </a:xfrm>
          <a:prstGeom prst="rect">
            <a:avLst/>
          </a:prstGeom>
          <a:noFill/>
        </p:spPr>
        <p:txBody>
          <a:bodyPr wrap="square" lIns="36576" tIns="36576" rIns="36576" bIns="36576" anchor="t">
            <a:spAutoFit/>
          </a:bodyPr>
          <a:lstStyle/>
          <a:p>
            <a:pPr algn="ctr">
              <a:spcBef>
                <a:spcPts val="0"/>
              </a:spcBef>
              <a:spcAft>
                <a:spcPts val="0"/>
              </a:spcAft>
            </a:pPr>
            <a:r>
              <a:rPr sz="3200" b="1" i="0">
                <a:solidFill>
                  <a:srgbClr val="18A999"/>
                </a:solidFill>
                <a:latin typeface="Aptos"/>
              </a:rPr>
              <a:t>+</a:t>
            </a:r>
          </a:p>
        </p:txBody>
      </p:sp>
      <p:sp>
        <p:nvSpPr>
          <p:cNvPr id="42" name="Rounded Rectangle 41"/>
          <p:cNvSpPr/>
          <p:nvPr/>
        </p:nvSpPr>
        <p:spPr>
          <a:xfrm>
            <a:off x="4462272" y="1728216"/>
            <a:ext cx="2862072" cy="39684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700016" y="1956816"/>
            <a:ext cx="1243584" cy="320040"/>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13233B"/>
                </a:solidFill>
                <a:latin typeface="Aptos"/>
              </a:rPr>
              <a:t>MIXED SPOT</a:t>
            </a:r>
          </a:p>
        </p:txBody>
      </p:sp>
      <p:sp>
        <p:nvSpPr>
          <p:cNvPr id="44" name="TextBox 43"/>
          <p:cNvSpPr txBox="1"/>
          <p:nvPr/>
        </p:nvSpPr>
        <p:spPr>
          <a:xfrm>
            <a:off x="6007608" y="1920240"/>
            <a:ext cx="98755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spot × peak</a:t>
            </a:r>
          </a:p>
        </p:txBody>
      </p:sp>
      <p:sp>
        <p:nvSpPr>
          <p:cNvPr id="45" name="Rectangle 44"/>
          <p:cNvSpPr/>
          <p:nvPr/>
        </p:nvSpPr>
        <p:spPr>
          <a:xfrm>
            <a:off x="4882896" y="3383280"/>
            <a:ext cx="301752" cy="65836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1888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47" name="Rectangle 46"/>
          <p:cNvSpPr/>
          <p:nvPr/>
        </p:nvSpPr>
        <p:spPr>
          <a:xfrm>
            <a:off x="5385816" y="2724912"/>
            <a:ext cx="301752" cy="131673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32180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49" name="Rectangle 48"/>
          <p:cNvSpPr/>
          <p:nvPr/>
        </p:nvSpPr>
        <p:spPr>
          <a:xfrm>
            <a:off x="5888736" y="3163824"/>
            <a:ext cx="301752" cy="87782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82472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51" name="Rectangle 50"/>
          <p:cNvSpPr/>
          <p:nvPr/>
        </p:nvSpPr>
        <p:spPr>
          <a:xfrm>
            <a:off x="6391656" y="2962656"/>
            <a:ext cx="301752" cy="107899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2764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53" name="TextBox 52"/>
          <p:cNvSpPr txBox="1"/>
          <p:nvPr/>
        </p:nvSpPr>
        <p:spPr>
          <a:xfrm>
            <a:off x="4764024" y="4617720"/>
            <a:ext cx="2258568" cy="603504"/>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Only total cut sites in each peak are passed to the model</a:t>
            </a:r>
          </a:p>
        </p:txBody>
      </p:sp>
      <p:sp>
        <p:nvSpPr>
          <p:cNvPr id="54" name="Right Arrow 53"/>
          <p:cNvSpPr/>
          <p:nvPr/>
        </p:nvSpPr>
        <p:spPr>
          <a:xfrm>
            <a:off x="7488936" y="3172968"/>
            <a:ext cx="804672"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449056" y="1728216"/>
            <a:ext cx="3026664" cy="396849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8695944" y="1956816"/>
            <a:ext cx="8412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OUTPUT</a:t>
            </a:r>
          </a:p>
        </p:txBody>
      </p:sp>
      <p:sp>
        <p:nvSpPr>
          <p:cNvPr id="57" name="TextBox 56"/>
          <p:cNvSpPr txBox="1"/>
          <p:nvPr/>
        </p:nvSpPr>
        <p:spPr>
          <a:xfrm>
            <a:off x="9601200" y="1920240"/>
            <a:ext cx="153619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cell-type proportions</a:t>
            </a:r>
          </a:p>
        </p:txBody>
      </p:sp>
      <p:sp>
        <p:nvSpPr>
          <p:cNvPr id="58" name="Rectangle 57"/>
          <p:cNvSpPr/>
          <p:nvPr/>
        </p:nvSpPr>
        <p:spPr>
          <a:xfrm>
            <a:off x="8887968" y="2743200"/>
            <a:ext cx="1078992" cy="51206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87968" y="2752344"/>
            <a:ext cx="1078992"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60" name="Rectangle 59"/>
          <p:cNvSpPr/>
          <p:nvPr/>
        </p:nvSpPr>
        <p:spPr>
          <a:xfrm>
            <a:off x="9966960" y="2743200"/>
            <a:ext cx="647395" cy="51206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966960" y="2752344"/>
            <a:ext cx="647395"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62" name="Rectangle 61"/>
          <p:cNvSpPr/>
          <p:nvPr/>
        </p:nvSpPr>
        <p:spPr>
          <a:xfrm>
            <a:off x="10614355" y="2743200"/>
            <a:ext cx="431596" cy="51206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4355" y="2752344"/>
            <a:ext cx="431596"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64" name="Rectangle 63"/>
          <p:cNvSpPr/>
          <p:nvPr/>
        </p:nvSpPr>
        <p:spPr>
          <a:xfrm>
            <a:off x="8887968" y="2743200"/>
            <a:ext cx="2157984" cy="512064"/>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906256" y="3575304"/>
            <a:ext cx="201168" cy="201168"/>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217152" y="3520440"/>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A</a:t>
            </a:r>
          </a:p>
        </p:txBody>
      </p:sp>
      <p:sp>
        <p:nvSpPr>
          <p:cNvPr id="67" name="TextBox 66"/>
          <p:cNvSpPr txBox="1"/>
          <p:nvPr/>
        </p:nvSpPr>
        <p:spPr>
          <a:xfrm>
            <a:off x="10360152" y="3520440"/>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50%</a:t>
            </a:r>
          </a:p>
        </p:txBody>
      </p:sp>
      <p:sp>
        <p:nvSpPr>
          <p:cNvPr id="68" name="Oval 67"/>
          <p:cNvSpPr/>
          <p:nvPr/>
        </p:nvSpPr>
        <p:spPr>
          <a:xfrm>
            <a:off x="8906256" y="4014216"/>
            <a:ext cx="201168" cy="201168"/>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217152" y="3959352"/>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B</a:t>
            </a:r>
          </a:p>
        </p:txBody>
      </p:sp>
      <p:sp>
        <p:nvSpPr>
          <p:cNvPr id="70" name="TextBox 69"/>
          <p:cNvSpPr txBox="1"/>
          <p:nvPr/>
        </p:nvSpPr>
        <p:spPr>
          <a:xfrm>
            <a:off x="10360152" y="3959352"/>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30%</a:t>
            </a:r>
          </a:p>
        </p:txBody>
      </p:sp>
      <p:sp>
        <p:nvSpPr>
          <p:cNvPr id="71" name="Oval 70"/>
          <p:cNvSpPr/>
          <p:nvPr/>
        </p:nvSpPr>
        <p:spPr>
          <a:xfrm>
            <a:off x="8906256" y="4453128"/>
            <a:ext cx="201168" cy="201168"/>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217152" y="4398264"/>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C</a:t>
            </a:r>
          </a:p>
        </p:txBody>
      </p:sp>
      <p:sp>
        <p:nvSpPr>
          <p:cNvPr id="73" name="TextBox 72"/>
          <p:cNvSpPr txBox="1"/>
          <p:nvPr/>
        </p:nvSpPr>
        <p:spPr>
          <a:xfrm>
            <a:off x="10360152" y="4398264"/>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20%</a:t>
            </a:r>
          </a:p>
        </p:txBody>
      </p:sp>
      <p:sp>
        <p:nvSpPr>
          <p:cNvPr id="74" name="Rounded Rectangle 73"/>
          <p:cNvSpPr/>
          <p:nvPr/>
        </p:nvSpPr>
        <p:spPr>
          <a:xfrm>
            <a:off x="9189720" y="5029200"/>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SHARED LIMIT</a:t>
            </a:r>
          </a:p>
        </p:txBody>
      </p:sp>
      <p:sp>
        <p:nvSpPr>
          <p:cNvPr id="75" name="TextBox 74"/>
          <p:cNvSpPr txBox="1"/>
          <p:nvPr/>
        </p:nvSpPr>
        <p:spPr>
          <a:xfrm>
            <a:off x="8833104" y="5321808"/>
            <a:ext cx="2267712" cy="310896"/>
          </a:xfrm>
          <a:prstGeom prst="rect">
            <a:avLst/>
          </a:prstGeom>
          <a:noFill/>
        </p:spPr>
        <p:txBody>
          <a:bodyPr wrap="square" lIns="36576" tIns="36576" rIns="36576" bIns="36576" anchor="t">
            <a:spAutoFit/>
          </a:bodyPr>
          <a:lstStyle/>
          <a:p>
            <a:pPr algn="ctr">
              <a:spcBef>
                <a:spcPts val="0"/>
              </a:spcBef>
              <a:spcAft>
                <a:spcPts val="0"/>
              </a:spcAft>
            </a:pPr>
            <a:r>
              <a:rPr sz="1250" b="1" i="0">
                <a:solidFill>
                  <a:srgbClr val="F26B5B"/>
                </a:solidFill>
                <a:latin typeface="Aptos"/>
              </a:rPr>
              <a:t>Fragment lengths are gone</a:t>
            </a:r>
          </a:p>
        </p:txBody>
      </p:sp>
      <p:cxnSp>
        <p:nvCxnSpPr>
          <p:cNvPr id="76" name="Connector 7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Background: Ouologuem et al., Bioinformatics (2025). Diagram is conceptual.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Existing methods use different mathematical engines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07</a:t>
            </a:r>
          </a:p>
        </p:txBody>
      </p:sp>
      <p:sp>
        <p:nvSpPr>
          <p:cNvPr id="5" name="TextBox 4"/>
          <p:cNvSpPr txBox="1"/>
          <p:nvPr/>
        </p:nvSpPr>
        <p:spPr>
          <a:xfrm>
            <a:off x="658368" y="1042415"/>
            <a:ext cx="10835640" cy="39319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All solve an inverse problem: work backward from a mixed measurement to the hidden recipe.</a:t>
            </a:r>
          </a:p>
        </p:txBody>
      </p:sp>
      <p:sp>
        <p:nvSpPr>
          <p:cNvPr id="6" name="Rounded Rectangle 5"/>
          <p:cNvSpPr/>
          <p:nvPr/>
        </p:nvSpPr>
        <p:spPr>
          <a:xfrm>
            <a:off x="658368" y="1627632"/>
            <a:ext cx="3447288" cy="4489704"/>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856231"/>
            <a:ext cx="2670048"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LINEAR FITTING</a:t>
            </a:r>
          </a:p>
        </p:txBody>
      </p:sp>
      <p:sp>
        <p:nvSpPr>
          <p:cNvPr id="8" name="TextBox 7"/>
          <p:cNvSpPr txBox="1"/>
          <p:nvPr/>
        </p:nvSpPr>
        <p:spPr>
          <a:xfrm>
            <a:off x="905256"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NNLS  •  SpatialDWLS</a:t>
            </a:r>
          </a:p>
        </p:txBody>
      </p:sp>
      <p:sp>
        <p:nvSpPr>
          <p:cNvPr id="9" name="Rounded Rectangle 8"/>
          <p:cNvSpPr/>
          <p:nvPr/>
        </p:nvSpPr>
        <p:spPr>
          <a:xfrm>
            <a:off x="1133856" y="2962656"/>
            <a:ext cx="2496312" cy="6583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7"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3B82F6"/>
                </a:solidFill>
                <a:latin typeface="Aptos"/>
              </a:rPr>
              <a:t>y ≈ Aᵀz</a:t>
            </a:r>
          </a:p>
        </p:txBody>
      </p:sp>
      <p:sp>
        <p:nvSpPr>
          <p:cNvPr id="11" name="TextBox 10"/>
          <p:cNvSpPr txBox="1"/>
          <p:nvPr/>
        </p:nvSpPr>
        <p:spPr>
          <a:xfrm>
            <a:off x="969264"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Choose nonnegative amounts so a weighted sum of references is close to the observed peak totals.</a:t>
            </a:r>
          </a:p>
        </p:txBody>
      </p:sp>
      <p:cxnSp>
        <p:nvCxnSpPr>
          <p:cNvPr id="12" name="Connector 11"/>
          <p:cNvCxnSpPr/>
          <p:nvPr/>
        </p:nvCxnSpPr>
        <p:spPr>
          <a:xfrm>
            <a:off x="969264"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2"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3B82F6"/>
                </a:solidFill>
                <a:latin typeface="Aptos"/>
              </a:rPr>
              <a:t>STRENGTH</a:t>
            </a:r>
          </a:p>
        </p:txBody>
      </p:sp>
      <p:sp>
        <p:nvSpPr>
          <p:cNvPr id="14" name="TextBox 13"/>
          <p:cNvSpPr txBox="1"/>
          <p:nvPr/>
        </p:nvSpPr>
        <p:spPr>
          <a:xfrm>
            <a:off x="1837943"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Fast and easy to inspect</a:t>
            </a:r>
          </a:p>
        </p:txBody>
      </p:sp>
      <p:sp>
        <p:nvSpPr>
          <p:cNvPr id="15" name="TextBox 14"/>
          <p:cNvSpPr txBox="1"/>
          <p:nvPr/>
        </p:nvSpPr>
        <p:spPr>
          <a:xfrm>
            <a:off x="987552"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16" name="TextBox 15"/>
          <p:cNvSpPr txBox="1"/>
          <p:nvPr/>
        </p:nvSpPr>
        <p:spPr>
          <a:xfrm>
            <a:off x="1837943"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Noise is handled mainly through the loss and weights</a:t>
            </a:r>
          </a:p>
        </p:txBody>
      </p:sp>
      <p:sp>
        <p:nvSpPr>
          <p:cNvPr id="17" name="Rounded Rectangle 16"/>
          <p:cNvSpPr/>
          <p:nvPr/>
        </p:nvSpPr>
        <p:spPr>
          <a:xfrm>
            <a:off x="4471416" y="1627632"/>
            <a:ext cx="3447288" cy="4489704"/>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09159" y="1856231"/>
            <a:ext cx="2670048" cy="320040"/>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PROBABILISTIC COUNTS</a:t>
            </a:r>
          </a:p>
        </p:txBody>
      </p:sp>
      <p:sp>
        <p:nvSpPr>
          <p:cNvPr id="19" name="TextBox 18"/>
          <p:cNvSpPr txBox="1"/>
          <p:nvPr/>
        </p:nvSpPr>
        <p:spPr>
          <a:xfrm>
            <a:off x="4718304"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RCTD  •  cell2location</a:t>
            </a:r>
          </a:p>
        </p:txBody>
      </p:sp>
      <p:sp>
        <p:nvSpPr>
          <p:cNvPr id="20" name="Rounded Rectangle 19"/>
          <p:cNvSpPr/>
          <p:nvPr/>
        </p:nvSpPr>
        <p:spPr>
          <a:xfrm>
            <a:off x="4946904" y="2962656"/>
            <a:ext cx="2496312" cy="6583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0055"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8B5CF6"/>
                </a:solidFill>
                <a:latin typeface="Aptos"/>
              </a:rPr>
              <a:t>p(counts | mixture)</a:t>
            </a:r>
          </a:p>
        </p:txBody>
      </p:sp>
      <p:sp>
        <p:nvSpPr>
          <p:cNvPr id="22" name="TextBox 21"/>
          <p:cNvSpPr txBox="1"/>
          <p:nvPr/>
        </p:nvSpPr>
        <p:spPr>
          <a:xfrm>
            <a:off x="4782312"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Describe how sequencing counts could be generated from a cell-type mixture, with explicit noise and technical effects.</a:t>
            </a:r>
          </a:p>
        </p:txBody>
      </p:sp>
      <p:cxnSp>
        <p:nvCxnSpPr>
          <p:cNvPr id="23" name="Connector 22"/>
          <p:cNvCxnSpPr/>
          <p:nvPr/>
        </p:nvCxnSpPr>
        <p:spPr>
          <a:xfrm>
            <a:off x="4782312"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00600"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8B5CF6"/>
                </a:solidFill>
                <a:latin typeface="Aptos"/>
              </a:rPr>
              <a:t>STRENGTH</a:t>
            </a:r>
          </a:p>
        </p:txBody>
      </p:sp>
      <p:sp>
        <p:nvSpPr>
          <p:cNvPr id="25" name="TextBox 24"/>
          <p:cNvSpPr txBox="1"/>
          <p:nvPr/>
        </p:nvSpPr>
        <p:spPr>
          <a:xfrm>
            <a:off x="5650992"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Makes count noise explicit</a:t>
            </a:r>
          </a:p>
        </p:txBody>
      </p:sp>
      <p:sp>
        <p:nvSpPr>
          <p:cNvPr id="26" name="TextBox 25"/>
          <p:cNvSpPr txBox="1"/>
          <p:nvPr/>
        </p:nvSpPr>
        <p:spPr>
          <a:xfrm>
            <a:off x="4800600"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27" name="TextBox 26"/>
          <p:cNvSpPr txBox="1"/>
          <p:nvPr/>
        </p:nvSpPr>
        <p:spPr>
          <a:xfrm>
            <a:off x="5650992"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Needs distributions, priors, and more computation</a:t>
            </a:r>
          </a:p>
        </p:txBody>
      </p:sp>
      <p:sp>
        <p:nvSpPr>
          <p:cNvPr id="28" name="Rounded Rectangle 27"/>
          <p:cNvSpPr/>
          <p:nvPr/>
        </p:nvSpPr>
        <p:spPr>
          <a:xfrm>
            <a:off x="8284464" y="1627632"/>
            <a:ext cx="3447288" cy="4489704"/>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522208" y="1856231"/>
            <a:ext cx="26700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MAPPING / LATENT MODELS</a:t>
            </a:r>
          </a:p>
        </p:txBody>
      </p:sp>
      <p:sp>
        <p:nvSpPr>
          <p:cNvPr id="30" name="TextBox 29"/>
          <p:cNvSpPr txBox="1"/>
          <p:nvPr/>
        </p:nvSpPr>
        <p:spPr>
          <a:xfrm>
            <a:off x="8531352"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Tangram  •  DestVI</a:t>
            </a:r>
          </a:p>
        </p:txBody>
      </p:sp>
      <p:sp>
        <p:nvSpPr>
          <p:cNvPr id="31" name="Rounded Rectangle 30"/>
          <p:cNvSpPr/>
          <p:nvPr/>
        </p:nvSpPr>
        <p:spPr>
          <a:xfrm>
            <a:off x="8759952" y="2962656"/>
            <a:ext cx="2496312" cy="6583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33104"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18A999"/>
                </a:solidFill>
                <a:latin typeface="Aptos"/>
              </a:rPr>
              <a:t>learn a hidden map</a:t>
            </a:r>
          </a:p>
        </p:txBody>
      </p:sp>
      <p:sp>
        <p:nvSpPr>
          <p:cNvPr id="33" name="TextBox 32"/>
          <p:cNvSpPr txBox="1"/>
          <p:nvPr/>
        </p:nvSpPr>
        <p:spPr>
          <a:xfrm>
            <a:off x="8595360"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Optimize a cell-to-space map or learn hidden cell states that can reconstruct the spatial profile.</a:t>
            </a:r>
          </a:p>
        </p:txBody>
      </p:sp>
      <p:cxnSp>
        <p:nvCxnSpPr>
          <p:cNvPr id="34" name="Connector 33"/>
          <p:cNvCxnSpPr/>
          <p:nvPr/>
        </p:nvCxnSpPr>
        <p:spPr>
          <a:xfrm>
            <a:off x="8595360"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13648"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18A999"/>
                </a:solidFill>
                <a:latin typeface="Aptos"/>
              </a:rPr>
              <a:t>STRENGTH</a:t>
            </a:r>
          </a:p>
        </p:txBody>
      </p:sp>
      <p:sp>
        <p:nvSpPr>
          <p:cNvPr id="36" name="TextBox 35"/>
          <p:cNvSpPr txBox="1"/>
          <p:nvPr/>
        </p:nvSpPr>
        <p:spPr>
          <a:xfrm>
            <a:off x="9464040"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Flexible for complex biology</a:t>
            </a:r>
          </a:p>
        </p:txBody>
      </p:sp>
      <p:sp>
        <p:nvSpPr>
          <p:cNvPr id="37" name="TextBox 36"/>
          <p:cNvSpPr txBox="1"/>
          <p:nvPr/>
        </p:nvSpPr>
        <p:spPr>
          <a:xfrm>
            <a:off x="8613648"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38" name="TextBox 37"/>
          <p:cNvSpPr txBox="1"/>
          <p:nvPr/>
        </p:nvSpPr>
        <p:spPr>
          <a:xfrm>
            <a:off x="9464040"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More moving parts can be harder to interpret</a:t>
            </a:r>
          </a:p>
        </p:txBody>
      </p:sp>
      <p:cxnSp>
        <p:nvCxnSpPr>
          <p:cNvPr id="39" name="Connector 3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Tsoucas et al. (2019); Dong &amp; Yuan (2021); Cable et al. (2022); Kleshchevnikov et al. (2022); Biancalani et al. (2021); Lopez et al.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NEW IDEA</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ShapeMix keeps an extra clue: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08</a:t>
            </a:r>
          </a:p>
        </p:txBody>
      </p:sp>
      <p:sp>
        <p:nvSpPr>
          <p:cNvPr id="5" name="TextBox 4"/>
          <p:cNvSpPr txBox="1"/>
          <p:nvPr/>
        </p:nvSpPr>
        <p:spPr>
          <a:xfrm>
            <a:off x="649224" y="1060704"/>
            <a:ext cx="10881360" cy="420624"/>
          </a:xfrm>
          <a:prstGeom prst="rect">
            <a:avLst/>
          </a:prstGeom>
          <a:noFill/>
        </p:spPr>
        <p:txBody>
          <a:bodyPr wrap="square" lIns="36576" tIns="36576" rIns="36576" bIns="36576">
            <a:spAutoFit/>
          </a:bodyPr>
          <a:lstStyle/>
          <a:p>
            <a:pPr algn="ctr"/>
            <a:r>
              <a:rPr sz="2000" b="1" i="0">
                <a:solidFill>
                  <a:srgbClr val="13233B"/>
                </a:solidFill>
                <a:latin typeface="Aptos"/>
              </a:rPr>
              <a:t>Two samples can have the same peak total</a:t>
            </a:r>
            <a:r>
              <a:rPr sz="2000" b="0" i="0">
                <a:solidFill>
                  <a:srgbClr val="52627A"/>
                </a:solidFill>
                <a:latin typeface="Aptos"/>
              </a:rPr>
              <a:t> but different fragment-length patterns.</a:t>
            </a:r>
          </a:p>
        </p:txBody>
      </p:sp>
      <p:sp>
        <p:nvSpPr>
          <p:cNvPr id="6" name="Rounded Rectangle 5"/>
          <p:cNvSpPr/>
          <p:nvPr/>
        </p:nvSpPr>
        <p:spPr>
          <a:xfrm>
            <a:off x="694944"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A</a:t>
            </a:r>
          </a:p>
        </p:txBody>
      </p:sp>
      <p:sp>
        <p:nvSpPr>
          <p:cNvPr id="8" name="Rounded Rectangle 7"/>
          <p:cNvSpPr/>
          <p:nvPr/>
        </p:nvSpPr>
        <p:spPr>
          <a:xfrm>
            <a:off x="3465576"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9" name="Connector 8"/>
          <p:cNvCxnSpPr/>
          <p:nvPr/>
        </p:nvCxnSpPr>
        <p:spPr>
          <a:xfrm>
            <a:off x="1325880"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2588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0020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7568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756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5000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25496"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254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9981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75304"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7530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962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25112" y="2660904"/>
            <a:ext cx="274319"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2511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9431"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74919"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7491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4923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25880" y="330098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2588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002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984248"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42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414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34056"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7340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912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83864"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838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9410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4223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14223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823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89204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89204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321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78992" y="4087368"/>
            <a:ext cx="26136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692652" y="4087368"/>
            <a:ext cx="112014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812792" y="4087368"/>
            <a:ext cx="74676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78992"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199632"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37376"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B</a:t>
            </a:r>
          </a:p>
        </p:txBody>
      </p:sp>
      <p:sp>
        <p:nvSpPr>
          <p:cNvPr id="51" name="Rounded Rectangle 50"/>
          <p:cNvSpPr/>
          <p:nvPr/>
        </p:nvSpPr>
        <p:spPr>
          <a:xfrm>
            <a:off x="8970264"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52" name="Connector 51"/>
          <p:cNvCxnSpPr/>
          <p:nvPr/>
        </p:nvCxnSpPr>
        <p:spPr>
          <a:xfrm>
            <a:off x="683056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3056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048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80375" y="2660904"/>
            <a:ext cx="274321"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80375"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8546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38744"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387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959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88552"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9885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57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738360"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83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955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488167"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881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9453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47688"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768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8776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397496"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39749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37575"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147304"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4730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8738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89711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971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53719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64692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6469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2870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396728"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9672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036807"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6583680" y="4087368"/>
            <a:ext cx="7467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330440" y="4087368"/>
            <a:ext cx="149352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8823960" y="4087368"/>
            <a:ext cx="224028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6583680"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554480" y="4937760"/>
            <a:ext cx="4297680"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52627A"/>
                </a:solidFill>
                <a:latin typeface="Aptos"/>
              </a:rPr>
              <a:t>Count-only model sees: 24 = 24</a:t>
            </a:r>
          </a:p>
        </p:txBody>
      </p:sp>
      <p:sp>
        <p:nvSpPr>
          <p:cNvPr id="93" name="TextBox 92"/>
          <p:cNvSpPr txBox="1"/>
          <p:nvPr/>
        </p:nvSpPr>
        <p:spPr>
          <a:xfrm>
            <a:off x="6099048" y="4937760"/>
            <a:ext cx="5230368"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ShapeMix also sees: the color pattern differs</a:t>
            </a:r>
          </a:p>
        </p:txBody>
      </p:sp>
      <p:sp>
        <p:nvSpPr>
          <p:cNvPr id="94" name="Rounded Rectangle 93"/>
          <p:cNvSpPr/>
          <p:nvPr/>
        </p:nvSpPr>
        <p:spPr>
          <a:xfrm>
            <a:off x="941832" y="5486400"/>
            <a:ext cx="3401568" cy="694944"/>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1051560" y="5669280"/>
            <a:ext cx="841248"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SHORT</a:t>
            </a:r>
          </a:p>
        </p:txBody>
      </p:sp>
      <p:sp>
        <p:nvSpPr>
          <p:cNvPr id="96" name="TextBox 95"/>
          <p:cNvSpPr txBox="1"/>
          <p:nvPr/>
        </p:nvSpPr>
        <p:spPr>
          <a:xfrm>
            <a:off x="202082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&lt; 100 bp</a:t>
            </a:r>
          </a:p>
        </p:txBody>
      </p:sp>
      <p:sp>
        <p:nvSpPr>
          <p:cNvPr id="97" name="TextBox 96"/>
          <p:cNvSpPr txBox="1"/>
          <p:nvPr/>
        </p:nvSpPr>
        <p:spPr>
          <a:xfrm>
            <a:off x="202082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often nucleosome-free</a:t>
            </a:r>
          </a:p>
        </p:txBody>
      </p:sp>
      <p:sp>
        <p:nvSpPr>
          <p:cNvPr id="98" name="Rounded Rectangle 97"/>
          <p:cNvSpPr/>
          <p:nvPr/>
        </p:nvSpPr>
        <p:spPr>
          <a:xfrm>
            <a:off x="4645152" y="5486400"/>
            <a:ext cx="3401568" cy="694944"/>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4754880" y="5669280"/>
            <a:ext cx="841248" cy="283464"/>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MIDDLE</a:t>
            </a:r>
          </a:p>
        </p:txBody>
      </p:sp>
      <p:sp>
        <p:nvSpPr>
          <p:cNvPr id="100" name="TextBox 99"/>
          <p:cNvSpPr txBox="1"/>
          <p:nvPr/>
        </p:nvSpPr>
        <p:spPr>
          <a:xfrm>
            <a:off x="572414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100–249 bp</a:t>
            </a:r>
          </a:p>
        </p:txBody>
      </p:sp>
      <p:sp>
        <p:nvSpPr>
          <p:cNvPr id="101" name="TextBox 100"/>
          <p:cNvSpPr txBox="1"/>
          <p:nvPr/>
        </p:nvSpPr>
        <p:spPr>
          <a:xfrm>
            <a:off x="572414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mononucleosome-like</a:t>
            </a:r>
          </a:p>
        </p:txBody>
      </p:sp>
      <p:sp>
        <p:nvSpPr>
          <p:cNvPr id="102" name="Rounded Rectangle 101"/>
          <p:cNvSpPr/>
          <p:nvPr/>
        </p:nvSpPr>
        <p:spPr>
          <a:xfrm>
            <a:off x="8348471" y="5486400"/>
            <a:ext cx="3401568" cy="694944"/>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8458199" y="5669280"/>
            <a:ext cx="841248" cy="283464"/>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LONG</a:t>
            </a:r>
          </a:p>
        </p:txBody>
      </p:sp>
      <p:sp>
        <p:nvSpPr>
          <p:cNvPr id="104" name="TextBox 103"/>
          <p:cNvSpPr txBox="1"/>
          <p:nvPr/>
        </p:nvSpPr>
        <p:spPr>
          <a:xfrm>
            <a:off x="9427463"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 250 bp</a:t>
            </a:r>
          </a:p>
        </p:txBody>
      </p:sp>
      <p:sp>
        <p:nvSpPr>
          <p:cNvPr id="105" name="TextBox 104"/>
          <p:cNvSpPr txBox="1"/>
          <p:nvPr/>
        </p:nvSpPr>
        <p:spPr>
          <a:xfrm>
            <a:off x="9427463"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longer protected fragments</a:t>
            </a:r>
          </a:p>
        </p:txBody>
      </p:sp>
      <p:cxnSp>
        <p:nvCxnSpPr>
          <p:cNvPr id="106" name="Connector 10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Buenrostro et al. (2013); Martens et al., Nature Methods (2024). Diagram is conceptual.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modeling is a scientific story run backward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09</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First describe how a hidden cell mixture could generate the data. Then use the data to infer the mixture.</a:t>
            </a:r>
          </a:p>
        </p:txBody>
      </p:sp>
      <p:sp>
        <p:nvSpPr>
          <p:cNvPr id="6" name="Rounded Rectangle 5"/>
          <p:cNvSpPr/>
          <p:nvPr/>
        </p:nvSpPr>
        <p:spPr>
          <a:xfrm>
            <a:off x="694944" y="1709928"/>
            <a:ext cx="4837176" cy="42062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938528"/>
            <a:ext cx="1325880" cy="329184"/>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FORWARD MODEL</a:t>
            </a:r>
          </a:p>
        </p:txBody>
      </p:sp>
      <p:sp>
        <p:nvSpPr>
          <p:cNvPr id="8" name="Oval 7"/>
          <p:cNvSpPr/>
          <p:nvPr/>
        </p:nvSpPr>
        <p:spPr>
          <a:xfrm>
            <a:off x="1024128" y="2514600"/>
            <a:ext cx="475488" cy="475488"/>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2523744"/>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1</a:t>
            </a:r>
          </a:p>
        </p:txBody>
      </p:sp>
      <p:sp>
        <p:nvSpPr>
          <p:cNvPr id="10" name="TextBox 9"/>
          <p:cNvSpPr txBox="1"/>
          <p:nvPr/>
        </p:nvSpPr>
        <p:spPr>
          <a:xfrm>
            <a:off x="1709928" y="2459736"/>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Hidden recipe</a:t>
            </a:r>
          </a:p>
        </p:txBody>
      </p:sp>
      <p:sp>
        <p:nvSpPr>
          <p:cNvPr id="11" name="TextBox 10"/>
          <p:cNvSpPr txBox="1"/>
          <p:nvPr/>
        </p:nvSpPr>
        <p:spPr>
          <a:xfrm>
            <a:off x="3218688" y="2496312"/>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possible cell amounts z</a:t>
            </a:r>
          </a:p>
        </p:txBody>
      </p:sp>
      <p:sp>
        <p:nvSpPr>
          <p:cNvPr id="12" name="Down Arrow 11"/>
          <p:cNvSpPr/>
          <p:nvPr/>
        </p:nvSpPr>
        <p:spPr>
          <a:xfrm>
            <a:off x="1143000" y="3026664"/>
            <a:ext cx="237744" cy="356616"/>
          </a:xfrm>
          <a:prstGeom prst="downArrow">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24128" y="3465576"/>
            <a:ext cx="475488" cy="47548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3474720"/>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2</a:t>
            </a:r>
          </a:p>
        </p:txBody>
      </p:sp>
      <p:sp>
        <p:nvSpPr>
          <p:cNvPr id="15" name="TextBox 14"/>
          <p:cNvSpPr txBox="1"/>
          <p:nvPr/>
        </p:nvSpPr>
        <p:spPr>
          <a:xfrm>
            <a:off x="1709928" y="3410712"/>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Expected signal</a:t>
            </a:r>
          </a:p>
        </p:txBody>
      </p:sp>
      <p:sp>
        <p:nvSpPr>
          <p:cNvPr id="16" name="TextBox 15"/>
          <p:cNvSpPr txBox="1"/>
          <p:nvPr/>
        </p:nvSpPr>
        <p:spPr>
          <a:xfrm>
            <a:off x="3218688" y="3447288"/>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predicted counts + length split</a:t>
            </a:r>
          </a:p>
        </p:txBody>
      </p:sp>
      <p:sp>
        <p:nvSpPr>
          <p:cNvPr id="17" name="Down Arrow 16"/>
          <p:cNvSpPr/>
          <p:nvPr/>
        </p:nvSpPr>
        <p:spPr>
          <a:xfrm>
            <a:off x="1143000" y="3977639"/>
            <a:ext cx="237744" cy="356616"/>
          </a:xfrm>
          <a:prstGeom prst="downArrow">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24128" y="4416552"/>
            <a:ext cx="475488" cy="475488"/>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 y="4425696"/>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3</a:t>
            </a:r>
          </a:p>
        </p:txBody>
      </p:sp>
      <p:sp>
        <p:nvSpPr>
          <p:cNvPr id="20" name="TextBox 19"/>
          <p:cNvSpPr txBox="1"/>
          <p:nvPr/>
        </p:nvSpPr>
        <p:spPr>
          <a:xfrm>
            <a:off x="1709928" y="4361688"/>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Observed data</a:t>
            </a:r>
          </a:p>
        </p:txBody>
      </p:sp>
      <p:sp>
        <p:nvSpPr>
          <p:cNvPr id="21" name="TextBox 20"/>
          <p:cNvSpPr txBox="1"/>
          <p:nvPr/>
        </p:nvSpPr>
        <p:spPr>
          <a:xfrm>
            <a:off x="3218688" y="4398264"/>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noisy cut-site measurements</a:t>
            </a:r>
          </a:p>
        </p:txBody>
      </p:sp>
      <p:sp>
        <p:nvSpPr>
          <p:cNvPr id="22" name="TextBox 21"/>
          <p:cNvSpPr txBox="1"/>
          <p:nvPr/>
        </p:nvSpPr>
        <p:spPr>
          <a:xfrm>
            <a:off x="1005840" y="5413248"/>
            <a:ext cx="4206240" cy="347472"/>
          </a:xfrm>
          <a:prstGeom prst="rect">
            <a:avLst/>
          </a:prstGeom>
          <a:noFill/>
        </p:spPr>
        <p:txBody>
          <a:bodyPr wrap="square" lIns="36576" tIns="36576" rIns="36576" bIns="36576" anchor="t">
            <a:spAutoFit/>
          </a:bodyPr>
          <a:lstStyle/>
          <a:p>
            <a:pPr algn="ctr">
              <a:spcBef>
                <a:spcPts val="0"/>
              </a:spcBef>
              <a:spcAft>
                <a:spcPts val="0"/>
              </a:spcAft>
            </a:pPr>
            <a:r>
              <a:rPr sz="1450" b="0" i="1">
                <a:solidFill>
                  <a:srgbClr val="52627A"/>
                </a:solidFill>
                <a:latin typeface="Aptos"/>
              </a:rPr>
              <a:t>If the recipe were known, what data would we expect?</a:t>
            </a:r>
          </a:p>
        </p:txBody>
      </p:sp>
      <p:sp>
        <p:nvSpPr>
          <p:cNvPr id="23" name="Right Arrow 22"/>
          <p:cNvSpPr/>
          <p:nvPr/>
        </p:nvSpPr>
        <p:spPr>
          <a:xfrm>
            <a:off x="5678424" y="3346704"/>
            <a:ext cx="694944" cy="56692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24144" y="3986784"/>
            <a:ext cx="603504" cy="210312"/>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0C7F75"/>
                </a:solidFill>
                <a:latin typeface="Aptos"/>
              </a:rPr>
              <a:t>reverse</a:t>
            </a:r>
          </a:p>
        </p:txBody>
      </p:sp>
      <p:sp>
        <p:nvSpPr>
          <p:cNvPr id="25" name="Rounded Rectangle 24"/>
          <p:cNvSpPr/>
          <p:nvPr/>
        </p:nvSpPr>
        <p:spPr>
          <a:xfrm>
            <a:off x="6537960" y="1709928"/>
            <a:ext cx="4946904" cy="420624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848856" y="1938528"/>
            <a:ext cx="1133856"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BAYES' RULE</a:t>
            </a:r>
          </a:p>
        </p:txBody>
      </p:sp>
      <p:sp>
        <p:nvSpPr>
          <p:cNvPr id="27" name="TextBox 26"/>
          <p:cNvSpPr txBox="1"/>
          <p:nvPr/>
        </p:nvSpPr>
        <p:spPr>
          <a:xfrm>
            <a:off x="6876288" y="2587752"/>
            <a:ext cx="4279392" cy="50292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FFFFFF"/>
                </a:solidFill>
                <a:latin typeface="Aptos"/>
              </a:rPr>
              <a:t>posterior  ∝  likelihood  ×  prior</a:t>
            </a:r>
          </a:p>
        </p:txBody>
      </p:sp>
      <p:sp>
        <p:nvSpPr>
          <p:cNvPr id="28" name="Rounded Rectangle 27"/>
          <p:cNvSpPr/>
          <p:nvPr/>
        </p:nvSpPr>
        <p:spPr>
          <a:xfrm>
            <a:off x="6894576" y="3310128"/>
            <a:ext cx="1078992"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13233B"/>
                </a:solidFill>
                <a:latin typeface="Aptos"/>
              </a:rPr>
              <a:t>PRIOR</a:t>
            </a:r>
          </a:p>
        </p:txBody>
      </p:sp>
      <p:sp>
        <p:nvSpPr>
          <p:cNvPr id="29" name="TextBox 28"/>
          <p:cNvSpPr txBox="1"/>
          <p:nvPr/>
        </p:nvSpPr>
        <p:spPr>
          <a:xfrm>
            <a:off x="8174736" y="3291840"/>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plausible positive amounts before this spot</a:t>
            </a:r>
          </a:p>
        </p:txBody>
      </p:sp>
      <p:sp>
        <p:nvSpPr>
          <p:cNvPr id="30" name="Rounded Rectangle 29"/>
          <p:cNvSpPr/>
          <p:nvPr/>
        </p:nvSpPr>
        <p:spPr>
          <a:xfrm>
            <a:off x="6894576" y="3977639"/>
            <a:ext cx="1078992"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LIKELIHOOD</a:t>
            </a:r>
          </a:p>
        </p:txBody>
      </p:sp>
      <p:sp>
        <p:nvSpPr>
          <p:cNvPr id="31" name="TextBox 30"/>
          <p:cNvSpPr txBox="1"/>
          <p:nvPr/>
        </p:nvSpPr>
        <p:spPr>
          <a:xfrm>
            <a:off x="8174736" y="3959352"/>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how well a recipe explains the observed data</a:t>
            </a:r>
          </a:p>
        </p:txBody>
      </p:sp>
      <p:sp>
        <p:nvSpPr>
          <p:cNvPr id="32" name="Rounded Rectangle 31"/>
          <p:cNvSpPr/>
          <p:nvPr/>
        </p:nvSpPr>
        <p:spPr>
          <a:xfrm>
            <a:off x="6894576" y="4645152"/>
            <a:ext cx="1078992"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POSTERIOR</a:t>
            </a:r>
          </a:p>
        </p:txBody>
      </p:sp>
      <p:sp>
        <p:nvSpPr>
          <p:cNvPr id="33" name="TextBox 32"/>
          <p:cNvSpPr txBox="1"/>
          <p:nvPr/>
        </p:nvSpPr>
        <p:spPr>
          <a:xfrm>
            <a:off x="8174736" y="4626864"/>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updated support after combining both</a:t>
            </a:r>
          </a:p>
        </p:txBody>
      </p:sp>
      <p:sp>
        <p:nvSpPr>
          <p:cNvPr id="34" name="TextBox 33"/>
          <p:cNvSpPr txBox="1"/>
          <p:nvPr/>
        </p:nvSpPr>
        <p:spPr>
          <a:xfrm>
            <a:off x="6949440" y="5449824"/>
            <a:ext cx="4133087" cy="265176"/>
          </a:xfrm>
          <a:prstGeom prst="rect">
            <a:avLst/>
          </a:prstGeom>
          <a:noFill/>
        </p:spPr>
        <p:txBody>
          <a:bodyPr wrap="square" lIns="36576" tIns="36576" rIns="36576" bIns="36576" anchor="t">
            <a:spAutoFit/>
          </a:bodyPr>
          <a:lstStyle/>
          <a:p>
            <a:pPr algn="ctr">
              <a:spcBef>
                <a:spcPts val="0"/>
              </a:spcBef>
              <a:spcAft>
                <a:spcPts val="0"/>
              </a:spcAft>
            </a:pPr>
            <a:r>
              <a:rPr sz="1350" b="1" i="0">
                <a:solidFill>
                  <a:srgbClr val="F4B942"/>
                </a:solidFill>
                <a:latin typeface="Aptos"/>
              </a:rPr>
              <a:t>The prior guides weak evidence; it does not predetermine the answer.</a:t>
            </a:r>
          </a:p>
        </p:txBody>
      </p:sp>
      <p:cxnSp>
        <p:nvCxnSpPr>
          <p:cNvPr id="35" name="Connector 34"/>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Bayesian vocabulary: prior + likelihood → posterior. ShapeMix uses a MAP point estimate from that posterior.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The generative story links cell amounts to expected data</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10</a:t>
            </a:r>
          </a:p>
        </p:txBody>
      </p:sp>
      <p:sp>
        <p:nvSpPr>
          <p:cNvPr id="5" name="TextBox 4"/>
          <p:cNvSpPr txBox="1"/>
          <p:nvPr/>
        </p:nvSpPr>
        <p:spPr>
          <a:xfrm>
            <a:off x="658368" y="1042415"/>
            <a:ext cx="10826496" cy="420624"/>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Two reference fingerprints are fixed from labeled training cells; only each spot's effective cell amounts are inferred.</a:t>
            </a:r>
          </a:p>
        </p:txBody>
      </p:sp>
      <p:sp>
        <p:nvSpPr>
          <p:cNvPr id="6" name="Rounded Rectangle 5"/>
          <p:cNvSpPr/>
          <p:nvPr/>
        </p:nvSpPr>
        <p:spPr>
          <a:xfrm>
            <a:off x="694944" y="1664208"/>
            <a:ext cx="2743200" cy="149047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892807"/>
            <a:ext cx="868680"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UNKNOWN</a:t>
            </a:r>
          </a:p>
        </p:txBody>
      </p:sp>
      <p:sp>
        <p:nvSpPr>
          <p:cNvPr id="8" name="TextBox 7"/>
          <p:cNvSpPr txBox="1"/>
          <p:nvPr/>
        </p:nvSpPr>
        <p:spPr>
          <a:xfrm>
            <a:off x="2157984" y="1810512"/>
            <a:ext cx="822960" cy="475488"/>
          </a:xfrm>
          <a:prstGeom prst="rect">
            <a:avLst/>
          </a:prstGeom>
          <a:noFill/>
        </p:spPr>
        <p:txBody>
          <a:bodyPr wrap="square" lIns="36576" tIns="36576" rIns="36576" bIns="36576" anchor="t">
            <a:spAutoFit/>
          </a:bodyPr>
          <a:lstStyle/>
          <a:p>
            <a:pPr algn="ctr">
              <a:spcBef>
                <a:spcPts val="0"/>
              </a:spcBef>
              <a:spcAft>
                <a:spcPts val="0"/>
              </a:spcAft>
            </a:pPr>
            <a:r>
              <a:rPr sz="2900" b="1" i="0">
                <a:solidFill>
                  <a:srgbClr val="13233B"/>
                </a:solidFill>
                <a:latin typeface="Aptos"/>
              </a:rPr>
              <a:t>z[s,c]</a:t>
            </a:r>
          </a:p>
        </p:txBody>
      </p:sp>
      <p:sp>
        <p:nvSpPr>
          <p:cNvPr id="9" name="TextBox 8"/>
          <p:cNvSpPr txBox="1"/>
          <p:nvPr/>
        </p:nvSpPr>
        <p:spPr>
          <a:xfrm>
            <a:off x="960120" y="2432304"/>
            <a:ext cx="2212848" cy="420624"/>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213047"/>
                </a:solidFill>
                <a:latin typeface="Aptos"/>
              </a:rPr>
              <a:t>effective amount of cell type c in spot s</a:t>
            </a:r>
          </a:p>
        </p:txBody>
      </p:sp>
      <p:sp>
        <p:nvSpPr>
          <p:cNvPr id="10" name="Rounded Rectangle 9"/>
          <p:cNvSpPr/>
          <p:nvPr/>
        </p:nvSpPr>
        <p:spPr>
          <a:xfrm>
            <a:off x="694944" y="3383280"/>
            <a:ext cx="2743200" cy="122529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32688" y="3621024"/>
            <a:ext cx="932688"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2" name="TextBox 11"/>
          <p:cNvSpPr txBox="1"/>
          <p:nvPr/>
        </p:nvSpPr>
        <p:spPr>
          <a:xfrm>
            <a:off x="2139696" y="3557016"/>
            <a:ext cx="877824"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A[c,p]</a:t>
            </a:r>
          </a:p>
        </p:txBody>
      </p:sp>
      <p:sp>
        <p:nvSpPr>
          <p:cNvPr id="13" name="TextBox 12"/>
          <p:cNvSpPr txBox="1"/>
          <p:nvPr/>
        </p:nvSpPr>
        <p:spPr>
          <a:xfrm>
            <a:off x="950976" y="4069080"/>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mean cut-site rate at peak p</a:t>
            </a:r>
          </a:p>
        </p:txBody>
      </p:sp>
      <p:sp>
        <p:nvSpPr>
          <p:cNvPr id="14" name="Rounded Rectangle 13"/>
          <p:cNvSpPr/>
          <p:nvPr/>
        </p:nvSpPr>
        <p:spPr>
          <a:xfrm>
            <a:off x="694944" y="4818888"/>
            <a:ext cx="2743200" cy="12252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32688" y="5056632"/>
            <a:ext cx="932688"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13233B"/>
                </a:solidFill>
                <a:latin typeface="Aptos"/>
              </a:rPr>
              <a:t>REFERENCE</a:t>
            </a:r>
          </a:p>
        </p:txBody>
      </p:sp>
      <p:sp>
        <p:nvSpPr>
          <p:cNvPr id="16" name="TextBox 15"/>
          <p:cNvSpPr txBox="1"/>
          <p:nvPr/>
        </p:nvSpPr>
        <p:spPr>
          <a:xfrm>
            <a:off x="2048256" y="4992624"/>
            <a:ext cx="1069848"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ω[c,p,b]</a:t>
            </a:r>
          </a:p>
        </p:txBody>
      </p:sp>
      <p:sp>
        <p:nvSpPr>
          <p:cNvPr id="17" name="TextBox 16"/>
          <p:cNvSpPr txBox="1"/>
          <p:nvPr/>
        </p:nvSpPr>
        <p:spPr>
          <a:xfrm>
            <a:off x="950976" y="5504688"/>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fraction expected in length bin b</a:t>
            </a:r>
          </a:p>
        </p:txBody>
      </p:sp>
      <p:sp>
        <p:nvSpPr>
          <p:cNvPr id="18" name="Right Arrow 17"/>
          <p:cNvSpPr/>
          <p:nvPr/>
        </p:nvSpPr>
        <p:spPr>
          <a:xfrm>
            <a:off x="3639312"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90288" y="1664208"/>
            <a:ext cx="3968496" cy="2011680"/>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873752" y="1901952"/>
            <a:ext cx="1783080"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PEAK TOTAL</a:t>
            </a:r>
          </a:p>
        </p:txBody>
      </p:sp>
      <p:sp>
        <p:nvSpPr>
          <p:cNvPr id="21" name="TextBox 20"/>
          <p:cNvSpPr txBox="1"/>
          <p:nvPr/>
        </p:nvSpPr>
        <p:spPr>
          <a:xfrm>
            <a:off x="4800600" y="2441448"/>
            <a:ext cx="3557016" cy="475488"/>
          </a:xfrm>
          <a:prstGeom prst="rect">
            <a:avLst/>
          </a:prstGeom>
          <a:noFill/>
        </p:spPr>
        <p:txBody>
          <a:bodyPr wrap="square" lIns="36576" tIns="36576" rIns="36576" bIns="36576" anchor="t">
            <a:spAutoFit/>
          </a:bodyPr>
          <a:lstStyle/>
          <a:p>
            <a:pPr algn="ctr">
              <a:spcBef>
                <a:spcPts val="0"/>
              </a:spcBef>
              <a:spcAft>
                <a:spcPts val="0"/>
              </a:spcAft>
            </a:pPr>
            <a:r>
              <a:rPr sz="2200" b="1" i="0">
                <a:solidFill>
                  <a:srgbClr val="13233B"/>
                </a:solidFill>
                <a:latin typeface="Aptos"/>
              </a:rPr>
              <a:t>μ[s,p] = Σ over c  z[s,c] A[c,p]</a:t>
            </a:r>
          </a:p>
        </p:txBody>
      </p:sp>
      <p:sp>
        <p:nvSpPr>
          <p:cNvPr id="22" name="TextBox 21"/>
          <p:cNvSpPr txBox="1"/>
          <p:nvPr/>
        </p:nvSpPr>
        <p:spPr>
          <a:xfrm>
            <a:off x="5074920" y="3044952"/>
            <a:ext cx="3008376" cy="384048"/>
          </a:xfrm>
          <a:prstGeom prst="rect">
            <a:avLst/>
          </a:prstGeom>
          <a:noFill/>
        </p:spPr>
        <p:txBody>
          <a:bodyPr wrap="square" lIns="36576" tIns="36576" rIns="36576" bIns="36576" anchor="t">
            <a:spAutoFit/>
          </a:bodyPr>
          <a:lstStyle/>
          <a:p>
            <a:pPr algn="ctr">
              <a:spcBef>
                <a:spcPts val="0"/>
              </a:spcBef>
              <a:spcAft>
                <a:spcPts val="0"/>
              </a:spcAft>
            </a:pPr>
            <a:r>
              <a:rPr sz="1420" b="0" i="0">
                <a:solidFill>
                  <a:srgbClr val="52627A"/>
                </a:solidFill>
                <a:latin typeface="Aptos"/>
              </a:rPr>
              <a:t>Add the cell types' expected contributions.</a:t>
            </a:r>
          </a:p>
        </p:txBody>
      </p:sp>
      <p:sp>
        <p:nvSpPr>
          <p:cNvPr id="23" name="Rounded Rectangle 22"/>
          <p:cNvSpPr/>
          <p:nvPr/>
        </p:nvSpPr>
        <p:spPr>
          <a:xfrm>
            <a:off x="4590288" y="3941063"/>
            <a:ext cx="3968496" cy="2103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873752" y="4187952"/>
            <a:ext cx="1783080"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LENGTH MIX</a:t>
            </a:r>
          </a:p>
        </p:txBody>
      </p:sp>
      <p:sp>
        <p:nvSpPr>
          <p:cNvPr id="25" name="TextBox 24"/>
          <p:cNvSpPr txBox="1"/>
          <p:nvPr/>
        </p:nvSpPr>
        <p:spPr>
          <a:xfrm>
            <a:off x="4718304" y="4681728"/>
            <a:ext cx="3730752" cy="658368"/>
          </a:xfrm>
          <a:prstGeom prst="rect">
            <a:avLst/>
          </a:prstGeom>
          <a:noFill/>
        </p:spPr>
        <p:txBody>
          <a:bodyPr wrap="square" lIns="36576" tIns="36576" rIns="36576" bIns="36576" anchor="t">
            <a:spAutoFit/>
          </a:bodyPr>
          <a:lstStyle/>
          <a:p>
            <a:pPr algn="ctr">
              <a:spcBef>
                <a:spcPts val="0"/>
              </a:spcBef>
              <a:spcAft>
                <a:spcPts val="0"/>
              </a:spcAft>
            </a:pPr>
            <a:r>
              <a:rPr sz="1650" b="1" i="0">
                <a:solidFill>
                  <a:srgbClr val="13233B"/>
                </a:solidFill>
                <a:latin typeface="Aptos"/>
              </a:rPr>
              <a:t>ρ[s,p,b] = Σ over c  z[s,c] A[c,p] ω[c,p,b] / μ[s,p]</a:t>
            </a:r>
          </a:p>
        </p:txBody>
      </p:sp>
      <p:sp>
        <p:nvSpPr>
          <p:cNvPr id="26" name="TextBox 25"/>
          <p:cNvSpPr txBox="1"/>
          <p:nvPr/>
        </p:nvSpPr>
        <p:spPr>
          <a:xfrm>
            <a:off x="4937760" y="5431536"/>
            <a:ext cx="3273552" cy="402336"/>
          </a:xfrm>
          <a:prstGeom prst="rect">
            <a:avLst/>
          </a:prstGeom>
          <a:noFill/>
        </p:spPr>
        <p:txBody>
          <a:bodyPr wrap="square" lIns="36576" tIns="36576" rIns="36576" bIns="36576" anchor="t">
            <a:spAutoFit/>
          </a:bodyPr>
          <a:lstStyle/>
          <a:p>
            <a:pPr algn="ctr">
              <a:spcBef>
                <a:spcPts val="0"/>
              </a:spcBef>
              <a:spcAft>
                <a:spcPts val="0"/>
              </a:spcAft>
            </a:pPr>
            <a:r>
              <a:rPr sz="1350" b="0" i="0">
                <a:solidFill>
                  <a:srgbClr val="52627A"/>
                </a:solidFill>
                <a:latin typeface="Aptos"/>
              </a:rPr>
              <a:t>Weight each type's shape fingerprint, then divide by the total.</a:t>
            </a:r>
          </a:p>
        </p:txBody>
      </p:sp>
      <p:sp>
        <p:nvSpPr>
          <p:cNvPr id="27" name="Right Arrow 26"/>
          <p:cNvSpPr/>
          <p:nvPr/>
        </p:nvSpPr>
        <p:spPr>
          <a:xfrm>
            <a:off x="8750808"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01784" y="1664208"/>
            <a:ext cx="1773936" cy="43799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040112" y="1920240"/>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OBSERVE</a:t>
            </a:r>
          </a:p>
        </p:txBody>
      </p:sp>
      <p:sp>
        <p:nvSpPr>
          <p:cNvPr id="30" name="Oval 29"/>
          <p:cNvSpPr/>
          <p:nvPr/>
        </p:nvSpPr>
        <p:spPr>
          <a:xfrm>
            <a:off x="10040112" y="2642616"/>
            <a:ext cx="320040" cy="320040"/>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42448" y="2624328"/>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short</a:t>
            </a:r>
          </a:p>
        </p:txBody>
      </p:sp>
      <p:sp>
        <p:nvSpPr>
          <p:cNvPr id="32" name="TextBox 31"/>
          <p:cNvSpPr txBox="1"/>
          <p:nvPr/>
        </p:nvSpPr>
        <p:spPr>
          <a:xfrm>
            <a:off x="10991088" y="2615184"/>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14</a:t>
            </a:r>
          </a:p>
        </p:txBody>
      </p:sp>
      <p:sp>
        <p:nvSpPr>
          <p:cNvPr id="33" name="Oval 32"/>
          <p:cNvSpPr/>
          <p:nvPr/>
        </p:nvSpPr>
        <p:spPr>
          <a:xfrm>
            <a:off x="10040112" y="3410712"/>
            <a:ext cx="320040" cy="320040"/>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442448" y="3392424"/>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middle</a:t>
            </a:r>
          </a:p>
        </p:txBody>
      </p:sp>
      <p:sp>
        <p:nvSpPr>
          <p:cNvPr id="35" name="TextBox 34"/>
          <p:cNvSpPr txBox="1"/>
          <p:nvPr/>
        </p:nvSpPr>
        <p:spPr>
          <a:xfrm>
            <a:off x="10991088" y="3383280"/>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6</a:t>
            </a:r>
          </a:p>
        </p:txBody>
      </p:sp>
      <p:sp>
        <p:nvSpPr>
          <p:cNvPr id="36" name="Oval 35"/>
          <p:cNvSpPr/>
          <p:nvPr/>
        </p:nvSpPr>
        <p:spPr>
          <a:xfrm>
            <a:off x="10040112" y="4178808"/>
            <a:ext cx="320040" cy="320040"/>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442448" y="4160520"/>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long</a:t>
            </a:r>
          </a:p>
        </p:txBody>
      </p:sp>
      <p:sp>
        <p:nvSpPr>
          <p:cNvPr id="38" name="TextBox 37"/>
          <p:cNvSpPr txBox="1"/>
          <p:nvPr/>
        </p:nvSpPr>
        <p:spPr>
          <a:xfrm>
            <a:off x="10991088" y="4151376"/>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4</a:t>
            </a:r>
          </a:p>
        </p:txBody>
      </p:sp>
      <p:cxnSp>
        <p:nvCxnSpPr>
          <p:cNvPr id="39" name="Connector 38"/>
          <p:cNvCxnSpPr/>
          <p:nvPr/>
        </p:nvCxnSpPr>
        <p:spPr>
          <a:xfrm>
            <a:off x="10021824" y="4965192"/>
            <a:ext cx="1115568" cy="0"/>
          </a:xfrm>
          <a:prstGeom prst="line">
            <a:avLst/>
          </a:prstGeom>
          <a:ln w="10160">
            <a:solidFill>
              <a:srgbClr val="D7E2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021824" y="5184648"/>
            <a:ext cx="1133856"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FFFFFF"/>
                </a:solidFill>
                <a:latin typeface="Aptos"/>
              </a:rPr>
              <a:t>N = 24</a:t>
            </a:r>
          </a:p>
        </p:txBody>
      </p:sp>
      <p:cxnSp>
        <p:nvCxnSpPr>
          <p:cNvPr id="41" name="Connector 4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Notation: s = spot, c = cell type, p = peak, b = fragment-length bin. Background is fixed to zero in model v1.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LIKELIHOOD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Two probability models score two kinds of evidence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11</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The factorization protects the fair comparison: the count model stays identical, and ShapeMix adds only the conditional length term.</a:t>
            </a:r>
          </a:p>
        </p:txBody>
      </p:sp>
      <p:sp>
        <p:nvSpPr>
          <p:cNvPr id="6" name="Rounded Rectangle 5"/>
          <p:cNvSpPr/>
          <p:nvPr/>
        </p:nvSpPr>
        <p:spPr>
          <a:xfrm>
            <a:off x="694944" y="1682496"/>
            <a:ext cx="5148072"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50976" y="1929384"/>
            <a:ext cx="1325880"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1  PEAK TOTAL</a:t>
            </a:r>
          </a:p>
        </p:txBody>
      </p:sp>
      <p:sp>
        <p:nvSpPr>
          <p:cNvPr id="8" name="TextBox 7"/>
          <p:cNvSpPr txBox="1"/>
          <p:nvPr/>
        </p:nvSpPr>
        <p:spPr>
          <a:xfrm>
            <a:off x="950976" y="2468880"/>
            <a:ext cx="4626864"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Negative binomial</a:t>
            </a:r>
          </a:p>
        </p:txBody>
      </p:sp>
      <p:sp>
        <p:nvSpPr>
          <p:cNvPr id="9" name="TextBox 8"/>
          <p:cNvSpPr txBox="1"/>
          <p:nvPr/>
        </p:nvSpPr>
        <p:spPr>
          <a:xfrm>
            <a:off x="1115568" y="3063240"/>
            <a:ext cx="4297680" cy="45720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3B82F6"/>
                </a:solidFill>
                <a:latin typeface="Aptos"/>
              </a:rPr>
              <a:t>N[s,p] ~ NB(mean = μ[s,p])</a:t>
            </a:r>
          </a:p>
        </p:txBody>
      </p:sp>
      <p:sp>
        <p:nvSpPr>
          <p:cNvPr id="10" name="Rectangle 9"/>
          <p:cNvSpPr/>
          <p:nvPr/>
        </p:nvSpPr>
        <p:spPr>
          <a:xfrm>
            <a:off x="1371600" y="4142232"/>
            <a:ext cx="310896" cy="50292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911095" y="3621024"/>
            <a:ext cx="310896" cy="10241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50591" y="3895344"/>
            <a:ext cx="310896" cy="7498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90088" y="3383280"/>
            <a:ext cx="310896"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9584" y="4014216"/>
            <a:ext cx="310896" cy="63093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69079" y="3721608"/>
            <a:ext cx="310896" cy="9235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4919472"/>
            <a:ext cx="4416552"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not a simple fixed count?</a:t>
            </a:r>
          </a:p>
        </p:txBody>
      </p:sp>
      <p:sp>
        <p:nvSpPr>
          <p:cNvPr id="17" name="TextBox 16"/>
          <p:cNvSpPr txBox="1"/>
          <p:nvPr/>
        </p:nvSpPr>
        <p:spPr>
          <a:xfrm>
            <a:off x="1133856" y="5230368"/>
            <a:ext cx="4315968"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Sequencing counts vary more than a Poisson model usually allows. The negative binomial permits extra spread.</a:t>
            </a:r>
          </a:p>
        </p:txBody>
      </p:sp>
      <p:sp>
        <p:nvSpPr>
          <p:cNvPr id="18" name="Rounded Rectangle 17"/>
          <p:cNvSpPr/>
          <p:nvPr/>
        </p:nvSpPr>
        <p:spPr>
          <a:xfrm>
            <a:off x="6117336" y="1682496"/>
            <a:ext cx="5358384"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82512" y="1929384"/>
            <a:ext cx="1554480"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2  LENGTH SPLIT</a:t>
            </a:r>
          </a:p>
        </p:txBody>
      </p:sp>
      <p:sp>
        <p:nvSpPr>
          <p:cNvPr id="20" name="TextBox 19"/>
          <p:cNvSpPr txBox="1"/>
          <p:nvPr/>
        </p:nvSpPr>
        <p:spPr>
          <a:xfrm>
            <a:off x="6391656" y="2468880"/>
            <a:ext cx="4800600"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Conditional multinomial</a:t>
            </a:r>
          </a:p>
        </p:txBody>
      </p:sp>
      <p:sp>
        <p:nvSpPr>
          <p:cNvPr id="21" name="TextBox 20"/>
          <p:cNvSpPr txBox="1"/>
          <p:nvPr/>
        </p:nvSpPr>
        <p:spPr>
          <a:xfrm>
            <a:off x="6364224" y="3026664"/>
            <a:ext cx="4846320" cy="566928"/>
          </a:xfrm>
          <a:prstGeom prst="rect">
            <a:avLst/>
          </a:prstGeom>
          <a:noFill/>
        </p:spPr>
        <p:txBody>
          <a:bodyPr wrap="square" lIns="36576" tIns="36576" rIns="36576" bIns="36576" anchor="t">
            <a:spAutoFit/>
          </a:bodyPr>
          <a:lstStyle/>
          <a:p>
            <a:pPr algn="ctr">
              <a:spcBef>
                <a:spcPts val="0"/>
              </a:spcBef>
              <a:spcAft>
                <a:spcPts val="0"/>
              </a:spcAft>
            </a:pPr>
            <a:r>
              <a:rPr sz="1750" b="1" i="0">
                <a:solidFill>
                  <a:srgbClr val="0C7F75"/>
                </a:solidFill>
                <a:latin typeface="Aptos"/>
              </a:rPr>
              <a:t>Y[s,p,:] | N[s,p] ~ Multinomial(N[s,p], ρ[s,p,:])</a:t>
            </a:r>
          </a:p>
        </p:txBody>
      </p:sp>
      <p:sp>
        <p:nvSpPr>
          <p:cNvPr id="22" name="Rectangle 21"/>
          <p:cNvSpPr/>
          <p:nvPr/>
        </p:nvSpPr>
        <p:spPr>
          <a:xfrm>
            <a:off x="6995160" y="3895344"/>
            <a:ext cx="2080260"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95160" y="3904487"/>
            <a:ext cx="20802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14</a:t>
            </a:r>
          </a:p>
        </p:txBody>
      </p:sp>
      <p:sp>
        <p:nvSpPr>
          <p:cNvPr id="24" name="Rectangle 23"/>
          <p:cNvSpPr/>
          <p:nvPr/>
        </p:nvSpPr>
        <p:spPr>
          <a:xfrm>
            <a:off x="9075420" y="3895344"/>
            <a:ext cx="891540" cy="56692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75420" y="3904487"/>
            <a:ext cx="89154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6</a:t>
            </a:r>
          </a:p>
        </p:txBody>
      </p:sp>
      <p:sp>
        <p:nvSpPr>
          <p:cNvPr id="26" name="Rectangle 25"/>
          <p:cNvSpPr/>
          <p:nvPr/>
        </p:nvSpPr>
        <p:spPr>
          <a:xfrm>
            <a:off x="9966960" y="3895344"/>
            <a:ext cx="594360"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66960" y="3904487"/>
            <a:ext cx="5943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a:t>
            </a:r>
          </a:p>
        </p:txBody>
      </p:sp>
      <p:sp>
        <p:nvSpPr>
          <p:cNvPr id="28" name="Rectangle 27"/>
          <p:cNvSpPr/>
          <p:nvPr/>
        </p:nvSpPr>
        <p:spPr>
          <a:xfrm>
            <a:off x="6995160" y="3895344"/>
            <a:ext cx="356616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10528" y="4919472"/>
            <a:ext cx="4608576"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condition on the total?</a:t>
            </a:r>
          </a:p>
        </p:txBody>
      </p:sp>
      <p:sp>
        <p:nvSpPr>
          <p:cNvPr id="30" name="TextBox 29"/>
          <p:cNvSpPr txBox="1"/>
          <p:nvPr/>
        </p:nvSpPr>
        <p:spPr>
          <a:xfrm>
            <a:off x="6547104" y="5230368"/>
            <a:ext cx="4535424"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It asks only how the same 24 cuts split across bins, so the shape term cannot secretly replace the count model.</a:t>
            </a:r>
          </a:p>
        </p:txBody>
      </p:sp>
      <p:sp>
        <p:nvSpPr>
          <p:cNvPr id="31" name="Rounded Rectangle 30"/>
          <p:cNvSpPr/>
          <p:nvPr/>
        </p:nvSpPr>
        <p:spPr>
          <a:xfrm>
            <a:off x="3072384" y="6053328"/>
            <a:ext cx="6053328" cy="34747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80" b="1">
                <a:solidFill>
                  <a:srgbClr val="FFFFFF"/>
                </a:solidFill>
                <a:latin typeface="Aptos"/>
              </a:rPr>
              <a:t>p(shape data) = p(total count) × p(length split | that total)</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ShapeMix model v1: negative-binomial totals + conditional multinomial bins; not three independent negative-binomial models.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SHAPEMIX: BAYESIAN INFERENCE</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Inference searches for the most supported mixture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12</a:t>
            </a:r>
          </a:p>
        </p:txBody>
      </p:sp>
      <p:sp>
        <p:nvSpPr>
          <p:cNvPr id="5" name="TextBox 4"/>
          <p:cNvSpPr txBox="1"/>
          <p:nvPr/>
        </p:nvSpPr>
        <p:spPr>
          <a:xfrm>
            <a:off x="658368" y="1078992"/>
            <a:ext cx="10826496" cy="356616"/>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D7E2EE"/>
                </a:solidFill>
                <a:latin typeface="Aptos"/>
              </a:rPr>
              <a:t>ShapeMix maximizes one score for every candidate abundance matrix z.</a:t>
            </a:r>
          </a:p>
        </p:txBody>
      </p:sp>
      <p:sp>
        <p:nvSpPr>
          <p:cNvPr id="6" name="Rounded Rectangle 5"/>
          <p:cNvSpPr/>
          <p:nvPr/>
        </p:nvSpPr>
        <p:spPr>
          <a:xfrm>
            <a:off x="713232" y="1645920"/>
            <a:ext cx="10762488" cy="11247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83664"/>
            <a:ext cx="1618488" cy="347472"/>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4B942"/>
                </a:solidFill>
                <a:latin typeface="Aptos"/>
              </a:rPr>
              <a:t>log posterior</a:t>
            </a:r>
          </a:p>
        </p:txBody>
      </p:sp>
      <p:sp>
        <p:nvSpPr>
          <p:cNvPr id="8" name="TextBox 7"/>
          <p:cNvSpPr txBox="1"/>
          <p:nvPr/>
        </p:nvSpPr>
        <p:spPr>
          <a:xfrm>
            <a:off x="2660904" y="1874519"/>
            <a:ext cx="310896"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9" name="Rounded Rectangle 8"/>
          <p:cNvSpPr/>
          <p:nvPr/>
        </p:nvSpPr>
        <p:spPr>
          <a:xfrm>
            <a:off x="2999232" y="182880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COUNT FIT</a:t>
            </a:r>
          </a:p>
        </p:txBody>
      </p:sp>
      <p:sp>
        <p:nvSpPr>
          <p:cNvPr id="10" name="TextBox 9"/>
          <p:cNvSpPr txBox="1"/>
          <p:nvPr/>
        </p:nvSpPr>
        <p:spPr>
          <a:xfrm>
            <a:off x="2999232" y="2240280"/>
            <a:ext cx="1517904"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negative binomial</a:t>
            </a:r>
          </a:p>
        </p:txBody>
      </p:sp>
      <p:sp>
        <p:nvSpPr>
          <p:cNvPr id="11" name="TextBox 10"/>
          <p:cNvSpPr txBox="1"/>
          <p:nvPr/>
        </p:nvSpPr>
        <p:spPr>
          <a:xfrm>
            <a:off x="4709160"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2" name="Rounded Rectangle 11"/>
          <p:cNvSpPr/>
          <p:nvPr/>
        </p:nvSpPr>
        <p:spPr>
          <a:xfrm>
            <a:off x="5148072" y="1828800"/>
            <a:ext cx="1527048"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SHAPE FIT</a:t>
            </a:r>
          </a:p>
        </p:txBody>
      </p:sp>
      <p:sp>
        <p:nvSpPr>
          <p:cNvPr id="13" name="TextBox 12"/>
          <p:cNvSpPr txBox="1"/>
          <p:nvPr/>
        </p:nvSpPr>
        <p:spPr>
          <a:xfrm>
            <a:off x="5148072" y="2240280"/>
            <a:ext cx="1527048"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multinomial</a:t>
            </a:r>
          </a:p>
        </p:txBody>
      </p:sp>
      <p:sp>
        <p:nvSpPr>
          <p:cNvPr id="14" name="TextBox 13"/>
          <p:cNvSpPr txBox="1"/>
          <p:nvPr/>
        </p:nvSpPr>
        <p:spPr>
          <a:xfrm>
            <a:off x="6885432"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5" name="Rounded Rectangle 14"/>
          <p:cNvSpPr/>
          <p:nvPr/>
        </p:nvSpPr>
        <p:spPr>
          <a:xfrm>
            <a:off x="7351775" y="1828800"/>
            <a:ext cx="204825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GAMMA PRIOR</a:t>
            </a:r>
          </a:p>
        </p:txBody>
      </p:sp>
      <p:sp>
        <p:nvSpPr>
          <p:cNvPr id="16" name="TextBox 15"/>
          <p:cNvSpPr txBox="1"/>
          <p:nvPr/>
        </p:nvSpPr>
        <p:spPr>
          <a:xfrm>
            <a:off x="7351775" y="2240280"/>
            <a:ext cx="2048256"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positive, regularized z</a:t>
            </a:r>
          </a:p>
        </p:txBody>
      </p:sp>
      <p:sp>
        <p:nvSpPr>
          <p:cNvPr id="17" name="TextBox 16"/>
          <p:cNvSpPr txBox="1"/>
          <p:nvPr/>
        </p:nvSpPr>
        <p:spPr>
          <a:xfrm>
            <a:off x="9482328" y="1865376"/>
            <a:ext cx="1572768" cy="493776"/>
          </a:xfrm>
          <a:prstGeom prst="rect">
            <a:avLst/>
          </a:prstGeom>
          <a:noFill/>
        </p:spPr>
        <p:txBody>
          <a:bodyPr wrap="square" lIns="36576" tIns="36576" rIns="36576" bIns="36576" anchor="t">
            <a:spAutoFit/>
          </a:bodyPr>
          <a:lstStyle/>
          <a:p>
            <a:pPr algn="ctr">
              <a:spcBef>
                <a:spcPts val="0"/>
              </a:spcBef>
              <a:spcAft>
                <a:spcPts val="0"/>
              </a:spcAft>
            </a:pPr>
            <a:r>
              <a:rPr sz="1270" b="1" i="0">
                <a:solidFill>
                  <a:srgbClr val="F4B942"/>
                </a:solidFill>
                <a:latin typeface="Aptos"/>
              </a:rPr>
              <a:t>MAP targets the highest point of this posterior score</a:t>
            </a:r>
          </a:p>
        </p:txBody>
      </p:sp>
      <p:cxnSp>
        <p:nvCxnSpPr>
          <p:cNvPr id="18" name="Connector 17"/>
          <p:cNvCxnSpPr/>
          <p:nvPr/>
        </p:nvCxnSpPr>
        <p:spPr>
          <a:xfrm>
            <a:off x="1216152" y="4361688"/>
            <a:ext cx="9710928" cy="0"/>
          </a:xfrm>
          <a:prstGeom prst="line">
            <a:avLst/>
          </a:prstGeom>
          <a:ln w="38100">
            <a:solidFill>
              <a:srgbClr val="D7E2E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325880" y="3995928"/>
            <a:ext cx="731520" cy="731520"/>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25880"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21" name="Rounded Rectangle 20"/>
          <p:cNvSpPr/>
          <p:nvPr/>
        </p:nvSpPr>
        <p:spPr>
          <a:xfrm>
            <a:off x="960120" y="3246120"/>
            <a:ext cx="146304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START</a:t>
            </a:r>
          </a:p>
        </p:txBody>
      </p:sp>
      <p:sp>
        <p:nvSpPr>
          <p:cNvPr id="22" name="TextBox 21"/>
          <p:cNvSpPr txBox="1"/>
          <p:nvPr/>
        </p:nvSpPr>
        <p:spPr>
          <a:xfrm>
            <a:off x="777240"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NNLS estimate</a:t>
            </a:r>
          </a:p>
        </p:txBody>
      </p:sp>
      <p:sp>
        <p:nvSpPr>
          <p:cNvPr id="23" name="TextBox 22"/>
          <p:cNvSpPr txBox="1"/>
          <p:nvPr/>
        </p:nvSpPr>
        <p:spPr>
          <a:xfrm>
            <a:off x="768096"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a sensible count-only guess</a:t>
            </a:r>
          </a:p>
        </p:txBody>
      </p:sp>
      <p:sp>
        <p:nvSpPr>
          <p:cNvPr id="24" name="Oval 23"/>
          <p:cNvSpPr/>
          <p:nvPr/>
        </p:nvSpPr>
        <p:spPr>
          <a:xfrm>
            <a:off x="3547872" y="3995928"/>
            <a:ext cx="731520" cy="731520"/>
          </a:xfrm>
          <a:prstGeom prst="ellipse">
            <a:avLst/>
          </a:prstGeom>
          <a:solidFill>
            <a:srgbClr val="F4B94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7872"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sp>
        <p:nvSpPr>
          <p:cNvPr id="26" name="Rounded Rectangle 25"/>
          <p:cNvSpPr/>
          <p:nvPr/>
        </p:nvSpPr>
        <p:spPr>
          <a:xfrm>
            <a:off x="3182112" y="3246120"/>
            <a:ext cx="1463040" cy="292608"/>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CONSTRAIN</a:t>
            </a:r>
          </a:p>
        </p:txBody>
      </p:sp>
      <p:sp>
        <p:nvSpPr>
          <p:cNvPr id="27" name="TextBox 26"/>
          <p:cNvSpPr txBox="1"/>
          <p:nvPr/>
        </p:nvSpPr>
        <p:spPr>
          <a:xfrm>
            <a:off x="2999232"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log abundance</a:t>
            </a:r>
          </a:p>
        </p:txBody>
      </p:sp>
      <p:sp>
        <p:nvSpPr>
          <p:cNvPr id="28" name="TextBox 27"/>
          <p:cNvSpPr txBox="1"/>
          <p:nvPr/>
        </p:nvSpPr>
        <p:spPr>
          <a:xfrm>
            <a:off x="2990088"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z = exp(raw) stays positive</a:t>
            </a:r>
          </a:p>
        </p:txBody>
      </p:sp>
      <p:sp>
        <p:nvSpPr>
          <p:cNvPr id="29" name="Oval 28"/>
          <p:cNvSpPr/>
          <p:nvPr/>
        </p:nvSpPr>
        <p:spPr>
          <a:xfrm>
            <a:off x="5769864" y="3995928"/>
            <a:ext cx="731520" cy="731520"/>
          </a:xfrm>
          <a:prstGeom prst="ellipse">
            <a:avLst/>
          </a:prstGeom>
          <a:solidFill>
            <a:srgbClr val="8B5C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69864"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31" name="Rounded Rectangle 30"/>
          <p:cNvSpPr/>
          <p:nvPr/>
        </p:nvSpPr>
        <p:spPr>
          <a:xfrm>
            <a:off x="5404104" y="3246120"/>
            <a:ext cx="146304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UPDATE</a:t>
            </a:r>
          </a:p>
        </p:txBody>
      </p:sp>
      <p:sp>
        <p:nvSpPr>
          <p:cNvPr id="32" name="TextBox 31"/>
          <p:cNvSpPr txBox="1"/>
          <p:nvPr/>
        </p:nvSpPr>
        <p:spPr>
          <a:xfrm>
            <a:off x="5221224"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Adam optimizer</a:t>
            </a:r>
          </a:p>
        </p:txBody>
      </p:sp>
      <p:sp>
        <p:nvSpPr>
          <p:cNvPr id="33" name="TextBox 32"/>
          <p:cNvSpPr txBox="1"/>
          <p:nvPr/>
        </p:nvSpPr>
        <p:spPr>
          <a:xfrm>
            <a:off x="5212080"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moves uphill on the score</a:t>
            </a:r>
          </a:p>
        </p:txBody>
      </p:sp>
      <p:sp>
        <p:nvSpPr>
          <p:cNvPr id="34" name="Oval 33"/>
          <p:cNvSpPr/>
          <p:nvPr/>
        </p:nvSpPr>
        <p:spPr>
          <a:xfrm>
            <a:off x="7991856" y="3995928"/>
            <a:ext cx="731520" cy="731520"/>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91856"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36" name="Rounded Rectangle 35"/>
          <p:cNvSpPr/>
          <p:nvPr/>
        </p:nvSpPr>
        <p:spPr>
          <a:xfrm>
            <a:off x="7626096" y="3246120"/>
            <a:ext cx="1463040" cy="29260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REPEAT</a:t>
            </a:r>
          </a:p>
        </p:txBody>
      </p:sp>
      <p:sp>
        <p:nvSpPr>
          <p:cNvPr id="37" name="TextBox 36"/>
          <p:cNvSpPr txBox="1"/>
          <p:nvPr/>
        </p:nvSpPr>
        <p:spPr>
          <a:xfrm>
            <a:off x="7443216"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3 restarts</a:t>
            </a:r>
          </a:p>
        </p:txBody>
      </p:sp>
      <p:sp>
        <p:nvSpPr>
          <p:cNvPr id="38" name="TextBox 37"/>
          <p:cNvSpPr txBox="1"/>
          <p:nvPr/>
        </p:nvSpPr>
        <p:spPr>
          <a:xfrm>
            <a:off x="7434072"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checks different starting paths</a:t>
            </a:r>
          </a:p>
        </p:txBody>
      </p:sp>
      <p:sp>
        <p:nvSpPr>
          <p:cNvPr id="39" name="Oval 38"/>
          <p:cNvSpPr/>
          <p:nvPr/>
        </p:nvSpPr>
        <p:spPr>
          <a:xfrm>
            <a:off x="10213848" y="3995928"/>
            <a:ext cx="731520" cy="731520"/>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13848"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5</a:t>
            </a:r>
          </a:p>
        </p:txBody>
      </p:sp>
      <p:sp>
        <p:nvSpPr>
          <p:cNvPr id="41" name="Rounded Rectangle 40"/>
          <p:cNvSpPr/>
          <p:nvPr/>
        </p:nvSpPr>
        <p:spPr>
          <a:xfrm>
            <a:off x="9848088" y="3246120"/>
            <a:ext cx="146304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REPORT</a:t>
            </a:r>
          </a:p>
        </p:txBody>
      </p:sp>
      <p:sp>
        <p:nvSpPr>
          <p:cNvPr id="42" name="TextBox 41"/>
          <p:cNvSpPr txBox="1"/>
          <p:nvPr/>
        </p:nvSpPr>
        <p:spPr>
          <a:xfrm>
            <a:off x="9665208"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best found MAP</a:t>
            </a:r>
          </a:p>
        </p:txBody>
      </p:sp>
      <p:sp>
        <p:nvSpPr>
          <p:cNvPr id="43" name="TextBox 42"/>
          <p:cNvSpPr txBox="1"/>
          <p:nvPr/>
        </p:nvSpPr>
        <p:spPr>
          <a:xfrm>
            <a:off x="9656064"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normalize z to percentages</a:t>
            </a:r>
          </a:p>
        </p:txBody>
      </p:sp>
      <p:sp>
        <p:nvSpPr>
          <p:cNvPr id="44" name="Rounded Rectangle 43"/>
          <p:cNvSpPr/>
          <p:nvPr/>
        </p:nvSpPr>
        <p:spPr>
          <a:xfrm>
            <a:off x="2304288" y="5998464"/>
            <a:ext cx="7598664" cy="38404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87168" y="6025896"/>
            <a:ext cx="7232904" cy="292608"/>
          </a:xfrm>
          <a:prstGeom prst="rect">
            <a:avLst/>
          </a:prstGeom>
          <a:noFill/>
        </p:spPr>
        <p:txBody>
          <a:bodyPr wrap="square" lIns="36576" tIns="36576" rIns="36576" bIns="36576" anchor="t">
            <a:spAutoFit/>
          </a:bodyPr>
          <a:lstStyle/>
          <a:p>
            <a:pPr algn="ctr">
              <a:spcBef>
                <a:spcPts val="0"/>
              </a:spcBef>
              <a:spcAft>
                <a:spcPts val="0"/>
              </a:spcAft>
            </a:pPr>
            <a:r>
              <a:rPr sz="1170" b="1" i="0">
                <a:solidFill>
                  <a:srgbClr val="FFFFFF"/>
                </a:solidFill>
                <a:latin typeface="Aptos"/>
              </a:rPr>
              <a:t>Important: this MVP reports one MAP point estimate—not a credible interval or full posterior distribution.</a:t>
            </a:r>
          </a:p>
        </p:txBody>
      </p:sp>
      <p:cxnSp>
        <p:nvCxnSpPr>
          <p:cNvPr id="46" name="Connector 45"/>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Frozen protocol v1: Gamma(2,1) prior; Adam; 3 deterministic restarts; identical settings in count-only and shape-aware arms.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ALGORITHM OVERVIEW</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How ShapeMix works—four steps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13</a:t>
            </a:r>
          </a:p>
        </p:txBody>
      </p:sp>
      <p:sp>
        <p:nvSpPr>
          <p:cNvPr id="5" name="Rounded Rectangle 4"/>
          <p:cNvSpPr/>
          <p:nvPr/>
        </p:nvSpPr>
        <p:spPr>
          <a:xfrm>
            <a:off x="612648" y="1371600"/>
            <a:ext cx="2578608" cy="4096512"/>
          </a:xfrm>
          <a:prstGeom prst="roundRect">
            <a:avLst/>
          </a:prstGeom>
          <a:solidFill>
            <a:srgbClr val="1C315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95528" y="1581912"/>
            <a:ext cx="530352" cy="530352"/>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8" name="Oval 7"/>
          <p:cNvSpPr/>
          <p:nvPr/>
        </p:nvSpPr>
        <p:spPr>
          <a:xfrm>
            <a:off x="996696" y="2414016"/>
            <a:ext cx="420624" cy="420624"/>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78408" y="2971800"/>
            <a:ext cx="64008" cy="2377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69848" y="2880360"/>
            <a:ext cx="64008" cy="32918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61288" y="2788920"/>
            <a:ext cx="64008" cy="42062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591056" y="2414016"/>
            <a:ext cx="420624" cy="420624"/>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572768" y="2971800"/>
            <a:ext cx="64008" cy="23774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64208" y="2880360"/>
            <a:ext cx="64008" cy="32918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755648" y="2788920"/>
            <a:ext cx="64008" cy="42062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185416" y="2414016"/>
            <a:ext cx="420624" cy="420624"/>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67128" y="2971800"/>
            <a:ext cx="64008" cy="23774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58568" y="2880360"/>
            <a:ext cx="64008" cy="32918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350008" y="2788920"/>
            <a:ext cx="64008" cy="42062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Build references</a:t>
            </a:r>
          </a:p>
        </p:txBody>
      </p:sp>
      <p:sp>
        <p:nvSpPr>
          <p:cNvPr id="21" name="TextBox 20"/>
          <p:cNvSpPr txBox="1"/>
          <p:nvPr/>
        </p:nvSpPr>
        <p:spPr>
          <a:xfrm>
            <a:off x="868680"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Use labeled single cells to learn each cell type’s peak counts and length pattern.</a:t>
            </a:r>
          </a:p>
        </p:txBody>
      </p:sp>
      <p:sp>
        <p:nvSpPr>
          <p:cNvPr id="22" name="Chevron 21"/>
          <p:cNvSpPr/>
          <p:nvPr/>
        </p:nvSpPr>
        <p:spPr>
          <a:xfrm>
            <a:off x="3209544" y="3154680"/>
            <a:ext cx="310896" cy="530352"/>
          </a:xfrm>
          <a:prstGeom prst="chevron">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502152" y="1371600"/>
            <a:ext cx="2578608" cy="4096512"/>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685032" y="1581912"/>
            <a:ext cx="530352" cy="53035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85032"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cxnSp>
        <p:nvCxnSpPr>
          <p:cNvPr id="26" name="Connector 25"/>
          <p:cNvCxnSpPr/>
          <p:nvPr/>
        </p:nvCxnSpPr>
        <p:spPr>
          <a:xfrm>
            <a:off x="3913632" y="2761488"/>
            <a:ext cx="32918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913632"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4281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89704" y="3081528"/>
            <a:ext cx="658368"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89704"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48072"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065776" y="2761488"/>
            <a:ext cx="96012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6577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2589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730752"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Read a mixed spot</a:t>
            </a:r>
          </a:p>
        </p:txBody>
      </p:sp>
      <p:sp>
        <p:nvSpPr>
          <p:cNvPr id="36" name="TextBox 35"/>
          <p:cNvSpPr txBox="1"/>
          <p:nvPr/>
        </p:nvSpPr>
        <p:spPr>
          <a:xfrm>
            <a:off x="3758184"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Count cut sites in each peak and sort them into three length bins.</a:t>
            </a:r>
          </a:p>
        </p:txBody>
      </p:sp>
      <p:sp>
        <p:nvSpPr>
          <p:cNvPr id="37" name="Chevron 36"/>
          <p:cNvSpPr/>
          <p:nvPr/>
        </p:nvSpPr>
        <p:spPr>
          <a:xfrm>
            <a:off x="6099048" y="3154680"/>
            <a:ext cx="310896" cy="530352"/>
          </a:xfrm>
          <a:prstGeom prst="chevron">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91656" y="1371600"/>
            <a:ext cx="2578608" cy="4096512"/>
          </a:xfrm>
          <a:prstGeom prst="roundRect">
            <a:avLst/>
          </a:prstGeom>
          <a:solidFill>
            <a:srgbClr val="1C315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574536" y="1581912"/>
            <a:ext cx="530352" cy="530352"/>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74536"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41" name="Rectangle 40"/>
          <p:cNvSpPr/>
          <p:nvPr/>
        </p:nvSpPr>
        <p:spPr>
          <a:xfrm>
            <a:off x="6803136" y="2596896"/>
            <a:ext cx="764032" cy="3840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567168" y="2596896"/>
            <a:ext cx="573023" cy="38404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140192" y="2596896"/>
            <a:ext cx="382016" cy="3840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03136" y="2596896"/>
            <a:ext cx="1719072" cy="384048"/>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42632" y="3099816"/>
            <a:ext cx="640080" cy="502920"/>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4B942"/>
                </a:solidFill>
                <a:latin typeface="Aptos"/>
              </a:rPr>
              <a:t>↻</a:t>
            </a:r>
          </a:p>
        </p:txBody>
      </p:sp>
      <p:sp>
        <p:nvSpPr>
          <p:cNvPr id="46" name="TextBox 45"/>
          <p:cNvSpPr txBox="1"/>
          <p:nvPr/>
        </p:nvSpPr>
        <p:spPr>
          <a:xfrm>
            <a:off x="6620256"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Try mixtures</a:t>
            </a:r>
          </a:p>
        </p:txBody>
      </p:sp>
      <p:sp>
        <p:nvSpPr>
          <p:cNvPr id="47" name="TextBox 46"/>
          <p:cNvSpPr txBox="1"/>
          <p:nvPr/>
        </p:nvSpPr>
        <p:spPr>
          <a:xfrm>
            <a:off x="6647688"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Combine reference fingerprints in different proportions and score the fit.</a:t>
            </a:r>
          </a:p>
        </p:txBody>
      </p:sp>
      <p:sp>
        <p:nvSpPr>
          <p:cNvPr id="48" name="Chevron 47"/>
          <p:cNvSpPr/>
          <p:nvPr/>
        </p:nvSpPr>
        <p:spPr>
          <a:xfrm>
            <a:off x="8988552" y="3154680"/>
            <a:ext cx="310896" cy="530352"/>
          </a:xfrm>
          <a:prstGeom prst="chevron">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281160" y="1371600"/>
            <a:ext cx="2578608" cy="40965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464040" y="1581912"/>
            <a:ext cx="530352" cy="530352"/>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464040"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52" name="Rectangle 51"/>
          <p:cNvSpPr/>
          <p:nvPr/>
        </p:nvSpPr>
        <p:spPr>
          <a:xfrm>
            <a:off x="9692640" y="2596896"/>
            <a:ext cx="859535" cy="49377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92640" y="2606039"/>
            <a:ext cx="859535"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54" name="Rectangle 53"/>
          <p:cNvSpPr/>
          <p:nvPr/>
        </p:nvSpPr>
        <p:spPr>
          <a:xfrm>
            <a:off x="10552176" y="2596896"/>
            <a:ext cx="515721"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552176" y="2606039"/>
            <a:ext cx="515721"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56" name="Rectangle 55"/>
          <p:cNvSpPr/>
          <p:nvPr/>
        </p:nvSpPr>
        <p:spPr>
          <a:xfrm>
            <a:off x="11067897" y="2596896"/>
            <a:ext cx="343814"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692640" y="2596896"/>
            <a:ext cx="1719072" cy="493776"/>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09760"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Report proportions</a:t>
            </a:r>
          </a:p>
        </p:txBody>
      </p:sp>
      <p:sp>
        <p:nvSpPr>
          <p:cNvPr id="59" name="TextBox 58"/>
          <p:cNvSpPr txBox="1"/>
          <p:nvPr/>
        </p:nvSpPr>
        <p:spPr>
          <a:xfrm>
            <a:off x="9537192"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Choose the most supported mixture and normalize it to percentages.</a:t>
            </a:r>
          </a:p>
        </p:txBody>
      </p:sp>
      <p:sp>
        <p:nvSpPr>
          <p:cNvPr id="60" name="Rounded Rectangle 59"/>
          <p:cNvSpPr/>
          <p:nvPr/>
        </p:nvSpPr>
        <p:spPr>
          <a:xfrm>
            <a:off x="3182112" y="5815584"/>
            <a:ext cx="5833872" cy="38404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200" b="1">
                <a:solidFill>
                  <a:srgbClr val="FFFFFF"/>
                </a:solidFill>
                <a:latin typeface="Aptos"/>
              </a:rPr>
              <a:t>Under the hood: count fit + shape fit + a sensible abundance prior</a:t>
            </a:r>
          </a:p>
        </p:txBody>
      </p:sp>
      <p:cxnSp>
        <p:nvCxnSpPr>
          <p:cNvPr id="61" name="Connector 60"/>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Technical version: negative-binomial peak totals + conditional multinomial length bins; fitted by MAP.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EXPERIMENTAL DESIGN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 matched experiment isolates the value of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14</a:t>
            </a:r>
          </a:p>
        </p:txBody>
      </p:sp>
      <p:sp>
        <p:nvSpPr>
          <p:cNvPr id="5" name="TextBox 4"/>
          <p:cNvSpPr txBox="1"/>
          <p:nvPr/>
        </p:nvSpPr>
        <p:spPr>
          <a:xfrm>
            <a:off x="658368" y="1060704"/>
            <a:ext cx="10835640"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The two models see the same data and use the same settings. Only one ingredient changes.</a:t>
            </a:r>
          </a:p>
        </p:txBody>
      </p:sp>
      <p:sp>
        <p:nvSpPr>
          <p:cNvPr id="6" name="Rounded Rectangle 5"/>
          <p:cNvSpPr/>
          <p:nvPr/>
        </p:nvSpPr>
        <p:spPr>
          <a:xfrm>
            <a:off x="658368" y="1618488"/>
            <a:ext cx="2880360" cy="4169663"/>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56231"/>
            <a:ext cx="237744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1  Split labeled cells</a:t>
            </a:r>
          </a:p>
        </p:txBody>
      </p:sp>
      <p:sp>
        <p:nvSpPr>
          <p:cNvPr id="8" name="Rectangle 7"/>
          <p:cNvSpPr/>
          <p:nvPr/>
        </p:nvSpPr>
        <p:spPr>
          <a:xfrm>
            <a:off x="950976" y="2459736"/>
            <a:ext cx="1600200" cy="47548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468879"/>
            <a:ext cx="16002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70%</a:t>
            </a:r>
          </a:p>
        </p:txBody>
      </p:sp>
      <p:sp>
        <p:nvSpPr>
          <p:cNvPr id="10" name="Rectangle 9"/>
          <p:cNvSpPr/>
          <p:nvPr/>
        </p:nvSpPr>
        <p:spPr>
          <a:xfrm>
            <a:off x="2551176" y="2459736"/>
            <a:ext cx="685800" cy="47548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51176" y="2468879"/>
            <a:ext cx="6858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2" name="Rectangle 11"/>
          <p:cNvSpPr/>
          <p:nvPr/>
        </p:nvSpPr>
        <p:spPr>
          <a:xfrm>
            <a:off x="950976" y="2459736"/>
            <a:ext cx="2286000" cy="47548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1832" y="3090672"/>
            <a:ext cx="1188720" cy="219456"/>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3B82F6"/>
                </a:solidFill>
                <a:latin typeface="Aptos"/>
              </a:rPr>
              <a:t>Reference pool</a:t>
            </a:r>
          </a:p>
        </p:txBody>
      </p:sp>
      <p:sp>
        <p:nvSpPr>
          <p:cNvPr id="14" name="TextBox 13"/>
          <p:cNvSpPr txBox="1"/>
          <p:nvPr/>
        </p:nvSpPr>
        <p:spPr>
          <a:xfrm>
            <a:off x="1984248" y="3090672"/>
            <a:ext cx="1298448" cy="219456"/>
          </a:xfrm>
          <a:prstGeom prst="rect">
            <a:avLst/>
          </a:prstGeom>
          <a:noFill/>
        </p:spPr>
        <p:txBody>
          <a:bodyPr wrap="square" lIns="36576" tIns="36576" rIns="36576" bIns="36576" anchor="t">
            <a:spAutoFit/>
          </a:bodyPr>
          <a:lstStyle/>
          <a:p>
            <a:pPr algn="r">
              <a:spcBef>
                <a:spcPts val="0"/>
              </a:spcBef>
              <a:spcAft>
                <a:spcPts val="0"/>
              </a:spcAft>
            </a:pPr>
            <a:r>
              <a:rPr sz="1300" b="1" i="0">
                <a:solidFill>
                  <a:srgbClr val="52627A"/>
                </a:solidFill>
                <a:latin typeface="Aptos"/>
              </a:rPr>
              <a:t>Held-out test pool</a:t>
            </a:r>
          </a:p>
        </p:txBody>
      </p:sp>
      <p:sp>
        <p:nvSpPr>
          <p:cNvPr id="15" name="TextBox 14"/>
          <p:cNvSpPr txBox="1"/>
          <p:nvPr/>
        </p:nvSpPr>
        <p:spPr>
          <a:xfrm>
            <a:off x="914400" y="3703320"/>
            <a:ext cx="2331720" cy="1517904"/>
          </a:xfrm>
          <a:prstGeom prst="rect">
            <a:avLst/>
          </a:prstGeom>
          <a:noFill/>
        </p:spPr>
        <p:txBody>
          <a:bodyPr wrap="square" lIns="36576" tIns="18288" rIns="18288" bIns="18288">
            <a:spAutoFit/>
          </a:bodyPr>
          <a:lstStyle/>
          <a:p>
            <a:pPr algn="l">
              <a:lnSpc>
                <a:spcPct val="105000"/>
              </a:lnSpc>
              <a:spcAft>
                <a:spcPts val="800"/>
              </a:spcAft>
            </a:pPr>
            <a:r>
              <a:rPr sz="1450" b="1">
                <a:solidFill>
                  <a:srgbClr val="3B82F6"/>
                </a:solidFill>
                <a:latin typeface="Aptos"/>
              </a:rPr>
              <a:t>•  </a:t>
            </a:r>
            <a:r>
              <a:rPr sz="1450">
                <a:solidFill>
                  <a:srgbClr val="213047"/>
                </a:solidFill>
                <a:latin typeface="Aptos"/>
              </a:rPr>
              <a:t>Learn fingerprints from 70%</a:t>
            </a:r>
          </a:p>
          <a:p>
            <a:pPr algn="l">
              <a:lnSpc>
                <a:spcPct val="105000"/>
              </a:lnSpc>
              <a:spcAft>
                <a:spcPts val="800"/>
              </a:spcAft>
            </a:pPr>
            <a:r>
              <a:rPr sz="1450" b="1">
                <a:solidFill>
                  <a:srgbClr val="3B82F6"/>
                </a:solidFill>
                <a:latin typeface="Aptos"/>
              </a:rPr>
              <a:t>•  </a:t>
            </a:r>
            <a:r>
              <a:rPr sz="1450">
                <a:solidFill>
                  <a:srgbClr val="213047"/>
                </a:solidFill>
                <a:latin typeface="Aptos"/>
              </a:rPr>
              <a:t>Make pseudo-spots from the other 30%</a:t>
            </a:r>
          </a:p>
          <a:p>
            <a:pPr algn="l">
              <a:lnSpc>
                <a:spcPct val="105000"/>
              </a:lnSpc>
              <a:spcAft>
                <a:spcPts val="800"/>
              </a:spcAft>
            </a:pPr>
            <a:r>
              <a:rPr sz="1450" b="1">
                <a:solidFill>
                  <a:srgbClr val="3B82F6"/>
                </a:solidFill>
                <a:latin typeface="Aptos"/>
              </a:rPr>
              <a:t>•  </a:t>
            </a:r>
            <a:r>
              <a:rPr sz="1450">
                <a:solidFill>
                  <a:srgbClr val="213047"/>
                </a:solidFill>
                <a:latin typeface="Aptos"/>
              </a:rPr>
              <a:t>Never reuse the same cell on both sides</a:t>
            </a:r>
          </a:p>
        </p:txBody>
      </p:sp>
      <p:sp>
        <p:nvSpPr>
          <p:cNvPr id="16" name="Rounded Rectangle 15"/>
          <p:cNvSpPr/>
          <p:nvPr/>
        </p:nvSpPr>
        <p:spPr>
          <a:xfrm>
            <a:off x="3822191" y="1618488"/>
            <a:ext cx="3429000"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05656" y="1856231"/>
            <a:ext cx="286207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2A  Count-only</a:t>
            </a:r>
          </a:p>
        </p:txBody>
      </p:sp>
      <p:sp>
        <p:nvSpPr>
          <p:cNvPr id="18" name="TextBox 17"/>
          <p:cNvSpPr txBox="1"/>
          <p:nvPr/>
        </p:nvSpPr>
        <p:spPr>
          <a:xfrm>
            <a:off x="4096512" y="2331720"/>
            <a:ext cx="2880360"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3B82F6"/>
                </a:solidFill>
                <a:latin typeface="Aptos"/>
              </a:rPr>
              <a:t>Uses peak totals</a:t>
            </a:r>
          </a:p>
        </p:txBody>
      </p:sp>
      <p:sp>
        <p:nvSpPr>
          <p:cNvPr id="19" name="Rectangle 18"/>
          <p:cNvSpPr/>
          <p:nvPr/>
        </p:nvSpPr>
        <p:spPr>
          <a:xfrm>
            <a:off x="4389120" y="3630168"/>
            <a:ext cx="274320"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846320" y="3154679"/>
            <a:ext cx="274320" cy="100584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303520" y="3447287"/>
            <a:ext cx="274320" cy="7132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760720" y="2898648"/>
            <a:ext cx="274320"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3319272"/>
            <a:ext cx="274320" cy="8412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10912" y="4462272"/>
            <a:ext cx="1042415"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Nₛₚ</a:t>
            </a:r>
          </a:p>
        </p:txBody>
      </p:sp>
      <p:sp>
        <p:nvSpPr>
          <p:cNvPr id="25" name="Rounded Rectangle 24"/>
          <p:cNvSpPr/>
          <p:nvPr/>
        </p:nvSpPr>
        <p:spPr>
          <a:xfrm>
            <a:off x="4855464" y="5084064"/>
            <a:ext cx="1335024"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BASELINE</a:t>
            </a:r>
          </a:p>
        </p:txBody>
      </p:sp>
      <p:sp>
        <p:nvSpPr>
          <p:cNvPr id="26" name="Rounded Rectangle 25"/>
          <p:cNvSpPr/>
          <p:nvPr/>
        </p:nvSpPr>
        <p:spPr>
          <a:xfrm>
            <a:off x="7534656" y="1618488"/>
            <a:ext cx="4005072"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54696" y="1856231"/>
            <a:ext cx="336499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2B  ShapeMix</a:t>
            </a:r>
          </a:p>
        </p:txBody>
      </p:sp>
      <p:sp>
        <p:nvSpPr>
          <p:cNvPr id="28" name="TextBox 27"/>
          <p:cNvSpPr txBox="1"/>
          <p:nvPr/>
        </p:nvSpPr>
        <p:spPr>
          <a:xfrm>
            <a:off x="7827264" y="2331720"/>
            <a:ext cx="3419856"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Same totals + length composition</a:t>
            </a:r>
          </a:p>
        </p:txBody>
      </p:sp>
      <p:sp>
        <p:nvSpPr>
          <p:cNvPr id="29" name="Rectangle 28"/>
          <p:cNvSpPr/>
          <p:nvPr/>
        </p:nvSpPr>
        <p:spPr>
          <a:xfrm>
            <a:off x="8193024" y="3044952"/>
            <a:ext cx="1325880"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518904" y="3044952"/>
            <a:ext cx="795527" cy="4937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314432" y="3044952"/>
            <a:ext cx="530352"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93024" y="3044952"/>
            <a:ext cx="2651760" cy="493776"/>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25128" y="3822191"/>
            <a:ext cx="1024128"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Yₛₚᵦ</a:t>
            </a:r>
          </a:p>
        </p:txBody>
      </p:sp>
      <p:sp>
        <p:nvSpPr>
          <p:cNvPr id="34" name="Rounded Rectangle 33"/>
          <p:cNvSpPr/>
          <p:nvPr/>
        </p:nvSpPr>
        <p:spPr>
          <a:xfrm>
            <a:off x="8586216" y="5084064"/>
            <a:ext cx="1993392"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ONLY EXTRA TERM: SHAPE</a:t>
            </a:r>
          </a:p>
        </p:txBody>
      </p:sp>
      <p:sp>
        <p:nvSpPr>
          <p:cNvPr id="35" name="Rounded Rectangle 34"/>
          <p:cNvSpPr/>
          <p:nvPr/>
        </p:nvSpPr>
        <p:spPr>
          <a:xfrm>
            <a:off x="2843784" y="5998464"/>
            <a:ext cx="6528816"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Same cells • peaks • seeds • prior • optimizer • compute budget</a:t>
            </a:r>
          </a:p>
        </p:txBody>
      </p:sp>
      <p:cxnSp>
        <p:nvCxnSpPr>
          <p:cNvPr id="36" name="Connector 3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Design source: ShapeMix benchmark protocol and project proposal in this repository.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DATASET PLAN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Primary dataset: human blood immune cells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15</a:t>
            </a:r>
          </a:p>
        </p:txBody>
      </p:sp>
      <p:sp>
        <p:nvSpPr>
          <p:cNvPr id="5" name="TextBox 4"/>
          <p:cNvSpPr txBox="1"/>
          <p:nvPr/>
        </p:nvSpPr>
        <p:spPr>
          <a:xfrm>
            <a:off x="658368" y="1042415"/>
            <a:ext cx="10835640" cy="402336"/>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 public 10x Genomics PBMC Multiome dataset provides paired RNA labels and raw ATAC fragments.</a:t>
            </a:r>
          </a:p>
        </p:txBody>
      </p:sp>
      <p:sp>
        <p:nvSpPr>
          <p:cNvPr id="6" name="Rounded Rectangle 5"/>
          <p:cNvSpPr/>
          <p:nvPr/>
        </p:nvSpPr>
        <p:spPr>
          <a:xfrm>
            <a:off x="713232" y="1673352"/>
            <a:ext cx="3456432" cy="11155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947672"/>
            <a:ext cx="512064" cy="512064"/>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PBMCs</a:t>
            </a:r>
          </a:p>
        </p:txBody>
      </p:sp>
      <p:sp>
        <p:nvSpPr>
          <p:cNvPr id="9" name="TextBox 8"/>
          <p:cNvSpPr txBox="1"/>
          <p:nvPr/>
        </p:nvSpPr>
        <p:spPr>
          <a:xfrm>
            <a:off x="1600200"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blood immune cells</a:t>
            </a:r>
          </a:p>
        </p:txBody>
      </p:sp>
      <p:sp>
        <p:nvSpPr>
          <p:cNvPr id="10" name="Rounded Rectangle 9"/>
          <p:cNvSpPr/>
          <p:nvPr/>
        </p:nvSpPr>
        <p:spPr>
          <a:xfrm>
            <a:off x="4517136" y="1673352"/>
            <a:ext cx="3456432" cy="111556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718304" y="1947672"/>
            <a:ext cx="512064" cy="512064"/>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04104"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 donor</a:t>
            </a:r>
          </a:p>
        </p:txBody>
      </p:sp>
      <p:sp>
        <p:nvSpPr>
          <p:cNvPr id="13" name="TextBox 12"/>
          <p:cNvSpPr txBox="1"/>
          <p:nvPr/>
        </p:nvSpPr>
        <p:spPr>
          <a:xfrm>
            <a:off x="5404104"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conditional first test</a:t>
            </a:r>
          </a:p>
        </p:txBody>
      </p:sp>
      <p:sp>
        <p:nvSpPr>
          <p:cNvPr id="14" name="Rounded Rectangle 13"/>
          <p:cNvSpPr/>
          <p:nvPr/>
        </p:nvSpPr>
        <p:spPr>
          <a:xfrm>
            <a:off x="8321040" y="1673352"/>
            <a:ext cx="3456432" cy="11155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22208" y="1947672"/>
            <a:ext cx="512064" cy="512064"/>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08008"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16 types</a:t>
            </a:r>
          </a:p>
        </p:txBody>
      </p:sp>
      <p:sp>
        <p:nvSpPr>
          <p:cNvPr id="17" name="TextBox 16"/>
          <p:cNvSpPr txBox="1"/>
          <p:nvPr/>
        </p:nvSpPr>
        <p:spPr>
          <a:xfrm>
            <a:off x="9208008"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including rare types</a:t>
            </a:r>
          </a:p>
        </p:txBody>
      </p:sp>
      <p:sp>
        <p:nvSpPr>
          <p:cNvPr id="18" name="Rounded Rectangle 17"/>
          <p:cNvSpPr/>
          <p:nvPr/>
        </p:nvSpPr>
        <p:spPr>
          <a:xfrm>
            <a:off x="713232" y="3072384"/>
            <a:ext cx="3456432" cy="11155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4400" y="3346704"/>
            <a:ext cx="512064" cy="512064"/>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00200"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5,000 peaks</a:t>
            </a:r>
          </a:p>
        </p:txBody>
      </p:sp>
      <p:sp>
        <p:nvSpPr>
          <p:cNvPr id="21" name="TextBox 20"/>
          <p:cNvSpPr txBox="1"/>
          <p:nvPr/>
        </p:nvSpPr>
        <p:spPr>
          <a:xfrm>
            <a:off x="1600200"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selected from reference cells</a:t>
            </a:r>
          </a:p>
        </p:txBody>
      </p:sp>
      <p:sp>
        <p:nvSpPr>
          <p:cNvPr id="22" name="Rounded Rectangle 21"/>
          <p:cNvSpPr/>
          <p:nvPr/>
        </p:nvSpPr>
        <p:spPr>
          <a:xfrm>
            <a:off x="4517136" y="3072384"/>
            <a:ext cx="3456432" cy="1115568"/>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718304" y="3346704"/>
            <a:ext cx="512064" cy="512064"/>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04104"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1,024 spots</a:t>
            </a:r>
          </a:p>
        </p:txBody>
      </p:sp>
      <p:sp>
        <p:nvSpPr>
          <p:cNvPr id="25" name="TextBox 24"/>
          <p:cNvSpPr txBox="1"/>
          <p:nvPr/>
        </p:nvSpPr>
        <p:spPr>
          <a:xfrm>
            <a:off x="5404104"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32 × 32 simulated grid</a:t>
            </a:r>
          </a:p>
        </p:txBody>
      </p:sp>
      <p:sp>
        <p:nvSpPr>
          <p:cNvPr id="26" name="Rounded Rectangle 25"/>
          <p:cNvSpPr/>
          <p:nvPr/>
        </p:nvSpPr>
        <p:spPr>
          <a:xfrm>
            <a:off x="8321040" y="3072384"/>
            <a:ext cx="3456432" cy="1115568"/>
          </a:xfrm>
          <a:prstGeom prst="roundRect">
            <a:avLst/>
          </a:prstGeom>
          <a:solidFill>
            <a:srgbClr val="FFFFFF"/>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22208" y="3346704"/>
            <a:ext cx="512064" cy="512064"/>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08008"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 cells</a:t>
            </a:r>
          </a:p>
        </p:txBody>
      </p:sp>
      <p:sp>
        <p:nvSpPr>
          <p:cNvPr id="29" name="TextBox 28"/>
          <p:cNvSpPr txBox="1"/>
          <p:nvPr/>
        </p:nvSpPr>
        <p:spPr>
          <a:xfrm>
            <a:off x="9208008"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average per pseudo-spot</a:t>
            </a:r>
          </a:p>
        </p:txBody>
      </p:sp>
      <p:sp>
        <p:nvSpPr>
          <p:cNvPr id="30" name="Rounded Rectangle 29"/>
          <p:cNvSpPr/>
          <p:nvPr/>
        </p:nvSpPr>
        <p:spPr>
          <a:xfrm>
            <a:off x="722376" y="4681728"/>
            <a:ext cx="10744200" cy="12801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4984" y="4965192"/>
            <a:ext cx="2779776" cy="329184"/>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FFFFFF"/>
                </a:solidFill>
                <a:latin typeface="Aptos"/>
              </a:rPr>
              <a:t>Why simulate spatial spots?</a:t>
            </a:r>
          </a:p>
        </p:txBody>
      </p:sp>
      <p:sp>
        <p:nvSpPr>
          <p:cNvPr id="32" name="TextBox 31"/>
          <p:cNvSpPr txBox="1"/>
          <p:nvPr/>
        </p:nvSpPr>
        <p:spPr>
          <a:xfrm>
            <a:off x="3904487" y="4919472"/>
            <a:ext cx="7132320" cy="621792"/>
          </a:xfrm>
          <a:prstGeom prst="rect">
            <a:avLst/>
          </a:prstGeom>
          <a:noFill/>
        </p:spPr>
        <p:txBody>
          <a:bodyPr wrap="square" lIns="36576" tIns="36576" rIns="36576" bIns="36576" anchor="t">
            <a:spAutoFit/>
          </a:bodyPr>
          <a:lstStyle/>
          <a:p>
            <a:pPr algn="l">
              <a:spcBef>
                <a:spcPts val="0"/>
              </a:spcBef>
              <a:spcAft>
                <a:spcPts val="0"/>
              </a:spcAft>
            </a:pPr>
            <a:r>
              <a:rPr sz="1800" b="0" i="0">
                <a:solidFill>
                  <a:srgbClr val="D7E2EE"/>
                </a:solidFill>
                <a:latin typeface="Aptos"/>
              </a:rPr>
              <a:t>Because the source cells are labeled, every pseudo-spot has an exact ingredient list. That gives a fair answer key.</a:t>
            </a:r>
          </a:p>
        </p:txBody>
      </p:sp>
      <p:sp>
        <p:nvSpPr>
          <p:cNvPr id="33" name="Rounded Rectangle 32"/>
          <p:cNvSpPr/>
          <p:nvPr/>
        </p:nvSpPr>
        <p:spPr>
          <a:xfrm>
            <a:off x="9025128" y="5504688"/>
            <a:ext cx="168249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KNOWN GROUND TRUTH</a:t>
            </a:r>
          </a:p>
        </p:txBody>
      </p:sp>
      <p:cxnSp>
        <p:nvCxnSpPr>
          <p:cNvPr id="34" name="Connector 3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10x Genomics PBMC from a healthy donor, granulocytes removed, 10k, Cell Ranger ARC 2.0.0.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VALIDATION ROADMAP</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Broader datasets test whether the idea generalizes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16</a:t>
            </a:r>
          </a:p>
        </p:txBody>
      </p:sp>
      <p:sp>
        <p:nvSpPr>
          <p:cNvPr id="5" name="TextBox 4"/>
          <p:cNvSpPr txBox="1"/>
          <p:nvPr/>
        </p:nvSpPr>
        <p:spPr>
          <a:xfrm>
            <a:off x="658368" y="1033271"/>
            <a:ext cx="10826496"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Different datasets answer different questions; not all provide exact ground truth.</a:t>
            </a:r>
          </a:p>
        </p:txBody>
      </p:sp>
      <p:sp>
        <p:nvSpPr>
          <p:cNvPr id="6" name="Rounded Rectangle 5"/>
          <p:cNvSpPr/>
          <p:nvPr/>
        </p:nvSpPr>
        <p:spPr>
          <a:xfrm>
            <a:off x="749808" y="1581912"/>
            <a:ext cx="1975104"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DATASET</a:t>
            </a:r>
          </a:p>
        </p:txBody>
      </p:sp>
      <p:sp>
        <p:nvSpPr>
          <p:cNvPr id="7" name="Rounded Rectangle 6"/>
          <p:cNvSpPr/>
          <p:nvPr/>
        </p:nvSpPr>
        <p:spPr>
          <a:xfrm>
            <a:off x="2761488" y="1581912"/>
            <a:ext cx="466344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WHAT IT ADDS</a:t>
            </a:r>
          </a:p>
        </p:txBody>
      </p:sp>
      <p:sp>
        <p:nvSpPr>
          <p:cNvPr id="8" name="Rounded Rectangle 7"/>
          <p:cNvSpPr/>
          <p:nvPr/>
        </p:nvSpPr>
        <p:spPr>
          <a:xfrm>
            <a:off x="7507224" y="1581912"/>
            <a:ext cx="3867912"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HOW WE CHECK IT</a:t>
            </a:r>
          </a:p>
        </p:txBody>
      </p:sp>
      <p:sp>
        <p:nvSpPr>
          <p:cNvPr id="9" name="Rounded Rectangle 8"/>
          <p:cNvSpPr/>
          <p:nvPr/>
        </p:nvSpPr>
        <p:spPr>
          <a:xfrm>
            <a:off x="713232" y="2093976"/>
            <a:ext cx="10771632" cy="6583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240280"/>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Main PBMC</a:t>
            </a:r>
          </a:p>
        </p:txBody>
      </p:sp>
      <p:sp>
        <p:nvSpPr>
          <p:cNvPr id="11" name="TextBox 10"/>
          <p:cNvSpPr txBox="1"/>
          <p:nvPr/>
        </p:nvSpPr>
        <p:spPr>
          <a:xfrm>
            <a:off x="2862072" y="2212848"/>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Matched reference/test cells</a:t>
            </a:r>
          </a:p>
        </p:txBody>
      </p:sp>
      <p:sp>
        <p:nvSpPr>
          <p:cNvPr id="12" name="TextBox 11"/>
          <p:cNvSpPr txBox="1"/>
          <p:nvPr/>
        </p:nvSpPr>
        <p:spPr>
          <a:xfrm>
            <a:off x="7598664" y="2212848"/>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Exact pseudo-spot recipe</a:t>
            </a:r>
          </a:p>
        </p:txBody>
      </p:sp>
      <p:sp>
        <p:nvSpPr>
          <p:cNvPr id="13" name="Rounded Rectangle 12"/>
          <p:cNvSpPr/>
          <p:nvPr/>
        </p:nvSpPr>
        <p:spPr>
          <a:xfrm>
            <a:off x="713232" y="2926080"/>
            <a:ext cx="10771632" cy="6583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072384"/>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GSE129785</a:t>
            </a:r>
          </a:p>
        </p:txBody>
      </p:sp>
      <p:sp>
        <p:nvSpPr>
          <p:cNvPr id="15" name="TextBox 14"/>
          <p:cNvSpPr txBox="1"/>
          <p:nvPr/>
        </p:nvSpPr>
        <p:spPr>
          <a:xfrm>
            <a:off x="2862072" y="3044952"/>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Immune dilution series + sorted cells</a:t>
            </a:r>
          </a:p>
        </p:txBody>
      </p:sp>
      <p:sp>
        <p:nvSpPr>
          <p:cNvPr id="16" name="TextBox 15"/>
          <p:cNvSpPr txBox="1"/>
          <p:nvPr/>
        </p:nvSpPr>
        <p:spPr>
          <a:xfrm>
            <a:off x="7598664" y="3044952"/>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Nominal ratios or new pseudo-spots</a:t>
            </a:r>
          </a:p>
        </p:txBody>
      </p:sp>
      <p:sp>
        <p:nvSpPr>
          <p:cNvPr id="17" name="Rounded Rectangle 16"/>
          <p:cNvSpPr/>
          <p:nvPr/>
        </p:nvSpPr>
        <p:spPr>
          <a:xfrm>
            <a:off x="713232" y="3758184"/>
            <a:ext cx="10771632" cy="6583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904488"/>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GSE194122</a:t>
            </a:r>
          </a:p>
        </p:txBody>
      </p:sp>
      <p:sp>
        <p:nvSpPr>
          <p:cNvPr id="19" name="TextBox 18"/>
          <p:cNvSpPr txBox="1"/>
          <p:nvPr/>
        </p:nvSpPr>
        <p:spPr>
          <a:xfrm>
            <a:off x="2862072" y="3877056"/>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Multiple bone-marrow donors and sites</a:t>
            </a:r>
          </a:p>
        </p:txBody>
      </p:sp>
      <p:sp>
        <p:nvSpPr>
          <p:cNvPr id="20" name="TextBox 19"/>
          <p:cNvSpPr txBox="1"/>
          <p:nvPr/>
        </p:nvSpPr>
        <p:spPr>
          <a:xfrm>
            <a:off x="7598664" y="3877056"/>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Hold out one donor at a time</a:t>
            </a:r>
          </a:p>
        </p:txBody>
      </p:sp>
      <p:sp>
        <p:nvSpPr>
          <p:cNvPr id="21" name="Rounded Rectangle 20"/>
          <p:cNvSpPr/>
          <p:nvPr/>
        </p:nvSpPr>
        <p:spPr>
          <a:xfrm>
            <a:off x="713232" y="4590288"/>
            <a:ext cx="10771632" cy="6583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736592"/>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GSE205055 / 263333</a:t>
            </a:r>
          </a:p>
        </p:txBody>
      </p:sp>
      <p:sp>
        <p:nvSpPr>
          <p:cNvPr id="23" name="TextBox 22"/>
          <p:cNvSpPr txBox="1"/>
          <p:nvPr/>
        </p:nvSpPr>
        <p:spPr>
          <a:xfrm>
            <a:off x="2862072" y="4709159"/>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Real spatial tissues and multi-omics</a:t>
            </a:r>
          </a:p>
        </p:txBody>
      </p:sp>
      <p:sp>
        <p:nvSpPr>
          <p:cNvPr id="24" name="TextBox 23"/>
          <p:cNvSpPr txBox="1"/>
          <p:nvPr/>
        </p:nvSpPr>
        <p:spPr>
          <a:xfrm>
            <a:off x="7598664" y="4709159"/>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Anatomy, RNA, protein, or markers</a:t>
            </a:r>
          </a:p>
        </p:txBody>
      </p:sp>
      <p:sp>
        <p:nvSpPr>
          <p:cNvPr id="25" name="Rounded Rectangle 24"/>
          <p:cNvSpPr/>
          <p:nvPr/>
        </p:nvSpPr>
        <p:spPr>
          <a:xfrm>
            <a:off x="731520" y="5532120"/>
            <a:ext cx="10735056" cy="5852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0976" y="5660136"/>
            <a:ext cx="10259568" cy="292608"/>
          </a:xfrm>
          <a:prstGeom prst="rect">
            <a:avLst/>
          </a:prstGeom>
          <a:noFill/>
        </p:spPr>
        <p:txBody>
          <a:bodyPr wrap="square" lIns="36576" tIns="36576" rIns="36576" bIns="36576">
            <a:spAutoFit/>
          </a:bodyPr>
          <a:lstStyle/>
          <a:p>
            <a:pPr algn="ctr"/>
            <a:r>
              <a:rPr sz="1500" b="1" i="0">
                <a:solidFill>
                  <a:srgbClr val="F26B5B"/>
                </a:solidFill>
                <a:latin typeface="Aptos"/>
              </a:rPr>
              <a:t>Key rule: </a:t>
            </a:r>
            <a:r>
              <a:rPr sz="1500" b="0" i="0">
                <a:solidFill>
                  <a:srgbClr val="13233B"/>
                </a:solidFill>
                <a:latin typeface="Aptos"/>
              </a:rPr>
              <a:t>real spatial tissue usually has no exact answer key, so supporting evidence is validation—not perfect truth.</a:t>
            </a:r>
          </a:p>
        </p:txBody>
      </p:sp>
      <p:cxnSp>
        <p:nvCxnSpPr>
          <p:cNvPr id="27" name="Connector 2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NCBI GEO accessions GSE129785, GSE194122, GSE205055, and GSE263333.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EVALUATION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Success means estimates are close to the known recipe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17</a:t>
            </a:r>
          </a:p>
        </p:txBody>
      </p:sp>
      <p:sp>
        <p:nvSpPr>
          <p:cNvPr id="5" name="Rounded Rectangle 4"/>
          <p:cNvSpPr/>
          <p:nvPr/>
        </p:nvSpPr>
        <p:spPr>
          <a:xfrm>
            <a:off x="4398264" y="1097280"/>
            <a:ext cx="3383280" cy="35661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TEACHING EXAMPLE — NOT RESULTS</a:t>
            </a:r>
          </a:p>
        </p:txBody>
      </p:sp>
      <p:sp>
        <p:nvSpPr>
          <p:cNvPr id="6" name="Rounded Rectangle 5"/>
          <p:cNvSpPr/>
          <p:nvPr/>
        </p:nvSpPr>
        <p:spPr>
          <a:xfrm>
            <a:off x="722376" y="1719072"/>
            <a:ext cx="5650992" cy="43159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4" y="1984248"/>
            <a:ext cx="5029200"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13233B"/>
                </a:solidFill>
                <a:latin typeface="Aptos"/>
              </a:rPr>
              <a:t>Compare truth with prediction</a:t>
            </a:r>
          </a:p>
        </p:txBody>
      </p:sp>
      <p:sp>
        <p:nvSpPr>
          <p:cNvPr id="8" name="TextBox 7"/>
          <p:cNvSpPr txBox="1"/>
          <p:nvPr/>
        </p:nvSpPr>
        <p:spPr>
          <a:xfrm>
            <a:off x="1014984" y="2734056"/>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Truth</a:t>
            </a:r>
          </a:p>
        </p:txBody>
      </p:sp>
      <p:sp>
        <p:nvSpPr>
          <p:cNvPr id="9" name="Rectangle 8"/>
          <p:cNvSpPr/>
          <p:nvPr/>
        </p:nvSpPr>
        <p:spPr>
          <a:xfrm>
            <a:off x="2029968" y="2660904"/>
            <a:ext cx="1792224"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29968" y="2670048"/>
            <a:ext cx="179222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11" name="Rectangle 10"/>
          <p:cNvSpPr/>
          <p:nvPr/>
        </p:nvSpPr>
        <p:spPr>
          <a:xfrm>
            <a:off x="3822191" y="2660904"/>
            <a:ext cx="1075334"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22191" y="2670048"/>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3" name="Rectangle 12"/>
          <p:cNvSpPr/>
          <p:nvPr/>
        </p:nvSpPr>
        <p:spPr>
          <a:xfrm>
            <a:off x="4897526" y="2660904"/>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7526" y="2670048"/>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15" name="Rectangle 14"/>
          <p:cNvSpPr/>
          <p:nvPr/>
        </p:nvSpPr>
        <p:spPr>
          <a:xfrm>
            <a:off x="2029968" y="2660904"/>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4984" y="3593592"/>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A</a:t>
            </a:r>
          </a:p>
        </p:txBody>
      </p:sp>
      <p:sp>
        <p:nvSpPr>
          <p:cNvPr id="17" name="Rectangle 16"/>
          <p:cNvSpPr/>
          <p:nvPr/>
        </p:nvSpPr>
        <p:spPr>
          <a:xfrm>
            <a:off x="2029968" y="3520440"/>
            <a:ext cx="1648846"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29968" y="3529584"/>
            <a:ext cx="1648846"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46%</a:t>
            </a:r>
          </a:p>
        </p:txBody>
      </p:sp>
      <p:sp>
        <p:nvSpPr>
          <p:cNvPr id="19" name="Rectangle 18"/>
          <p:cNvSpPr/>
          <p:nvPr/>
        </p:nvSpPr>
        <p:spPr>
          <a:xfrm>
            <a:off x="3678814" y="3520440"/>
            <a:ext cx="1218712"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8814" y="3529584"/>
            <a:ext cx="1218712"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34%</a:t>
            </a:r>
          </a:p>
        </p:txBody>
      </p:sp>
      <p:sp>
        <p:nvSpPr>
          <p:cNvPr id="21" name="Rectangle 20"/>
          <p:cNvSpPr/>
          <p:nvPr/>
        </p:nvSpPr>
        <p:spPr>
          <a:xfrm>
            <a:off x="4897526" y="3520440"/>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7526" y="3529584"/>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23" name="Rectangle 22"/>
          <p:cNvSpPr/>
          <p:nvPr/>
        </p:nvSpPr>
        <p:spPr>
          <a:xfrm>
            <a:off x="2029968" y="3520440"/>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0992" y="3566160"/>
            <a:ext cx="566928"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closer</a:t>
            </a:r>
          </a:p>
        </p:txBody>
      </p:sp>
      <p:sp>
        <p:nvSpPr>
          <p:cNvPr id="25" name="TextBox 24"/>
          <p:cNvSpPr txBox="1"/>
          <p:nvPr/>
        </p:nvSpPr>
        <p:spPr>
          <a:xfrm>
            <a:off x="1014984" y="4453128"/>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B</a:t>
            </a:r>
          </a:p>
        </p:txBody>
      </p:sp>
      <p:sp>
        <p:nvSpPr>
          <p:cNvPr id="26" name="Rectangle 25"/>
          <p:cNvSpPr/>
          <p:nvPr/>
        </p:nvSpPr>
        <p:spPr>
          <a:xfrm>
            <a:off x="2029968" y="4379976"/>
            <a:ext cx="1003645"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29968" y="4389120"/>
            <a:ext cx="1003645"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28%</a:t>
            </a:r>
          </a:p>
        </p:txBody>
      </p:sp>
      <p:sp>
        <p:nvSpPr>
          <p:cNvPr id="28" name="Rectangle 27"/>
          <p:cNvSpPr/>
          <p:nvPr/>
        </p:nvSpPr>
        <p:spPr>
          <a:xfrm>
            <a:off x="3033613" y="4379976"/>
            <a:ext cx="1505468"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33613" y="4389120"/>
            <a:ext cx="1505468"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42%</a:t>
            </a:r>
          </a:p>
        </p:txBody>
      </p:sp>
      <p:sp>
        <p:nvSpPr>
          <p:cNvPr id="30" name="Rectangle 29"/>
          <p:cNvSpPr/>
          <p:nvPr/>
        </p:nvSpPr>
        <p:spPr>
          <a:xfrm>
            <a:off x="4539081" y="4379976"/>
            <a:ext cx="1075334"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9081" y="4389120"/>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32" name="Rectangle 31"/>
          <p:cNvSpPr/>
          <p:nvPr/>
        </p:nvSpPr>
        <p:spPr>
          <a:xfrm>
            <a:off x="2029968" y="4379976"/>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650992" y="4425696"/>
            <a:ext cx="566928"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farther</a:t>
            </a:r>
          </a:p>
        </p:txBody>
      </p:sp>
      <p:sp>
        <p:nvSpPr>
          <p:cNvPr id="34" name="Oval 33"/>
          <p:cNvSpPr/>
          <p:nvPr/>
        </p:nvSpPr>
        <p:spPr>
          <a:xfrm>
            <a:off x="1581912" y="5349240"/>
            <a:ext cx="173736" cy="173736"/>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1051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B cell</a:t>
            </a:r>
          </a:p>
        </p:txBody>
      </p:sp>
      <p:sp>
        <p:nvSpPr>
          <p:cNvPr id="36" name="Oval 35"/>
          <p:cNvSpPr/>
          <p:nvPr/>
        </p:nvSpPr>
        <p:spPr>
          <a:xfrm>
            <a:off x="2999232" y="5349240"/>
            <a:ext cx="173736" cy="173736"/>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2783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T cell</a:t>
            </a:r>
          </a:p>
        </p:txBody>
      </p:sp>
      <p:sp>
        <p:nvSpPr>
          <p:cNvPr id="38" name="Oval 37"/>
          <p:cNvSpPr/>
          <p:nvPr/>
        </p:nvSpPr>
        <p:spPr>
          <a:xfrm>
            <a:off x="4416552" y="5349240"/>
            <a:ext cx="173736" cy="173736"/>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4515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Monocyte</a:t>
            </a:r>
          </a:p>
        </p:txBody>
      </p:sp>
      <p:sp>
        <p:nvSpPr>
          <p:cNvPr id="40" name="Rounded Rectangle 39"/>
          <p:cNvSpPr/>
          <p:nvPr/>
        </p:nvSpPr>
        <p:spPr>
          <a:xfrm>
            <a:off x="6711696" y="1719072"/>
            <a:ext cx="4754880" cy="8869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958584" y="1883664"/>
            <a:ext cx="1078992"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RMSE</a:t>
            </a:r>
          </a:p>
        </p:txBody>
      </p:sp>
      <p:sp>
        <p:nvSpPr>
          <p:cNvPr id="42" name="TextBox 41"/>
          <p:cNvSpPr txBox="1"/>
          <p:nvPr/>
        </p:nvSpPr>
        <p:spPr>
          <a:xfrm>
            <a:off x="8247888" y="1828800"/>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average size of the proportion errors</a:t>
            </a:r>
          </a:p>
        </p:txBody>
      </p:sp>
      <p:sp>
        <p:nvSpPr>
          <p:cNvPr id="43" name="TextBox 42"/>
          <p:cNvSpPr txBox="1"/>
          <p:nvPr/>
        </p:nvSpPr>
        <p:spPr>
          <a:xfrm>
            <a:off x="8257031" y="2258568"/>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3B82F6"/>
                </a:solidFill>
                <a:latin typeface="Aptos"/>
              </a:rPr>
              <a:t>LOWER is better</a:t>
            </a:r>
          </a:p>
        </p:txBody>
      </p:sp>
      <p:sp>
        <p:nvSpPr>
          <p:cNvPr id="44" name="Rounded Rectangle 43"/>
          <p:cNvSpPr/>
          <p:nvPr/>
        </p:nvSpPr>
        <p:spPr>
          <a:xfrm>
            <a:off x="6711696" y="2798063"/>
            <a:ext cx="4754880" cy="8869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958584" y="2962656"/>
            <a:ext cx="1078992"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JSD</a:t>
            </a:r>
          </a:p>
        </p:txBody>
      </p:sp>
      <p:sp>
        <p:nvSpPr>
          <p:cNvPr id="46" name="TextBox 45"/>
          <p:cNvSpPr txBox="1"/>
          <p:nvPr/>
        </p:nvSpPr>
        <p:spPr>
          <a:xfrm>
            <a:off x="8247888" y="2907791"/>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how different the full mixtures are</a:t>
            </a:r>
          </a:p>
        </p:txBody>
      </p:sp>
      <p:sp>
        <p:nvSpPr>
          <p:cNvPr id="47" name="TextBox 46"/>
          <p:cNvSpPr txBox="1"/>
          <p:nvPr/>
        </p:nvSpPr>
        <p:spPr>
          <a:xfrm>
            <a:off x="8257031" y="3337559"/>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8B5CF6"/>
                </a:solidFill>
                <a:latin typeface="Aptos"/>
              </a:rPr>
              <a:t>LOWER is better</a:t>
            </a:r>
          </a:p>
        </p:txBody>
      </p:sp>
      <p:sp>
        <p:nvSpPr>
          <p:cNvPr id="48" name="Rounded Rectangle 47"/>
          <p:cNvSpPr/>
          <p:nvPr/>
        </p:nvSpPr>
        <p:spPr>
          <a:xfrm>
            <a:off x="6711696" y="3877056"/>
            <a:ext cx="4754880" cy="8869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958584" y="4041648"/>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Rare-cell F1</a:t>
            </a:r>
          </a:p>
        </p:txBody>
      </p:sp>
      <p:sp>
        <p:nvSpPr>
          <p:cNvPr id="50" name="TextBox 49"/>
          <p:cNvSpPr txBox="1"/>
          <p:nvPr/>
        </p:nvSpPr>
        <p:spPr>
          <a:xfrm>
            <a:off x="8247888" y="3986784"/>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balance of finding rare cells without false alarms</a:t>
            </a:r>
          </a:p>
        </p:txBody>
      </p:sp>
      <p:sp>
        <p:nvSpPr>
          <p:cNvPr id="51" name="TextBox 50"/>
          <p:cNvSpPr txBox="1"/>
          <p:nvPr/>
        </p:nvSpPr>
        <p:spPr>
          <a:xfrm>
            <a:off x="8257031" y="4416552"/>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HIGHER is better</a:t>
            </a:r>
          </a:p>
        </p:txBody>
      </p:sp>
      <p:sp>
        <p:nvSpPr>
          <p:cNvPr id="52" name="Rounded Rectangle 51"/>
          <p:cNvSpPr/>
          <p:nvPr/>
        </p:nvSpPr>
        <p:spPr>
          <a:xfrm>
            <a:off x="6711696" y="4956048"/>
            <a:ext cx="4754880" cy="8869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958584" y="5120640"/>
            <a:ext cx="1078992"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Runtime</a:t>
            </a:r>
          </a:p>
        </p:txBody>
      </p:sp>
      <p:sp>
        <p:nvSpPr>
          <p:cNvPr id="54" name="TextBox 53"/>
          <p:cNvSpPr txBox="1"/>
          <p:nvPr/>
        </p:nvSpPr>
        <p:spPr>
          <a:xfrm>
            <a:off x="8247888" y="5065776"/>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extra computing cost for the added information</a:t>
            </a:r>
          </a:p>
        </p:txBody>
      </p:sp>
      <p:sp>
        <p:nvSpPr>
          <p:cNvPr id="55" name="TextBox 54"/>
          <p:cNvSpPr txBox="1"/>
          <p:nvPr/>
        </p:nvSpPr>
        <p:spPr>
          <a:xfrm>
            <a:off x="8257031" y="5495544"/>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LESS is better</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Primary planned endpoints: RMSE and base-2 Jensen–Shannon divergence (JSD).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INTERPRETING THE STUDY</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Every possible outcome teaches us something</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18</a:t>
            </a:r>
          </a:p>
        </p:txBody>
      </p:sp>
      <p:sp>
        <p:nvSpPr>
          <p:cNvPr id="5" name="Rounded Rectangle 4"/>
          <p:cNvSpPr/>
          <p:nvPr/>
        </p:nvSpPr>
        <p:spPr>
          <a:xfrm>
            <a:off x="667512" y="1435608"/>
            <a:ext cx="3456432" cy="4270248"/>
          </a:xfrm>
          <a:prstGeom prst="roundRect">
            <a:avLst/>
          </a:prstGeom>
          <a:solidFill>
            <a:srgbClr val="1C3152"/>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947672" y="1764792"/>
            <a:ext cx="896112" cy="896112"/>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47672"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8" name="TextBox 7"/>
          <p:cNvSpPr txBox="1"/>
          <p:nvPr/>
        </p:nvSpPr>
        <p:spPr>
          <a:xfrm>
            <a:off x="969264"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SHAPE HELPS</a:t>
            </a:r>
          </a:p>
        </p:txBody>
      </p:sp>
      <p:sp>
        <p:nvSpPr>
          <p:cNvPr id="9" name="Rounded Rectangle 8"/>
          <p:cNvSpPr/>
          <p:nvPr/>
        </p:nvSpPr>
        <p:spPr>
          <a:xfrm>
            <a:off x="1636776" y="3383280"/>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LOWER ERROR</a:t>
            </a:r>
          </a:p>
        </p:txBody>
      </p:sp>
      <p:sp>
        <p:nvSpPr>
          <p:cNvPr id="10" name="TextBox 9"/>
          <p:cNvSpPr txBox="1"/>
          <p:nvPr/>
        </p:nvSpPr>
        <p:spPr>
          <a:xfrm>
            <a:off x="1051560"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Fragment length adds cell-type information beyond peak totals.</a:t>
            </a:r>
          </a:p>
        </p:txBody>
      </p:sp>
      <p:sp>
        <p:nvSpPr>
          <p:cNvPr id="11" name="Rounded Rectangle 10"/>
          <p:cNvSpPr/>
          <p:nvPr/>
        </p:nvSpPr>
        <p:spPr>
          <a:xfrm>
            <a:off x="4480560" y="1435608"/>
            <a:ext cx="3456432" cy="4270248"/>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760720" y="1764792"/>
            <a:ext cx="896112" cy="89611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0720"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14" name="TextBox 13"/>
          <p:cNvSpPr txBox="1"/>
          <p:nvPr/>
        </p:nvSpPr>
        <p:spPr>
          <a:xfrm>
            <a:off x="4782312"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ABOUT THE SAME</a:t>
            </a:r>
          </a:p>
        </p:txBody>
      </p:sp>
      <p:sp>
        <p:nvSpPr>
          <p:cNvPr id="15" name="Rounded Rectangle 14"/>
          <p:cNvSpPr/>
          <p:nvPr/>
        </p:nvSpPr>
        <p:spPr>
          <a:xfrm>
            <a:off x="5449824" y="338328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SIMILAR ERROR</a:t>
            </a:r>
          </a:p>
        </p:txBody>
      </p:sp>
      <p:sp>
        <p:nvSpPr>
          <p:cNvPr id="16" name="TextBox 15"/>
          <p:cNvSpPr txBox="1"/>
          <p:nvPr/>
        </p:nvSpPr>
        <p:spPr>
          <a:xfrm>
            <a:off x="4864608"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The extra clue may be too weak or redundant in this setting.</a:t>
            </a:r>
          </a:p>
        </p:txBody>
      </p:sp>
      <p:sp>
        <p:nvSpPr>
          <p:cNvPr id="17" name="Rounded Rectangle 16"/>
          <p:cNvSpPr/>
          <p:nvPr/>
        </p:nvSpPr>
        <p:spPr>
          <a:xfrm>
            <a:off x="8293608" y="1435608"/>
            <a:ext cx="3456432" cy="4270248"/>
          </a:xfrm>
          <a:prstGeom prst="roundRect">
            <a:avLst/>
          </a:prstGeom>
          <a:solidFill>
            <a:srgbClr val="1C3152"/>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573768" y="1764792"/>
            <a:ext cx="896112" cy="896112"/>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73768"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20" name="TextBox 19"/>
          <p:cNvSpPr txBox="1"/>
          <p:nvPr/>
        </p:nvSpPr>
        <p:spPr>
          <a:xfrm>
            <a:off x="8595360"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SHAPE HURTS</a:t>
            </a:r>
          </a:p>
        </p:txBody>
      </p:sp>
      <p:sp>
        <p:nvSpPr>
          <p:cNvPr id="21" name="Rounded Rectangle 20"/>
          <p:cNvSpPr/>
          <p:nvPr/>
        </p:nvSpPr>
        <p:spPr>
          <a:xfrm>
            <a:off x="9262872" y="3383280"/>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HIGHER ERROR</a:t>
            </a:r>
          </a:p>
        </p:txBody>
      </p:sp>
      <p:sp>
        <p:nvSpPr>
          <p:cNvPr id="22" name="TextBox 21"/>
          <p:cNvSpPr txBox="1"/>
          <p:nvPr/>
        </p:nvSpPr>
        <p:spPr>
          <a:xfrm>
            <a:off x="8677656"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Noise, sparsity, or reference mismatch may outweigh the added detail.</a:t>
            </a:r>
          </a:p>
        </p:txBody>
      </p:sp>
      <p:sp>
        <p:nvSpPr>
          <p:cNvPr id="23" name="TextBox 22"/>
          <p:cNvSpPr txBox="1"/>
          <p:nvPr/>
        </p:nvSpPr>
        <p:spPr>
          <a:xfrm>
            <a:off x="1316736" y="6016752"/>
            <a:ext cx="9537192" cy="310896"/>
          </a:xfrm>
          <a:prstGeom prst="rect">
            <a:avLst/>
          </a:prstGeom>
          <a:noFill/>
        </p:spPr>
        <p:txBody>
          <a:bodyPr wrap="square" lIns="36576" tIns="36576" rIns="36576" bIns="36576" anchor="t">
            <a:spAutoFit/>
          </a:bodyPr>
          <a:lstStyle/>
          <a:p>
            <a:pPr algn="ctr">
              <a:spcBef>
                <a:spcPts val="0"/>
              </a:spcBef>
              <a:spcAft>
                <a:spcPts val="0"/>
              </a:spcAft>
            </a:pPr>
            <a:r>
              <a:rPr sz="1800" b="1" i="0">
                <a:solidFill>
                  <a:srgbClr val="FFFFFF"/>
                </a:solidFill>
                <a:latin typeface="Aptos"/>
              </a:rPr>
              <a:t>A negative result is still a real result: it sets a boundary on when added complexity is useful.</a:t>
            </a:r>
          </a:p>
        </p:txBody>
      </p:sp>
      <p:cxnSp>
        <p:nvCxnSpPr>
          <p:cNvPr id="24" name="Connector 23"/>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Outcome cards describe interpretations only; they do not report study results.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SCIENTIFIC CAUTION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Known risks—and how the design handles them</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19</a:t>
            </a:r>
          </a:p>
        </p:txBody>
      </p:sp>
      <p:sp>
        <p:nvSpPr>
          <p:cNvPr id="5" name="Rounded Rectangle 4"/>
          <p:cNvSpPr/>
          <p:nvPr/>
        </p:nvSpPr>
        <p:spPr>
          <a:xfrm>
            <a:off x="713232" y="1399032"/>
            <a:ext cx="5230368" cy="1883664"/>
          </a:xfrm>
          <a:prstGeom prst="roundRect">
            <a:avLst/>
          </a:prstGeom>
          <a:solidFill>
            <a:srgbClr val="F4F7FA"/>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41832" y="1627632"/>
            <a:ext cx="676656"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7" name="TextBox 6"/>
          <p:cNvSpPr txBox="1"/>
          <p:nvPr/>
        </p:nvSpPr>
        <p:spPr>
          <a:xfrm>
            <a:off x="1783080" y="1563624"/>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Sparse shape counts</a:t>
            </a:r>
          </a:p>
        </p:txBody>
      </p:sp>
      <p:cxnSp>
        <p:nvCxnSpPr>
          <p:cNvPr id="8" name="Connector 7"/>
          <p:cNvCxnSpPr/>
          <p:nvPr/>
        </p:nvCxnSpPr>
        <p:spPr>
          <a:xfrm>
            <a:off x="960120"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41832"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10" name="TextBox 9"/>
          <p:cNvSpPr txBox="1"/>
          <p:nvPr/>
        </p:nvSpPr>
        <p:spPr>
          <a:xfrm>
            <a:off x="2084832" y="2276856"/>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Use only three broad length bins and well-covered peaks.</a:t>
            </a:r>
          </a:p>
        </p:txBody>
      </p:sp>
      <p:sp>
        <p:nvSpPr>
          <p:cNvPr id="11" name="Rounded Rectangle 10"/>
          <p:cNvSpPr/>
          <p:nvPr/>
        </p:nvSpPr>
        <p:spPr>
          <a:xfrm>
            <a:off x="6272784" y="1399032"/>
            <a:ext cx="5230368" cy="1883664"/>
          </a:xfrm>
          <a:prstGeom prst="roundRect">
            <a:avLst/>
          </a:prstGeom>
          <a:solidFill>
            <a:srgbClr val="F4F7FA"/>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01384" y="1627632"/>
            <a:ext cx="676656" cy="30175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13" name="TextBox 12"/>
          <p:cNvSpPr txBox="1"/>
          <p:nvPr/>
        </p:nvSpPr>
        <p:spPr>
          <a:xfrm>
            <a:off x="7342632" y="1563624"/>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One main donor</a:t>
            </a:r>
          </a:p>
        </p:txBody>
      </p:sp>
      <p:cxnSp>
        <p:nvCxnSpPr>
          <p:cNvPr id="14" name="Connector 13"/>
          <p:cNvCxnSpPr/>
          <p:nvPr/>
        </p:nvCxnSpPr>
        <p:spPr>
          <a:xfrm>
            <a:off x="6519672"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01384"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16" name="TextBox 15"/>
          <p:cNvSpPr txBox="1"/>
          <p:nvPr/>
        </p:nvSpPr>
        <p:spPr>
          <a:xfrm>
            <a:off x="7644383" y="2276856"/>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Limit claims; add multi-donor data before generalizing.</a:t>
            </a:r>
          </a:p>
        </p:txBody>
      </p:sp>
      <p:sp>
        <p:nvSpPr>
          <p:cNvPr id="17" name="Rounded Rectangle 16"/>
          <p:cNvSpPr/>
          <p:nvPr/>
        </p:nvSpPr>
        <p:spPr>
          <a:xfrm>
            <a:off x="713232" y="3648456"/>
            <a:ext cx="5230368" cy="1883664"/>
          </a:xfrm>
          <a:prstGeom prst="roundRect">
            <a:avLst/>
          </a:prstGeom>
          <a:solidFill>
            <a:srgbClr val="F4F7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41832" y="3877056"/>
            <a:ext cx="676656"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19" name="TextBox 18"/>
          <p:cNvSpPr txBox="1"/>
          <p:nvPr/>
        </p:nvSpPr>
        <p:spPr>
          <a:xfrm>
            <a:off x="1783080" y="3813048"/>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Reference ≠ spatial assay</a:t>
            </a:r>
          </a:p>
        </p:txBody>
      </p:sp>
      <p:cxnSp>
        <p:nvCxnSpPr>
          <p:cNvPr id="20" name="Connector 19"/>
          <p:cNvCxnSpPr/>
          <p:nvPr/>
        </p:nvCxnSpPr>
        <p:spPr>
          <a:xfrm>
            <a:off x="960120"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41832"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22" name="TextBox 21"/>
          <p:cNvSpPr txBox="1"/>
          <p:nvPr/>
        </p:nvSpPr>
        <p:spPr>
          <a:xfrm>
            <a:off x="2084832" y="4526280"/>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Audit protocol differences and treat real tissue as qualitative validation.</a:t>
            </a:r>
          </a:p>
        </p:txBody>
      </p:sp>
      <p:sp>
        <p:nvSpPr>
          <p:cNvPr id="23" name="Rounded Rectangle 22"/>
          <p:cNvSpPr/>
          <p:nvPr/>
        </p:nvSpPr>
        <p:spPr>
          <a:xfrm>
            <a:off x="6272784" y="3648456"/>
            <a:ext cx="5230368" cy="1883664"/>
          </a:xfrm>
          <a:prstGeom prst="roundRect">
            <a:avLst/>
          </a:prstGeom>
          <a:solidFill>
            <a:srgbClr val="F4F7FA"/>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501384" y="3877056"/>
            <a:ext cx="676656"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25" name="TextBox 24"/>
          <p:cNvSpPr txBox="1"/>
          <p:nvPr/>
        </p:nvSpPr>
        <p:spPr>
          <a:xfrm>
            <a:off x="7342632" y="3813048"/>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More complexity can overfit</a:t>
            </a:r>
          </a:p>
        </p:txBody>
      </p:sp>
      <p:cxnSp>
        <p:nvCxnSpPr>
          <p:cNvPr id="26" name="Connector 25"/>
          <p:cNvCxnSpPr/>
          <p:nvPr/>
        </p:nvCxnSpPr>
        <p:spPr>
          <a:xfrm>
            <a:off x="6519672"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01384"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28" name="TextBox 27"/>
          <p:cNvSpPr txBox="1"/>
          <p:nvPr/>
        </p:nvSpPr>
        <p:spPr>
          <a:xfrm>
            <a:off x="7644383" y="4526280"/>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Use held-out cells and an exactly matched count-only baseline.</a:t>
            </a:r>
          </a:p>
        </p:txBody>
      </p:sp>
      <p:sp>
        <p:nvSpPr>
          <p:cNvPr id="29" name="Rounded Rectangle 28"/>
          <p:cNvSpPr/>
          <p:nvPr/>
        </p:nvSpPr>
        <p:spPr>
          <a:xfrm>
            <a:off x="3931920" y="6044184"/>
            <a:ext cx="4325112" cy="3657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50" b="1">
                <a:solidFill>
                  <a:srgbClr val="FFFFFF"/>
                </a:solidFill>
                <a:latin typeface="Aptos"/>
              </a:rPr>
              <a:t>Claims will match the strength of the evidence</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These limitations are part of the planned interpretation, not after-the-fact excuses.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PROJECT STATUS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This draft intentionally stops before the results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20</a:t>
            </a:r>
          </a:p>
        </p:txBody>
      </p:sp>
      <p:sp>
        <p:nvSpPr>
          <p:cNvPr id="5" name="Rounded Rectangle 4"/>
          <p:cNvSpPr/>
          <p:nvPr/>
        </p:nvSpPr>
        <p:spPr>
          <a:xfrm>
            <a:off x="694944" y="1344168"/>
            <a:ext cx="10789920" cy="98755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18488"/>
            <a:ext cx="2468880" cy="38404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F4B942"/>
                </a:solidFill>
                <a:latin typeface="Aptos"/>
              </a:rPr>
              <a:t>RESULTS PENDING</a:t>
            </a:r>
          </a:p>
        </p:txBody>
      </p:sp>
      <p:sp>
        <p:nvSpPr>
          <p:cNvPr id="7" name="TextBox 6"/>
          <p:cNvSpPr txBox="1"/>
          <p:nvPr/>
        </p:nvSpPr>
        <p:spPr>
          <a:xfrm>
            <a:off x="3593592" y="1627632"/>
            <a:ext cx="7214616" cy="347472"/>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FFFFFF"/>
                </a:solidFill>
                <a:latin typeface="Aptos"/>
              </a:rPr>
              <a:t>No performance claim is made in this slide deck.</a:t>
            </a:r>
          </a:p>
        </p:txBody>
      </p:sp>
      <p:cxnSp>
        <p:nvCxnSpPr>
          <p:cNvPr id="8" name="Connector 7"/>
          <p:cNvCxnSpPr/>
          <p:nvPr/>
        </p:nvCxnSpPr>
        <p:spPr>
          <a:xfrm>
            <a:off x="1298448" y="3666744"/>
            <a:ext cx="9537192" cy="0"/>
          </a:xfrm>
          <a:prstGeom prst="line">
            <a:avLst/>
          </a:prstGeom>
          <a:ln w="6350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7552" y="3319272"/>
            <a:ext cx="694944" cy="694944"/>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1</a:t>
            </a:r>
          </a:p>
        </p:txBody>
      </p:sp>
      <p:sp>
        <p:nvSpPr>
          <p:cNvPr id="11" name="TextBox 10"/>
          <p:cNvSpPr txBox="1"/>
          <p:nvPr/>
        </p:nvSpPr>
        <p:spPr>
          <a:xfrm>
            <a:off x="630936"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Prepare data</a:t>
            </a:r>
          </a:p>
        </p:txBody>
      </p:sp>
      <p:sp>
        <p:nvSpPr>
          <p:cNvPr id="12" name="TextBox 11"/>
          <p:cNvSpPr txBox="1"/>
          <p:nvPr/>
        </p:nvSpPr>
        <p:spPr>
          <a:xfrm>
            <a:off x="585216"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fragments, labels, splits</a:t>
            </a:r>
          </a:p>
        </p:txBody>
      </p:sp>
      <p:sp>
        <p:nvSpPr>
          <p:cNvPr id="13" name="Oval 12"/>
          <p:cNvSpPr/>
          <p:nvPr/>
        </p:nvSpPr>
        <p:spPr>
          <a:xfrm>
            <a:off x="3200400" y="3319272"/>
            <a:ext cx="694944" cy="69494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0"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2</a:t>
            </a:r>
          </a:p>
        </p:txBody>
      </p:sp>
      <p:sp>
        <p:nvSpPr>
          <p:cNvPr id="15" name="TextBox 14"/>
          <p:cNvSpPr txBox="1"/>
          <p:nvPr/>
        </p:nvSpPr>
        <p:spPr>
          <a:xfrm>
            <a:off x="2843784"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Build fingerprints</a:t>
            </a:r>
          </a:p>
        </p:txBody>
      </p:sp>
      <p:sp>
        <p:nvSpPr>
          <p:cNvPr id="16" name="TextBox 15"/>
          <p:cNvSpPr txBox="1"/>
          <p:nvPr/>
        </p:nvSpPr>
        <p:spPr>
          <a:xfrm>
            <a:off x="2798064"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counts + length profiles</a:t>
            </a:r>
          </a:p>
        </p:txBody>
      </p:sp>
      <p:sp>
        <p:nvSpPr>
          <p:cNvPr id="17" name="Oval 16"/>
          <p:cNvSpPr/>
          <p:nvPr/>
        </p:nvSpPr>
        <p:spPr>
          <a:xfrm>
            <a:off x="5413248" y="3319272"/>
            <a:ext cx="694944" cy="694944"/>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13248"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3</a:t>
            </a:r>
          </a:p>
        </p:txBody>
      </p:sp>
      <p:sp>
        <p:nvSpPr>
          <p:cNvPr id="19" name="TextBox 18"/>
          <p:cNvSpPr txBox="1"/>
          <p:nvPr/>
        </p:nvSpPr>
        <p:spPr>
          <a:xfrm>
            <a:off x="5056632"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Run matched test</a:t>
            </a:r>
          </a:p>
        </p:txBody>
      </p:sp>
      <p:sp>
        <p:nvSpPr>
          <p:cNvPr id="20" name="TextBox 19"/>
          <p:cNvSpPr txBox="1"/>
          <p:nvPr/>
        </p:nvSpPr>
        <p:spPr>
          <a:xfrm>
            <a:off x="5010912"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count-only vs ShapeMix</a:t>
            </a:r>
          </a:p>
        </p:txBody>
      </p:sp>
      <p:sp>
        <p:nvSpPr>
          <p:cNvPr id="21" name="Oval 20"/>
          <p:cNvSpPr/>
          <p:nvPr/>
        </p:nvSpPr>
        <p:spPr>
          <a:xfrm>
            <a:off x="7626096" y="3319272"/>
            <a:ext cx="694944" cy="694944"/>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26096"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4</a:t>
            </a:r>
          </a:p>
        </p:txBody>
      </p:sp>
      <p:sp>
        <p:nvSpPr>
          <p:cNvPr id="23" name="TextBox 22"/>
          <p:cNvSpPr txBox="1"/>
          <p:nvPr/>
        </p:nvSpPr>
        <p:spPr>
          <a:xfrm>
            <a:off x="7269480"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Check controls</a:t>
            </a:r>
          </a:p>
        </p:txBody>
      </p:sp>
      <p:sp>
        <p:nvSpPr>
          <p:cNvPr id="24" name="TextBox 23"/>
          <p:cNvSpPr txBox="1"/>
          <p:nvPr/>
        </p:nvSpPr>
        <p:spPr>
          <a:xfrm>
            <a:off x="7223759"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fairness + diagnostics</a:t>
            </a:r>
          </a:p>
        </p:txBody>
      </p:sp>
      <p:sp>
        <p:nvSpPr>
          <p:cNvPr id="25" name="Oval 24"/>
          <p:cNvSpPr/>
          <p:nvPr/>
        </p:nvSpPr>
        <p:spPr>
          <a:xfrm>
            <a:off x="9838944" y="3319272"/>
            <a:ext cx="694944" cy="694944"/>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38944"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5</a:t>
            </a:r>
          </a:p>
        </p:txBody>
      </p:sp>
      <p:sp>
        <p:nvSpPr>
          <p:cNvPr id="27" name="TextBox 26"/>
          <p:cNvSpPr txBox="1"/>
          <p:nvPr/>
        </p:nvSpPr>
        <p:spPr>
          <a:xfrm>
            <a:off x="9482328"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Add result slides</a:t>
            </a:r>
          </a:p>
        </p:txBody>
      </p:sp>
      <p:sp>
        <p:nvSpPr>
          <p:cNvPr id="28" name="TextBox 27"/>
          <p:cNvSpPr txBox="1"/>
          <p:nvPr/>
        </p:nvSpPr>
        <p:spPr>
          <a:xfrm>
            <a:off x="9436608"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metrics + limitations</a:t>
            </a:r>
          </a:p>
        </p:txBody>
      </p:sp>
      <p:sp>
        <p:nvSpPr>
          <p:cNvPr id="29" name="TextBox 28"/>
          <p:cNvSpPr txBox="1"/>
          <p:nvPr/>
        </p:nvSpPr>
        <p:spPr>
          <a:xfrm>
            <a:off x="1170432" y="5696712"/>
            <a:ext cx="9857232" cy="43891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Planned update: replace this slide with observed results, uncertainty, controls, and an honest interpretation.</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Status language follows the requested results-free presentation scope.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76656" y="512064"/>
            <a:ext cx="1755648"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TAKE-HOME MESSAGE</a:t>
            </a:r>
          </a:p>
        </p:txBody>
      </p:sp>
      <p:sp>
        <p:nvSpPr>
          <p:cNvPr id="3" name="TextBox 2"/>
          <p:cNvSpPr txBox="1"/>
          <p:nvPr/>
        </p:nvSpPr>
        <p:spPr>
          <a:xfrm>
            <a:off x="676656" y="1097280"/>
            <a:ext cx="7882127" cy="585216"/>
          </a:xfrm>
          <a:prstGeom prst="rect">
            <a:avLst/>
          </a:prstGeom>
          <a:noFill/>
        </p:spPr>
        <p:txBody>
          <a:bodyPr wrap="square" lIns="36576" tIns="36576" rIns="36576" bIns="36576" anchor="t">
            <a:spAutoFit/>
          </a:bodyPr>
          <a:lstStyle/>
          <a:p>
            <a:pPr algn="l">
              <a:spcBef>
                <a:spcPts val="0"/>
              </a:spcBef>
              <a:spcAft>
                <a:spcPts val="0"/>
              </a:spcAft>
            </a:pPr>
            <a:r>
              <a:rPr sz="3300" b="1" i="0">
                <a:solidFill>
                  <a:srgbClr val="FFFFFF"/>
                </a:solidFill>
                <a:latin typeface="Aptos Display"/>
              </a:rPr>
              <a:t>ShapeMix asks a simple, testable question</a:t>
            </a:r>
          </a:p>
        </p:txBody>
      </p:sp>
      <p:sp>
        <p:nvSpPr>
          <p:cNvPr id="4" name="TextBox 3"/>
          <p:cNvSpPr txBox="1"/>
          <p:nvPr/>
        </p:nvSpPr>
        <p:spPr>
          <a:xfrm>
            <a:off x="694944" y="1874519"/>
            <a:ext cx="7607808" cy="1024128"/>
          </a:xfrm>
          <a:prstGeom prst="rect">
            <a:avLst/>
          </a:prstGeom>
          <a:noFill/>
        </p:spPr>
        <p:txBody>
          <a:bodyPr wrap="square" lIns="36576" tIns="36576" rIns="36576" bIns="36576" anchor="t">
            <a:spAutoFit/>
          </a:bodyPr>
          <a:lstStyle/>
          <a:p>
            <a:pPr algn="l">
              <a:spcBef>
                <a:spcPts val="0"/>
              </a:spcBef>
              <a:spcAft>
                <a:spcPts val="0"/>
              </a:spcAft>
            </a:pPr>
            <a:r>
              <a:rPr sz="2500" b="0" i="0">
                <a:solidFill>
                  <a:srgbClr val="D7E2EE"/>
                </a:solidFill>
                <a:latin typeface="Aptos Display"/>
              </a:rPr>
              <a:t>Does fragment-length composition help identify the cell types inside a mixed spatial ATAC spot?</a:t>
            </a:r>
          </a:p>
        </p:txBody>
      </p:sp>
      <p:sp>
        <p:nvSpPr>
          <p:cNvPr id="5" name="Rounded Rectangle 4"/>
          <p:cNvSpPr/>
          <p:nvPr/>
        </p:nvSpPr>
        <p:spPr>
          <a:xfrm>
            <a:off x="713232" y="3227832"/>
            <a:ext cx="566928" cy="35661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01</a:t>
            </a:r>
          </a:p>
        </p:txBody>
      </p:sp>
      <p:sp>
        <p:nvSpPr>
          <p:cNvPr id="6" name="TextBox 5"/>
          <p:cNvSpPr txBox="1"/>
          <p:nvPr/>
        </p:nvSpPr>
        <p:spPr>
          <a:xfrm>
            <a:off x="1527048" y="3200400"/>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ATAC fragments contain more than a peak count.</a:t>
            </a:r>
          </a:p>
        </p:txBody>
      </p:sp>
      <p:sp>
        <p:nvSpPr>
          <p:cNvPr id="7" name="Rounded Rectangle 6"/>
          <p:cNvSpPr/>
          <p:nvPr/>
        </p:nvSpPr>
        <p:spPr>
          <a:xfrm>
            <a:off x="713232" y="3977639"/>
            <a:ext cx="566928" cy="35661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02</a:t>
            </a:r>
          </a:p>
        </p:txBody>
      </p:sp>
      <p:sp>
        <p:nvSpPr>
          <p:cNvPr id="8" name="TextBox 7"/>
          <p:cNvSpPr txBox="1"/>
          <p:nvPr/>
        </p:nvSpPr>
        <p:spPr>
          <a:xfrm>
            <a:off x="1527048" y="3950207"/>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ShapeMix adds length composition to a reference-guided mixture model.</a:t>
            </a:r>
          </a:p>
        </p:txBody>
      </p:sp>
      <p:sp>
        <p:nvSpPr>
          <p:cNvPr id="9" name="Rounded Rectangle 8"/>
          <p:cNvSpPr/>
          <p:nvPr/>
        </p:nvSpPr>
        <p:spPr>
          <a:xfrm>
            <a:off x="713232" y="4727448"/>
            <a:ext cx="566928" cy="35661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03</a:t>
            </a:r>
          </a:p>
        </p:txBody>
      </p:sp>
      <p:sp>
        <p:nvSpPr>
          <p:cNvPr id="10" name="TextBox 9"/>
          <p:cNvSpPr txBox="1"/>
          <p:nvPr/>
        </p:nvSpPr>
        <p:spPr>
          <a:xfrm>
            <a:off x="1527048" y="4700016"/>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 matched, held-out test will decide whether that extra clue earns its complexity.</a:t>
            </a:r>
          </a:p>
        </p:txBody>
      </p:sp>
      <p:sp>
        <p:nvSpPr>
          <p:cNvPr id="11" name="Oval 10"/>
          <p:cNvSpPr/>
          <p:nvPr/>
        </p:nvSpPr>
        <p:spPr>
          <a:xfrm>
            <a:off x="9235440" y="1143000"/>
            <a:ext cx="2194560" cy="219456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35440" y="1161288"/>
            <a:ext cx="2194560" cy="1755648"/>
          </a:xfrm>
          <a:prstGeom prst="rect">
            <a:avLst/>
          </a:prstGeom>
          <a:noFill/>
        </p:spPr>
        <p:txBody>
          <a:bodyPr wrap="square" lIns="36576" tIns="36576" rIns="36576" bIns="36576" anchor="ctr">
            <a:spAutoFit/>
          </a:bodyPr>
          <a:lstStyle/>
          <a:p>
            <a:pPr algn="ctr">
              <a:spcBef>
                <a:spcPts val="0"/>
              </a:spcBef>
              <a:spcAft>
                <a:spcPts val="0"/>
              </a:spcAft>
            </a:pPr>
            <a:r>
              <a:rPr sz="7000" b="1" i="0">
                <a:solidFill>
                  <a:srgbClr val="F4B942"/>
                </a:solidFill>
                <a:latin typeface="Aptos"/>
              </a:rPr>
              <a:t>?</a:t>
            </a:r>
          </a:p>
        </p:txBody>
      </p:sp>
      <p:sp>
        <p:nvSpPr>
          <p:cNvPr id="13" name="TextBox 12"/>
          <p:cNvSpPr txBox="1"/>
          <p:nvPr/>
        </p:nvSpPr>
        <p:spPr>
          <a:xfrm>
            <a:off x="9015984" y="3767328"/>
            <a:ext cx="2651760" cy="493776"/>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FFFFF"/>
                </a:solidFill>
                <a:latin typeface="Aptos"/>
              </a:rPr>
              <a:t>Questions?</a:t>
            </a:r>
          </a:p>
        </p:txBody>
      </p:sp>
      <p:sp>
        <p:nvSpPr>
          <p:cNvPr id="14" name="TextBox 13"/>
          <p:cNvSpPr txBox="1"/>
          <p:nvPr/>
        </p:nvSpPr>
        <p:spPr>
          <a:xfrm>
            <a:off x="9015984" y="4325112"/>
            <a:ext cx="2651760" cy="256032"/>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D7E2EE"/>
                </a:solidFill>
                <a:latin typeface="Aptos"/>
              </a:rPr>
              <a:t>shape • mixture • evidence</a:t>
            </a:r>
          </a:p>
        </p:txBody>
      </p:sp>
      <p:cxnSp>
        <p:nvCxnSpPr>
          <p:cNvPr id="15" name="Connector 14"/>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ShapeMix-ATAC project overview • Andy Zhuang • High School Science Research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References and biological glossary</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22</a:t>
            </a:r>
          </a:p>
        </p:txBody>
      </p:sp>
      <p:sp>
        <p:nvSpPr>
          <p:cNvPr id="5" name="TextBox 4"/>
          <p:cNvSpPr txBox="1"/>
          <p:nvPr/>
        </p:nvSpPr>
        <p:spPr>
          <a:xfrm>
            <a:off x="704088" y="1133856"/>
            <a:ext cx="534924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Selected references</a:t>
            </a:r>
          </a:p>
        </p:txBody>
      </p:sp>
      <p:sp>
        <p:nvSpPr>
          <p:cNvPr id="6" name="TextBox 5"/>
          <p:cNvSpPr txBox="1"/>
          <p:nvPr/>
        </p:nvSpPr>
        <p:spPr>
          <a:xfrm>
            <a:off x="740664" y="1627632"/>
            <a:ext cx="5248656" cy="4370832"/>
          </a:xfrm>
          <a:prstGeom prst="rect">
            <a:avLst/>
          </a:prstGeom>
          <a:noFill/>
        </p:spPr>
        <p:txBody>
          <a:bodyPr wrap="square" lIns="36576" tIns="18288" rIns="18288" bIns="18288">
            <a:spAutoFit/>
          </a:bodyPr>
          <a:lstStyle/>
          <a:p>
            <a:pPr algn="l">
              <a:lnSpc>
                <a:spcPct val="105000"/>
              </a:lnSpc>
              <a:spcAft>
                <a:spcPts val="800"/>
              </a:spcAft>
            </a:pPr>
            <a:r>
              <a:rPr sz="1080" b="1">
                <a:solidFill>
                  <a:srgbClr val="18A999"/>
                </a:solidFill>
                <a:latin typeface="Aptos"/>
              </a:rPr>
              <a:t>•  </a:t>
            </a:r>
            <a:r>
              <a:rPr sz="1080">
                <a:solidFill>
                  <a:srgbClr val="213047"/>
                </a:solidFill>
                <a:latin typeface="Aptos"/>
              </a:rPr>
              <a:t>Buenrostro JD et al. (2013). ATAC-seq and open chromatin. Nature Methods.</a:t>
            </a:r>
          </a:p>
          <a:p>
            <a:pPr algn="l">
              <a:lnSpc>
                <a:spcPct val="105000"/>
              </a:lnSpc>
              <a:spcAft>
                <a:spcPts val="800"/>
              </a:spcAft>
            </a:pPr>
            <a:r>
              <a:rPr sz="1080" b="1">
                <a:solidFill>
                  <a:srgbClr val="18A999"/>
                </a:solidFill>
                <a:latin typeface="Aptos"/>
              </a:rPr>
              <a:t>•  </a:t>
            </a:r>
            <a:r>
              <a:rPr sz="1080">
                <a:solidFill>
                  <a:srgbClr val="213047"/>
                </a:solidFill>
                <a:latin typeface="Aptos"/>
              </a:rPr>
              <a:t>Deng Y et al. (2022). Spatial chromatin-accessibility profiling. Nature.</a:t>
            </a:r>
          </a:p>
          <a:p>
            <a:pPr algn="l">
              <a:lnSpc>
                <a:spcPct val="105000"/>
              </a:lnSpc>
              <a:spcAft>
                <a:spcPts val="800"/>
              </a:spcAft>
            </a:pPr>
            <a:r>
              <a:rPr sz="1080" b="1">
                <a:solidFill>
                  <a:srgbClr val="18A999"/>
                </a:solidFill>
                <a:latin typeface="Aptos"/>
              </a:rPr>
              <a:t>•  </a:t>
            </a:r>
            <a:r>
              <a:rPr sz="1080">
                <a:solidFill>
                  <a:srgbClr val="213047"/>
                </a:solidFill>
                <a:latin typeface="Aptos"/>
              </a:rPr>
              <a:t>Ouologuem S et al. (2025). RNA deconvolution methods transferred to spatial ATAC. Bioinformatics.</a:t>
            </a:r>
          </a:p>
          <a:p>
            <a:pPr algn="l">
              <a:lnSpc>
                <a:spcPct val="105000"/>
              </a:lnSpc>
              <a:spcAft>
                <a:spcPts val="800"/>
              </a:spcAft>
            </a:pPr>
            <a:r>
              <a:rPr sz="1080" b="1">
                <a:solidFill>
                  <a:srgbClr val="18A999"/>
                </a:solidFill>
                <a:latin typeface="Aptos"/>
              </a:rPr>
              <a:t>•  </a:t>
            </a:r>
            <a:r>
              <a:rPr sz="1080">
                <a:solidFill>
                  <a:srgbClr val="213047"/>
                </a:solidFill>
                <a:latin typeface="Aptos"/>
              </a:rPr>
              <a:t>Tsoucas et al. (2019), DWLS; Dong &amp; Yuan (2021), SpatialDWLS.</a:t>
            </a:r>
          </a:p>
          <a:p>
            <a:pPr algn="l">
              <a:lnSpc>
                <a:spcPct val="105000"/>
              </a:lnSpc>
              <a:spcAft>
                <a:spcPts val="800"/>
              </a:spcAft>
            </a:pPr>
            <a:r>
              <a:rPr sz="1080" b="1">
                <a:solidFill>
                  <a:srgbClr val="18A999"/>
                </a:solidFill>
                <a:latin typeface="Aptos"/>
              </a:rPr>
              <a:t>•  </a:t>
            </a:r>
            <a:r>
              <a:rPr sz="1080">
                <a:solidFill>
                  <a:srgbClr val="213047"/>
                </a:solidFill>
                <a:latin typeface="Aptos"/>
              </a:rPr>
              <a:t>Cable et al. (2022), RCTD; Kleshchevnikov et al. (2022), cell2location.</a:t>
            </a:r>
          </a:p>
          <a:p>
            <a:pPr algn="l">
              <a:lnSpc>
                <a:spcPct val="105000"/>
              </a:lnSpc>
              <a:spcAft>
                <a:spcPts val="800"/>
              </a:spcAft>
            </a:pPr>
            <a:r>
              <a:rPr sz="1080" b="1">
                <a:solidFill>
                  <a:srgbClr val="18A999"/>
                </a:solidFill>
                <a:latin typeface="Aptos"/>
              </a:rPr>
              <a:t>•  </a:t>
            </a:r>
            <a:r>
              <a:rPr sz="1080">
                <a:solidFill>
                  <a:srgbClr val="213047"/>
                </a:solidFill>
                <a:latin typeface="Aptos"/>
              </a:rPr>
              <a:t>Biancalani et al. (2021), Tangram; Lopez et al. (2022), DestVI.</a:t>
            </a:r>
          </a:p>
          <a:p>
            <a:pPr algn="l">
              <a:lnSpc>
                <a:spcPct val="105000"/>
              </a:lnSpc>
              <a:spcAft>
                <a:spcPts val="800"/>
              </a:spcAft>
            </a:pPr>
            <a:r>
              <a:rPr sz="1080" b="1">
                <a:solidFill>
                  <a:srgbClr val="18A999"/>
                </a:solidFill>
                <a:latin typeface="Aptos"/>
              </a:rPr>
              <a:t>•  </a:t>
            </a:r>
            <a:r>
              <a:rPr sz="1080">
                <a:solidFill>
                  <a:srgbClr val="213047"/>
                </a:solidFill>
                <a:latin typeface="Aptos"/>
              </a:rPr>
              <a:t>ShapeMix-ATAC model specification v1 and benchmark protocol in this repository.</a:t>
            </a:r>
          </a:p>
          <a:p>
            <a:pPr algn="l">
              <a:lnSpc>
                <a:spcPct val="105000"/>
              </a:lnSpc>
              <a:spcAft>
                <a:spcPts val="800"/>
              </a:spcAft>
            </a:pPr>
            <a:r>
              <a:rPr sz="1080" b="1">
                <a:solidFill>
                  <a:srgbClr val="18A999"/>
                </a:solidFill>
                <a:latin typeface="Aptos"/>
              </a:rPr>
              <a:t>•  </a:t>
            </a:r>
            <a:r>
              <a:rPr sz="1080">
                <a:solidFill>
                  <a:srgbClr val="213047"/>
                </a:solidFill>
                <a:latin typeface="Aptos"/>
              </a:rPr>
              <a:t>Data: 10x PBMC Multiome; GEO GSE129785, GSE194122, GSE205055, GSE263333.</a:t>
            </a:r>
          </a:p>
        </p:txBody>
      </p:sp>
      <p:sp>
        <p:nvSpPr>
          <p:cNvPr id="7" name="TextBox 6"/>
          <p:cNvSpPr txBox="1"/>
          <p:nvPr/>
        </p:nvSpPr>
        <p:spPr>
          <a:xfrm>
            <a:off x="6391656" y="1133856"/>
            <a:ext cx="507492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Biology / study glossary</a:t>
            </a:r>
          </a:p>
        </p:txBody>
      </p:sp>
      <p:sp>
        <p:nvSpPr>
          <p:cNvPr id="8" name="Rounded Rectangle 7"/>
          <p:cNvSpPr/>
          <p:nvPr/>
        </p:nvSpPr>
        <p:spPr>
          <a:xfrm>
            <a:off x="6428232" y="1627632"/>
            <a:ext cx="1316736"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ATAC-seq</a:t>
            </a:r>
          </a:p>
        </p:txBody>
      </p:sp>
      <p:sp>
        <p:nvSpPr>
          <p:cNvPr id="9" name="TextBox 8"/>
          <p:cNvSpPr txBox="1"/>
          <p:nvPr/>
        </p:nvSpPr>
        <p:spPr>
          <a:xfrm>
            <a:off x="7973568" y="161848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measures accessible DNA</a:t>
            </a:r>
          </a:p>
        </p:txBody>
      </p:sp>
      <p:sp>
        <p:nvSpPr>
          <p:cNvPr id="10" name="Rounded Rectangle 9"/>
          <p:cNvSpPr/>
          <p:nvPr/>
        </p:nvSpPr>
        <p:spPr>
          <a:xfrm>
            <a:off x="6428232" y="2240280"/>
            <a:ext cx="131673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Peak</a:t>
            </a:r>
          </a:p>
        </p:txBody>
      </p:sp>
      <p:sp>
        <p:nvSpPr>
          <p:cNvPr id="11" name="TextBox 10"/>
          <p:cNvSpPr txBox="1"/>
          <p:nvPr/>
        </p:nvSpPr>
        <p:spPr>
          <a:xfrm>
            <a:off x="7973568" y="223113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a genomic region with many ATAC cuts</a:t>
            </a:r>
          </a:p>
        </p:txBody>
      </p:sp>
      <p:sp>
        <p:nvSpPr>
          <p:cNvPr id="12" name="Rounded Rectangle 11"/>
          <p:cNvSpPr/>
          <p:nvPr/>
        </p:nvSpPr>
        <p:spPr>
          <a:xfrm>
            <a:off x="6428232" y="2852928"/>
            <a:ext cx="1316736"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Fragment</a:t>
            </a:r>
          </a:p>
        </p:txBody>
      </p:sp>
      <p:sp>
        <p:nvSpPr>
          <p:cNvPr id="13" name="TextBox 12"/>
          <p:cNvSpPr txBox="1"/>
          <p:nvPr/>
        </p:nvSpPr>
        <p:spPr>
          <a:xfrm>
            <a:off x="7973568" y="2843784"/>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DNA piece between two Tn5 cut sites</a:t>
            </a:r>
          </a:p>
        </p:txBody>
      </p:sp>
      <p:sp>
        <p:nvSpPr>
          <p:cNvPr id="14" name="Rounded Rectangle 13"/>
          <p:cNvSpPr/>
          <p:nvPr/>
        </p:nvSpPr>
        <p:spPr>
          <a:xfrm>
            <a:off x="6428232" y="3465576"/>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Deconvolution</a:t>
            </a:r>
          </a:p>
        </p:txBody>
      </p:sp>
      <p:sp>
        <p:nvSpPr>
          <p:cNvPr id="15" name="TextBox 14"/>
          <p:cNvSpPr txBox="1"/>
          <p:nvPr/>
        </p:nvSpPr>
        <p:spPr>
          <a:xfrm>
            <a:off x="7973568" y="3456432"/>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estimating ingredients of a mixture</a:t>
            </a:r>
          </a:p>
        </p:txBody>
      </p:sp>
      <p:sp>
        <p:nvSpPr>
          <p:cNvPr id="16" name="Rounded Rectangle 15"/>
          <p:cNvSpPr/>
          <p:nvPr/>
        </p:nvSpPr>
        <p:spPr>
          <a:xfrm>
            <a:off x="6428232" y="4078224"/>
            <a:ext cx="131673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7" name="TextBox 16"/>
          <p:cNvSpPr txBox="1"/>
          <p:nvPr/>
        </p:nvSpPr>
        <p:spPr>
          <a:xfrm>
            <a:off x="7973568" y="4069080"/>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fingerprint learned from labeled cells</a:t>
            </a:r>
          </a:p>
        </p:txBody>
      </p:sp>
      <p:sp>
        <p:nvSpPr>
          <p:cNvPr id="18" name="Rounded Rectangle 17"/>
          <p:cNvSpPr/>
          <p:nvPr/>
        </p:nvSpPr>
        <p:spPr>
          <a:xfrm>
            <a:off x="6428232" y="4690872"/>
            <a:ext cx="1316736"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Pseudo-spot</a:t>
            </a:r>
          </a:p>
        </p:txBody>
      </p:sp>
      <p:sp>
        <p:nvSpPr>
          <p:cNvPr id="19" name="TextBox 18"/>
          <p:cNvSpPr txBox="1"/>
          <p:nvPr/>
        </p:nvSpPr>
        <p:spPr>
          <a:xfrm>
            <a:off x="7973568" y="468172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simulated spot with a known recipe</a:t>
            </a:r>
          </a:p>
        </p:txBody>
      </p:sp>
      <p:sp>
        <p:nvSpPr>
          <p:cNvPr id="20" name="Rounded Rectangle 19"/>
          <p:cNvSpPr/>
          <p:nvPr/>
        </p:nvSpPr>
        <p:spPr>
          <a:xfrm>
            <a:off x="6428232" y="5303520"/>
            <a:ext cx="1316736"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MAP</a:t>
            </a:r>
          </a:p>
        </p:txBody>
      </p:sp>
      <p:sp>
        <p:nvSpPr>
          <p:cNvPr id="21" name="TextBox 20"/>
          <p:cNvSpPr txBox="1"/>
          <p:nvPr/>
        </p:nvSpPr>
        <p:spPr>
          <a:xfrm>
            <a:off x="7973568" y="529437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most supported parameter values under model + prior</a:t>
            </a:r>
          </a:p>
        </p:txBody>
      </p:sp>
      <p:sp>
        <p:nvSpPr>
          <p:cNvPr id="22" name="Rounded Rectangle 21"/>
          <p:cNvSpPr/>
          <p:nvPr/>
        </p:nvSpPr>
        <p:spPr>
          <a:xfrm>
            <a:off x="6364224" y="6007608"/>
            <a:ext cx="5111496" cy="36576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10528" y="6080760"/>
            <a:ext cx="4800600" cy="182880"/>
          </a:xfrm>
          <a:prstGeom prst="rect">
            <a:avLst/>
          </a:prstGeom>
          <a:noFill/>
        </p:spPr>
        <p:txBody>
          <a:bodyPr wrap="square" lIns="36576" tIns="36576" rIns="36576" bIns="36576" anchor="t">
            <a:spAutoFit/>
          </a:bodyPr>
          <a:lstStyle/>
          <a:p>
            <a:pPr algn="ctr">
              <a:spcBef>
                <a:spcPts val="0"/>
              </a:spcBef>
              <a:spcAft>
                <a:spcPts val="0"/>
              </a:spcAft>
            </a:pPr>
            <a:r>
              <a:rPr sz="1050" b="0" i="0">
                <a:solidFill>
                  <a:srgbClr val="52627A"/>
                </a:solidFill>
                <a:latin typeface="Aptos"/>
              </a:rPr>
              <a:t>Full project sources are documented in docs/ShapeMix and docs/research_class.</a:t>
            </a:r>
          </a:p>
        </p:txBody>
      </p:sp>
      <p:cxnSp>
        <p:nvCxnSpPr>
          <p:cNvPr id="24" name="Connector 2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Links and full citations appear in the repository proposal and ShapeMix documentation.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glossary: translating the ShapeMix model</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23</a:t>
            </a:r>
          </a:p>
        </p:txBody>
      </p:sp>
      <p:sp>
        <p:nvSpPr>
          <p:cNvPr id="5" name="TextBox 4"/>
          <p:cNvSpPr txBox="1"/>
          <p:nvPr/>
        </p:nvSpPr>
        <p:spPr>
          <a:xfrm>
            <a:off x="3063240" y="1069848"/>
            <a:ext cx="6062472" cy="43891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posterior  ∝  likelihood  ×  prior</a:t>
            </a:r>
          </a:p>
        </p:txBody>
      </p:sp>
      <p:sp>
        <p:nvSpPr>
          <p:cNvPr id="6" name="Rounded Rectangle 5"/>
          <p:cNvSpPr/>
          <p:nvPr/>
        </p:nvSpPr>
        <p:spPr>
          <a:xfrm>
            <a:off x="713232" y="1700784"/>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92024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LATENT VARIABLE</a:t>
            </a:r>
          </a:p>
        </p:txBody>
      </p:sp>
      <p:sp>
        <p:nvSpPr>
          <p:cNvPr id="8" name="TextBox 7"/>
          <p:cNvSpPr txBox="1"/>
          <p:nvPr/>
        </p:nvSpPr>
        <p:spPr>
          <a:xfrm>
            <a:off x="2587752"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quantity we cannot directly observe. Here, z is the hidden effective amount of each cell type.</a:t>
            </a:r>
          </a:p>
        </p:txBody>
      </p:sp>
      <p:sp>
        <p:nvSpPr>
          <p:cNvPr id="9" name="Rounded Rectangle 8"/>
          <p:cNvSpPr/>
          <p:nvPr/>
        </p:nvSpPr>
        <p:spPr>
          <a:xfrm>
            <a:off x="6254496" y="1700784"/>
            <a:ext cx="5202936" cy="85953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37376" y="192024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13233B"/>
                </a:solidFill>
                <a:latin typeface="Aptos"/>
              </a:rPr>
              <a:t>PRIOR</a:t>
            </a:r>
          </a:p>
        </p:txBody>
      </p:sp>
      <p:sp>
        <p:nvSpPr>
          <p:cNvPr id="11" name="TextBox 10"/>
          <p:cNvSpPr txBox="1"/>
          <p:nvPr/>
        </p:nvSpPr>
        <p:spPr>
          <a:xfrm>
            <a:off x="8129016"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probability rule used before this spot's data. It keeps z positive and regularizes weak evidence.</a:t>
            </a:r>
          </a:p>
        </p:txBody>
      </p:sp>
      <p:sp>
        <p:nvSpPr>
          <p:cNvPr id="12" name="Rounded Rectangle 11"/>
          <p:cNvSpPr/>
          <p:nvPr/>
        </p:nvSpPr>
        <p:spPr>
          <a:xfrm>
            <a:off x="713232" y="2779776"/>
            <a:ext cx="5202936" cy="85953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96112" y="2999232"/>
            <a:ext cx="1517904"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LIKELIHOOD</a:t>
            </a:r>
          </a:p>
        </p:txBody>
      </p:sp>
      <p:sp>
        <p:nvSpPr>
          <p:cNvPr id="14" name="TextBox 13"/>
          <p:cNvSpPr txBox="1"/>
          <p:nvPr/>
        </p:nvSpPr>
        <p:spPr>
          <a:xfrm>
            <a:off x="2587752"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score for how probable the observed counts would be if a proposed mixture were true.</a:t>
            </a:r>
          </a:p>
        </p:txBody>
      </p:sp>
      <p:sp>
        <p:nvSpPr>
          <p:cNvPr id="15" name="Rounded Rectangle 14"/>
          <p:cNvSpPr/>
          <p:nvPr/>
        </p:nvSpPr>
        <p:spPr>
          <a:xfrm>
            <a:off x="6254496" y="2779776"/>
            <a:ext cx="5202936" cy="85953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37376" y="2999232"/>
            <a:ext cx="1517904"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POSTERIOR</a:t>
            </a:r>
          </a:p>
        </p:txBody>
      </p:sp>
      <p:sp>
        <p:nvSpPr>
          <p:cNvPr id="17" name="TextBox 16"/>
          <p:cNvSpPr txBox="1"/>
          <p:nvPr/>
        </p:nvSpPr>
        <p:spPr>
          <a:xfrm>
            <a:off x="8129016"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The updated support for possible mixtures after likelihood and prior are combined.</a:t>
            </a:r>
          </a:p>
        </p:txBody>
      </p:sp>
      <p:sp>
        <p:nvSpPr>
          <p:cNvPr id="18" name="Rounded Rectangle 17"/>
          <p:cNvSpPr/>
          <p:nvPr/>
        </p:nvSpPr>
        <p:spPr>
          <a:xfrm>
            <a:off x="713232" y="3858768"/>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6112" y="4078224"/>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NEGATIVE BINOMIAL</a:t>
            </a:r>
          </a:p>
        </p:txBody>
      </p:sp>
      <p:sp>
        <p:nvSpPr>
          <p:cNvPr id="20" name="TextBox 19"/>
          <p:cNvSpPr txBox="1"/>
          <p:nvPr/>
        </p:nvSpPr>
        <p:spPr>
          <a:xfrm>
            <a:off x="2587752"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count distribution that allows more variability than a simple Poisson model.</a:t>
            </a:r>
          </a:p>
        </p:txBody>
      </p:sp>
      <p:sp>
        <p:nvSpPr>
          <p:cNvPr id="21" name="Rounded Rectangle 20"/>
          <p:cNvSpPr/>
          <p:nvPr/>
        </p:nvSpPr>
        <p:spPr>
          <a:xfrm>
            <a:off x="6254496" y="3858768"/>
            <a:ext cx="5202936" cy="859536"/>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37376" y="4078224"/>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MULTINOMIAL</a:t>
            </a:r>
          </a:p>
        </p:txBody>
      </p:sp>
      <p:sp>
        <p:nvSpPr>
          <p:cNvPr id="23" name="TextBox 22"/>
          <p:cNvSpPr txBox="1"/>
          <p:nvPr/>
        </p:nvSpPr>
        <p:spPr>
          <a:xfrm>
            <a:off x="8129016"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distribution for splitting a fixed total among categories—here, three length bins.</a:t>
            </a:r>
          </a:p>
        </p:txBody>
      </p:sp>
      <p:sp>
        <p:nvSpPr>
          <p:cNvPr id="24" name="Rounded Rectangle 23"/>
          <p:cNvSpPr/>
          <p:nvPr/>
        </p:nvSpPr>
        <p:spPr>
          <a:xfrm>
            <a:off x="713232" y="4937760"/>
            <a:ext cx="5202936" cy="859536"/>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96112" y="5157216"/>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MAP</a:t>
            </a:r>
          </a:p>
        </p:txBody>
      </p:sp>
      <p:sp>
        <p:nvSpPr>
          <p:cNvPr id="26" name="TextBox 25"/>
          <p:cNvSpPr txBox="1"/>
          <p:nvPr/>
        </p:nvSpPr>
        <p:spPr>
          <a:xfrm>
            <a:off x="2587752"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Maximum a posteriori: the single mixture at the highest point of the posterior density.</a:t>
            </a:r>
          </a:p>
        </p:txBody>
      </p:sp>
      <p:sp>
        <p:nvSpPr>
          <p:cNvPr id="27" name="Rounded Rectangle 26"/>
          <p:cNvSpPr/>
          <p:nvPr/>
        </p:nvSpPr>
        <p:spPr>
          <a:xfrm>
            <a:off x="6254496" y="4937760"/>
            <a:ext cx="5202936" cy="859536"/>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37376" y="5157216"/>
            <a:ext cx="1517904"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OPTIMIZER</a:t>
            </a:r>
          </a:p>
        </p:txBody>
      </p:sp>
      <p:sp>
        <p:nvSpPr>
          <p:cNvPr id="29" name="TextBox 28"/>
          <p:cNvSpPr txBox="1"/>
          <p:nvPr/>
        </p:nvSpPr>
        <p:spPr>
          <a:xfrm>
            <a:off x="8129016"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numerical search procedure. Adam repeatedly changes z to raise the posterior score.</a:t>
            </a:r>
          </a:p>
        </p:txBody>
      </p:sp>
      <p:sp>
        <p:nvSpPr>
          <p:cNvPr id="30" name="Rounded Rectangle 29"/>
          <p:cNvSpPr/>
          <p:nvPr/>
        </p:nvSpPr>
        <p:spPr>
          <a:xfrm>
            <a:off x="2020824" y="5989320"/>
            <a:ext cx="8147304"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21992" y="6044184"/>
            <a:ext cx="7744968" cy="274320"/>
          </a:xfrm>
          <a:prstGeom prst="rect">
            <a:avLst/>
          </a:prstGeom>
          <a:noFill/>
        </p:spPr>
        <p:txBody>
          <a:bodyPr wrap="square" lIns="36576" tIns="36576" rIns="36576" bIns="36576" anchor="t">
            <a:spAutoFit/>
          </a:bodyPr>
          <a:lstStyle/>
          <a:p>
            <a:pPr algn="ctr">
              <a:spcBef>
                <a:spcPts val="0"/>
              </a:spcBef>
              <a:spcAft>
                <a:spcPts val="0"/>
              </a:spcAft>
            </a:pPr>
            <a:r>
              <a:rPr sz="1120" b="1" i="0">
                <a:solidFill>
                  <a:srgbClr val="FFFFFF"/>
                </a:solidFill>
                <a:latin typeface="Aptos"/>
              </a:rPr>
              <a:t>ShapeMix uses a Bayesian model with MAP inference; model v1 does not calculate credible intervals.</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Plain-language definitions are specific to how these terms are used in ShapeMix-ATAC.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49224" y="1069848"/>
            <a:ext cx="10881360" cy="420624"/>
          </a:xfrm>
          <a:prstGeom prst="rect">
            <a:avLst/>
          </a:prstGeom>
          <a:noFill/>
        </p:spPr>
        <p:txBody>
          <a:bodyPr wrap="square" lIns="36576" tIns="36576" r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847088"/>
            <a:ext cx="2907792" cy="1389888"/>
          </a:xfrm>
          <a:prstGeom prst="roundRect">
            <a:avLst/>
          </a:prstGeom>
          <a:solidFill>
            <a:srgbClr val="FFFFFF"/>
          </a:solidFill>
          <a:ln w="1524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276856"/>
            <a:ext cx="475488" cy="47548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8992" y="2432304"/>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20299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18A999"/>
                </a:solidFill>
                <a:latin typeface="Aptos"/>
              </a:rPr>
              <a:t>T cell</a:t>
            </a:r>
          </a:p>
        </p:txBody>
      </p:sp>
      <p:sp>
        <p:nvSpPr>
          <p:cNvPr id="10" name="Rounded Rectangle 9"/>
          <p:cNvSpPr/>
          <p:nvPr/>
        </p:nvSpPr>
        <p:spPr>
          <a:xfrm>
            <a:off x="1508760" y="2350008"/>
            <a:ext cx="859536" cy="210312"/>
          </a:xfrm>
          <a:prstGeom prst="roundRect">
            <a:avLst/>
          </a:prstGeom>
          <a:solidFill>
            <a:srgbClr val="DDF4F1"/>
          </a:solidFill>
          <a:ln w="12700">
            <a:solidFill>
              <a:srgbClr val="DDF4F1"/>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18A999"/>
                </a:solidFill>
                <a:latin typeface="Aptos"/>
              </a:rPr>
              <a:t>REFERENCE</a:t>
            </a:r>
          </a:p>
        </p:txBody>
      </p:sp>
      <p:sp>
        <p:nvSpPr>
          <p:cNvPr id="12" name="TextBox 11"/>
          <p:cNvSpPr txBox="1"/>
          <p:nvPr/>
        </p:nvSpPr>
        <p:spPr>
          <a:xfrm>
            <a:off x="2340864" y="2240279"/>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13" name="TextBox 12"/>
          <p:cNvSpPr txBox="1"/>
          <p:nvPr/>
        </p:nvSpPr>
        <p:spPr>
          <a:xfrm>
            <a:off x="2340864"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15" name="TextBox 14"/>
          <p:cNvSpPr txBox="1"/>
          <p:nvPr/>
        </p:nvSpPr>
        <p:spPr>
          <a:xfrm>
            <a:off x="2651760" y="2642615"/>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16" name="TextBox 15"/>
          <p:cNvSpPr txBox="1"/>
          <p:nvPr/>
        </p:nvSpPr>
        <p:spPr>
          <a:xfrm>
            <a:off x="2651760"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18" name="TextBox 17"/>
          <p:cNvSpPr txBox="1"/>
          <p:nvPr/>
        </p:nvSpPr>
        <p:spPr>
          <a:xfrm>
            <a:off x="2962656" y="23408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19" name="TextBox 18"/>
          <p:cNvSpPr txBox="1"/>
          <p:nvPr/>
        </p:nvSpPr>
        <p:spPr>
          <a:xfrm>
            <a:off x="2962656"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21" name="TextBox 20"/>
          <p:cNvSpPr txBox="1"/>
          <p:nvPr/>
        </p:nvSpPr>
        <p:spPr>
          <a:xfrm>
            <a:off x="3273552" y="2542031"/>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22" name="TextBox 21"/>
          <p:cNvSpPr txBox="1"/>
          <p:nvPr/>
        </p:nvSpPr>
        <p:spPr>
          <a:xfrm>
            <a:off x="3273552"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23" name="Connector 22"/>
          <p:cNvCxnSpPr/>
          <p:nvPr/>
        </p:nvCxnSpPr>
        <p:spPr>
          <a:xfrm>
            <a:off x="2359152" y="2907791"/>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 y="3675887"/>
            <a:ext cx="2907792" cy="1389888"/>
          </a:xfrm>
          <a:prstGeom prst="roundRect">
            <a:avLst/>
          </a:prstGeom>
          <a:solidFill>
            <a:srgbClr val="FFFF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14400" y="4105655"/>
            <a:ext cx="475488" cy="47548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78992" y="4261103"/>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08760" y="38587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3B82F6"/>
                </a:solidFill>
                <a:latin typeface="Aptos"/>
              </a:rPr>
              <a:t>B cell</a:t>
            </a:r>
          </a:p>
        </p:txBody>
      </p:sp>
      <p:sp>
        <p:nvSpPr>
          <p:cNvPr id="28" name="Rounded Rectangle 27"/>
          <p:cNvSpPr/>
          <p:nvPr/>
        </p:nvSpPr>
        <p:spPr>
          <a:xfrm>
            <a:off x="1508760" y="4178807"/>
            <a:ext cx="859536" cy="210312"/>
          </a:xfrm>
          <a:prstGeom prst="roundRect">
            <a:avLst/>
          </a:prstGeom>
          <a:solidFill>
            <a:srgbClr val="E7F0FE"/>
          </a:solidFill>
          <a:ln w="12700">
            <a:solidFill>
              <a:srgbClr val="E7F0FE"/>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3B82F6"/>
                </a:solidFill>
                <a:latin typeface="Aptos"/>
              </a:rPr>
              <a:t>REFERENCE</a:t>
            </a:r>
          </a:p>
        </p:txBody>
      </p:sp>
      <p:sp>
        <p:nvSpPr>
          <p:cNvPr id="30" name="TextBox 29"/>
          <p:cNvSpPr txBox="1"/>
          <p:nvPr/>
        </p:nvSpPr>
        <p:spPr>
          <a:xfrm>
            <a:off x="2340864" y="4471416"/>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31" name="TextBox 30"/>
          <p:cNvSpPr txBox="1"/>
          <p:nvPr/>
        </p:nvSpPr>
        <p:spPr>
          <a:xfrm>
            <a:off x="2340864"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33" name="TextBox 32"/>
          <p:cNvSpPr txBox="1"/>
          <p:nvPr/>
        </p:nvSpPr>
        <p:spPr>
          <a:xfrm>
            <a:off x="2651760" y="4069080"/>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34" name="TextBox 33"/>
          <p:cNvSpPr txBox="1"/>
          <p:nvPr/>
        </p:nvSpPr>
        <p:spPr>
          <a:xfrm>
            <a:off x="2651760"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36" name="TextBox 35"/>
          <p:cNvSpPr txBox="1"/>
          <p:nvPr/>
        </p:nvSpPr>
        <p:spPr>
          <a:xfrm>
            <a:off x="2962656" y="4370832"/>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37" name="TextBox 36"/>
          <p:cNvSpPr txBox="1"/>
          <p:nvPr/>
        </p:nvSpPr>
        <p:spPr>
          <a:xfrm>
            <a:off x="2962656"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39" name="TextBox 38"/>
          <p:cNvSpPr txBox="1"/>
          <p:nvPr/>
        </p:nvSpPr>
        <p:spPr>
          <a:xfrm>
            <a:off x="3273552" y="41696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40" name="TextBox 39"/>
          <p:cNvSpPr txBox="1"/>
          <p:nvPr/>
        </p:nvSpPr>
        <p:spPr>
          <a:xfrm>
            <a:off x="3273552"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41" name="Connector 40"/>
          <p:cNvCxnSpPr/>
          <p:nvPr/>
        </p:nvCxnSpPr>
        <p:spPr>
          <a:xfrm>
            <a:off x="2359152" y="4736592"/>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9536" y="5193792"/>
            <a:ext cx="868680" cy="219456"/>
          </a:xfrm>
          <a:prstGeom prst="rect">
            <a:avLst/>
          </a:prstGeom>
          <a:noFill/>
        </p:spPr>
        <p:txBody>
          <a:bodyPr wrap="none" lIns="27432" tIns="27432" rIns="27432" bIns="27432" anchor="ctr">
            <a:spAutoFit/>
          </a:bodyPr>
          <a:lstStyle/>
          <a:p>
            <a:pPr algn="ctr">
              <a:spcBef>
                <a:spcPts val="0"/>
              </a:spcBef>
              <a:spcAft>
                <a:spcPts val="0"/>
              </a:spcAft>
            </a:pPr>
            <a:r>
              <a:rPr sz="919" b="1">
                <a:solidFill>
                  <a:srgbClr val="13233B"/>
                </a:solidFill>
                <a:latin typeface="Aptos"/>
              </a:rPr>
              <a:t>LENGTH BINS:</a:t>
            </a:r>
          </a:p>
        </p:txBody>
      </p:sp>
      <p:sp>
        <p:nvSpPr>
          <p:cNvPr id="43" name="TextBox 42"/>
          <p:cNvSpPr txBox="1"/>
          <p:nvPr/>
        </p:nvSpPr>
        <p:spPr>
          <a:xfrm>
            <a:off x="3611880" y="3099816"/>
            <a:ext cx="329184" cy="475488"/>
          </a:xfrm>
          <a:prstGeom prst="rect">
            <a:avLst/>
          </a:prstGeom>
          <a:noFill/>
        </p:spPr>
        <p:txBody>
          <a:bodyPr wrap="square" lIns="27432" tIns="27432" rIns="27432" bIns="27432" anchor="t">
            <a:spAutoFit/>
          </a:bodyPr>
          <a:lstStyle/>
          <a:p>
            <a:pPr algn="ctr">
              <a:spcBef>
                <a:spcPts val="0"/>
              </a:spcBef>
              <a:spcAft>
                <a:spcPts val="0"/>
              </a:spcAft>
            </a:pPr>
            <a:r>
              <a:rPr sz="2700" b="1">
                <a:solidFill>
                  <a:srgbClr val="52627A"/>
                </a:solidFill>
                <a:latin typeface="Aptos"/>
              </a:rPr>
              <a:t>+</a:t>
            </a:r>
          </a:p>
        </p:txBody>
      </p:sp>
      <p:sp>
        <p:nvSpPr>
          <p:cNvPr id="44" name="Rounded Rectangle 43"/>
          <p:cNvSpPr/>
          <p:nvPr/>
        </p:nvSpPr>
        <p:spPr>
          <a:xfrm>
            <a:off x="4005072" y="1847088"/>
            <a:ext cx="2944368" cy="321868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97680" y="2084831"/>
            <a:ext cx="2359152" cy="256032"/>
          </a:xfrm>
          <a:prstGeom prst="rect">
            <a:avLst/>
          </a:prstGeom>
          <a:noFill/>
        </p:spPr>
        <p:txBody>
          <a:bodyPr wrap="square" lIns="27432" tIns="27432" rIns="27432" bIns="27432" anchor="t">
            <a:spAutoFit/>
          </a:bodyPr>
          <a:lstStyle/>
          <a:p>
            <a:pPr algn="ctr">
              <a:spcBef>
                <a:spcPts val="0"/>
              </a:spcBef>
              <a:spcAft>
                <a:spcPts val="0"/>
              </a:spcAft>
            </a:pPr>
            <a:r>
              <a:rPr sz="1400" b="1">
                <a:solidFill>
                  <a:srgbClr val="8B5CF6"/>
                </a:solidFill>
                <a:latin typeface="Aptos"/>
              </a:rPr>
              <a:t>UNKNOWN MIXED SPOT</a:t>
            </a:r>
          </a:p>
        </p:txBody>
      </p:sp>
      <p:sp>
        <p:nvSpPr>
          <p:cNvPr id="46" name="TextBox 45"/>
          <p:cNvSpPr txBox="1"/>
          <p:nvPr/>
        </p:nvSpPr>
        <p:spPr>
          <a:xfrm>
            <a:off x="4306824" y="2441448"/>
            <a:ext cx="2340864" cy="219456"/>
          </a:xfrm>
          <a:prstGeom prst="rect">
            <a:avLst/>
          </a:prstGeom>
          <a:noFill/>
        </p:spPr>
        <p:txBody>
          <a:bodyPr wrap="square" lIns="27432" tIns="27432" rIns="27432" bIns="27432" anchor="t">
            <a:spAutoFit/>
          </a:bodyPr>
          <a:lstStyle/>
          <a:p>
            <a:pPr algn="ctr">
              <a:spcBef>
                <a:spcPts val="0"/>
              </a:spcBef>
              <a:spcAft>
                <a:spcPts val="0"/>
              </a:spcAft>
            </a:pPr>
            <a:r>
              <a:rPr sz="1050" b="0">
                <a:solidFill>
                  <a:srgbClr val="52627A"/>
                </a:solidFill>
                <a:latin typeface="Aptos"/>
              </a:rPr>
              <a:t>observed ATAC count profile</a:t>
            </a:r>
          </a:p>
        </p:txBody>
      </p:sp>
      <p:sp>
        <p:nvSpPr>
          <p:cNvPr id="47" name="Rounded Rectangle 46"/>
          <p:cNvSpPr/>
          <p:nvPr/>
        </p:nvSpPr>
        <p:spPr>
          <a:xfrm>
            <a:off x="4297680" y="2889504"/>
            <a:ext cx="2359152" cy="1865376"/>
          </a:xfrm>
          <a:prstGeom prst="roundRect">
            <a:avLst/>
          </a:prstGeom>
          <a:solidFill>
            <a:srgbClr val="EEE8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62272" y="3364992"/>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8</a:t>
            </a:r>
          </a:p>
        </p:txBody>
      </p:sp>
      <p:sp>
        <p:nvSpPr>
          <p:cNvPr id="50" name="TextBox 49"/>
          <p:cNvSpPr txBox="1"/>
          <p:nvPr/>
        </p:nvSpPr>
        <p:spPr>
          <a:xfrm>
            <a:off x="4462272"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P1</a:t>
            </a:r>
          </a:p>
        </p:txBody>
      </p:sp>
      <p:sp>
        <p:nvSpPr>
          <p:cNvPr id="52" name="TextBox 51"/>
          <p:cNvSpPr txBox="1"/>
          <p:nvPr/>
        </p:nvSpPr>
        <p:spPr>
          <a:xfrm>
            <a:off x="4974336" y="3803904"/>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4</a:t>
            </a:r>
          </a:p>
        </p:txBody>
      </p:sp>
      <p:sp>
        <p:nvSpPr>
          <p:cNvPr id="53" name="TextBox 52"/>
          <p:cNvSpPr txBox="1"/>
          <p:nvPr/>
        </p:nvSpPr>
        <p:spPr>
          <a:xfrm>
            <a:off x="4974336"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P2</a:t>
            </a:r>
          </a:p>
        </p:txBody>
      </p:sp>
      <p:sp>
        <p:nvSpPr>
          <p:cNvPr id="55" name="TextBox 54"/>
          <p:cNvSpPr txBox="1"/>
          <p:nvPr/>
        </p:nvSpPr>
        <p:spPr>
          <a:xfrm>
            <a:off x="5486400" y="3474720"/>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7</a:t>
            </a:r>
          </a:p>
        </p:txBody>
      </p:sp>
      <p:sp>
        <p:nvSpPr>
          <p:cNvPr id="56" name="TextBox 55"/>
          <p:cNvSpPr txBox="1"/>
          <p:nvPr/>
        </p:nvSpPr>
        <p:spPr>
          <a:xfrm>
            <a:off x="5486400"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P3</a:t>
            </a:r>
          </a:p>
        </p:txBody>
      </p:sp>
      <p:sp>
        <p:nvSpPr>
          <p:cNvPr id="58" name="TextBox 57"/>
          <p:cNvSpPr txBox="1"/>
          <p:nvPr/>
        </p:nvSpPr>
        <p:spPr>
          <a:xfrm>
            <a:off x="5998464" y="3694176"/>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5</a:t>
            </a:r>
          </a:p>
        </p:txBody>
      </p:sp>
      <p:sp>
        <p:nvSpPr>
          <p:cNvPr id="59" name="TextBox 58"/>
          <p:cNvSpPr txBox="1"/>
          <p:nvPr/>
        </p:nvSpPr>
        <p:spPr>
          <a:xfrm>
            <a:off x="5998464"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P4</a:t>
            </a:r>
          </a:p>
        </p:txBody>
      </p:sp>
      <p:cxnSp>
        <p:nvCxnSpPr>
          <p:cNvPr id="60" name="Connector 59"/>
          <p:cNvCxnSpPr/>
          <p:nvPr/>
        </p:nvCxnSpPr>
        <p:spPr>
          <a:xfrm>
            <a:off x="4480560" y="4407408"/>
            <a:ext cx="195681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79976" y="4800600"/>
            <a:ext cx="2194560" cy="182880"/>
          </a:xfrm>
          <a:prstGeom prst="rect">
            <a:avLst/>
          </a:prstGeom>
          <a:noFill/>
        </p:spPr>
        <p:txBody>
          <a:bodyPr wrap="none" lIns="27432" tIns="27432" rIns="27432" bIns="27432" anchor="ctr">
            <a:spAutoFit/>
          </a:bodyPr>
          <a:lstStyle/>
          <a:p>
            <a:pPr algn="ctr">
              <a:spcBef>
                <a:spcPts val="0"/>
              </a:spcBef>
              <a:spcAft>
                <a:spcPts val="0"/>
              </a:spcAft>
            </a:pPr>
            <a:r>
              <a:rPr sz="810" b="1">
                <a:solidFill>
                  <a:srgbClr val="52627A"/>
                </a:solidFill>
                <a:latin typeface="Aptos"/>
              </a:rPr>
              <a:t>P1: 8 = 4 short + 3 medium + 1 long</a:t>
            </a:r>
          </a:p>
        </p:txBody>
      </p:sp>
      <p:sp>
        <p:nvSpPr>
          <p:cNvPr id="62" name="Right Arrow 61"/>
          <p:cNvSpPr/>
          <p:nvPr/>
        </p:nvSpPr>
        <p:spPr>
          <a:xfrm>
            <a:off x="7114032" y="2980944"/>
            <a:ext cx="859536" cy="603504"/>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7114032" y="3675887"/>
            <a:ext cx="859536"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19" b="1">
                <a:solidFill>
                  <a:srgbClr val="FFFFFF"/>
                </a:solidFill>
                <a:latin typeface="Aptos"/>
              </a:rPr>
              <a:t>BAYESIAN
MODEL</a:t>
            </a:r>
          </a:p>
        </p:txBody>
      </p:sp>
      <p:sp>
        <p:nvSpPr>
          <p:cNvPr id="64" name="Rounded Rectangle 63"/>
          <p:cNvSpPr/>
          <p:nvPr/>
        </p:nvSpPr>
        <p:spPr>
          <a:xfrm>
            <a:off x="8165592" y="1847088"/>
            <a:ext cx="3383280" cy="3218688"/>
          </a:xfrm>
          <a:prstGeom prst="roundRect">
            <a:avLst/>
          </a:prstGeom>
          <a:solidFill>
            <a:srgbClr val="FFFFFF"/>
          </a:solidFill>
          <a:ln w="1524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439912" y="2112264"/>
            <a:ext cx="2834640" cy="310896"/>
          </a:xfrm>
          <a:prstGeom prst="rect">
            <a:avLst/>
          </a:prstGeom>
          <a:noFill/>
        </p:spPr>
        <p:txBody>
          <a:bodyPr wrap="square" lIns="27432" tIns="27432" rIns="27432" bIns="27432" anchor="t">
            <a:spAutoFit/>
          </a:bodyPr>
          <a:lstStyle/>
          <a:p>
            <a:pPr algn="ctr">
              <a:spcBef>
                <a:spcPts val="0"/>
              </a:spcBef>
              <a:spcAft>
                <a:spcPts val="0"/>
              </a:spcAft>
            </a:pPr>
            <a:r>
              <a:rPr sz="1700" b="1">
                <a:solidFill>
                  <a:srgbClr val="13233B"/>
                </a:solidFill>
                <a:latin typeface="Aptos"/>
              </a:rPr>
              <a:t>Estimated recipe</a:t>
            </a:r>
          </a:p>
        </p:txBody>
      </p:sp>
      <p:sp>
        <p:nvSpPr>
          <p:cNvPr id="66" name="TextBox 65"/>
          <p:cNvSpPr txBox="1"/>
          <p:nvPr/>
        </p:nvSpPr>
        <p:spPr>
          <a:xfrm>
            <a:off x="8439912" y="2496312"/>
            <a:ext cx="2834640" cy="310896"/>
          </a:xfrm>
          <a:prstGeom prst="rect">
            <a:avLst/>
          </a:prstGeom>
          <a:noFill/>
        </p:spPr>
        <p:txBody>
          <a:bodyPr wrap="square" lIns="27432" tIns="27432" rIns="27432" bIns="27432" anchor="t">
            <a:spAutoFit/>
          </a:bodyPr>
          <a:lstStyle/>
          <a:p>
            <a:pPr algn="ctr">
              <a:spcBef>
                <a:spcPts val="0"/>
              </a:spcBef>
              <a:spcAft>
                <a:spcPts val="0"/>
              </a:spcAft>
            </a:pPr>
            <a:r>
              <a:rPr sz="1900" b="1">
                <a:solidFill>
                  <a:srgbClr val="18A999"/>
                </a:solidFill>
                <a:latin typeface="Aptos"/>
              </a:rPr>
              <a:t>75% T  +  25% B</a:t>
            </a:r>
          </a:p>
        </p:txBody>
      </p:sp>
      <p:sp>
        <p:nvSpPr>
          <p:cNvPr id="67" name="Rectangle 66"/>
          <p:cNvSpPr/>
          <p:nvPr/>
        </p:nvSpPr>
        <p:spPr>
          <a:xfrm>
            <a:off x="8540496" y="3072384"/>
            <a:ext cx="1975104" cy="53035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0515600" y="3072384"/>
            <a:ext cx="658367"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540496" y="3072384"/>
            <a:ext cx="2633472" cy="53035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40496" y="3072384"/>
            <a:ext cx="1975104" cy="530352"/>
          </a:xfrm>
          <a:prstGeom prst="rect">
            <a:avLst/>
          </a:prstGeom>
          <a:noFill/>
        </p:spPr>
        <p:txBody>
          <a:bodyPr wrap="square" lIns="0" tIns="0" rIns="0" bIns="0" anchor="ctr">
            <a:spAutoFit/>
          </a:bodyPr>
          <a:lstStyle/>
          <a:p>
            <a:pPr algn="ctr">
              <a:spcBef>
                <a:spcPts val="0"/>
              </a:spcBef>
              <a:spcAft>
                <a:spcPts val="0"/>
              </a:spcAft>
            </a:pPr>
            <a:r>
              <a:rPr sz="1300" b="1">
                <a:solidFill>
                  <a:srgbClr val="FFFFFF"/>
                </a:solidFill>
                <a:latin typeface="Aptos"/>
              </a:rPr>
              <a:t>75%</a:t>
            </a:r>
          </a:p>
        </p:txBody>
      </p:sp>
      <p:sp>
        <p:nvSpPr>
          <p:cNvPr id="71" name="TextBox 70"/>
          <p:cNvSpPr txBox="1"/>
          <p:nvPr/>
        </p:nvSpPr>
        <p:spPr>
          <a:xfrm>
            <a:off x="10515600" y="3072384"/>
            <a:ext cx="658367" cy="53035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25%</a:t>
            </a:r>
          </a:p>
        </p:txBody>
      </p:sp>
      <p:sp>
        <p:nvSpPr>
          <p:cNvPr id="72" name="Oval 71"/>
          <p:cNvSpPr/>
          <p:nvPr/>
        </p:nvSpPr>
        <p:spPr>
          <a:xfrm>
            <a:off x="8558784" y="3886200"/>
            <a:ext cx="182880" cy="18288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842248" y="3831335"/>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T cell</a:t>
            </a:r>
          </a:p>
        </p:txBody>
      </p:sp>
      <p:sp>
        <p:nvSpPr>
          <p:cNvPr id="74" name="TextBox 73"/>
          <p:cNvSpPr txBox="1"/>
          <p:nvPr/>
        </p:nvSpPr>
        <p:spPr>
          <a:xfrm>
            <a:off x="10442448" y="3831335"/>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75%</a:t>
            </a:r>
          </a:p>
        </p:txBody>
      </p:sp>
      <p:sp>
        <p:nvSpPr>
          <p:cNvPr id="75" name="Oval 74"/>
          <p:cNvSpPr/>
          <p:nvPr/>
        </p:nvSpPr>
        <p:spPr>
          <a:xfrm>
            <a:off x="8558784" y="4343400"/>
            <a:ext cx="182880" cy="18288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842248" y="4288536"/>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B cell</a:t>
            </a:r>
          </a:p>
        </p:txBody>
      </p:sp>
      <p:sp>
        <p:nvSpPr>
          <p:cNvPr id="77" name="TextBox 76"/>
          <p:cNvSpPr txBox="1"/>
          <p:nvPr/>
        </p:nvSpPr>
        <p:spPr>
          <a:xfrm>
            <a:off x="10442448" y="4288536"/>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25%</a:t>
            </a:r>
          </a:p>
        </p:txBody>
      </p:sp>
      <p:sp>
        <p:nvSpPr>
          <p:cNvPr id="78" name="Rounded Rectangle 77"/>
          <p:cNvSpPr/>
          <p:nvPr/>
        </p:nvSpPr>
        <p:spPr>
          <a:xfrm>
            <a:off x="8467344" y="4663440"/>
            <a:ext cx="2779776" cy="25603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30" b="1">
                <a:solidFill>
                  <a:srgbClr val="FFFFFF"/>
                </a:solidFill>
                <a:latin typeface="Aptos"/>
              </a:rPr>
              <a:t>mixed = 0.75 × T + 0.25 × B</a:t>
            </a:r>
          </a:p>
        </p:txBody>
      </p:sp>
      <p:sp>
        <p:nvSpPr>
          <p:cNvPr id="79" name="Rounded Rectangle 78"/>
          <p:cNvSpPr/>
          <p:nvPr/>
        </p:nvSpPr>
        <p:spPr>
          <a:xfrm>
            <a:off x="1143000" y="5650992"/>
            <a:ext cx="9912096"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wrap="none"/>
          <a:lstStyle/>
          <a:p>
            <a:pPr algn="ctr">
              <a:spcBef>
                <a:spcPts val="0"/>
              </a:spcBef>
              <a:spcAft>
                <a:spcPts val="0"/>
              </a:spcAft>
            </a:pPr>
            <a:r>
              <a:rPr sz="969" b="1">
                <a:solidFill>
                  <a:srgbClr val="FFFFFF"/>
                </a:solidFill>
                <a:latin typeface="Aptos"/>
              </a:rPr>
              <a:t>SAME PEAK TOTALS  •  EXTRA CLUE: SEGMENT-LENGTH COMPOSITION</a:t>
            </a:r>
          </a:p>
        </p:txBody>
      </p:sp>
      <p:sp>
        <p:nvSpPr>
          <p:cNvPr id="80" name="Length-bin stack bar 11 bin 1"/>
          <p:cNvSpPr/>
          <p:nvPr/>
        </p:nvSpPr>
        <p:spPr>
          <a:xfrm>
            <a:off x="2414016" y="2656332"/>
            <a:ext cx="182880" cy="251460"/>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Length-bin stack bar 11 bin 2"/>
          <p:cNvSpPr/>
          <p:nvPr/>
        </p:nvSpPr>
        <p:spPr>
          <a:xfrm>
            <a:off x="2414016" y="2455164"/>
            <a:ext cx="182880" cy="201168"/>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Length-bin stack bar 11 bin 3"/>
          <p:cNvSpPr/>
          <p:nvPr/>
        </p:nvSpPr>
        <p:spPr>
          <a:xfrm>
            <a:off x="2414016" y="2404872"/>
            <a:ext cx="182880" cy="50292"/>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Length-bin stack bar 14 bin 1"/>
          <p:cNvSpPr/>
          <p:nvPr/>
        </p:nvSpPr>
        <p:spPr>
          <a:xfrm>
            <a:off x="2724912" y="2857500"/>
            <a:ext cx="182880" cy="5029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ength-bin stack bar 14 bin 2"/>
          <p:cNvSpPr/>
          <p:nvPr/>
        </p:nvSpPr>
        <p:spPr>
          <a:xfrm>
            <a:off x="2724912" y="2807208"/>
            <a:ext cx="182880" cy="50292"/>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Length-bin stack bar 17 bin 1"/>
          <p:cNvSpPr/>
          <p:nvPr/>
        </p:nvSpPr>
        <p:spPr>
          <a:xfrm>
            <a:off x="3035808" y="2706624"/>
            <a:ext cx="182880" cy="20116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ength-bin stack bar 17 bin 2"/>
          <p:cNvSpPr/>
          <p:nvPr/>
        </p:nvSpPr>
        <p:spPr>
          <a:xfrm>
            <a:off x="3035808" y="2606040"/>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ength-bin stack bar 17 bin 3"/>
          <p:cNvSpPr/>
          <p:nvPr/>
        </p:nvSpPr>
        <p:spPr>
          <a:xfrm>
            <a:off x="3035808" y="2505456"/>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ength-bin stack bar 20 bin 2"/>
          <p:cNvSpPr/>
          <p:nvPr/>
        </p:nvSpPr>
        <p:spPr>
          <a:xfrm>
            <a:off x="3346704" y="2807207"/>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ength-bin stack bar 20 bin 3"/>
          <p:cNvSpPr/>
          <p:nvPr/>
        </p:nvSpPr>
        <p:spPr>
          <a:xfrm>
            <a:off x="3346704" y="2706623"/>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Length-bin stack bar 29 bin 1"/>
          <p:cNvSpPr/>
          <p:nvPr/>
        </p:nvSpPr>
        <p:spPr>
          <a:xfrm>
            <a:off x="2414016" y="4686299"/>
            <a:ext cx="182880" cy="5029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Length-bin stack bar 29 bin 3"/>
          <p:cNvSpPr/>
          <p:nvPr/>
        </p:nvSpPr>
        <p:spPr>
          <a:xfrm>
            <a:off x="2414016" y="4636007"/>
            <a:ext cx="182880" cy="50292"/>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Length-bin stack bar 32 bin 1"/>
          <p:cNvSpPr/>
          <p:nvPr/>
        </p:nvSpPr>
        <p:spPr>
          <a:xfrm>
            <a:off x="2724912" y="4485132"/>
            <a:ext cx="182880" cy="251460"/>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Length-bin stack bar 32 bin 2"/>
          <p:cNvSpPr/>
          <p:nvPr/>
        </p:nvSpPr>
        <p:spPr>
          <a:xfrm>
            <a:off x="2724912" y="4434840"/>
            <a:ext cx="182880" cy="50292"/>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Length-bin stack bar 32 bin 3"/>
          <p:cNvSpPr/>
          <p:nvPr/>
        </p:nvSpPr>
        <p:spPr>
          <a:xfrm>
            <a:off x="2724912" y="4233672"/>
            <a:ext cx="182880" cy="20116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Length-bin stack bar 35 bin 2"/>
          <p:cNvSpPr/>
          <p:nvPr/>
        </p:nvSpPr>
        <p:spPr>
          <a:xfrm>
            <a:off x="3035808" y="4636008"/>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Length-bin stack bar 35 bin 3"/>
          <p:cNvSpPr/>
          <p:nvPr/>
        </p:nvSpPr>
        <p:spPr>
          <a:xfrm>
            <a:off x="3035808" y="4535424"/>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Length-bin stack bar 38 bin 1"/>
          <p:cNvSpPr/>
          <p:nvPr/>
        </p:nvSpPr>
        <p:spPr>
          <a:xfrm>
            <a:off x="3346704" y="4535423"/>
            <a:ext cx="182880" cy="20116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Length-bin stack bar 38 bin 2"/>
          <p:cNvSpPr/>
          <p:nvPr/>
        </p:nvSpPr>
        <p:spPr>
          <a:xfrm>
            <a:off x="3346704" y="4434839"/>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Length-bin stack bar 38 bin 3"/>
          <p:cNvSpPr/>
          <p:nvPr/>
        </p:nvSpPr>
        <p:spPr>
          <a:xfrm>
            <a:off x="3346704" y="4334255"/>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Length-bin stack bar 48 bin 1"/>
          <p:cNvSpPr/>
          <p:nvPr/>
        </p:nvSpPr>
        <p:spPr>
          <a:xfrm>
            <a:off x="4535424" y="3968496"/>
            <a:ext cx="310896" cy="43891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Length-bin stack bar 48 bin 2"/>
          <p:cNvSpPr/>
          <p:nvPr/>
        </p:nvSpPr>
        <p:spPr>
          <a:xfrm>
            <a:off x="4535424" y="3639312"/>
            <a:ext cx="310896" cy="3291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Length-bin stack bar 48 bin 3"/>
          <p:cNvSpPr/>
          <p:nvPr/>
        </p:nvSpPr>
        <p:spPr>
          <a:xfrm>
            <a:off x="4535424" y="3529584"/>
            <a:ext cx="310896" cy="10972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Length-bin stack bar 51 bin 1"/>
          <p:cNvSpPr/>
          <p:nvPr/>
        </p:nvSpPr>
        <p:spPr>
          <a:xfrm>
            <a:off x="5047488" y="4187952"/>
            <a:ext cx="310896" cy="219456"/>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Length-bin stack bar 51 bin 2"/>
          <p:cNvSpPr/>
          <p:nvPr/>
        </p:nvSpPr>
        <p:spPr>
          <a:xfrm>
            <a:off x="5047488" y="4078224"/>
            <a:ext cx="310896" cy="109728"/>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Length-bin stack bar 51 bin 3"/>
          <p:cNvSpPr/>
          <p:nvPr/>
        </p:nvSpPr>
        <p:spPr>
          <a:xfrm>
            <a:off x="5047488" y="3968496"/>
            <a:ext cx="310896" cy="10972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Length-bin stack bar 54 bin 1"/>
          <p:cNvSpPr/>
          <p:nvPr/>
        </p:nvSpPr>
        <p:spPr>
          <a:xfrm>
            <a:off x="5559552" y="4078224"/>
            <a:ext cx="310896" cy="329184"/>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Length-bin stack bar 54 bin 2"/>
          <p:cNvSpPr/>
          <p:nvPr/>
        </p:nvSpPr>
        <p:spPr>
          <a:xfrm>
            <a:off x="5559552" y="3858768"/>
            <a:ext cx="310896" cy="219456"/>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Length-bin stack bar 54 bin 3"/>
          <p:cNvSpPr/>
          <p:nvPr/>
        </p:nvSpPr>
        <p:spPr>
          <a:xfrm>
            <a:off x="5559552" y="3639312"/>
            <a:ext cx="310896" cy="219456"/>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Length-bin stack bar 57 bin 1"/>
          <p:cNvSpPr/>
          <p:nvPr/>
        </p:nvSpPr>
        <p:spPr>
          <a:xfrm>
            <a:off x="6071616" y="4297680"/>
            <a:ext cx="310896" cy="10972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Length-bin stack bar 57 bin 2"/>
          <p:cNvSpPr/>
          <p:nvPr/>
        </p:nvSpPr>
        <p:spPr>
          <a:xfrm>
            <a:off x="6071616" y="4078224"/>
            <a:ext cx="310896" cy="219456"/>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Length-bin stack bar 57 bin 3"/>
          <p:cNvSpPr/>
          <p:nvPr/>
        </p:nvSpPr>
        <p:spPr>
          <a:xfrm>
            <a:off x="6071616" y="3858768"/>
            <a:ext cx="310896" cy="219456"/>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1764792" y="5193792"/>
            <a:ext cx="612648" cy="219456"/>
          </a:xfrm>
          <a:prstGeom prst="round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spcBef>
                <a:spcPts val="0"/>
              </a:spcBef>
              <a:spcAft>
                <a:spcPts val="0"/>
              </a:spcAft>
            </a:pPr>
            <a:r>
              <a:rPr sz="740" b="1">
                <a:solidFill>
                  <a:srgbClr val="FFFFFF"/>
                </a:solidFill>
                <a:latin typeface="Aptos"/>
              </a:rPr>
              <a:t>SHORT</a:t>
            </a:r>
          </a:p>
        </p:txBody>
      </p:sp>
      <p:sp>
        <p:nvSpPr>
          <p:cNvPr id="113" name="Rounded Rectangle 112"/>
          <p:cNvSpPr/>
          <p:nvPr/>
        </p:nvSpPr>
        <p:spPr>
          <a:xfrm>
            <a:off x="2450592" y="5193792"/>
            <a:ext cx="749808" cy="219456"/>
          </a:xfrm>
          <a:prstGeom prst="round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spcBef>
                <a:spcPts val="0"/>
              </a:spcBef>
              <a:spcAft>
                <a:spcPts val="0"/>
              </a:spcAft>
            </a:pPr>
            <a:r>
              <a:rPr sz="740" b="1">
                <a:solidFill>
                  <a:srgbClr val="13233B"/>
                </a:solidFill>
                <a:latin typeface="Aptos"/>
              </a:rPr>
              <a:t>MEDIUM</a:t>
            </a:r>
          </a:p>
        </p:txBody>
      </p:sp>
      <p:sp>
        <p:nvSpPr>
          <p:cNvPr id="114" name="Rounded Rectangle 113"/>
          <p:cNvSpPr/>
          <p:nvPr/>
        </p:nvSpPr>
        <p:spPr>
          <a:xfrm>
            <a:off x="3273552" y="5193792"/>
            <a:ext cx="603504" cy="219456"/>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spcBef>
                <a:spcPts val="0"/>
              </a:spcBef>
              <a:spcAft>
                <a:spcPts val="0"/>
              </a:spcAft>
            </a:pPr>
            <a:r>
              <a:rPr sz="740" b="1">
                <a:solidFill>
                  <a:srgbClr val="FFFFFF"/>
                </a:solidFill>
                <a:latin typeface="Aptos"/>
              </a:rPr>
              <a:t>LONG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4616</Words>
  <Application>Microsoft Macintosh PowerPoint</Application>
  <PresentationFormat>Widescreen</PresentationFormat>
  <Paragraphs>613</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ShapeMix-ATAC: High School Science Research Deck</dc:title>
  <dc:subject>Results-free introduction, existing algorithms, Bayesian ShapeMix model, datasets, and evaluation plan</dc:subject>
  <dc:creator>Andy Zhuang</dc:creator>
  <cp:keywords>ShapeMix, ATAC-seq, spatial deconvolution, Bayesian model, MAP inference, high school research</cp:keywords>
  <dc:description>Draft deck generated from the deconvATAC repository; no study results included.</dc:description>
  <cp:lastModifiedBy>Richard Zhuang</cp:lastModifiedBy>
  <cp:revision>6</cp:revision>
  <dcterms:created xsi:type="dcterms:W3CDTF">2013-01-27T09:14:16Z</dcterms:created>
  <dcterms:modified xsi:type="dcterms:W3CDTF">2026-08-29T17:38:42Z</dcterms:modified>
  <cp:category/>
</cp:coreProperties>
</file>