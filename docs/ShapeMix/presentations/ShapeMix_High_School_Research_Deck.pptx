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9" r:id="rId4"/>
    <p:sldId id="281" r:id="rId5"/>
    <p:sldId id="282" r:id="rId6"/>
    <p:sldId id="260" r:id="rId7"/>
    <p:sldId id="288" r:id="rId8"/>
    <p:sldId id="289" r:id="rId9"/>
    <p:sldId id="292" r:id="rId10"/>
    <p:sldId id="285" r:id="rId11"/>
    <p:sldId id="286" r:id="rId12"/>
    <p:sldId id="287" r:id="rId13"/>
    <p:sldId id="258" r:id="rId14"/>
    <p:sldId id="280" r:id="rId15"/>
    <p:sldId id="290" r:id="rId16"/>
    <p:sldId id="291" r:id="rId17"/>
    <p:sldId id="270" r:id="rId18"/>
    <p:sldId id="271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65"/>
    <p:restoredTop sz="94653"/>
  </p:normalViewPr>
  <p:slideViewPr>
    <p:cSldViewPr snapToGrid="0" snapToObjects="1">
      <p:cViewPr varScale="1">
        <p:scale>
          <a:sx n="151" d="100"/>
          <a:sy n="151" d="100"/>
        </p:scale>
        <p:origin x="48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3822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12DD8-8C61-74A6-2199-7713531FB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FBE5DC-169C-7CB8-CBA3-775118CD8F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DB38B9-B799-94F5-54BB-353341F59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9769A-C013-685B-50C9-7C7E1B5F0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413895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502920"/>
            <a:ext cx="2999232" cy="347472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Aptos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6" y="1018034"/>
            <a:ext cx="10898633" cy="118186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sz="3600" b="1" dirty="0" err="1">
                <a:solidFill>
                  <a:srgbClr val="FFFFFF"/>
                </a:solidFill>
                <a:latin typeface="Aptos Display"/>
              </a:rPr>
              <a:t>ShapeMix</a:t>
            </a:r>
            <a:r>
              <a:rPr sz="3600" b="1" dirty="0">
                <a:solidFill>
                  <a:srgbClr val="FFFFFF"/>
                </a:solidFill>
                <a:latin typeface="Aptos Display"/>
              </a:rPr>
              <a:t>-ATAC</a:t>
            </a:r>
            <a:r>
              <a:rPr lang="en-US" sz="3600" b="1" dirty="0">
                <a:solidFill>
                  <a:srgbClr val="FFFFFF"/>
                </a:solidFill>
                <a:latin typeface="Aptos Display"/>
              </a:rPr>
              <a:t>: A Novel Fragment-Shape-Aware Bayesian </a:t>
            </a:r>
            <a:r>
              <a:rPr lang="en-US" sz="3600" b="1">
                <a:solidFill>
                  <a:srgbClr val="FFFFFF"/>
                </a:solidFill>
                <a:latin typeface="Aptos Display"/>
              </a:rPr>
              <a:t>Model for </a:t>
            </a:r>
            <a:r>
              <a:rPr lang="en-US" sz="3600" b="1" dirty="0">
                <a:solidFill>
                  <a:srgbClr val="FFFFFF"/>
                </a:solidFill>
                <a:latin typeface="Aptos Display"/>
              </a:rPr>
              <a:t>Spatial ATAC-seq Deconvolution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65702"/>
            <a:ext cx="594360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 i="0" dirty="0">
                <a:solidFill>
                  <a:srgbClr val="D7E2EE"/>
                </a:solidFill>
                <a:latin typeface="Aptos Display"/>
              </a:rPr>
              <a:t>Can fragment shape help us unmix spatial chromatin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5980176"/>
            <a:ext cx="53949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D7E2EE"/>
                </a:solidFill>
                <a:latin typeface="Aptos"/>
              </a:rPr>
              <a:t>Andy Zhuang  •  High School Science Research</a:t>
            </a:r>
          </a:p>
        </p:txBody>
      </p:sp>
      <p:sp>
        <p:nvSpPr>
          <p:cNvPr id="6" name="Oval 5"/>
          <p:cNvSpPr/>
          <p:nvPr/>
        </p:nvSpPr>
        <p:spPr>
          <a:xfrm>
            <a:off x="8343054" y="2313433"/>
            <a:ext cx="3154680" cy="3154680"/>
          </a:xfrm>
          <a:prstGeom prst="ellipse">
            <a:avLst/>
          </a:prstGeom>
          <a:solidFill>
            <a:srgbClr val="1C3152"/>
          </a:solidFill>
          <a:ln w="381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2822" y="2788921"/>
            <a:ext cx="658368" cy="658368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996667" y="2999598"/>
            <a:ext cx="197510" cy="19751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742086" y="2569465"/>
            <a:ext cx="585216" cy="585216"/>
          </a:xfrm>
          <a:prstGeom prst="ellipse">
            <a:avLst/>
          </a:prstGeom>
          <a:solidFill>
            <a:srgbClr val="F26B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941059" y="2756734"/>
            <a:ext cx="175564" cy="17556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382166" y="3227832"/>
            <a:ext cx="749808" cy="749808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637100" y="3467771"/>
            <a:ext cx="224942" cy="2249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284886" y="3611881"/>
            <a:ext cx="841248" cy="84124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570910" y="3881080"/>
            <a:ext cx="252374" cy="25237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708813" y="4160521"/>
            <a:ext cx="603504" cy="603504"/>
          </a:xfrm>
          <a:prstGeom prst="ellipse">
            <a:avLst/>
          </a:prstGeom>
          <a:solidFill>
            <a:srgbClr val="8B5C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914005" y="4353642"/>
            <a:ext cx="181051" cy="18105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217574" y="4270249"/>
            <a:ext cx="640080" cy="640080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435201" y="4475074"/>
            <a:ext cx="192024" cy="19202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358038" y="4773169"/>
            <a:ext cx="566928" cy="566928"/>
          </a:xfrm>
          <a:prstGeom prst="ellipse">
            <a:avLst/>
          </a:prstGeom>
          <a:solidFill>
            <a:srgbClr val="F26B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9550793" y="4954585"/>
            <a:ext cx="170078" cy="17007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53365" y="5614417"/>
            <a:ext cx="27432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7E2EE"/>
                </a:solidFill>
                <a:latin typeface="Aptos"/>
              </a:rPr>
              <a:t>mixed spatial spot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61926" y="6336793"/>
            <a:ext cx="502920" cy="0"/>
          </a:xfrm>
          <a:prstGeom prst="line">
            <a:avLst/>
          </a:prstGeom>
          <a:ln w="5080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46192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484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102006" y="6592825"/>
            <a:ext cx="868679" cy="0"/>
          </a:xfrm>
          <a:prstGeom prst="line">
            <a:avLst/>
          </a:prstGeom>
          <a:ln w="5080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02006" y="6537961"/>
            <a:ext cx="0" cy="109728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970685" y="6537961"/>
            <a:ext cx="0" cy="109728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742086" y="6336793"/>
            <a:ext cx="384048" cy="0"/>
          </a:xfrm>
          <a:prstGeom prst="line">
            <a:avLst/>
          </a:prstGeom>
          <a:ln w="5080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74208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126134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382166" y="6592825"/>
            <a:ext cx="1152144" cy="0"/>
          </a:xfrm>
          <a:prstGeom prst="line">
            <a:avLst/>
          </a:prstGeom>
          <a:ln w="5080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382166" y="6537961"/>
            <a:ext cx="0" cy="109728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1534310" y="6537961"/>
            <a:ext cx="0" cy="109728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022246" y="6336793"/>
            <a:ext cx="640080" cy="0"/>
          </a:xfrm>
          <a:prstGeom prst="line">
            <a:avLst/>
          </a:prstGeom>
          <a:ln w="5080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02224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62326" y="6281929"/>
            <a:ext cx="0" cy="109727"/>
          </a:xfrm>
          <a:prstGeom prst="line">
            <a:avLst/>
          </a:prstGeom>
          <a:ln w="15240">
            <a:solidFill>
              <a:srgbClr val="D7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BIOLOGY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Chromatin controls which DNA instructions can be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10896"/>
            <a:ext cx="4114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2627A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243584"/>
            <a:ext cx="3236976" cy="4553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437296"/>
            <a:ext cx="2697480" cy="781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 dirty="0">
                <a:solidFill>
                  <a:srgbClr val="13233B"/>
                </a:solidFill>
                <a:latin typeface="Aptos"/>
              </a:rPr>
              <a:t>Same DNA,</a:t>
            </a:r>
            <a:endParaRPr lang="en-US" sz="2300" b="1" i="0" dirty="0">
              <a:solidFill>
                <a:srgbClr val="13233B"/>
              </a:solidFill>
              <a:latin typeface="Apto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 dirty="0">
                <a:solidFill>
                  <a:srgbClr val="13233B"/>
                </a:solidFill>
                <a:latin typeface="Aptos"/>
              </a:rPr>
              <a:t>different cells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67712"/>
            <a:ext cx="2670048" cy="2414016"/>
          </a:xfrm>
          <a:prstGeom prst="rect">
            <a:avLst/>
          </a:prstGeom>
          <a:noFill/>
        </p:spPr>
        <p:txBody>
          <a:bodyPr wrap="square" lIns="36576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50" b="1">
                <a:solidFill>
                  <a:srgbClr val="18A999"/>
                </a:solidFill>
                <a:latin typeface="Aptos"/>
              </a:rPr>
              <a:t>•  </a:t>
            </a:r>
            <a:r>
              <a:rPr sz="1750">
                <a:solidFill>
                  <a:srgbClr val="213047"/>
                </a:solidFill>
                <a:latin typeface="Aptos"/>
              </a:rPr>
              <a:t>Most cells contain nearly the same genome.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50" b="1">
                <a:solidFill>
                  <a:srgbClr val="18A999"/>
                </a:solidFill>
                <a:latin typeface="Aptos"/>
              </a:rPr>
              <a:t>•  </a:t>
            </a:r>
            <a:r>
              <a:rPr sz="1750">
                <a:solidFill>
                  <a:srgbClr val="213047"/>
                </a:solidFill>
                <a:latin typeface="Aptos"/>
              </a:rPr>
              <a:t>Cell types differ in which DNA regions are open and active.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50" b="1">
                <a:solidFill>
                  <a:srgbClr val="18A999"/>
                </a:solidFill>
                <a:latin typeface="Aptos"/>
              </a:rPr>
              <a:t>•  </a:t>
            </a:r>
            <a:r>
              <a:rPr sz="1750">
                <a:solidFill>
                  <a:srgbClr val="213047"/>
                </a:solidFill>
                <a:latin typeface="Aptos"/>
              </a:rPr>
              <a:t>Those open regions help reveal cell identity and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" y="5084064"/>
            <a:ext cx="2514600" cy="384048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CHROMATIN = DNA + PACKAGING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552" y="1335024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2627A"/>
                </a:solidFill>
                <a:latin typeface="Aptos"/>
              </a:rPr>
              <a:t>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1335024"/>
            <a:ext cx="24688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C7F75"/>
                </a:solidFill>
                <a:latin typeface="Aptos"/>
              </a:rPr>
              <a:t>OPEN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51376" y="1673352"/>
            <a:ext cx="3044952" cy="31546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074152" y="1673352"/>
            <a:ext cx="3044952" cy="315468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08576" y="5129784"/>
            <a:ext cx="6236208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3233B"/>
                </a:solidFill>
                <a:latin typeface="Aptos"/>
              </a:rPr>
              <a:t>ATAC-seq uses Tn5 to cut and tag accessible DNA.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462272" y="2880360"/>
            <a:ext cx="2596896" cy="0"/>
          </a:xfrm>
          <a:prstGeom prst="line">
            <a:avLst/>
          </a:prstGeom>
          <a:ln w="21590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 rot="1080000">
            <a:off x="453981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 rot="1080000">
            <a:off x="466179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 rot="1080000">
            <a:off x="478798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 rot="1080000">
            <a:off x="490996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 rot="540000">
            <a:off x="448092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 flipV="1">
            <a:off x="451457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 rot="1080000">
            <a:off x="517989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 rot="1080000">
            <a:off x="530187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 rot="1080000">
            <a:off x="542806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 rot="1080000">
            <a:off x="555004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 rot="540000">
            <a:off x="512100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 flipV="1">
            <a:off x="515465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 rot="1080000">
            <a:off x="581997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 rot="1080000">
            <a:off x="594195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 rot="1080000">
            <a:off x="606814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 rot="1080000">
            <a:off x="619012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 rot="540000">
            <a:off x="576108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 flipV="1">
            <a:off x="579473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 rot="1080000">
            <a:off x="646005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 rot="1080000">
            <a:off x="658203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 rot="1080000">
            <a:off x="670822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 rot="1080000">
            <a:off x="683020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 rot="540000">
            <a:off x="640116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 flipV="1">
            <a:off x="643481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038344" y="2084831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5129784" y="2121408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Connector 59"/>
          <p:cNvCxnSpPr/>
          <p:nvPr/>
        </p:nvCxnSpPr>
        <p:spPr>
          <a:xfrm>
            <a:off x="5093207" y="2368296"/>
            <a:ext cx="128017" cy="128016"/>
          </a:xfrm>
          <a:prstGeom prst="line">
            <a:avLst/>
          </a:prstGeom>
          <a:ln w="2032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093207" y="2368296"/>
            <a:ext cx="128017" cy="128016"/>
          </a:xfrm>
          <a:prstGeom prst="line">
            <a:avLst/>
          </a:prstGeom>
          <a:ln w="2032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007607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6099048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4" name="Connector 63"/>
          <p:cNvCxnSpPr/>
          <p:nvPr/>
        </p:nvCxnSpPr>
        <p:spPr>
          <a:xfrm>
            <a:off x="6062471" y="2304288"/>
            <a:ext cx="128017" cy="128015"/>
          </a:xfrm>
          <a:prstGeom prst="line">
            <a:avLst/>
          </a:prstGeom>
          <a:ln w="2032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6062471" y="2304288"/>
            <a:ext cx="128017" cy="128015"/>
          </a:xfrm>
          <a:prstGeom prst="line">
            <a:avLst/>
          </a:prstGeom>
          <a:ln w="2032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297680" y="3310128"/>
            <a:ext cx="274320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8B5CF6"/>
                </a:solidFill>
                <a:latin typeface="Aptos"/>
              </a:rPr>
              <a:t>DNA wrapped around histones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42816" y="4005072"/>
            <a:ext cx="2862072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26B5B"/>
                </a:solidFill>
                <a:latin typeface="Aptos"/>
              </a:rPr>
              <a:t>No exposed linker → Tn5 is blocked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302752" y="2880360"/>
            <a:ext cx="2615184" cy="0"/>
          </a:xfrm>
          <a:prstGeom prst="line">
            <a:avLst/>
          </a:prstGeom>
          <a:ln w="21590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 rot="1080000">
            <a:off x="8352861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 rot="1080000">
            <a:off x="847484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 rot="1080000">
            <a:off x="8601029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 rot="1080000">
            <a:off x="8723010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 rot="540000">
            <a:off x="8293973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4" name="Connector 73"/>
          <p:cNvCxnSpPr/>
          <p:nvPr/>
        </p:nvCxnSpPr>
        <p:spPr>
          <a:xfrm flipV="1">
            <a:off x="8327623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 rot="1080000">
            <a:off x="10346253" y="267846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 rot="1080000">
            <a:off x="10468234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 rot="1080000">
            <a:off x="10594421" y="267846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 rot="1080000">
            <a:off x="10716402" y="267846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 rot="540000">
            <a:off x="10287365" y="261957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0" name="Connector 79"/>
          <p:cNvCxnSpPr/>
          <p:nvPr/>
        </p:nvCxnSpPr>
        <p:spPr>
          <a:xfrm flipV="1">
            <a:off x="10321015" y="279623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9153144" y="275234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9244584" y="278892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/>
          <p:cNvCxnSpPr/>
          <p:nvPr/>
        </p:nvCxnSpPr>
        <p:spPr>
          <a:xfrm>
            <a:off x="9272015" y="2889503"/>
            <a:ext cx="0" cy="128017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9592056" y="275234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9683496" y="278892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6" name="Connector 85"/>
          <p:cNvCxnSpPr/>
          <p:nvPr/>
        </p:nvCxnSpPr>
        <p:spPr>
          <a:xfrm>
            <a:off x="9710928" y="2889503"/>
            <a:ext cx="0" cy="128017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030968" y="275234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0122408" y="278892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9" name="Connector 88"/>
          <p:cNvCxnSpPr/>
          <p:nvPr/>
        </p:nvCxnSpPr>
        <p:spPr>
          <a:xfrm>
            <a:off x="10149840" y="2889503"/>
            <a:ext cx="0" cy="128017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8887968" y="2176272"/>
            <a:ext cx="512064" cy="219456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" tIns="0" rIns="27432" bIns="0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Tn5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97112" y="3310128"/>
            <a:ext cx="1426464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50" b="1">
                <a:solidFill>
                  <a:srgbClr val="0C7F75"/>
                </a:solidFill>
                <a:latin typeface="Aptos"/>
              </a:rPr>
              <a:t>exposed linker DNA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65592" y="4005072"/>
            <a:ext cx="2862072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0C7F75"/>
                </a:solidFill>
                <a:latin typeface="Aptos"/>
              </a:rPr>
              <a:t>Tn5 cuts and tags the exposed DNA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60C7F-6AE1-1004-55FD-847F5D253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A2674A-80BD-044C-9C7E-BF393F27F6C3}"/>
              </a:ext>
            </a:extLst>
          </p:cNvPr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ATAC-SEQ BASICS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658337-BA12-BAE2-E36B-9D805A60949C}"/>
              </a:ext>
            </a:extLst>
          </p:cNvPr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ATAC-seq turns accessible DNA into peak counts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3C0275-F834-D744-CE47-93B7FDFDA5A0}"/>
              </a:ext>
            </a:extLst>
          </p:cNvPr>
          <p:cNvSpPr txBox="1"/>
          <p:nvPr/>
        </p:nvSpPr>
        <p:spPr>
          <a:xfrm>
            <a:off x="11137392" y="310896"/>
            <a:ext cx="4114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52627A"/>
                </a:solidFill>
                <a:latin typeface="Aptos"/>
              </a:rPr>
              <a:t>03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C56D46-FDC9-199C-0A81-0EE284AD4798}"/>
              </a:ext>
            </a:extLst>
          </p:cNvPr>
          <p:cNvSpPr txBox="1"/>
          <p:nvPr/>
        </p:nvSpPr>
        <p:spPr>
          <a:xfrm>
            <a:off x="640080" y="1051560"/>
            <a:ext cx="10881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0" i="0" dirty="0">
                <a:solidFill>
                  <a:srgbClr val="52627A"/>
                </a:solidFill>
                <a:latin typeface="Aptos"/>
              </a:rPr>
              <a:t>The same genomic regions line up from chromatin → fragments → counts.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A859F15-D3E7-C240-E80C-53FC5D81EF6C}"/>
              </a:ext>
            </a:extLst>
          </p:cNvPr>
          <p:cNvSpPr/>
          <p:nvPr/>
        </p:nvSpPr>
        <p:spPr>
          <a:xfrm>
            <a:off x="658368" y="1436200"/>
            <a:ext cx="10881360" cy="1271016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08A94D4-4E5F-90CB-0841-A6CB4F81BBDA}"/>
              </a:ext>
            </a:extLst>
          </p:cNvPr>
          <p:cNvSpPr/>
          <p:nvPr/>
        </p:nvSpPr>
        <p:spPr>
          <a:xfrm>
            <a:off x="667512" y="2823872"/>
            <a:ext cx="10881360" cy="1426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B7FE0FD-DE21-7B01-03E8-8EEDE3EDA26B}"/>
              </a:ext>
            </a:extLst>
          </p:cNvPr>
          <p:cNvSpPr/>
          <p:nvPr/>
        </p:nvSpPr>
        <p:spPr>
          <a:xfrm>
            <a:off x="658368" y="4389626"/>
            <a:ext cx="10890504" cy="1627125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2E7867-6775-E1B2-9746-B4EF8545DE95}"/>
              </a:ext>
            </a:extLst>
          </p:cNvPr>
          <p:cNvSpPr/>
          <p:nvPr/>
        </p:nvSpPr>
        <p:spPr>
          <a:xfrm>
            <a:off x="2722459" y="1536193"/>
            <a:ext cx="2103120" cy="1069848"/>
          </a:xfrm>
          <a:prstGeom prst="rect">
            <a:avLst/>
          </a:prstGeom>
          <a:solidFill>
            <a:srgbClr val="F2F6FE"/>
          </a:solidFill>
          <a:ln w="2540">
            <a:solidFill>
              <a:srgbClr val="F2F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97FA12-7231-5EDC-3EFC-84019F56B5D3}"/>
              </a:ext>
            </a:extLst>
          </p:cNvPr>
          <p:cNvSpPr/>
          <p:nvPr/>
        </p:nvSpPr>
        <p:spPr>
          <a:xfrm>
            <a:off x="2722459" y="2903652"/>
            <a:ext cx="2103120" cy="1225296"/>
          </a:xfrm>
          <a:prstGeom prst="rect">
            <a:avLst/>
          </a:prstGeom>
          <a:solidFill>
            <a:srgbClr val="F2F6FE"/>
          </a:solidFill>
          <a:ln w="2540">
            <a:solidFill>
              <a:srgbClr val="F2F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2FECF9-9C6A-7613-4C7D-8A68589C5A5D}"/>
              </a:ext>
            </a:extLst>
          </p:cNvPr>
          <p:cNvSpPr/>
          <p:nvPr/>
        </p:nvSpPr>
        <p:spPr>
          <a:xfrm>
            <a:off x="5532120" y="1526371"/>
            <a:ext cx="2377440" cy="1069848"/>
          </a:xfrm>
          <a:prstGeom prst="rect">
            <a:avLst/>
          </a:prstGeom>
          <a:solidFill>
            <a:srgbClr val="EEF9F7"/>
          </a:solidFill>
          <a:ln w="2540">
            <a:solidFill>
              <a:srgbClr val="EEF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74A7A3-CDC0-E6A5-C030-AAC500F615DB}"/>
              </a:ext>
            </a:extLst>
          </p:cNvPr>
          <p:cNvSpPr/>
          <p:nvPr/>
        </p:nvSpPr>
        <p:spPr>
          <a:xfrm>
            <a:off x="5532120" y="2903652"/>
            <a:ext cx="2377440" cy="1225296"/>
          </a:xfrm>
          <a:prstGeom prst="rect">
            <a:avLst/>
          </a:prstGeom>
          <a:solidFill>
            <a:srgbClr val="EEF9F7"/>
          </a:solidFill>
          <a:ln w="2540">
            <a:solidFill>
              <a:srgbClr val="EEF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1C4FA9-7746-639E-56B1-EA721CA2F602}"/>
              </a:ext>
            </a:extLst>
          </p:cNvPr>
          <p:cNvSpPr/>
          <p:nvPr/>
        </p:nvSpPr>
        <p:spPr>
          <a:xfrm>
            <a:off x="8577006" y="1527726"/>
            <a:ext cx="2148840" cy="1069848"/>
          </a:xfrm>
          <a:prstGeom prst="rect">
            <a:avLst/>
          </a:prstGeom>
          <a:solidFill>
            <a:srgbClr val="FFF8E8"/>
          </a:solidFill>
          <a:ln w="254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1A3C4A-EB2E-31DA-D68D-3723680DF263}"/>
              </a:ext>
            </a:extLst>
          </p:cNvPr>
          <p:cNvSpPr/>
          <p:nvPr/>
        </p:nvSpPr>
        <p:spPr>
          <a:xfrm>
            <a:off x="8577006" y="2911103"/>
            <a:ext cx="2148840" cy="1225296"/>
          </a:xfrm>
          <a:prstGeom prst="rect">
            <a:avLst/>
          </a:prstGeom>
          <a:solidFill>
            <a:srgbClr val="FFF8E8"/>
          </a:solidFill>
          <a:ln w="254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2A00206-61CB-C9C3-6225-CBB3CA6AEA71}"/>
              </a:ext>
            </a:extLst>
          </p:cNvPr>
          <p:cNvSpPr/>
          <p:nvPr/>
        </p:nvSpPr>
        <p:spPr>
          <a:xfrm>
            <a:off x="859536" y="1609344"/>
            <a:ext cx="347472" cy="347472"/>
          </a:xfrm>
          <a:prstGeom prst="ellipse">
            <a:avLst/>
          </a:prstGeom>
          <a:solidFill>
            <a:srgbClr val="18A999"/>
          </a:solidFill>
          <a:ln w="1016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8A23D8-DC88-68A7-50A5-C520C0A0EA50}"/>
              </a:ext>
            </a:extLst>
          </p:cNvPr>
          <p:cNvSpPr txBox="1"/>
          <p:nvPr/>
        </p:nvSpPr>
        <p:spPr>
          <a:xfrm>
            <a:off x="859536" y="1609344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6BDB9B-BF9C-C6C3-DD51-07800309784E}"/>
              </a:ext>
            </a:extLst>
          </p:cNvPr>
          <p:cNvSpPr txBox="1"/>
          <p:nvPr/>
        </p:nvSpPr>
        <p:spPr>
          <a:xfrm>
            <a:off x="1307592" y="1664208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7F75"/>
                </a:solidFill>
                <a:latin typeface="Aptos"/>
              </a:rPr>
              <a:t>CHROMATIN</a:t>
            </a:r>
          </a:p>
        </p:txBody>
      </p:sp>
      <p:cxnSp>
        <p:nvCxnSpPr>
          <p:cNvPr id="18" name="Connector 17">
            <a:extLst>
              <a:ext uri="{FF2B5EF4-FFF2-40B4-BE49-F238E27FC236}">
                <a16:creationId xmlns:a16="http://schemas.microsoft.com/office/drawing/2014/main" id="{C618D045-C90F-6271-10F7-9A1300CBF63A}"/>
              </a:ext>
            </a:extLst>
          </p:cNvPr>
          <p:cNvCxnSpPr>
            <a:cxnSpLocks/>
          </p:cNvCxnSpPr>
          <p:nvPr/>
        </p:nvCxnSpPr>
        <p:spPr>
          <a:xfrm flipV="1">
            <a:off x="2006600" y="2148840"/>
            <a:ext cx="9130792" cy="9144"/>
          </a:xfrm>
          <a:prstGeom prst="line">
            <a:avLst/>
          </a:prstGeom>
          <a:ln w="21590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8F745C71-21CC-AC56-6F8F-27E7347615AE}"/>
              </a:ext>
            </a:extLst>
          </p:cNvPr>
          <p:cNvSpPr/>
          <p:nvPr/>
        </p:nvSpPr>
        <p:spPr>
          <a:xfrm rot="1080000">
            <a:off x="597542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8AEB723-FEDA-32CF-A740-283E5F7BD1B6}"/>
              </a:ext>
            </a:extLst>
          </p:cNvPr>
          <p:cNvSpPr/>
          <p:nvPr/>
        </p:nvSpPr>
        <p:spPr>
          <a:xfrm rot="1080000">
            <a:off x="609740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90D84A8-020D-74EE-0937-185AD656C14A}"/>
              </a:ext>
            </a:extLst>
          </p:cNvPr>
          <p:cNvSpPr/>
          <p:nvPr/>
        </p:nvSpPr>
        <p:spPr>
          <a:xfrm rot="1080000">
            <a:off x="622358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585F334-81B2-7400-32E9-FE9019100DB4}"/>
              </a:ext>
            </a:extLst>
          </p:cNvPr>
          <p:cNvSpPr/>
          <p:nvPr/>
        </p:nvSpPr>
        <p:spPr>
          <a:xfrm rot="1080000">
            <a:off x="634557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AFDEFBE-29A0-A58B-5251-8B49F5E87031}"/>
              </a:ext>
            </a:extLst>
          </p:cNvPr>
          <p:cNvSpPr/>
          <p:nvPr/>
        </p:nvSpPr>
        <p:spPr>
          <a:xfrm rot="540000">
            <a:off x="591653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>
            <a:extLst>
              <a:ext uri="{FF2B5EF4-FFF2-40B4-BE49-F238E27FC236}">
                <a16:creationId xmlns:a16="http://schemas.microsoft.com/office/drawing/2014/main" id="{57A7DC97-5057-D6E4-BB9E-95943F4D484A}"/>
              </a:ext>
            </a:extLst>
          </p:cNvPr>
          <p:cNvCxnSpPr/>
          <p:nvPr/>
        </p:nvCxnSpPr>
        <p:spPr>
          <a:xfrm flipV="1">
            <a:off x="595018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D2D10061-886D-6A4A-6450-FC98AA76DFBD}"/>
              </a:ext>
            </a:extLst>
          </p:cNvPr>
          <p:cNvSpPr/>
          <p:nvPr/>
        </p:nvSpPr>
        <p:spPr>
          <a:xfrm rot="1080000">
            <a:off x="688982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B3DAA40-5B63-9CD0-5FAD-45843D93116C}"/>
              </a:ext>
            </a:extLst>
          </p:cNvPr>
          <p:cNvSpPr/>
          <p:nvPr/>
        </p:nvSpPr>
        <p:spPr>
          <a:xfrm rot="1080000">
            <a:off x="701180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6517473-51F9-4117-19DD-D7F8C48044DD}"/>
              </a:ext>
            </a:extLst>
          </p:cNvPr>
          <p:cNvSpPr/>
          <p:nvPr/>
        </p:nvSpPr>
        <p:spPr>
          <a:xfrm rot="1080000">
            <a:off x="713798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B9ADBF0-F617-C459-925B-CB68DB9B9CE1}"/>
              </a:ext>
            </a:extLst>
          </p:cNvPr>
          <p:cNvSpPr/>
          <p:nvPr/>
        </p:nvSpPr>
        <p:spPr>
          <a:xfrm rot="1080000">
            <a:off x="725997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001C68D-28BD-EB11-CBF6-D83430C226CA}"/>
              </a:ext>
            </a:extLst>
          </p:cNvPr>
          <p:cNvSpPr/>
          <p:nvPr/>
        </p:nvSpPr>
        <p:spPr>
          <a:xfrm rot="540000">
            <a:off x="683093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6CEAD696-EA7B-2246-547A-B48B35F5D250}"/>
              </a:ext>
            </a:extLst>
          </p:cNvPr>
          <p:cNvCxnSpPr/>
          <p:nvPr/>
        </p:nvCxnSpPr>
        <p:spPr>
          <a:xfrm flipV="1">
            <a:off x="686458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030E1115-13B5-58FF-FB53-823DB4BBE692}"/>
              </a:ext>
            </a:extLst>
          </p:cNvPr>
          <p:cNvSpPr/>
          <p:nvPr/>
        </p:nvSpPr>
        <p:spPr>
          <a:xfrm rot="1080000">
            <a:off x="9606943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9D4B1B3-6BDA-E8F5-0CB9-F4B7CB10DF6B}"/>
              </a:ext>
            </a:extLst>
          </p:cNvPr>
          <p:cNvSpPr/>
          <p:nvPr/>
        </p:nvSpPr>
        <p:spPr>
          <a:xfrm rot="1080000">
            <a:off x="9728924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A2F77A1-DC61-61E8-DE06-369121DA9A2F}"/>
              </a:ext>
            </a:extLst>
          </p:cNvPr>
          <p:cNvSpPr/>
          <p:nvPr/>
        </p:nvSpPr>
        <p:spPr>
          <a:xfrm rot="1080000">
            <a:off x="9855111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5E1E8FB-BCB2-DCE0-C43E-D5007AC2E7C1}"/>
              </a:ext>
            </a:extLst>
          </p:cNvPr>
          <p:cNvSpPr/>
          <p:nvPr/>
        </p:nvSpPr>
        <p:spPr>
          <a:xfrm rot="1080000">
            <a:off x="997709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309C70EE-9146-50D8-942B-FEE28287EC17}"/>
              </a:ext>
            </a:extLst>
          </p:cNvPr>
          <p:cNvSpPr/>
          <p:nvPr/>
        </p:nvSpPr>
        <p:spPr>
          <a:xfrm rot="540000">
            <a:off x="9548055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>
            <a:extLst>
              <a:ext uri="{FF2B5EF4-FFF2-40B4-BE49-F238E27FC236}">
                <a16:creationId xmlns:a16="http://schemas.microsoft.com/office/drawing/2014/main" id="{11F52A8E-0647-9612-CF47-A7FE1E0D6762}"/>
              </a:ext>
            </a:extLst>
          </p:cNvPr>
          <p:cNvCxnSpPr/>
          <p:nvPr/>
        </p:nvCxnSpPr>
        <p:spPr>
          <a:xfrm flipV="1">
            <a:off x="9581705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57DB5DDF-7FB3-5773-2396-DA7B85C1743E}"/>
              </a:ext>
            </a:extLst>
          </p:cNvPr>
          <p:cNvGrpSpPr/>
          <p:nvPr/>
        </p:nvGrpSpPr>
        <p:grpSpPr>
          <a:xfrm>
            <a:off x="10671413" y="1888053"/>
            <a:ext cx="639348" cy="521573"/>
            <a:chOff x="10671413" y="1888053"/>
            <a:chExt cx="639348" cy="521573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7438E768-8D33-C65D-67AC-B7B53229A135}"/>
                </a:ext>
              </a:extLst>
            </p:cNvPr>
            <p:cNvSpPr/>
            <p:nvPr/>
          </p:nvSpPr>
          <p:spPr>
            <a:xfrm rot="1080000">
              <a:off x="10730301" y="1946940"/>
              <a:ext cx="151424" cy="403799"/>
            </a:xfrm>
            <a:prstGeom prst="ellipse">
              <a:avLst/>
            </a:prstGeom>
            <a:solidFill>
              <a:srgbClr val="6D43D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911236D6-ADD8-B5E5-5451-E5D346D66146}"/>
                </a:ext>
              </a:extLst>
            </p:cNvPr>
            <p:cNvSpPr/>
            <p:nvPr/>
          </p:nvSpPr>
          <p:spPr>
            <a:xfrm rot="1080000">
              <a:off x="10852282" y="1946940"/>
              <a:ext cx="151424" cy="403799"/>
            </a:xfrm>
            <a:prstGeom prst="ellipse">
              <a:avLst/>
            </a:prstGeom>
            <a:solidFill>
              <a:srgbClr val="8B5CF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C335C3A-9365-E066-729F-278362DD9D16}"/>
                </a:ext>
              </a:extLst>
            </p:cNvPr>
            <p:cNvSpPr/>
            <p:nvPr/>
          </p:nvSpPr>
          <p:spPr>
            <a:xfrm rot="1080000">
              <a:off x="10978469" y="1946940"/>
              <a:ext cx="151424" cy="403799"/>
            </a:xfrm>
            <a:prstGeom prst="ellipse">
              <a:avLst/>
            </a:prstGeom>
            <a:solidFill>
              <a:srgbClr val="7650DE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BE4BC0D0-CB0A-BCC1-200B-BB55B6DB6A6C}"/>
                </a:ext>
              </a:extLst>
            </p:cNvPr>
            <p:cNvSpPr/>
            <p:nvPr/>
          </p:nvSpPr>
          <p:spPr>
            <a:xfrm rot="1080000">
              <a:off x="11100450" y="1946940"/>
              <a:ext cx="151424" cy="403799"/>
            </a:xfrm>
            <a:prstGeom prst="ellipse">
              <a:avLst/>
            </a:prstGeom>
            <a:solidFill>
              <a:srgbClr val="8B5CF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E7D07B94-36D5-696D-E1B4-A23866808F73}"/>
                </a:ext>
              </a:extLst>
            </p:cNvPr>
            <p:cNvSpPr/>
            <p:nvPr/>
          </p:nvSpPr>
          <p:spPr>
            <a:xfrm rot="540000">
              <a:off x="10671413" y="1888053"/>
              <a:ext cx="639348" cy="521573"/>
            </a:xfrm>
            <a:prstGeom prst="ellipse">
              <a:avLst/>
            </a:prstGeom>
            <a:noFill/>
            <a:ln w="18415">
              <a:solidFill>
                <a:srgbClr val="65464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" name="Connector 47">
              <a:extLst>
                <a:ext uri="{FF2B5EF4-FFF2-40B4-BE49-F238E27FC236}">
                  <a16:creationId xmlns:a16="http://schemas.microsoft.com/office/drawing/2014/main" id="{7CDE4003-CA13-EB37-2822-485C30EE492F}"/>
                </a:ext>
              </a:extLst>
            </p:cNvPr>
            <p:cNvCxnSpPr/>
            <p:nvPr/>
          </p:nvCxnSpPr>
          <p:spPr>
            <a:xfrm flipV="1">
              <a:off x="10705063" y="2064715"/>
              <a:ext cx="572049" cy="185074"/>
            </a:xfrm>
            <a:prstGeom prst="line">
              <a:avLst/>
            </a:prstGeom>
            <a:ln w="15875">
              <a:solidFill>
                <a:srgbClr val="65464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Oval 48">
            <a:extLst>
              <a:ext uri="{FF2B5EF4-FFF2-40B4-BE49-F238E27FC236}">
                <a16:creationId xmlns:a16="http://schemas.microsoft.com/office/drawing/2014/main" id="{A5BE993E-E242-3B95-589C-5CCA435551ED}"/>
              </a:ext>
            </a:extLst>
          </p:cNvPr>
          <p:cNvSpPr/>
          <p:nvPr/>
        </p:nvSpPr>
        <p:spPr>
          <a:xfrm>
            <a:off x="3081528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287F4301-6F8A-C74F-E643-9EB77B0E1080}"/>
              </a:ext>
            </a:extLst>
          </p:cNvPr>
          <p:cNvSpPr/>
          <p:nvPr/>
        </p:nvSpPr>
        <p:spPr>
          <a:xfrm>
            <a:off x="3172968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3752BD6F-BDCB-0D3B-48D5-8E2741FBDFC0}"/>
              </a:ext>
            </a:extLst>
          </p:cNvPr>
          <p:cNvCxnSpPr/>
          <p:nvPr/>
        </p:nvCxnSpPr>
        <p:spPr>
          <a:xfrm>
            <a:off x="3200400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B825AAFF-885D-BAA2-5E14-8E4BC865936C}"/>
              </a:ext>
            </a:extLst>
          </p:cNvPr>
          <p:cNvGrpSpPr/>
          <p:nvPr/>
        </p:nvGrpSpPr>
        <p:grpSpPr>
          <a:xfrm>
            <a:off x="3563449" y="2020824"/>
            <a:ext cx="237745" cy="265176"/>
            <a:chOff x="4672583" y="2020824"/>
            <a:chExt cx="237745" cy="265176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5FFB27-F08E-336E-0306-CCBB55075DC5}"/>
                </a:ext>
              </a:extLst>
            </p:cNvPr>
            <p:cNvSpPr/>
            <p:nvPr/>
          </p:nvSpPr>
          <p:spPr>
            <a:xfrm>
              <a:off x="4672583" y="2020824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351C1FC7-A36F-3EE3-86CB-1C9DC33F0255}"/>
                </a:ext>
              </a:extLst>
            </p:cNvPr>
            <p:cNvSpPr/>
            <p:nvPr/>
          </p:nvSpPr>
          <p:spPr>
            <a:xfrm>
              <a:off x="4764024" y="2057400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53">
              <a:extLst>
                <a:ext uri="{FF2B5EF4-FFF2-40B4-BE49-F238E27FC236}">
                  <a16:creationId xmlns:a16="http://schemas.microsoft.com/office/drawing/2014/main" id="{1831F05D-DF96-79A5-3317-0592321B6153}"/>
                </a:ext>
              </a:extLst>
            </p:cNvPr>
            <p:cNvCxnSpPr/>
            <p:nvPr/>
          </p:nvCxnSpPr>
          <p:spPr>
            <a:xfrm>
              <a:off x="4791455" y="2157984"/>
              <a:ext cx="0" cy="128016"/>
            </a:xfrm>
            <a:prstGeom prst="line">
              <a:avLst/>
            </a:prstGeom>
            <a:ln w="1524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Oval 54">
            <a:extLst>
              <a:ext uri="{FF2B5EF4-FFF2-40B4-BE49-F238E27FC236}">
                <a16:creationId xmlns:a16="http://schemas.microsoft.com/office/drawing/2014/main" id="{A1450B68-A772-8E7A-6C1E-BA5EFE6D4094}"/>
              </a:ext>
            </a:extLst>
          </p:cNvPr>
          <p:cNvSpPr/>
          <p:nvPr/>
        </p:nvSpPr>
        <p:spPr>
          <a:xfrm>
            <a:off x="5568696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E8312A30-CC26-4D7F-EEC7-B3C730743090}"/>
              </a:ext>
            </a:extLst>
          </p:cNvPr>
          <p:cNvSpPr/>
          <p:nvPr/>
        </p:nvSpPr>
        <p:spPr>
          <a:xfrm>
            <a:off x="5660136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>
            <a:extLst>
              <a:ext uri="{FF2B5EF4-FFF2-40B4-BE49-F238E27FC236}">
                <a16:creationId xmlns:a16="http://schemas.microsoft.com/office/drawing/2014/main" id="{BDEFE0AD-9129-666E-DFF9-8657A703472F}"/>
              </a:ext>
            </a:extLst>
          </p:cNvPr>
          <p:cNvCxnSpPr/>
          <p:nvPr/>
        </p:nvCxnSpPr>
        <p:spPr>
          <a:xfrm>
            <a:off x="5687568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0AE9A254-0B5D-4760-EAB7-CA0DC15174FC}"/>
              </a:ext>
            </a:extLst>
          </p:cNvPr>
          <p:cNvSpPr/>
          <p:nvPr/>
        </p:nvSpPr>
        <p:spPr>
          <a:xfrm>
            <a:off x="7690104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7ACEA086-BAEA-B2FB-915D-55F511DA4BCD}"/>
              </a:ext>
            </a:extLst>
          </p:cNvPr>
          <p:cNvSpPr/>
          <p:nvPr/>
        </p:nvSpPr>
        <p:spPr>
          <a:xfrm>
            <a:off x="7781544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Connector 59">
            <a:extLst>
              <a:ext uri="{FF2B5EF4-FFF2-40B4-BE49-F238E27FC236}">
                <a16:creationId xmlns:a16="http://schemas.microsoft.com/office/drawing/2014/main" id="{F054C867-75D3-6E3C-6D99-9DE523EE350D}"/>
              </a:ext>
            </a:extLst>
          </p:cNvPr>
          <p:cNvCxnSpPr/>
          <p:nvPr/>
        </p:nvCxnSpPr>
        <p:spPr>
          <a:xfrm>
            <a:off x="7808975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24A28BFC-B9BE-6433-3EE0-F01DA23D4E82}"/>
              </a:ext>
            </a:extLst>
          </p:cNvPr>
          <p:cNvSpPr/>
          <p:nvPr/>
        </p:nvSpPr>
        <p:spPr>
          <a:xfrm>
            <a:off x="10291062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0323A9A7-8D10-1EA5-DC05-8FADFAD3A208}"/>
              </a:ext>
            </a:extLst>
          </p:cNvPr>
          <p:cNvSpPr/>
          <p:nvPr/>
        </p:nvSpPr>
        <p:spPr>
          <a:xfrm>
            <a:off x="10382502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6" name="Connector 65">
            <a:extLst>
              <a:ext uri="{FF2B5EF4-FFF2-40B4-BE49-F238E27FC236}">
                <a16:creationId xmlns:a16="http://schemas.microsoft.com/office/drawing/2014/main" id="{0C949960-2FC0-D479-8BEC-3F1B801AEC14}"/>
              </a:ext>
            </a:extLst>
          </p:cNvPr>
          <p:cNvCxnSpPr/>
          <p:nvPr/>
        </p:nvCxnSpPr>
        <p:spPr>
          <a:xfrm>
            <a:off x="10409934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F5FB672-6500-C842-35B2-7C424474DA17}"/>
              </a:ext>
            </a:extLst>
          </p:cNvPr>
          <p:cNvSpPr/>
          <p:nvPr/>
        </p:nvSpPr>
        <p:spPr>
          <a:xfrm>
            <a:off x="2762036" y="1700784"/>
            <a:ext cx="512064" cy="219456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Tn5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9D287D2-974A-2849-7DBF-85BF1692D2FD}"/>
              </a:ext>
            </a:extLst>
          </p:cNvPr>
          <p:cNvSpPr txBox="1"/>
          <p:nvPr/>
        </p:nvSpPr>
        <p:spPr>
          <a:xfrm>
            <a:off x="5811011" y="2415276"/>
            <a:ext cx="175564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 dirty="0">
                <a:solidFill>
                  <a:srgbClr val="8B5CF6"/>
                </a:solidFill>
                <a:latin typeface="Aptos"/>
              </a:rPr>
              <a:t>DNA wrapped around histones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E1CE0A5-3D84-6911-B861-9F888F62D03F}"/>
              </a:ext>
            </a:extLst>
          </p:cNvPr>
          <p:cNvSpPr txBox="1"/>
          <p:nvPr/>
        </p:nvSpPr>
        <p:spPr>
          <a:xfrm>
            <a:off x="3084509" y="2413510"/>
            <a:ext cx="126187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 dirty="0">
                <a:solidFill>
                  <a:srgbClr val="0C7F75"/>
                </a:solidFill>
                <a:latin typeface="Aptos"/>
              </a:rPr>
              <a:t>exposed linker DNA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59F2703A-D3CD-8AF2-7156-28B94E6E4EC3}"/>
              </a:ext>
            </a:extLst>
          </p:cNvPr>
          <p:cNvSpPr/>
          <p:nvPr/>
        </p:nvSpPr>
        <p:spPr>
          <a:xfrm>
            <a:off x="859536" y="2916597"/>
            <a:ext cx="347472" cy="347472"/>
          </a:xfrm>
          <a:prstGeom prst="ellipse">
            <a:avLst/>
          </a:prstGeom>
          <a:solidFill>
            <a:srgbClr val="F26B5B"/>
          </a:solidFill>
          <a:ln w="1016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205FC3-9B98-1BA9-1159-42540128F367}"/>
              </a:ext>
            </a:extLst>
          </p:cNvPr>
          <p:cNvSpPr txBox="1"/>
          <p:nvPr/>
        </p:nvSpPr>
        <p:spPr>
          <a:xfrm>
            <a:off x="859536" y="2916597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3E23AC3-C4EA-4141-517B-489AED34D1E9}"/>
              </a:ext>
            </a:extLst>
          </p:cNvPr>
          <p:cNvSpPr txBox="1"/>
          <p:nvPr/>
        </p:nvSpPr>
        <p:spPr>
          <a:xfrm>
            <a:off x="1307592" y="2925404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F26B5B"/>
                </a:solidFill>
                <a:latin typeface="Aptos"/>
              </a:rPr>
              <a:t>FRAGMENTS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CCBC380A-FD72-39C5-A576-6BAD7644B1ED}"/>
              </a:ext>
            </a:extLst>
          </p:cNvPr>
          <p:cNvGrpSpPr/>
          <p:nvPr/>
        </p:nvGrpSpPr>
        <p:grpSpPr>
          <a:xfrm>
            <a:off x="3167042" y="3351276"/>
            <a:ext cx="576072" cy="64008"/>
            <a:chOff x="2921508" y="3351276"/>
            <a:chExt cx="576072" cy="64008"/>
          </a:xfrm>
        </p:grpSpPr>
        <p:cxnSp>
          <p:nvCxnSpPr>
            <p:cNvPr id="76" name="Connector 75">
              <a:extLst>
                <a:ext uri="{FF2B5EF4-FFF2-40B4-BE49-F238E27FC236}">
                  <a16:creationId xmlns:a16="http://schemas.microsoft.com/office/drawing/2014/main" id="{E1AD3213-E925-055E-99EE-64731BCDB3F6}"/>
                </a:ext>
              </a:extLst>
            </p:cNvPr>
            <p:cNvCxnSpPr/>
            <p:nvPr/>
          </p:nvCxnSpPr>
          <p:spPr>
            <a:xfrm>
              <a:off x="2956899" y="3383280"/>
              <a:ext cx="512064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>
              <a:extLst>
                <a:ext uri="{FF2B5EF4-FFF2-40B4-BE49-F238E27FC236}">
                  <a16:creationId xmlns:a16="http://schemas.microsoft.com/office/drawing/2014/main" id="{1AA3722E-1AE6-4FEB-026F-601E3625BBB6}"/>
                </a:ext>
              </a:extLst>
            </p:cNvPr>
            <p:cNvCxnSpPr/>
            <p:nvPr/>
          </p:nvCxnSpPr>
          <p:spPr>
            <a:xfrm>
              <a:off x="2953512" y="3383280"/>
              <a:ext cx="109728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>
              <a:extLst>
                <a:ext uri="{FF2B5EF4-FFF2-40B4-BE49-F238E27FC236}">
                  <a16:creationId xmlns:a16="http://schemas.microsoft.com/office/drawing/2014/main" id="{047AB988-8B68-5D3B-FD2E-4A26EC3E696E}"/>
                </a:ext>
              </a:extLst>
            </p:cNvPr>
            <p:cNvCxnSpPr/>
            <p:nvPr/>
          </p:nvCxnSpPr>
          <p:spPr>
            <a:xfrm>
              <a:off x="3355848" y="3383280"/>
              <a:ext cx="109728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9CE46F6D-EE63-C34E-7433-4252571B145B}"/>
                </a:ext>
              </a:extLst>
            </p:cNvPr>
            <p:cNvSpPr/>
            <p:nvPr/>
          </p:nvSpPr>
          <p:spPr>
            <a:xfrm>
              <a:off x="2921508" y="3351276"/>
              <a:ext cx="64008" cy="64008"/>
            </a:xfrm>
            <a:prstGeom prst="ellipse">
              <a:avLst/>
            </a:prstGeom>
            <a:solidFill>
              <a:srgbClr val="13233B"/>
            </a:solidFill>
            <a:ln w="3810">
              <a:solidFill>
                <a:srgbClr val="13233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E8799DF5-F4CC-FA2F-3B86-06A57AAFB186}"/>
                </a:ext>
              </a:extLst>
            </p:cNvPr>
            <p:cNvSpPr/>
            <p:nvPr/>
          </p:nvSpPr>
          <p:spPr>
            <a:xfrm>
              <a:off x="3433572" y="3351276"/>
              <a:ext cx="64008" cy="64008"/>
            </a:xfrm>
            <a:prstGeom prst="ellipse">
              <a:avLst/>
            </a:prstGeom>
            <a:solidFill>
              <a:srgbClr val="13233B"/>
            </a:solidFill>
            <a:ln w="3810">
              <a:solidFill>
                <a:srgbClr val="13233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6A83A8B7-CC3B-4135-1362-0C18D8D80B28}"/>
              </a:ext>
            </a:extLst>
          </p:cNvPr>
          <p:cNvGrpSpPr/>
          <p:nvPr/>
        </p:nvGrpSpPr>
        <p:grpSpPr>
          <a:xfrm>
            <a:off x="3694176" y="3520439"/>
            <a:ext cx="667512" cy="64008"/>
            <a:chOff x="4046220" y="3945635"/>
            <a:chExt cx="667512" cy="64008"/>
          </a:xfrm>
        </p:grpSpPr>
        <p:cxnSp>
          <p:nvCxnSpPr>
            <p:cNvPr id="86" name="Connector 85">
              <a:extLst>
                <a:ext uri="{FF2B5EF4-FFF2-40B4-BE49-F238E27FC236}">
                  <a16:creationId xmlns:a16="http://schemas.microsoft.com/office/drawing/2014/main" id="{79FA2054-8E5A-556B-C3AF-CD761A304DEB}"/>
                </a:ext>
              </a:extLst>
            </p:cNvPr>
            <p:cNvCxnSpPr/>
            <p:nvPr/>
          </p:nvCxnSpPr>
          <p:spPr>
            <a:xfrm>
              <a:off x="4078224" y="3977639"/>
              <a:ext cx="603504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 86">
              <a:extLst>
                <a:ext uri="{FF2B5EF4-FFF2-40B4-BE49-F238E27FC236}">
                  <a16:creationId xmlns:a16="http://schemas.microsoft.com/office/drawing/2014/main" id="{EFAF406C-72B2-9592-C87A-E173CADFF099}"/>
                </a:ext>
              </a:extLst>
            </p:cNvPr>
            <p:cNvCxnSpPr/>
            <p:nvPr/>
          </p:nvCxnSpPr>
          <p:spPr>
            <a:xfrm>
              <a:off x="4078224" y="3977639"/>
              <a:ext cx="109728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>
              <a:extLst>
                <a:ext uri="{FF2B5EF4-FFF2-40B4-BE49-F238E27FC236}">
                  <a16:creationId xmlns:a16="http://schemas.microsoft.com/office/drawing/2014/main" id="{BE7A25A5-485B-B4DF-9568-FC3F8FA775FD}"/>
                </a:ext>
              </a:extLst>
            </p:cNvPr>
            <p:cNvCxnSpPr/>
            <p:nvPr/>
          </p:nvCxnSpPr>
          <p:spPr>
            <a:xfrm>
              <a:off x="4572000" y="3977639"/>
              <a:ext cx="109728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E9E23BC3-24F3-3A7A-633B-ABD308D43126}"/>
                </a:ext>
              </a:extLst>
            </p:cNvPr>
            <p:cNvSpPr/>
            <p:nvPr/>
          </p:nvSpPr>
          <p:spPr>
            <a:xfrm>
              <a:off x="4046220" y="3945635"/>
              <a:ext cx="64008" cy="64008"/>
            </a:xfrm>
            <a:prstGeom prst="ellipse">
              <a:avLst/>
            </a:prstGeom>
            <a:solidFill>
              <a:srgbClr val="13233B"/>
            </a:solidFill>
            <a:ln w="3810">
              <a:solidFill>
                <a:srgbClr val="13233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C8A3F36B-18EA-917B-0317-957A3643BC28}"/>
                </a:ext>
              </a:extLst>
            </p:cNvPr>
            <p:cNvSpPr/>
            <p:nvPr/>
          </p:nvSpPr>
          <p:spPr>
            <a:xfrm>
              <a:off x="4649724" y="3945635"/>
              <a:ext cx="64008" cy="64008"/>
            </a:xfrm>
            <a:prstGeom prst="ellipse">
              <a:avLst/>
            </a:prstGeom>
            <a:solidFill>
              <a:srgbClr val="13233B"/>
            </a:solidFill>
            <a:ln w="3810">
              <a:solidFill>
                <a:srgbClr val="13233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96" name="Connector 95">
            <a:extLst>
              <a:ext uri="{FF2B5EF4-FFF2-40B4-BE49-F238E27FC236}">
                <a16:creationId xmlns:a16="http://schemas.microsoft.com/office/drawing/2014/main" id="{ED63F295-C890-9FE4-E766-30C1C0DD211D}"/>
              </a:ext>
            </a:extLst>
          </p:cNvPr>
          <p:cNvCxnSpPr/>
          <p:nvPr/>
        </p:nvCxnSpPr>
        <p:spPr>
          <a:xfrm>
            <a:off x="5728549" y="3858768"/>
            <a:ext cx="2029968" cy="0"/>
          </a:xfrm>
          <a:prstGeom prst="line">
            <a:avLst/>
          </a:prstGeom>
          <a:ln w="482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1ECD3363-9CEA-15F8-44B9-0F8E54059E83}"/>
              </a:ext>
            </a:extLst>
          </p:cNvPr>
          <p:cNvCxnSpPr/>
          <p:nvPr/>
        </p:nvCxnSpPr>
        <p:spPr>
          <a:xfrm>
            <a:off x="5728549" y="385876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>
            <a:extLst>
              <a:ext uri="{FF2B5EF4-FFF2-40B4-BE49-F238E27FC236}">
                <a16:creationId xmlns:a16="http://schemas.microsoft.com/office/drawing/2014/main" id="{E4ACBFAF-7FEE-115B-D205-FBF5B0E18D6E}"/>
              </a:ext>
            </a:extLst>
          </p:cNvPr>
          <p:cNvCxnSpPr/>
          <p:nvPr/>
        </p:nvCxnSpPr>
        <p:spPr>
          <a:xfrm>
            <a:off x="7648789" y="385876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>
            <a:extLst>
              <a:ext uri="{FF2B5EF4-FFF2-40B4-BE49-F238E27FC236}">
                <a16:creationId xmlns:a16="http://schemas.microsoft.com/office/drawing/2014/main" id="{9F754EF1-60A9-8449-FB65-2D3083D81C59}"/>
              </a:ext>
            </a:extLst>
          </p:cNvPr>
          <p:cNvSpPr/>
          <p:nvPr/>
        </p:nvSpPr>
        <p:spPr>
          <a:xfrm>
            <a:off x="5696545" y="382676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0EA3617A-2F12-7F6E-5AC5-7423E339F48C}"/>
              </a:ext>
            </a:extLst>
          </p:cNvPr>
          <p:cNvSpPr/>
          <p:nvPr/>
        </p:nvSpPr>
        <p:spPr>
          <a:xfrm>
            <a:off x="7726513" y="382676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Connector 100">
            <a:extLst>
              <a:ext uri="{FF2B5EF4-FFF2-40B4-BE49-F238E27FC236}">
                <a16:creationId xmlns:a16="http://schemas.microsoft.com/office/drawing/2014/main" id="{31C829DB-A4B8-4553-5C32-B878DEDD66E4}"/>
              </a:ext>
            </a:extLst>
          </p:cNvPr>
          <p:cNvCxnSpPr/>
          <p:nvPr/>
        </p:nvCxnSpPr>
        <p:spPr>
          <a:xfrm>
            <a:off x="4283964" y="3378708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>
            <a:extLst>
              <a:ext uri="{FF2B5EF4-FFF2-40B4-BE49-F238E27FC236}">
                <a16:creationId xmlns:a16="http://schemas.microsoft.com/office/drawing/2014/main" id="{8201EC3F-FB8D-42F5-E29E-CA0D1D585053}"/>
              </a:ext>
            </a:extLst>
          </p:cNvPr>
          <p:cNvCxnSpPr/>
          <p:nvPr/>
        </p:nvCxnSpPr>
        <p:spPr>
          <a:xfrm>
            <a:off x="4283964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211DA5C4-9592-E50E-E53F-F26A16331E09}"/>
              </a:ext>
            </a:extLst>
          </p:cNvPr>
          <p:cNvCxnSpPr/>
          <p:nvPr/>
        </p:nvCxnSpPr>
        <p:spPr>
          <a:xfrm>
            <a:off x="5527548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BDBF41B3-FF97-EBDA-C72A-0AD210AAE33A}"/>
              </a:ext>
            </a:extLst>
          </p:cNvPr>
          <p:cNvSpPr/>
          <p:nvPr/>
        </p:nvSpPr>
        <p:spPr>
          <a:xfrm>
            <a:off x="4251960" y="3346704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2C811F76-C071-C098-B518-A45A1F5F3F1B}"/>
              </a:ext>
            </a:extLst>
          </p:cNvPr>
          <p:cNvSpPr/>
          <p:nvPr/>
        </p:nvSpPr>
        <p:spPr>
          <a:xfrm>
            <a:off x="5605272" y="3346704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13D61EC6-1C16-F02D-396A-F38BB0755100}"/>
              </a:ext>
            </a:extLst>
          </p:cNvPr>
          <p:cNvSpPr/>
          <p:nvPr/>
        </p:nvSpPr>
        <p:spPr>
          <a:xfrm>
            <a:off x="859536" y="4553712"/>
            <a:ext cx="347472" cy="347472"/>
          </a:xfrm>
          <a:prstGeom prst="ellipse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E7243536-E7E5-3258-9FEE-C1F9FD533D02}"/>
              </a:ext>
            </a:extLst>
          </p:cNvPr>
          <p:cNvSpPr txBox="1"/>
          <p:nvPr/>
        </p:nvSpPr>
        <p:spPr>
          <a:xfrm>
            <a:off x="859536" y="4553712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4373F53-51BC-B6E1-97F1-13CFC46BDBEF}"/>
              </a:ext>
            </a:extLst>
          </p:cNvPr>
          <p:cNvSpPr txBox="1"/>
          <p:nvPr/>
        </p:nvSpPr>
        <p:spPr>
          <a:xfrm>
            <a:off x="1307592" y="4608576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B82F6"/>
                </a:solidFill>
                <a:latin typeface="Aptos"/>
              </a:rPr>
              <a:t>PEAK COUNTS</a:t>
            </a:r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D646C629-FB44-B8C4-EEB7-3B124E3AE578}"/>
              </a:ext>
            </a:extLst>
          </p:cNvPr>
          <p:cNvSpPr/>
          <p:nvPr/>
        </p:nvSpPr>
        <p:spPr>
          <a:xfrm>
            <a:off x="835489" y="5245948"/>
            <a:ext cx="1627631" cy="310895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750" b="1" dirty="0">
                <a:solidFill>
                  <a:srgbClr val="FFFFFF"/>
                </a:solidFill>
                <a:latin typeface="Aptos"/>
              </a:rPr>
              <a:t>HEIGHT = COUNT </a:t>
            </a:r>
            <a:r>
              <a:rPr lang="en-US" sz="750" b="1" dirty="0">
                <a:solidFill>
                  <a:srgbClr val="FFFFFF"/>
                </a:solidFill>
                <a:latin typeface="Aptos"/>
              </a:rPr>
              <a:t>   </a:t>
            </a:r>
          </a:p>
          <a:p>
            <a:pPr algn="ctr"/>
            <a:r>
              <a:rPr sz="750" b="1" dirty="0">
                <a:solidFill>
                  <a:srgbClr val="FFFFFF"/>
                </a:solidFill>
                <a:latin typeface="Aptos"/>
              </a:rPr>
              <a:t>COLOR = FRAGMENT </a:t>
            </a:r>
            <a:r>
              <a:rPr lang="en-US" sz="75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750" b="1" dirty="0">
                <a:solidFill>
                  <a:srgbClr val="FFFFFF"/>
                </a:solidFill>
                <a:latin typeface="Aptos"/>
              </a:rPr>
              <a:t>LENGTH</a:t>
            </a:r>
          </a:p>
        </p:txBody>
      </p:sp>
      <p:cxnSp>
        <p:nvCxnSpPr>
          <p:cNvPr id="110" name="Connector 109">
            <a:extLst>
              <a:ext uri="{FF2B5EF4-FFF2-40B4-BE49-F238E27FC236}">
                <a16:creationId xmlns:a16="http://schemas.microsoft.com/office/drawing/2014/main" id="{526ED27F-A3D6-81E7-E3AF-1C391BE61552}"/>
              </a:ext>
            </a:extLst>
          </p:cNvPr>
          <p:cNvCxnSpPr/>
          <p:nvPr/>
        </p:nvCxnSpPr>
        <p:spPr>
          <a:xfrm>
            <a:off x="2697480" y="5696712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9709092-F13A-C190-47D9-82381DEEFDB2}"/>
              </a:ext>
            </a:extLst>
          </p:cNvPr>
          <p:cNvSpPr txBox="1"/>
          <p:nvPr/>
        </p:nvSpPr>
        <p:spPr>
          <a:xfrm>
            <a:off x="2395728" y="5614416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0</a:t>
            </a:r>
          </a:p>
        </p:txBody>
      </p:sp>
      <p:cxnSp>
        <p:nvCxnSpPr>
          <p:cNvPr id="112" name="Connector 111">
            <a:extLst>
              <a:ext uri="{FF2B5EF4-FFF2-40B4-BE49-F238E27FC236}">
                <a16:creationId xmlns:a16="http://schemas.microsoft.com/office/drawing/2014/main" id="{A8D59B87-E33D-3BBA-F722-614DDAA38EF5}"/>
              </a:ext>
            </a:extLst>
          </p:cNvPr>
          <p:cNvCxnSpPr/>
          <p:nvPr/>
        </p:nvCxnSpPr>
        <p:spPr>
          <a:xfrm>
            <a:off x="2697480" y="5385816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945B587-26B8-E9BA-D689-C94E2CA820C5}"/>
              </a:ext>
            </a:extLst>
          </p:cNvPr>
          <p:cNvSpPr txBox="1"/>
          <p:nvPr/>
        </p:nvSpPr>
        <p:spPr>
          <a:xfrm>
            <a:off x="2395728" y="5303520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2</a:t>
            </a:r>
          </a:p>
        </p:txBody>
      </p: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37B0694E-28BA-91C5-4B1A-28D2910A948C}"/>
              </a:ext>
            </a:extLst>
          </p:cNvPr>
          <p:cNvCxnSpPr/>
          <p:nvPr/>
        </p:nvCxnSpPr>
        <p:spPr>
          <a:xfrm>
            <a:off x="2697480" y="5074920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EF5B3716-A39B-C392-071D-1F9DBEF11C68}"/>
              </a:ext>
            </a:extLst>
          </p:cNvPr>
          <p:cNvSpPr txBox="1"/>
          <p:nvPr/>
        </p:nvSpPr>
        <p:spPr>
          <a:xfrm>
            <a:off x="2395728" y="4992624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4</a:t>
            </a:r>
          </a:p>
        </p:txBody>
      </p:sp>
      <p:cxnSp>
        <p:nvCxnSpPr>
          <p:cNvPr id="116" name="Connector 115">
            <a:extLst>
              <a:ext uri="{FF2B5EF4-FFF2-40B4-BE49-F238E27FC236}">
                <a16:creationId xmlns:a16="http://schemas.microsoft.com/office/drawing/2014/main" id="{DB21799F-A69E-7AC4-352F-BDB2BD5C5691}"/>
              </a:ext>
            </a:extLst>
          </p:cNvPr>
          <p:cNvCxnSpPr/>
          <p:nvPr/>
        </p:nvCxnSpPr>
        <p:spPr>
          <a:xfrm>
            <a:off x="2697480" y="4764024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AAF2FAF4-463B-B505-2775-5964351CEFC2}"/>
              </a:ext>
            </a:extLst>
          </p:cNvPr>
          <p:cNvSpPr txBox="1"/>
          <p:nvPr/>
        </p:nvSpPr>
        <p:spPr>
          <a:xfrm>
            <a:off x="2395728" y="4681728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6</a:t>
            </a:r>
          </a:p>
        </p:txBody>
      </p:sp>
      <p:cxnSp>
        <p:nvCxnSpPr>
          <p:cNvPr id="118" name="Connector 117">
            <a:extLst>
              <a:ext uri="{FF2B5EF4-FFF2-40B4-BE49-F238E27FC236}">
                <a16:creationId xmlns:a16="http://schemas.microsoft.com/office/drawing/2014/main" id="{8703776A-39E1-B89F-A1E6-BF2F942B4CFE}"/>
              </a:ext>
            </a:extLst>
          </p:cNvPr>
          <p:cNvCxnSpPr/>
          <p:nvPr/>
        </p:nvCxnSpPr>
        <p:spPr>
          <a:xfrm flipV="1">
            <a:off x="2697480" y="4764024"/>
            <a:ext cx="0" cy="932688"/>
          </a:xfrm>
          <a:prstGeom prst="line">
            <a:avLst/>
          </a:prstGeom>
          <a:ln w="1270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066DE099-BB64-75DF-98F8-FD7FBE424518}"/>
              </a:ext>
            </a:extLst>
          </p:cNvPr>
          <p:cNvSpPr/>
          <p:nvPr/>
        </p:nvSpPr>
        <p:spPr>
          <a:xfrm>
            <a:off x="2788920" y="4901184"/>
            <a:ext cx="2103120" cy="795528"/>
          </a:xfrm>
          <a:prstGeom prst="rect">
            <a:avLst/>
          </a:prstGeom>
          <a:solidFill>
            <a:srgbClr val="F4B942"/>
          </a:solidFill>
          <a:ln w="1016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70A5BA2-1574-FF8D-8CCD-CA68D0D4C6BA}"/>
              </a:ext>
            </a:extLst>
          </p:cNvPr>
          <p:cNvSpPr txBox="1"/>
          <p:nvPr/>
        </p:nvSpPr>
        <p:spPr>
          <a:xfrm>
            <a:off x="2788920" y="4700016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4E86BC-899D-790A-53BD-3061671A421D}"/>
              </a:ext>
            </a:extLst>
          </p:cNvPr>
          <p:cNvSpPr txBox="1"/>
          <p:nvPr/>
        </p:nvSpPr>
        <p:spPr>
          <a:xfrm>
            <a:off x="2788920" y="5742432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8F7FCA-596F-A7F3-2263-DC4B4A742BD6}"/>
              </a:ext>
            </a:extLst>
          </p:cNvPr>
          <p:cNvSpPr/>
          <p:nvPr/>
        </p:nvSpPr>
        <p:spPr>
          <a:xfrm>
            <a:off x="5532120" y="5084064"/>
            <a:ext cx="2377440" cy="612648"/>
          </a:xfrm>
          <a:prstGeom prst="rect">
            <a:avLst/>
          </a:prstGeom>
          <a:solidFill>
            <a:srgbClr val="F4B942"/>
          </a:solidFill>
          <a:ln w="1016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4F85FAB-0DDB-18F4-9D3B-FBBBD8343DE7}"/>
              </a:ext>
            </a:extLst>
          </p:cNvPr>
          <p:cNvSpPr txBox="1"/>
          <p:nvPr/>
        </p:nvSpPr>
        <p:spPr>
          <a:xfrm>
            <a:off x="5532120" y="4855464"/>
            <a:ext cx="23774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071C369-64CB-5A90-9613-EE3E9453014E}"/>
              </a:ext>
            </a:extLst>
          </p:cNvPr>
          <p:cNvSpPr txBox="1"/>
          <p:nvPr/>
        </p:nvSpPr>
        <p:spPr>
          <a:xfrm>
            <a:off x="5532120" y="5742432"/>
            <a:ext cx="23774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2</a:t>
            </a: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FF1C236A-BFB8-CE77-54C6-789E50A2046F}"/>
              </a:ext>
            </a:extLst>
          </p:cNvPr>
          <p:cNvSpPr/>
          <p:nvPr/>
        </p:nvSpPr>
        <p:spPr>
          <a:xfrm>
            <a:off x="8641080" y="5230368"/>
            <a:ext cx="2148840" cy="466344"/>
          </a:xfrm>
          <a:prstGeom prst="rect">
            <a:avLst/>
          </a:prstGeom>
          <a:solidFill>
            <a:srgbClr val="F4B942"/>
          </a:solidFill>
          <a:ln w="1016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41292A6F-FE66-AE2B-4419-E09C9C9AB7EA}"/>
              </a:ext>
            </a:extLst>
          </p:cNvPr>
          <p:cNvSpPr txBox="1"/>
          <p:nvPr/>
        </p:nvSpPr>
        <p:spPr>
          <a:xfrm>
            <a:off x="8641080" y="501091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3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4F88D13-39CF-B292-EE77-62A596546A16}"/>
              </a:ext>
            </a:extLst>
          </p:cNvPr>
          <p:cNvSpPr txBox="1"/>
          <p:nvPr/>
        </p:nvSpPr>
        <p:spPr>
          <a:xfrm>
            <a:off x="8641080" y="574243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3</a:t>
            </a:r>
          </a:p>
        </p:txBody>
      </p:sp>
      <p:sp>
        <p:nvSpPr>
          <p:cNvPr id="128" name="Rounded Rectangle 127">
            <a:extLst>
              <a:ext uri="{FF2B5EF4-FFF2-40B4-BE49-F238E27FC236}">
                <a16:creationId xmlns:a16="http://schemas.microsoft.com/office/drawing/2014/main" id="{F94BD5CD-BE32-B449-89C2-F2BA6F3D6B51}"/>
              </a:ext>
            </a:extLst>
          </p:cNvPr>
          <p:cNvSpPr/>
          <p:nvPr/>
        </p:nvSpPr>
        <p:spPr>
          <a:xfrm>
            <a:off x="1956816" y="6144768"/>
            <a:ext cx="8275320" cy="265176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50" b="1" dirty="0">
                <a:solidFill>
                  <a:srgbClr val="FFFFFF"/>
                </a:solidFill>
                <a:latin typeface="Aptos"/>
              </a:rPr>
              <a:t>P1: 5   |   P2: 4   |   P3: 3</a:t>
            </a:r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6685CEB5-87DB-DDBF-F787-9CFB82B11B44}"/>
              </a:ext>
            </a:extLst>
          </p:cNvPr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A399BD10-8435-9FDF-D569-5B194D016E29}"/>
              </a:ext>
            </a:extLst>
          </p:cNvPr>
          <p:cNvGrpSpPr/>
          <p:nvPr/>
        </p:nvGrpSpPr>
        <p:grpSpPr>
          <a:xfrm>
            <a:off x="4739024" y="1878727"/>
            <a:ext cx="639348" cy="521573"/>
            <a:chOff x="10671413" y="1888053"/>
            <a:chExt cx="639348" cy="521573"/>
          </a:xfrm>
        </p:grpSpPr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76B0DEBD-4320-B96F-9723-873E705381D1}"/>
                </a:ext>
              </a:extLst>
            </p:cNvPr>
            <p:cNvSpPr/>
            <p:nvPr/>
          </p:nvSpPr>
          <p:spPr>
            <a:xfrm rot="1080000">
              <a:off x="10730301" y="1946940"/>
              <a:ext cx="151424" cy="403799"/>
            </a:xfrm>
            <a:prstGeom prst="ellipse">
              <a:avLst/>
            </a:prstGeom>
            <a:solidFill>
              <a:srgbClr val="6D43D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5D41A573-CD77-6659-3B49-2F8B57C54131}"/>
                </a:ext>
              </a:extLst>
            </p:cNvPr>
            <p:cNvSpPr/>
            <p:nvPr/>
          </p:nvSpPr>
          <p:spPr>
            <a:xfrm rot="1080000">
              <a:off x="10852282" y="1946940"/>
              <a:ext cx="151424" cy="403799"/>
            </a:xfrm>
            <a:prstGeom prst="ellipse">
              <a:avLst/>
            </a:prstGeom>
            <a:solidFill>
              <a:srgbClr val="8B5CF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FCBC74D3-AA73-5AE1-8223-AD5E6E086A64}"/>
                </a:ext>
              </a:extLst>
            </p:cNvPr>
            <p:cNvSpPr/>
            <p:nvPr/>
          </p:nvSpPr>
          <p:spPr>
            <a:xfrm rot="1080000">
              <a:off x="10978469" y="1946940"/>
              <a:ext cx="151424" cy="403799"/>
            </a:xfrm>
            <a:prstGeom prst="ellipse">
              <a:avLst/>
            </a:prstGeom>
            <a:solidFill>
              <a:srgbClr val="7650DE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58D39D93-2D21-23B7-9B85-0CF2B63CC293}"/>
                </a:ext>
              </a:extLst>
            </p:cNvPr>
            <p:cNvSpPr/>
            <p:nvPr/>
          </p:nvSpPr>
          <p:spPr>
            <a:xfrm rot="1080000">
              <a:off x="11100450" y="1946940"/>
              <a:ext cx="151424" cy="403799"/>
            </a:xfrm>
            <a:prstGeom prst="ellipse">
              <a:avLst/>
            </a:prstGeom>
            <a:solidFill>
              <a:srgbClr val="8B5CF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FCE07DA-F816-505B-BC94-98485E9AA236}"/>
                </a:ext>
              </a:extLst>
            </p:cNvPr>
            <p:cNvSpPr/>
            <p:nvPr/>
          </p:nvSpPr>
          <p:spPr>
            <a:xfrm rot="540000">
              <a:off x="10671413" y="1888053"/>
              <a:ext cx="639348" cy="521573"/>
            </a:xfrm>
            <a:prstGeom prst="ellipse">
              <a:avLst/>
            </a:prstGeom>
            <a:noFill/>
            <a:ln w="18415">
              <a:solidFill>
                <a:srgbClr val="65464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40" name="Connector 47">
              <a:extLst>
                <a:ext uri="{FF2B5EF4-FFF2-40B4-BE49-F238E27FC236}">
                  <a16:creationId xmlns:a16="http://schemas.microsoft.com/office/drawing/2014/main" id="{D64378A5-2909-88E3-15CB-9FA4D993B7AA}"/>
                </a:ext>
              </a:extLst>
            </p:cNvPr>
            <p:cNvCxnSpPr/>
            <p:nvPr/>
          </p:nvCxnSpPr>
          <p:spPr>
            <a:xfrm flipV="1">
              <a:off x="10705063" y="2064715"/>
              <a:ext cx="572049" cy="185074"/>
            </a:xfrm>
            <a:prstGeom prst="line">
              <a:avLst/>
            </a:prstGeom>
            <a:ln w="15875">
              <a:solidFill>
                <a:srgbClr val="65464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67BDB7C-6FD9-10B2-CC37-DEFC5F1565A0}"/>
              </a:ext>
            </a:extLst>
          </p:cNvPr>
          <p:cNvGrpSpPr/>
          <p:nvPr/>
        </p:nvGrpSpPr>
        <p:grpSpPr>
          <a:xfrm>
            <a:off x="4088384" y="2029291"/>
            <a:ext cx="237745" cy="265176"/>
            <a:chOff x="4672583" y="2020824"/>
            <a:chExt cx="237745" cy="265176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7325355B-183F-DE0A-CA40-4592EA76814E}"/>
                </a:ext>
              </a:extLst>
            </p:cNvPr>
            <p:cNvSpPr/>
            <p:nvPr/>
          </p:nvSpPr>
          <p:spPr>
            <a:xfrm>
              <a:off x="4672583" y="2020824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A7BF5A4E-CC40-66FE-7FB8-CC9E9682FC27}"/>
                </a:ext>
              </a:extLst>
            </p:cNvPr>
            <p:cNvSpPr/>
            <p:nvPr/>
          </p:nvSpPr>
          <p:spPr>
            <a:xfrm>
              <a:off x="4764024" y="2057400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46" name="Connector 53">
              <a:extLst>
                <a:ext uri="{FF2B5EF4-FFF2-40B4-BE49-F238E27FC236}">
                  <a16:creationId xmlns:a16="http://schemas.microsoft.com/office/drawing/2014/main" id="{14A2B877-6D69-B342-58B6-5983701793E4}"/>
                </a:ext>
              </a:extLst>
            </p:cNvPr>
            <p:cNvCxnSpPr/>
            <p:nvPr/>
          </p:nvCxnSpPr>
          <p:spPr>
            <a:xfrm>
              <a:off x="4791455" y="2157984"/>
              <a:ext cx="0" cy="128016"/>
            </a:xfrm>
            <a:prstGeom prst="line">
              <a:avLst/>
            </a:prstGeom>
            <a:ln w="1524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Connector 100">
            <a:extLst>
              <a:ext uri="{FF2B5EF4-FFF2-40B4-BE49-F238E27FC236}">
                <a16:creationId xmlns:a16="http://schemas.microsoft.com/office/drawing/2014/main" id="{76CE2D8A-EE13-07D4-5742-67B36B11B53D}"/>
              </a:ext>
            </a:extLst>
          </p:cNvPr>
          <p:cNvCxnSpPr/>
          <p:nvPr/>
        </p:nvCxnSpPr>
        <p:spPr>
          <a:xfrm>
            <a:off x="7712973" y="3378708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01">
            <a:extLst>
              <a:ext uri="{FF2B5EF4-FFF2-40B4-BE49-F238E27FC236}">
                <a16:creationId xmlns:a16="http://schemas.microsoft.com/office/drawing/2014/main" id="{E7C15A7A-F1C7-994D-F6EA-8E456050A50B}"/>
              </a:ext>
            </a:extLst>
          </p:cNvPr>
          <p:cNvCxnSpPr/>
          <p:nvPr/>
        </p:nvCxnSpPr>
        <p:spPr>
          <a:xfrm>
            <a:off x="7712973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02">
            <a:extLst>
              <a:ext uri="{FF2B5EF4-FFF2-40B4-BE49-F238E27FC236}">
                <a16:creationId xmlns:a16="http://schemas.microsoft.com/office/drawing/2014/main" id="{699A64FB-51FF-5AF3-BE06-8BE845AF65FB}"/>
              </a:ext>
            </a:extLst>
          </p:cNvPr>
          <p:cNvCxnSpPr/>
          <p:nvPr/>
        </p:nvCxnSpPr>
        <p:spPr>
          <a:xfrm>
            <a:off x="8956557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95858177-5515-D4FC-666D-FE681A1DC65D}"/>
              </a:ext>
            </a:extLst>
          </p:cNvPr>
          <p:cNvSpPr/>
          <p:nvPr/>
        </p:nvSpPr>
        <p:spPr>
          <a:xfrm>
            <a:off x="7680969" y="3346704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AB629C03-C735-C90B-EE67-25315F76AA2D}"/>
              </a:ext>
            </a:extLst>
          </p:cNvPr>
          <p:cNvSpPr/>
          <p:nvPr/>
        </p:nvSpPr>
        <p:spPr>
          <a:xfrm>
            <a:off x="9034281" y="3346704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00">
            <a:extLst>
              <a:ext uri="{FF2B5EF4-FFF2-40B4-BE49-F238E27FC236}">
                <a16:creationId xmlns:a16="http://schemas.microsoft.com/office/drawing/2014/main" id="{028AFB95-B4A2-D478-5D6D-9364B322738E}"/>
              </a:ext>
            </a:extLst>
          </p:cNvPr>
          <p:cNvCxnSpPr/>
          <p:nvPr/>
        </p:nvCxnSpPr>
        <p:spPr>
          <a:xfrm>
            <a:off x="9059175" y="3573443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01">
            <a:extLst>
              <a:ext uri="{FF2B5EF4-FFF2-40B4-BE49-F238E27FC236}">
                <a16:creationId xmlns:a16="http://schemas.microsoft.com/office/drawing/2014/main" id="{56435E59-1ECF-077A-33FE-136B8CBBEDCF}"/>
              </a:ext>
            </a:extLst>
          </p:cNvPr>
          <p:cNvCxnSpPr/>
          <p:nvPr/>
        </p:nvCxnSpPr>
        <p:spPr>
          <a:xfrm>
            <a:off x="9059175" y="3573443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02">
            <a:extLst>
              <a:ext uri="{FF2B5EF4-FFF2-40B4-BE49-F238E27FC236}">
                <a16:creationId xmlns:a16="http://schemas.microsoft.com/office/drawing/2014/main" id="{35522634-D0D6-E4DE-D335-9D1B73E16A2A}"/>
              </a:ext>
            </a:extLst>
          </p:cNvPr>
          <p:cNvCxnSpPr/>
          <p:nvPr/>
        </p:nvCxnSpPr>
        <p:spPr>
          <a:xfrm>
            <a:off x="10302759" y="3573443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Oval 156">
            <a:extLst>
              <a:ext uri="{FF2B5EF4-FFF2-40B4-BE49-F238E27FC236}">
                <a16:creationId xmlns:a16="http://schemas.microsoft.com/office/drawing/2014/main" id="{47A4B78C-8310-A9E9-656F-C18C60F76494}"/>
              </a:ext>
            </a:extLst>
          </p:cNvPr>
          <p:cNvSpPr/>
          <p:nvPr/>
        </p:nvSpPr>
        <p:spPr>
          <a:xfrm>
            <a:off x="9027171" y="3541439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C1A355BA-A155-D0FF-2039-8B5817F6778C}"/>
              </a:ext>
            </a:extLst>
          </p:cNvPr>
          <p:cNvSpPr/>
          <p:nvPr/>
        </p:nvSpPr>
        <p:spPr>
          <a:xfrm>
            <a:off x="10380483" y="3541439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E75BB669-6AE2-491B-392C-F78209A3AFA0}"/>
              </a:ext>
            </a:extLst>
          </p:cNvPr>
          <p:cNvGrpSpPr/>
          <p:nvPr/>
        </p:nvGrpSpPr>
        <p:grpSpPr>
          <a:xfrm>
            <a:off x="8989903" y="2012893"/>
            <a:ext cx="237745" cy="265176"/>
            <a:chOff x="4672583" y="2020824"/>
            <a:chExt cx="237745" cy="265176"/>
          </a:xfrm>
        </p:grpSpPr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C0D750C5-D5B4-B214-B5AC-09B97376AD8D}"/>
                </a:ext>
              </a:extLst>
            </p:cNvPr>
            <p:cNvSpPr/>
            <p:nvPr/>
          </p:nvSpPr>
          <p:spPr>
            <a:xfrm>
              <a:off x="4672583" y="2020824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1773AD43-0BED-E6EF-CE97-8166F2F45880}"/>
                </a:ext>
              </a:extLst>
            </p:cNvPr>
            <p:cNvSpPr/>
            <p:nvPr/>
          </p:nvSpPr>
          <p:spPr>
            <a:xfrm>
              <a:off x="4764024" y="2057400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62" name="Connector 53">
              <a:extLst>
                <a:ext uri="{FF2B5EF4-FFF2-40B4-BE49-F238E27FC236}">
                  <a16:creationId xmlns:a16="http://schemas.microsoft.com/office/drawing/2014/main" id="{5B3CC3C6-9E3D-CFB6-062D-EE57261CF7C9}"/>
                </a:ext>
              </a:extLst>
            </p:cNvPr>
            <p:cNvCxnSpPr/>
            <p:nvPr/>
          </p:nvCxnSpPr>
          <p:spPr>
            <a:xfrm>
              <a:off x="4791455" y="2157984"/>
              <a:ext cx="0" cy="128016"/>
            </a:xfrm>
            <a:prstGeom prst="line">
              <a:avLst/>
            </a:prstGeom>
            <a:ln w="1524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57584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SPATIAL ATAC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3233B"/>
                </a:solidFill>
                <a:latin typeface="Aptos Display"/>
              </a:rPr>
              <a:t>Spatial ATAC maps open chromatin across a tissue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8368" y="1042415"/>
            <a:ext cx="10924032" cy="358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0" dirty="0">
                <a:solidFill>
                  <a:srgbClr val="52627A"/>
                </a:solidFill>
                <a:latin typeface="Aptos"/>
              </a:rPr>
              <a:t>The tissue is divided into a grid of barcoded spots — each spot collects ATAC signal from the cells it covers.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86384" y="1645920"/>
            <a:ext cx="5943600" cy="42245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24128" y="1847088"/>
            <a:ext cx="53949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Tissue section on a barcoded grid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37360" y="234086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1865376" y="246888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2157984" y="252374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975104" y="276148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2560320" y="234086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2706624" y="254203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2962656" y="270662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3383279" y="2340864"/>
            <a:ext cx="749808" cy="749808"/>
          </a:xfrm>
          <a:prstGeom prst="rect">
            <a:avLst/>
          </a:prstGeom>
          <a:solidFill>
            <a:srgbClr val="FFFFFF"/>
          </a:solidFill>
          <a:ln w="3175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3493008" y="2450592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3803904" y="248716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529584" y="276148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3803904" y="274320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4206240" y="234086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334255" y="246888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4626864" y="252374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4443983" y="276148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5029200" y="234086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175504" y="2542032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5431536" y="270662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737360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1865376" y="329184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2157984" y="334670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1975104" y="358444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2560320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2706624" y="336499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2962656" y="352958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3383279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3511296" y="329184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3803904" y="334670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3621024" y="358444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4206240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4334255" y="329184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4626864" y="334670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4443983" y="358444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5029200" y="316382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5175504" y="3364992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5431536" y="352958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1737360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1883664" y="4187951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139696" y="435254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2560320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2688336" y="4114799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2980944" y="4169663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2798063" y="4407407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3383279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3529584" y="4187951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3785615" y="435254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4206240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4334255" y="4114799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4626864" y="4169663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4443983" y="4407407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5029200" y="3986783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5138928" y="4096511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5449824" y="4133087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5175504" y="4407407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5449824" y="438912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1737360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1883664" y="501091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2139696" y="517550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2560320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2670048" y="491947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2980944" y="495604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2706624" y="5230368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2980944" y="5212080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3383279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3529584" y="501091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3785615" y="517550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4206240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4334255" y="4937759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4626864" y="4992624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4443983" y="523036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029200" y="4809744"/>
            <a:ext cx="74980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5157216" y="4937759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5449824" y="4992624"/>
            <a:ext cx="201168" cy="20116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5266944" y="523036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1190754" y="5632704"/>
            <a:ext cx="3520440" cy="23774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52627A"/>
                </a:solidFill>
                <a:latin typeface="Aptos"/>
              </a:rPr>
              <a:t>each square = one spot with its own spot barcode</a:t>
            </a:r>
          </a:p>
        </p:txBody>
      </p:sp>
      <p:sp>
        <p:nvSpPr>
          <p:cNvPr id="155" name="Oval 154"/>
          <p:cNvSpPr/>
          <p:nvPr/>
        </p:nvSpPr>
        <p:spPr>
          <a:xfrm>
            <a:off x="4626864" y="5660136"/>
            <a:ext cx="164592" cy="164592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4828032" y="5632704"/>
            <a:ext cx="566928" cy="23774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T cell</a:t>
            </a:r>
          </a:p>
        </p:txBody>
      </p:sp>
      <p:sp>
        <p:nvSpPr>
          <p:cNvPr id="157" name="Oval 156"/>
          <p:cNvSpPr/>
          <p:nvPr/>
        </p:nvSpPr>
        <p:spPr>
          <a:xfrm>
            <a:off x="5468112" y="5660136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5669280" y="5632704"/>
            <a:ext cx="566928" cy="23774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B cell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7059168" y="1645920"/>
            <a:ext cx="4480560" cy="4224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7315200" y="1847088"/>
            <a:ext cx="3931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How to read the grid</a:t>
            </a:r>
          </a:p>
        </p:txBody>
      </p:sp>
      <p:sp>
        <p:nvSpPr>
          <p:cNvPr id="161" name="Oval 160"/>
          <p:cNvSpPr/>
          <p:nvPr/>
        </p:nvSpPr>
        <p:spPr>
          <a:xfrm>
            <a:off x="7333488" y="2359152"/>
            <a:ext cx="457200" cy="45720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7333488" y="236829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55279" y="2322576"/>
            <a:ext cx="3429000" cy="31239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13233B"/>
                </a:solidFill>
                <a:latin typeface="Aptos"/>
              </a:rPr>
              <a:t>One spot barcode per </a:t>
            </a:r>
            <a:r>
              <a:rPr lang="en-US" sz="1550" b="1" dirty="0">
                <a:solidFill>
                  <a:srgbClr val="13233B"/>
                </a:solidFill>
                <a:latin typeface="Aptos"/>
              </a:rPr>
              <a:t>spot (</a:t>
            </a:r>
            <a:r>
              <a:rPr sz="1550" b="1" dirty="0">
                <a:solidFill>
                  <a:srgbClr val="13233B"/>
                </a:solidFill>
                <a:latin typeface="Aptos"/>
              </a:rPr>
              <a:t>square</a:t>
            </a:r>
            <a:r>
              <a:rPr lang="en-US" sz="1550" b="1" dirty="0">
                <a:solidFill>
                  <a:srgbClr val="13233B"/>
                </a:solidFill>
                <a:latin typeface="Aptos"/>
              </a:rPr>
              <a:t>)</a:t>
            </a:r>
            <a:endParaRPr sz="1550" b="1" dirty="0">
              <a:solidFill>
                <a:srgbClr val="13233B"/>
              </a:solidFill>
              <a:latin typeface="Aptos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7955279" y="2633472"/>
            <a:ext cx="34290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52627A"/>
                </a:solidFill>
                <a:latin typeface="Aptos"/>
              </a:rPr>
              <a:t>every square of the grid carries its own DNA barcode</a:t>
            </a:r>
          </a:p>
        </p:txBody>
      </p:sp>
      <p:sp>
        <p:nvSpPr>
          <p:cNvPr id="165" name="Oval 164"/>
          <p:cNvSpPr/>
          <p:nvPr/>
        </p:nvSpPr>
        <p:spPr>
          <a:xfrm>
            <a:off x="7333488" y="3474720"/>
            <a:ext cx="457200" cy="457200"/>
          </a:xfrm>
          <a:prstGeom prst="ellipse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7333488" y="3483863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79" y="3438144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3233B"/>
                </a:solidFill>
                <a:latin typeface="Aptos"/>
              </a:rPr>
              <a:t>Cells sit inside spots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955279" y="3749039"/>
            <a:ext cx="34290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dirty="0">
                <a:solidFill>
                  <a:srgbClr val="52627A"/>
                </a:solidFill>
                <a:latin typeface="Aptos"/>
              </a:rPr>
              <a:t>a spot usually covers several cells — here two types, blue and green</a:t>
            </a:r>
          </a:p>
        </p:txBody>
      </p:sp>
      <p:sp>
        <p:nvSpPr>
          <p:cNvPr id="169" name="Oval 168"/>
          <p:cNvSpPr/>
          <p:nvPr/>
        </p:nvSpPr>
        <p:spPr>
          <a:xfrm>
            <a:off x="7333488" y="4590288"/>
            <a:ext cx="457200" cy="45720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7333488" y="4599431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955279" y="4553712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3233B"/>
                </a:solidFill>
                <a:latin typeface="Aptos"/>
              </a:rPr>
              <a:t>One profile per spot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955279" y="4864607"/>
            <a:ext cx="342900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2627A"/>
                </a:solidFill>
                <a:latin typeface="Aptos"/>
              </a:rPr>
              <a:t>each spot reports a single ATAC peak-count profile for all its cells together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264408" y="5998464"/>
            <a:ext cx="5669280" cy="365760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RESULT: ATAC PEAK COUNTS AT EVERY SPOT IN THE TISSUE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9CA9BC-4CED-D236-8633-F02CFBF72483}"/>
              </a:ext>
            </a:extLst>
          </p:cNvPr>
          <p:cNvSpPr txBox="1"/>
          <p:nvPr/>
        </p:nvSpPr>
        <p:spPr>
          <a:xfrm>
            <a:off x="11137392" y="310896"/>
            <a:ext cx="4114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52627A"/>
                </a:solidFill>
                <a:latin typeface="Aptos"/>
              </a:rPr>
              <a:t>0</a:t>
            </a:r>
            <a:r>
              <a:rPr lang="en-US" sz="1000" b="1" i="0" dirty="0">
                <a:solidFill>
                  <a:srgbClr val="52627A"/>
                </a:solidFill>
                <a:latin typeface="Aptos"/>
              </a:rPr>
              <a:t>4</a:t>
            </a:r>
            <a:endParaRPr sz="1000" b="1" i="0" dirty="0">
              <a:solidFill>
                <a:srgbClr val="52627A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WHY DECONVOLUTION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4893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13233B"/>
                </a:solidFill>
                <a:latin typeface="Aptos Display"/>
              </a:rPr>
              <a:t>Spots are bigger than cells, so each spot reports blend</a:t>
            </a:r>
            <a:r>
              <a:rPr lang="en-US" sz="2700" b="1" dirty="0">
                <a:solidFill>
                  <a:srgbClr val="13233B"/>
                </a:solidFill>
                <a:latin typeface="Aptos Display"/>
              </a:rPr>
              <a:t>ed peak counts</a:t>
            </a:r>
            <a:endParaRPr sz="2700" b="1" dirty="0">
              <a:solidFill>
                <a:srgbClr val="13233B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042415"/>
            <a:ext cx="10826496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52627A"/>
                </a:solidFill>
                <a:latin typeface="Aptos"/>
              </a:rPr>
              <a:t>A spot is about 50 µm across; a cell is about 10 µm. Every cell under a spot shares the same spot barcode.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00784"/>
            <a:ext cx="4846320" cy="420624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883664"/>
            <a:ext cx="43891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One spot under the microscope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778508" y="5230368"/>
            <a:ext cx="2606040" cy="0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778508" y="5175504"/>
            <a:ext cx="0" cy="109728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384548" y="5175504"/>
            <a:ext cx="0" cy="109728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377440" y="5285232"/>
            <a:ext cx="1417320" cy="23774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2627A"/>
                </a:solidFill>
                <a:latin typeface="Aptos"/>
              </a:rPr>
              <a:t>spot ≈ 50 µm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98448" y="5541264"/>
            <a:ext cx="3566160" cy="292608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OFTEN ~10 CELLS SHARE ONE SPOT BARCODE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70448" y="1700784"/>
            <a:ext cx="5660136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0" y="1883664"/>
            <a:ext cx="31089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What one spot reports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32520" y="2231136"/>
            <a:ext cx="2697480" cy="292608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ONE BLENDED PROFILE PER SPOT BARCODE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2651760"/>
            <a:ext cx="365760" cy="365760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6387998" y="2772459"/>
            <a:ext cx="98755" cy="9875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63640" y="2651760"/>
            <a:ext cx="365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39" name="Oval 38"/>
          <p:cNvSpPr/>
          <p:nvPr/>
        </p:nvSpPr>
        <p:spPr>
          <a:xfrm>
            <a:off x="6720840" y="2651760"/>
            <a:ext cx="365760" cy="365760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845198" y="2772459"/>
            <a:ext cx="98755" cy="9875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20840" y="2651760"/>
            <a:ext cx="365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42" name="Oval 41"/>
          <p:cNvSpPr/>
          <p:nvPr/>
        </p:nvSpPr>
        <p:spPr>
          <a:xfrm>
            <a:off x="7178040" y="2651760"/>
            <a:ext cx="365760" cy="365760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302398" y="2772459"/>
            <a:ext cx="98755" cy="9875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178040" y="2651760"/>
            <a:ext cx="365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45" name="Oval 44"/>
          <p:cNvSpPr/>
          <p:nvPr/>
        </p:nvSpPr>
        <p:spPr>
          <a:xfrm>
            <a:off x="7790688" y="2651760"/>
            <a:ext cx="365760" cy="365760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915046" y="2772459"/>
            <a:ext cx="98755" cy="98755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90688" y="2651760"/>
            <a:ext cx="365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8664" y="2688336"/>
            <a:ext cx="2377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627A"/>
                </a:solidFill>
                <a:latin typeface="Aptos"/>
              </a:rPr>
              <a:t>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633472"/>
            <a:ext cx="30632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3 T cells + 1 B cell caught under the same spot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6519672" y="3063240"/>
            <a:ext cx="310896" cy="365760"/>
          </a:xfrm>
          <a:prstGeom prst="downArrow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995160" y="3346704"/>
            <a:ext cx="566928" cy="1609344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2008" y="3127248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22008" y="5001768"/>
            <a:ext cx="7132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46136" y="4151376"/>
            <a:ext cx="566928" cy="804672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872984" y="3931920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72984" y="5001768"/>
            <a:ext cx="7132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97112" y="3547872"/>
            <a:ext cx="566928" cy="1408176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823960" y="3328415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33B"/>
                </a:solidFill>
                <a:latin typeface="Aptos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23960" y="5001768"/>
            <a:ext cx="7132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48088" y="3950208"/>
            <a:ext cx="566928" cy="1005840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774936" y="3730752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74936" y="5001768"/>
            <a:ext cx="7132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903720" y="4956048"/>
            <a:ext cx="3611880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126480" y="5413248"/>
            <a:ext cx="51663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26B5B"/>
                </a:solidFill>
                <a:latin typeface="Aptos"/>
              </a:rPr>
              <a:t>Which cells contributed what is hidden in this blend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58368" y="6016752"/>
            <a:ext cx="10881360" cy="402336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4400" y="6062472"/>
            <a:ext cx="10369296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50" b="1" dirty="0">
                <a:solidFill>
                  <a:srgbClr val="FFFFFF"/>
                </a:solidFill>
                <a:latin typeface="Aptos"/>
              </a:rPr>
              <a:t>Un-mixing each spot back into </a:t>
            </a:r>
            <a:r>
              <a:rPr lang="en-US" sz="1350" b="1" dirty="0">
                <a:solidFill>
                  <a:srgbClr val="FFFFFF"/>
                </a:solidFill>
                <a:latin typeface="Aptos"/>
              </a:rPr>
              <a:t>breakdown of cell counts by</a:t>
            </a:r>
            <a:r>
              <a:rPr sz="1350" b="1" dirty="0">
                <a:solidFill>
                  <a:srgbClr val="FFFFFF"/>
                </a:solidFill>
                <a:latin typeface="Aptos"/>
              </a:rPr>
              <a:t> cell-type  is</a:t>
            </a:r>
            <a:r>
              <a:rPr lang="en-US" sz="1350" b="1" dirty="0">
                <a:solidFill>
                  <a:srgbClr val="FFFFFF"/>
                </a:solidFill>
                <a:latin typeface="Aptos"/>
              </a:rPr>
              <a:t> called</a:t>
            </a:r>
            <a:r>
              <a:rPr sz="135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350" b="1" dirty="0">
                <a:solidFill>
                  <a:srgbClr val="F4B942"/>
                </a:solidFill>
                <a:latin typeface="Aptos"/>
              </a:rPr>
              <a:t>DECONVOLUTION</a:t>
            </a:r>
            <a:r>
              <a:rPr sz="135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1778508" y="2446020"/>
            <a:ext cx="2606040" cy="2606040"/>
          </a:xfrm>
          <a:prstGeom prst="rect">
            <a:avLst/>
          </a:prstGeom>
          <a:solidFill>
            <a:srgbClr val="FFFFFF"/>
          </a:solidFill>
          <a:ln w="3175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2157984" y="288950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2319649" y="304641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2798063" y="2779776"/>
            <a:ext cx="475488" cy="475488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2959729" y="2936687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3438144" y="298094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3599809" y="313785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1975104" y="352958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2136769" y="368649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2615184" y="343814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2776849" y="359505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3300984" y="3557016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3462649" y="3713927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2249424" y="4169664"/>
            <a:ext cx="475488" cy="475488"/>
          </a:xfrm>
          <a:prstGeom prst="ellipse">
            <a:avLst/>
          </a:prstGeom>
          <a:solidFill>
            <a:srgbClr val="3B82F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2411089" y="432657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3483864" y="4078224"/>
            <a:ext cx="475488" cy="475488"/>
          </a:xfrm>
          <a:prstGeom prst="ellipse">
            <a:avLst/>
          </a:prstGeom>
          <a:solidFill>
            <a:srgbClr val="18A99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3645529" y="4235135"/>
            <a:ext cx="128381" cy="128381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462272" y="2761488"/>
            <a:ext cx="1005840" cy="40233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000" b="1">
                <a:solidFill>
                  <a:srgbClr val="52627A"/>
                </a:solidFill>
                <a:latin typeface="Aptos"/>
              </a:rPr>
              <a:t>one cell
≈ 10 µm</a:t>
            </a:r>
          </a:p>
        </p:txBody>
      </p:sp>
      <p:cxnSp>
        <p:nvCxnSpPr>
          <p:cNvPr id="87" name="Connector 86"/>
          <p:cNvCxnSpPr/>
          <p:nvPr/>
        </p:nvCxnSpPr>
        <p:spPr>
          <a:xfrm flipH="1">
            <a:off x="3950208" y="3145536"/>
            <a:ext cx="493776" cy="100584"/>
          </a:xfrm>
          <a:prstGeom prst="line">
            <a:avLst/>
          </a:prstGeom>
          <a:ln w="1270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DA7E00B-5CFB-CB06-E6F1-F896C4E133B4}"/>
              </a:ext>
            </a:extLst>
          </p:cNvPr>
          <p:cNvSpPr txBox="1"/>
          <p:nvPr/>
        </p:nvSpPr>
        <p:spPr>
          <a:xfrm>
            <a:off x="11137392" y="310896"/>
            <a:ext cx="4114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52627A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CORE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Deconvolution works like identifying ingredients in a smoothie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10896"/>
            <a:ext cx="41148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00" b="1" i="0" dirty="0">
                <a:solidFill>
                  <a:srgbClr val="52627A"/>
                </a:solidFill>
                <a:latin typeface="Aptos"/>
              </a:rPr>
              <a:t>06</a:t>
            </a:r>
            <a:endParaRPr sz="1000" b="1" i="0" dirty="0">
              <a:solidFill>
                <a:srgbClr val="52627A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224" y="1069848"/>
            <a:ext cx="108813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52627A"/>
                </a:solidFill>
                <a:latin typeface="Aptos"/>
              </a:rPr>
              <a:t>Known reference fingerprints + an unknown mixture → estimated cell-type proportions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847088"/>
            <a:ext cx="2907792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276856"/>
            <a:ext cx="475488" cy="47548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78992" y="2432304"/>
            <a:ext cx="155448" cy="155448"/>
          </a:xfrm>
          <a:prstGeom prst="ellipse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A999"/>
                </a:solidFill>
                <a:latin typeface="Aptos"/>
              </a:rPr>
              <a:t>T cell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2350008"/>
            <a:ext cx="859536" cy="210312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DD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760" b="1">
                <a:solidFill>
                  <a:srgbClr val="18A999"/>
                </a:solidFill>
                <a:latin typeface="Aptos"/>
              </a:rPr>
              <a:t>REFERENCE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4016" y="2404872"/>
            <a:ext cx="182880" cy="502920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40864" y="2240279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864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2807208"/>
            <a:ext cx="182880" cy="100584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51760" y="2642615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35808" y="2505456"/>
            <a:ext cx="182880" cy="402336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62656" y="2340863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2656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6704" y="2706623"/>
            <a:ext cx="182880" cy="201168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73552" y="2542031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3552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59152" y="2907791"/>
            <a:ext cx="122529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4944" y="3675887"/>
            <a:ext cx="2907792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14400" y="4105655"/>
            <a:ext cx="475488" cy="47548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78992" y="4261103"/>
            <a:ext cx="155448" cy="155448"/>
          </a:xfrm>
          <a:prstGeom prst="ellipse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08760" y="3858768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B82F6"/>
                </a:solidFill>
                <a:latin typeface="Aptos"/>
              </a:rPr>
              <a:t>B cell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08760" y="4178807"/>
            <a:ext cx="859536" cy="210312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E7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760" b="1">
                <a:solidFill>
                  <a:srgbClr val="3B82F6"/>
                </a:solidFill>
                <a:latin typeface="Aptos"/>
              </a:rPr>
              <a:t>REFERENCE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14016" y="4636007"/>
            <a:ext cx="182880" cy="100584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40864" y="4471416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0864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24912" y="4233672"/>
            <a:ext cx="182880" cy="502920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51760" y="4069080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35808" y="4535424"/>
            <a:ext cx="182880" cy="201168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962656" y="4370832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62656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46704" y="4334255"/>
            <a:ext cx="182880" cy="402336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73552" y="4169663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73552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59152" y="4736592"/>
            <a:ext cx="122529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59536" y="5212080"/>
            <a:ext cx="2578608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2627A"/>
                </a:solidFill>
                <a:latin typeface="Aptos"/>
              </a:rPr>
              <a:t>reference ATAC count profiles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11880" y="3099816"/>
            <a:ext cx="329184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52627A"/>
                </a:solidFill>
                <a:latin typeface="Aptos"/>
              </a:rPr>
              <a:t>+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05072" y="1847088"/>
            <a:ext cx="2944368" cy="3218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97680" y="2084831"/>
            <a:ext cx="235915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B5CF6"/>
                </a:solidFill>
                <a:latin typeface="Aptos"/>
              </a:rPr>
              <a:t>UNKNOWN MIXED SPOT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6824" y="2441448"/>
            <a:ext cx="234086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observed ATAC count profile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2889504"/>
            <a:ext cx="2359152" cy="1865376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535424" y="3529584"/>
            <a:ext cx="310896" cy="877824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62272" y="3364992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62272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47488" y="3968496"/>
            <a:ext cx="310896" cy="438912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974336" y="380390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74336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59552" y="3639312"/>
            <a:ext cx="310896" cy="768096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0" y="3474720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71616" y="3858768"/>
            <a:ext cx="310896" cy="548640"/>
          </a:xfrm>
          <a:prstGeom prst="rect">
            <a:avLst/>
          </a:prstGeom>
          <a:solidFill>
            <a:srgbClr val="F4B942"/>
          </a:solidFill>
          <a:ln w="635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998464" y="3694176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98464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480560" y="4407408"/>
            <a:ext cx="195681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379976" y="4800600"/>
            <a:ext cx="2194560" cy="182880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52627A"/>
                </a:solidFill>
                <a:latin typeface="Aptos"/>
              </a:rPr>
              <a:t>same four peaks • same count scale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7114032" y="2980944"/>
            <a:ext cx="859536" cy="603504"/>
          </a:xfrm>
          <a:prstGeom prst="rightArrow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7080164" y="3675887"/>
            <a:ext cx="950976" cy="502920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Aptos"/>
              </a:rPr>
              <a:t>BAYESIAN
MODEL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65592" y="1847088"/>
            <a:ext cx="3383280" cy="3218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439912" y="2112264"/>
            <a:ext cx="28346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Estimated recipe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39912" y="2496312"/>
            <a:ext cx="28346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A999"/>
                </a:solidFill>
                <a:latin typeface="Aptos"/>
              </a:rPr>
              <a:t>75% T  +  25% 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540496" y="3072384"/>
            <a:ext cx="1975104" cy="530352"/>
          </a:xfrm>
          <a:prstGeom prst="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0515600" y="3072384"/>
            <a:ext cx="658367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540496" y="3072384"/>
            <a:ext cx="2633472" cy="530352"/>
          </a:xfrm>
          <a:prstGeom prst="rect">
            <a:avLst/>
          </a:prstGeom>
          <a:noFill/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540496" y="3072384"/>
            <a:ext cx="197510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75%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3072384"/>
            <a:ext cx="658367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25%</a:t>
            </a:r>
          </a:p>
        </p:txBody>
      </p:sp>
      <p:sp>
        <p:nvSpPr>
          <p:cNvPr id="72" name="Oval 71"/>
          <p:cNvSpPr/>
          <p:nvPr/>
        </p:nvSpPr>
        <p:spPr>
          <a:xfrm>
            <a:off x="8558784" y="3886200"/>
            <a:ext cx="182880" cy="182880"/>
          </a:xfrm>
          <a:prstGeom prst="ellipse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842248" y="3831335"/>
            <a:ext cx="12984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T cell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42448" y="3831335"/>
            <a:ext cx="548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75%</a:t>
            </a:r>
          </a:p>
        </p:txBody>
      </p:sp>
      <p:sp>
        <p:nvSpPr>
          <p:cNvPr id="75" name="Oval 74"/>
          <p:cNvSpPr/>
          <p:nvPr/>
        </p:nvSpPr>
        <p:spPr>
          <a:xfrm>
            <a:off x="8558784" y="4343400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842248" y="4288536"/>
            <a:ext cx="12984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B cell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42448" y="4288536"/>
            <a:ext cx="548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25%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467344" y="4663440"/>
            <a:ext cx="2779776" cy="256032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ptos"/>
              </a:rPr>
              <a:t>mixed = 0.75 × T + 0.25 × B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3000" y="5650992"/>
            <a:ext cx="9912096" cy="347472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Aptos"/>
              </a:rPr>
              <a:t>THE BAYESIAN MODEL FINDS THE T/B WEIGHTS THAT BEST </a:t>
            </a:r>
            <a:r>
              <a:rPr lang="en-US" sz="1400" b="1" dirty="0">
                <a:solidFill>
                  <a:srgbClr val="FFFFFF"/>
                </a:solidFill>
                <a:latin typeface="Aptos"/>
              </a:rPr>
              <a:t>REPRESENT</a:t>
            </a:r>
            <a:r>
              <a:rPr sz="1400" b="1" dirty="0">
                <a:solidFill>
                  <a:srgbClr val="FFFFFF"/>
                </a:solidFill>
                <a:latin typeface="Aptos"/>
              </a:rPr>
              <a:t> THE OBSERVED ATAC </a:t>
            </a:r>
            <a:r>
              <a:rPr lang="en-US" sz="1400" b="1" dirty="0">
                <a:solidFill>
                  <a:srgbClr val="FFFFFF"/>
                </a:solidFill>
                <a:latin typeface="Aptos"/>
              </a:rPr>
              <a:t>PEAK </a:t>
            </a:r>
            <a:r>
              <a:rPr sz="1400" b="1" dirty="0">
                <a:solidFill>
                  <a:srgbClr val="FFFFFF"/>
                </a:solidFill>
                <a:latin typeface="Aptos"/>
              </a:rPr>
              <a:t>COUNTS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WHY THIS WORK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13233B"/>
                </a:solidFill>
                <a:latin typeface="Aptos Display"/>
              </a:rPr>
              <a:t>A better deconvolution method can help many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1887"/>
            <a:ext cx="10817352" cy="35086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52627A"/>
                </a:solidFill>
                <a:latin typeface="Aptos"/>
              </a:rPr>
              <a:t>Researchers across genomics use deconvolution to interpret mixed measurements.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39112"/>
            <a:ext cx="3255264" cy="2468880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353312" y="2258568"/>
            <a:ext cx="1828800" cy="292608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COMMON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16352"/>
            <a:ext cx="288950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3233B"/>
                </a:solidFill>
                <a:latin typeface="Aptos"/>
              </a:rPr>
              <a:t>Mixed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2"/>
            <a:ext cx="2743200" cy="6766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A sample or spatial spot can contain several cell types.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41063" y="2898648"/>
            <a:ext cx="43891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8A999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039112"/>
            <a:ext cx="3255264" cy="246888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175504" y="2258568"/>
            <a:ext cx="1828800" cy="292608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WIDELY USED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816352"/>
            <a:ext cx="288950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3233B"/>
                </a:solidFill>
                <a:latin typeface="Aptos"/>
              </a:rPr>
              <a:t>Deconvolution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4" y="3410712"/>
            <a:ext cx="2743200" cy="6766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Estimate how much of each cell type is present.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3256" y="2898648"/>
            <a:ext cx="438912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8A999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4464" y="2039112"/>
            <a:ext cx="3255264" cy="2468880"/>
          </a:xfrm>
          <a:prstGeom prst="roundRect">
            <a:avLst/>
          </a:prstGeom>
          <a:solidFill>
            <a:srgbClr val="E5F5E9"/>
          </a:solidFill>
          <a:ln w="12700">
            <a:solidFill>
              <a:srgbClr val="43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997696" y="2258568"/>
            <a:ext cx="1828800" cy="292608"/>
          </a:xfrm>
          <a:prstGeom prst="roundRect">
            <a:avLst/>
          </a:prstGeom>
          <a:solidFill>
            <a:srgbClr val="43AA6A"/>
          </a:solidFill>
          <a:ln w="12700">
            <a:solidFill>
              <a:srgbClr val="43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BROAD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816352"/>
            <a:ext cx="2889504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3233B"/>
                </a:solidFill>
                <a:latin typeface="Aptos"/>
              </a:rPr>
              <a:t>Better conclusions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0496" y="3410712"/>
            <a:ext cx="2743200" cy="6766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More reliable tissue maps, comparisons, and biological interpretation.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37760"/>
            <a:ext cx="10899648" cy="713232"/>
          </a:xfrm>
          <a:prstGeom prst="roundRect">
            <a:avLst/>
          </a:prstGeom>
          <a:solidFill>
            <a:srgbClr val="DDF4F1"/>
          </a:solidFill>
          <a:ln w="1778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2"/>
            <a:ext cx="10442448" cy="45720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3233B"/>
                </a:solidFill>
                <a:latin typeface="Aptos"/>
              </a:rPr>
              <a:t>Improve a method used by many researchers  →  improve many downstream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25312"/>
            <a:ext cx="10899648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 err="1">
                <a:solidFill>
                  <a:srgbClr val="52627A"/>
                </a:solidFill>
                <a:latin typeface="Aptos"/>
              </a:rPr>
              <a:t>ShapeMix</a:t>
            </a:r>
            <a:r>
              <a:rPr sz="1600" b="0" dirty="0">
                <a:solidFill>
                  <a:srgbClr val="52627A"/>
                </a:solidFill>
                <a:latin typeface="Aptos"/>
              </a:rPr>
              <a:t> asks whether fragment-length information can make this widely used step more accurate.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WHY THIS WORK IS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3233B"/>
                </a:solidFill>
                <a:latin typeface="Aptos Display"/>
              </a:rPr>
              <a:t>ShapeMix uses an ATAC-specific signal that RNA methods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66799"/>
            <a:ext cx="10817352" cy="34747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52627A"/>
                </a:solidFill>
                <a:latin typeface="Aptos"/>
              </a:rPr>
              <a:t>Spatial ATAC deconvolution is still an open problem.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96474"/>
            <a:ext cx="5285232" cy="3246120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96112" y="1806785"/>
            <a:ext cx="1993392" cy="283464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2025 STATE OF THE 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87785"/>
            <a:ext cx="4736592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dirty="0">
                <a:solidFill>
                  <a:srgbClr val="13233B"/>
                </a:solidFill>
                <a:latin typeface="Aptos"/>
              </a:rPr>
              <a:t>Borrow spatial-RNA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42030"/>
            <a:ext cx="4736592" cy="60350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213047"/>
                </a:solidFill>
                <a:latin typeface="Aptos"/>
              </a:rPr>
              <a:t>The benchmark applies methods designed for gene-expression data to an ATAC peak-count matrix.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4111074"/>
            <a:ext cx="4069080" cy="13716"/>
          </a:xfrm>
          <a:prstGeom prst="rect">
            <a:avLst/>
          </a:prstGeom>
          <a:solidFill>
            <a:srgbClr val="D7E0E8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481328" y="3653874"/>
            <a:ext cx="329184" cy="45720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08176" y="4165938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3050370"/>
            <a:ext cx="329184" cy="1060704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67128" y="4165938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9232" y="3452706"/>
            <a:ext cx="329184" cy="658368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0" y="4165938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58183" y="2812626"/>
            <a:ext cx="329184" cy="1298448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85031" y="4165938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17136" y="3278970"/>
            <a:ext cx="329184" cy="832104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43983" y="4165938"/>
            <a:ext cx="475488" cy="20116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P5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369703"/>
            <a:ext cx="4736592" cy="25083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dirty="0">
                <a:solidFill>
                  <a:srgbClr val="3B82F6"/>
                </a:solidFill>
                <a:latin typeface="Aptos"/>
              </a:rPr>
              <a:t>Peak totals only  →  fragment lengths are </a:t>
            </a:r>
            <a:r>
              <a:rPr lang="en-US" sz="1150" b="1" dirty="0">
                <a:solidFill>
                  <a:srgbClr val="3B82F6"/>
                </a:solidFill>
                <a:latin typeface="Aptos"/>
              </a:rPr>
              <a:t>ignored</a:t>
            </a:r>
            <a:endParaRPr sz="1150" b="1" dirty="0">
              <a:solidFill>
                <a:srgbClr val="3B82F6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36208" y="1596474"/>
            <a:ext cx="5303520" cy="324612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92240" y="1806785"/>
            <a:ext cx="1554480" cy="283464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SHAPEMIX-ATAC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263986"/>
            <a:ext cx="47548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3233B"/>
                </a:solidFill>
                <a:latin typeface="Aptos"/>
              </a:rPr>
              <a:t>Keep an ATAC-specific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675466"/>
            <a:ext cx="475488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13047"/>
                </a:solidFill>
                <a:latin typeface="Aptos"/>
              </a:rPr>
              <a:t>DNA wrapping around nucleosomes creates informative fragment-size patterns: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47104" y="3260682"/>
            <a:ext cx="850392" cy="256032"/>
          </a:xfrm>
          <a:prstGeom prst="round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SHORT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739" y="3352122"/>
            <a:ext cx="749808" cy="41148"/>
          </a:xfrm>
          <a:prstGeom prst="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736163" y="3292686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85971" y="3292686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21649" y="3251538"/>
            <a:ext cx="2039112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213047"/>
                </a:solidFill>
                <a:latin typeface="Aptos"/>
              </a:rPr>
              <a:t>open, nucleosome-free DNA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7104" y="3699594"/>
            <a:ext cx="850392" cy="25603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13233B"/>
                </a:solidFill>
                <a:latin typeface="Aptos"/>
              </a:rPr>
              <a:t>MIDDLE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44723" y="3791034"/>
            <a:ext cx="1170432" cy="41148"/>
          </a:xfrm>
          <a:prstGeom prst="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7608147" y="3731598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778579" y="3731598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21649" y="3690450"/>
            <a:ext cx="2039112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213047"/>
                </a:solidFill>
                <a:latin typeface="Aptos"/>
              </a:rPr>
              <a:t>spans about one nucleosome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7104" y="4138506"/>
            <a:ext cx="850392" cy="256032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LONG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419" y="4229945"/>
            <a:ext cx="1481328" cy="411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461843" y="4170510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943171" y="4170510"/>
            <a:ext cx="118872" cy="118872"/>
          </a:xfrm>
          <a:prstGeom prst="ellipse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138582" y="4129362"/>
            <a:ext cx="2039112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dirty="0">
                <a:solidFill>
                  <a:srgbClr val="213047"/>
                </a:solidFill>
                <a:latin typeface="Aptos"/>
              </a:rPr>
              <a:t>can span two nucleosomes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230368"/>
            <a:ext cx="10899648" cy="874100"/>
          </a:xfrm>
          <a:prstGeom prst="roundRect">
            <a:avLst/>
          </a:prstGeom>
          <a:solidFill>
            <a:srgbClr val="FDE9E6"/>
          </a:solidFill>
          <a:ln w="1651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68680" y="5274949"/>
            <a:ext cx="10442448" cy="550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3233B"/>
                </a:solidFill>
                <a:latin typeface="Aptos"/>
              </a:rPr>
              <a:t>NOVELTY: model the fragment-length composition inside each peak</a:t>
            </a:r>
            <a:r>
              <a:rPr lang="en-US" sz="1500" b="1" dirty="0">
                <a:solidFill>
                  <a:srgbClr val="13233B"/>
                </a:solidFill>
                <a:latin typeface="Aptos"/>
              </a:rPr>
              <a:t>, </a:t>
            </a:r>
            <a:r>
              <a:rPr sz="1500" b="1" dirty="0">
                <a:solidFill>
                  <a:srgbClr val="13233B"/>
                </a:solidFill>
                <a:latin typeface="Aptos"/>
              </a:rPr>
              <a:t>not peak counts alone</a:t>
            </a:r>
            <a:endParaRPr lang="en-US" sz="1500" b="1" dirty="0">
              <a:solidFill>
                <a:srgbClr val="13233B"/>
              </a:solidFill>
              <a:latin typeface="Aptos"/>
            </a:endParaRPr>
          </a:p>
          <a:p>
            <a:pPr algn="ctr"/>
            <a:r>
              <a:rPr lang="en-US" sz="1500" b="1" dirty="0">
                <a:solidFill>
                  <a:srgbClr val="13233B"/>
                </a:solidFill>
                <a:latin typeface="Aptos"/>
              </a:rPr>
              <a:t>Note: RNA measurements have no equivalent fragment-length feature.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74320"/>
            <a:ext cx="73152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RESEARCH QUESTION • HYPOTHESIS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66928"/>
            <a:ext cx="73152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3233B"/>
                </a:solidFill>
                <a:latin typeface="Aptos Display"/>
              </a:rPr>
              <a:t>Our hypothesis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08176"/>
            <a:ext cx="10954512" cy="214884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682496"/>
            <a:ext cx="1243584" cy="301752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48256"/>
            <a:ext cx="10268712" cy="104241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3233B"/>
                </a:solidFill>
                <a:latin typeface="Aptos"/>
              </a:rPr>
              <a:t>A Bayesian model using ATAC fragment-length signals will recover cell-type mixtures in spatial ATAC-seq spots more accurately than models using peak counts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087368"/>
            <a:ext cx="2980944" cy="1207008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77240" y="4215384"/>
            <a:ext cx="1097280" cy="256032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72000"/>
            <a:ext cx="267004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Peak 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09078"/>
            <a:ext cx="2670048" cy="2585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213047"/>
                </a:solidFill>
                <a:latin typeface="Aptos"/>
              </a:rPr>
              <a:t>how many cut sites fall in each peak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4361688"/>
            <a:ext cx="502920" cy="53035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52627A"/>
                </a:solidFill>
                <a:latin typeface="Aptos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087368"/>
            <a:ext cx="2980944" cy="1207008"/>
          </a:xfrm>
          <a:prstGeom prst="roundRect">
            <a:avLst/>
          </a:prstGeom>
          <a:solidFill>
            <a:srgbClr val="FDE9E6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453128" y="4215384"/>
            <a:ext cx="1097280" cy="256032"/>
          </a:xfrm>
          <a:prstGeom prst="round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ATAC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4572000"/>
            <a:ext cx="267004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Fragment lengths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4816745"/>
            <a:ext cx="2670048" cy="44319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213047"/>
                </a:solidFill>
                <a:latin typeface="Aptos"/>
              </a:rPr>
              <a:t>how those same fragments split by length</a:t>
            </a:r>
          </a:p>
        </p:txBody>
      </p:sp>
      <p:sp>
        <p:nvSpPr>
          <p:cNvPr id="16" name="Chevron 15"/>
          <p:cNvSpPr/>
          <p:nvPr/>
        </p:nvSpPr>
        <p:spPr>
          <a:xfrm>
            <a:off x="7434072" y="4407408"/>
            <a:ext cx="603504" cy="521207"/>
          </a:xfrm>
          <a:prstGeom prst="chevron">
            <a:avLst/>
          </a:prstGeom>
          <a:solidFill>
            <a:srgbClr val="F4B942"/>
          </a:solidFill>
          <a:ln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56448" y="4087368"/>
            <a:ext cx="2980944" cy="1207008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11896" y="4215384"/>
            <a:ext cx="1097280" cy="25603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EXPECTED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572000"/>
            <a:ext cx="2670048" cy="2651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Better deconvolution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4816745"/>
            <a:ext cx="2670048" cy="44319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213047"/>
                </a:solidFill>
                <a:latin typeface="Aptos"/>
              </a:rPr>
              <a:t>more accurate estimates of the cell-type mixture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44081"/>
            <a:ext cx="10716768" cy="28931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52627A"/>
                </a:solidFill>
                <a:latin typeface="Aptos"/>
              </a:rPr>
              <a:t>The comparison makes the hypothesis testable: fragment-length model vs. count-only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BAYESIAN MODEL • WITHOUT LENGTH BINS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 Display"/>
              </a:rPr>
              <a:t>Bayesian model to find the number of cells for each cell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98840"/>
            <a:ext cx="850392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dirty="0">
                <a:solidFill>
                  <a:srgbClr val="13233B"/>
                </a:solidFill>
                <a:latin typeface="Aptos"/>
              </a:rPr>
              <a:t>z   </a:t>
            </a:r>
            <a:r>
              <a:rPr sz="1400" dirty="0">
                <a:solidFill>
                  <a:srgbClr val="52627A"/>
                </a:solidFill>
                <a:latin typeface="Aptos"/>
              </a:rPr>
              <a:t>number of cells for each cell type in the spot — what we want to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2516" y="1413863"/>
            <a:ext cx="8503920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3233B"/>
                </a:solidFill>
                <a:latin typeface="Aptos"/>
              </a:rPr>
              <a:t>N   </a:t>
            </a:r>
            <a:r>
              <a:rPr sz="1400">
                <a:solidFill>
                  <a:srgbClr val="52627A"/>
                </a:solidFill>
                <a:latin typeface="Aptos"/>
              </a:rPr>
              <a:t>the cut-site counts actually observed at the peaks — what we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103120"/>
            <a:ext cx="210312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8A999"/>
                </a:solidFill>
                <a:latin typeface="Aptos"/>
              </a:rPr>
              <a:t>p(z | 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779776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103120"/>
            <a:ext cx="457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33B"/>
                </a:solidFill>
                <a:latin typeface="Aptos"/>
              </a:rPr>
              <a:t>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03120"/>
            <a:ext cx="210312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8860B"/>
                </a:solidFill>
                <a:latin typeface="Aptos"/>
              </a:rPr>
              <a:t>p(N | z)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779776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457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3233B"/>
                </a:solidFill>
                <a:latin typeface="Aptos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103120"/>
            <a:ext cx="155448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8B5CF6"/>
                </a:solidFill>
                <a:latin typeface="Aptos"/>
              </a:rPr>
              <a:t>p(z)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779776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354580" y="3072384"/>
            <a:ext cx="1257300" cy="585216"/>
          </a:xfrm>
          <a:prstGeom prst="line">
            <a:avLst/>
          </a:prstGeom>
          <a:ln w="1524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657600"/>
            <a:ext cx="3429000" cy="105156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3749039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4041648"/>
            <a:ext cx="3136392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213047"/>
                </a:solidFill>
                <a:latin typeface="Aptos"/>
              </a:rPr>
              <a:t>best supported z after seeing data 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094476" y="3072384"/>
            <a:ext cx="260604" cy="585216"/>
          </a:xfrm>
          <a:prstGeom prst="line">
            <a:avLst/>
          </a:prstGeom>
          <a:ln w="15240">
            <a:solidFill>
              <a:srgbClr val="B886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79976" y="3657600"/>
            <a:ext cx="3429000" cy="105156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3749039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041648"/>
            <a:ext cx="313639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213047"/>
                </a:solidFill>
                <a:latin typeface="Aptos"/>
              </a:rPr>
              <a:t>given z, what is the probability of seeing data 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823960" y="3072384"/>
            <a:ext cx="1010412" cy="585216"/>
          </a:xfrm>
          <a:prstGeom prst="line">
            <a:avLst/>
          </a:prstGeom>
          <a:ln w="1524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19872" y="3657600"/>
            <a:ext cx="3429000" cy="1051560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6" y="3749039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4041648"/>
            <a:ext cx="313639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213047"/>
                </a:solidFill>
                <a:latin typeface="Aptos"/>
              </a:rPr>
              <a:t>how plausible z is before seeing any 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BAYESIAN MODEL • WITHOUT LENGTH BINS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 Display"/>
              </a:rPr>
              <a:t>The prior: what is plausible before seeing any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43434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508760"/>
            <a:ext cx="1417320" cy="292608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PRIOR  p(z)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393192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3233B"/>
                </a:solidFill>
                <a:latin typeface="Aptos"/>
              </a:rPr>
              <a:t>z ~ Gamma(shape = 2, rate =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39319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2627A"/>
                </a:solidFill>
                <a:latin typeface="Aptos"/>
              </a:rPr>
              <a:t>the frozen version-1 prior, applied to every element of 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88920"/>
            <a:ext cx="1170432" cy="713232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852928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1170432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27A"/>
                </a:solidFill>
                <a:latin typeface="Aptos"/>
              </a:rPr>
              <a:t>mean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7128" y="2788920"/>
            <a:ext cx="1170432" cy="713232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7128" y="2852928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128" y="3200400"/>
            <a:ext cx="1170432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27A"/>
                </a:solidFill>
                <a:latin typeface="Aptos"/>
              </a:rPr>
              <a:t>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2788920"/>
            <a:ext cx="1170432" cy="713232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65576" y="2852928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00400"/>
            <a:ext cx="1170432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27A"/>
                </a:solidFill>
                <a:latin typeface="Aptos"/>
              </a:rPr>
              <a:t>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03320"/>
            <a:ext cx="39319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13047"/>
                </a:solidFill>
                <a:latin typeface="Aptos"/>
              </a:rPr>
              <a:t>Only positive values are allowed — a cell amount cannot be negative.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1325880"/>
            <a:ext cx="630936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5806440" y="1645920"/>
            <a:ext cx="0" cy="2496312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806440" y="4142232"/>
            <a:ext cx="5440680" cy="0"/>
          </a:xfrm>
          <a:prstGeom prst="line">
            <a:avLst/>
          </a:prstGeom>
          <a:ln w="15240">
            <a:solidFill>
              <a:srgbClr val="5262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reeform 20"/>
          <p:cNvSpPr/>
          <p:nvPr/>
        </p:nvSpPr>
        <p:spPr>
          <a:xfrm>
            <a:off x="5820041" y="1996074"/>
            <a:ext cx="5427079" cy="2130499"/>
          </a:xfrm>
          <a:custGeom>
            <a:avLst/>
            <a:gdLst/>
            <a:ahLst/>
            <a:cxnLst/>
            <a:rect l="l" t="t" r="r" b="b"/>
            <a:pathLst>
              <a:path w="5427079" h="2130499">
                <a:moveTo>
                  <a:pt x="0" y="2031773"/>
                </a:moveTo>
                <a:lnTo>
                  <a:pt x="84798" y="1415665"/>
                </a:lnTo>
                <a:lnTo>
                  <a:pt x="169596" y="945578"/>
                </a:lnTo>
                <a:lnTo>
                  <a:pt x="254394" y="595744"/>
                </a:lnTo>
                <a:lnTo>
                  <a:pt x="339193" y="344428"/>
                </a:lnTo>
                <a:lnTo>
                  <a:pt x="423991" y="173341"/>
                </a:lnTo>
                <a:lnTo>
                  <a:pt x="508789" y="67126"/>
                </a:lnTo>
                <a:lnTo>
                  <a:pt x="593587" y="12924"/>
                </a:lnTo>
                <a:lnTo>
                  <a:pt x="678385" y="0"/>
                </a:lnTo>
                <a:lnTo>
                  <a:pt x="763183" y="19422"/>
                </a:lnTo>
                <a:lnTo>
                  <a:pt x="847981" y="63784"/>
                </a:lnTo>
                <a:lnTo>
                  <a:pt x="932779" y="126971"/>
                </a:lnTo>
                <a:lnTo>
                  <a:pt x="1017577" y="203959"/>
                </a:lnTo>
                <a:lnTo>
                  <a:pt x="1102375" y="290646"/>
                </a:lnTo>
                <a:lnTo>
                  <a:pt x="1187174" y="383699"/>
                </a:lnTo>
                <a:lnTo>
                  <a:pt x="1271972" y="480434"/>
                </a:lnTo>
                <a:lnTo>
                  <a:pt x="1356770" y="578709"/>
                </a:lnTo>
                <a:lnTo>
                  <a:pt x="1441568" y="676833"/>
                </a:lnTo>
                <a:lnTo>
                  <a:pt x="1526366" y="773493"/>
                </a:lnTo>
                <a:lnTo>
                  <a:pt x="1611164" y="867682"/>
                </a:lnTo>
                <a:lnTo>
                  <a:pt x="1695962" y="958651"/>
                </a:lnTo>
                <a:lnTo>
                  <a:pt x="1780760" y="1045861"/>
                </a:lnTo>
                <a:lnTo>
                  <a:pt x="1865558" y="1128944"/>
                </a:lnTo>
                <a:lnTo>
                  <a:pt x="1950356" y="1207667"/>
                </a:lnTo>
                <a:lnTo>
                  <a:pt x="2035155" y="1281913"/>
                </a:lnTo>
                <a:lnTo>
                  <a:pt x="2119953" y="1351648"/>
                </a:lnTo>
                <a:lnTo>
                  <a:pt x="2204751" y="1416910"/>
                </a:lnTo>
                <a:lnTo>
                  <a:pt x="2289549" y="1477790"/>
                </a:lnTo>
                <a:lnTo>
                  <a:pt x="2374347" y="1534417"/>
                </a:lnTo>
                <a:lnTo>
                  <a:pt x="2459145" y="1586953"/>
                </a:lnTo>
                <a:lnTo>
                  <a:pt x="2543943" y="1635578"/>
                </a:lnTo>
                <a:lnTo>
                  <a:pt x="2628741" y="1680488"/>
                </a:lnTo>
                <a:lnTo>
                  <a:pt x="2713539" y="1721885"/>
                </a:lnTo>
                <a:lnTo>
                  <a:pt x="2798337" y="1759975"/>
                </a:lnTo>
                <a:lnTo>
                  <a:pt x="2883136" y="1794966"/>
                </a:lnTo>
                <a:lnTo>
                  <a:pt x="2967934" y="1827059"/>
                </a:lnTo>
                <a:lnTo>
                  <a:pt x="3052732" y="1856455"/>
                </a:lnTo>
                <a:lnTo>
                  <a:pt x="3137530" y="1883343"/>
                </a:lnTo>
                <a:lnTo>
                  <a:pt x="3222328" y="1907909"/>
                </a:lnTo>
                <a:lnTo>
                  <a:pt x="3307126" y="1930327"/>
                </a:lnTo>
                <a:lnTo>
                  <a:pt x="3391924" y="1950763"/>
                </a:lnTo>
                <a:lnTo>
                  <a:pt x="3476722" y="1969373"/>
                </a:lnTo>
                <a:lnTo>
                  <a:pt x="3561520" y="1986306"/>
                </a:lnTo>
                <a:lnTo>
                  <a:pt x="3646318" y="2001698"/>
                </a:lnTo>
                <a:lnTo>
                  <a:pt x="3731117" y="2015678"/>
                </a:lnTo>
                <a:lnTo>
                  <a:pt x="3815915" y="2028365"/>
                </a:lnTo>
                <a:lnTo>
                  <a:pt x="3900713" y="2039871"/>
                </a:lnTo>
                <a:lnTo>
                  <a:pt x="3985511" y="2050298"/>
                </a:lnTo>
                <a:lnTo>
                  <a:pt x="4070309" y="2059741"/>
                </a:lnTo>
                <a:lnTo>
                  <a:pt x="4155107" y="2068287"/>
                </a:lnTo>
                <a:lnTo>
                  <a:pt x="4239905" y="2076018"/>
                </a:lnTo>
                <a:lnTo>
                  <a:pt x="4324703" y="2083006"/>
                </a:lnTo>
                <a:lnTo>
                  <a:pt x="4409501" y="2089319"/>
                </a:lnTo>
                <a:lnTo>
                  <a:pt x="4494299" y="2095020"/>
                </a:lnTo>
                <a:lnTo>
                  <a:pt x="4579098" y="2100166"/>
                </a:lnTo>
                <a:lnTo>
                  <a:pt x="4663896" y="2104807"/>
                </a:lnTo>
                <a:lnTo>
                  <a:pt x="4748694" y="2108993"/>
                </a:lnTo>
                <a:lnTo>
                  <a:pt x="4833492" y="2112766"/>
                </a:lnTo>
                <a:lnTo>
                  <a:pt x="4918290" y="2116164"/>
                </a:lnTo>
                <a:lnTo>
                  <a:pt x="5003088" y="2119225"/>
                </a:lnTo>
                <a:lnTo>
                  <a:pt x="5087886" y="2121980"/>
                </a:lnTo>
                <a:lnTo>
                  <a:pt x="5172684" y="2124460"/>
                </a:lnTo>
                <a:lnTo>
                  <a:pt x="5257482" y="2126690"/>
                </a:lnTo>
                <a:lnTo>
                  <a:pt x="5342280" y="2128696"/>
                </a:lnTo>
                <a:lnTo>
                  <a:pt x="5427079" y="2130499"/>
                </a:lnTo>
              </a:path>
            </a:pathLst>
          </a:custGeom>
          <a:noFill/>
          <a:ln w="349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6486525" y="1995750"/>
            <a:ext cx="0" cy="2146482"/>
          </a:xfrm>
          <a:prstGeom prst="line">
            <a:avLst/>
          </a:prstGeom>
          <a:ln w="19050">
            <a:solidFill>
              <a:srgbClr val="18A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59677" y="1739718"/>
            <a:ext cx="1097280" cy="21945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mode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4661" y="2858588"/>
            <a:ext cx="2011680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positive values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9671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688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05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722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37392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2627A"/>
                </a:solidFill>
                <a:latin typeface="Aptos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6797" y="4169664"/>
            <a:ext cx="219456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A999"/>
                </a:solidFill>
                <a:latin typeface="Apto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2379" y="4325112"/>
            <a:ext cx="1828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possible amount 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1463040"/>
            <a:ext cx="146304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prior density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46320"/>
            <a:ext cx="54864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How is the prior determined?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" y="5175504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8B5CF6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Chosen ahead of time and frozen: the Gamma(2, 1) prior is fixed before any spot's data is analyzed (version-1 protocol).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8B5CF6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Fair across cell types: every type gets the identical prior, so none starts with an advantage.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8B5CF6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An assumption, not a measurement: it gently prefers moderate positive amounts, and other reasonable priors can be tested in sensitivity checks.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" y="6519672"/>
            <a:ext cx="10945368" cy="10058"/>
          </a:xfrm>
          <a:prstGeom prst="round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BAYESIAN MODEL • WITHOUT LENGTH BINS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 Display"/>
              </a:rPr>
              <a:t>The likelihood: the probability of seeing N, given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99108"/>
            <a:ext cx="9052560" cy="308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3233B"/>
                </a:solidFill>
                <a:latin typeface="Aptos"/>
              </a:rPr>
              <a:t>R   </a:t>
            </a:r>
            <a:r>
              <a:rPr sz="1400">
                <a:solidFill>
                  <a:srgbClr val="52627A"/>
                </a:solidFill>
                <a:latin typeface="Aptos"/>
              </a:rPr>
              <a:t>reference peak rate — expected cut sites per cell of each type, learned from labeled reference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2516" y="1413662"/>
            <a:ext cx="9052560" cy="308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dirty="0">
                <a:solidFill>
                  <a:srgbClr val="13233B"/>
                </a:solidFill>
                <a:latin typeface="Aptos"/>
              </a:rPr>
              <a:t>n   </a:t>
            </a:r>
            <a:r>
              <a:rPr sz="1400" dirty="0">
                <a:solidFill>
                  <a:srgbClr val="52627A"/>
                </a:solidFill>
                <a:latin typeface="Aptos"/>
              </a:rPr>
              <a:t>predicted (mean) counts — what a candidate recipe z predicts: n = z · 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160020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2148840" cy="292608"/>
          </a:xfrm>
          <a:prstGeom prst="roundRect">
            <a:avLst/>
          </a:prstGeom>
          <a:solidFill>
            <a:srgbClr val="B8860B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LIKELIHOOD  p(N | 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1046988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3233B"/>
                </a:solidFill>
                <a:latin typeface="Aptos"/>
              </a:rPr>
              <a:t>N  ~  </a:t>
            </a:r>
            <a:r>
              <a:rPr sz="2100" b="1" dirty="0" err="1">
                <a:solidFill>
                  <a:srgbClr val="13233B"/>
                </a:solidFill>
                <a:latin typeface="Aptos"/>
              </a:rPr>
              <a:t>NegBinomial</a:t>
            </a:r>
            <a:r>
              <a:rPr sz="2100" b="1" dirty="0">
                <a:solidFill>
                  <a:srgbClr val="13233B"/>
                </a:solidFill>
                <a:latin typeface="Aptos"/>
              </a:rPr>
              <a:t>( mean n</a:t>
            </a:r>
            <a:r>
              <a:rPr lang="en-US" sz="2100" b="1" dirty="0">
                <a:solidFill>
                  <a:srgbClr val="13233B"/>
                </a:solidFill>
                <a:latin typeface="Aptos"/>
              </a:rPr>
              <a:t>=z </a:t>
            </a:r>
            <a:r>
              <a:rPr lang="en-US" sz="2400" b="1" dirty="0">
                <a:solidFill>
                  <a:srgbClr val="13233B"/>
                </a:solidFill>
                <a:latin typeface="Aptos"/>
              </a:rPr>
              <a:t>·</a:t>
            </a:r>
            <a:r>
              <a:rPr lang="en-US" sz="2400" dirty="0">
                <a:solidFill>
                  <a:srgbClr val="52627A"/>
                </a:solidFill>
                <a:latin typeface="Aptos"/>
              </a:rPr>
              <a:t> </a:t>
            </a:r>
            <a:r>
              <a:rPr lang="en-US" sz="2100" b="1" dirty="0">
                <a:solidFill>
                  <a:srgbClr val="13233B"/>
                </a:solidFill>
                <a:latin typeface="Aptos"/>
              </a:rPr>
              <a:t>R</a:t>
            </a:r>
            <a:r>
              <a:rPr sz="2100" b="1" dirty="0">
                <a:solidFill>
                  <a:srgbClr val="13233B"/>
                </a:solidFill>
                <a:latin typeface="Aptos"/>
              </a:rPr>
              <a:t> ,   inverse-dispersion = </a:t>
            </a:r>
            <a:r>
              <a:rPr sz="2100" b="1" dirty="0" err="1">
                <a:solidFill>
                  <a:srgbClr val="13233B"/>
                </a:solidFill>
                <a:latin typeface="Aptos"/>
              </a:rPr>
              <a:t>φref</a:t>
            </a:r>
            <a:r>
              <a:rPr sz="2100" b="1" dirty="0">
                <a:solidFill>
                  <a:srgbClr val="13233B"/>
                </a:solidFill>
                <a:latin typeface="Aptos"/>
              </a:rPr>
              <a:t> · </a:t>
            </a:r>
            <a:r>
              <a:rPr sz="2100" b="1" dirty="0" err="1">
                <a:solidFill>
                  <a:srgbClr val="13233B"/>
                </a:solidFill>
                <a:latin typeface="Aptos"/>
              </a:rPr>
              <a:t>Σ</a:t>
            </a:r>
            <a:r>
              <a:rPr sz="2100" b="1" dirty="0">
                <a:solidFill>
                  <a:srgbClr val="13233B"/>
                </a:solidFill>
                <a:latin typeface="Aptos"/>
              </a:rPr>
              <a:t> z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72384"/>
            <a:ext cx="104698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2627A"/>
                </a:solidFill>
                <a:latin typeface="Aptos"/>
              </a:rPr>
              <a:t>n = z · R is a dot product: each cell type's amount × its reference rate, added over the cell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749039"/>
            <a:ext cx="539496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How to read the 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4078224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n is the prediction: the counts we would expect if the spot truly had recipe z.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N rarely equals n exactly — sequencing counts fluctuate around the prediction.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φref is a fixed constant estimated from reference cells; multiplied by Σ z, it sets how much spread is allowed.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749039"/>
            <a:ext cx="53035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3233B"/>
                </a:solidFill>
                <a:latin typeface="Aptos"/>
              </a:rPr>
              <a:t>Why the negative binomial?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078224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N is a count — a non-negative whole number — so it needs a count distribution.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A Poisson model forces the spread to equal the mean; real sequencing counts vary more than that (overdispersion).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•  </a:t>
            </a:r>
            <a:r>
              <a:rPr sz="1200">
                <a:solidFill>
                  <a:srgbClr val="213047"/>
                </a:solidFill>
                <a:latin typeface="Aptos"/>
              </a:rPr>
              <a:t>The negative binomial adds a controllable extra-spread term — its variance is n + n² / (φref · Σ z) — so noisy real data fit honestly.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6519672"/>
            <a:ext cx="10945368" cy="10058"/>
          </a:xfrm>
          <a:prstGeom prst="round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ATAC-SEQ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ATAC-seq turns accessible DNA into peak 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8813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0" i="0" dirty="0">
                <a:solidFill>
                  <a:srgbClr val="52627A"/>
                </a:solidFill>
                <a:latin typeface="Aptos"/>
              </a:rPr>
              <a:t>The same genomic regions line up from chromatin → fragments → 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36200"/>
            <a:ext cx="10881360" cy="1271016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67512" y="2823872"/>
            <a:ext cx="10881360" cy="14264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8368" y="4389626"/>
            <a:ext cx="10890504" cy="1627125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22459" y="1536193"/>
            <a:ext cx="2103120" cy="1069848"/>
          </a:xfrm>
          <a:prstGeom prst="rect">
            <a:avLst/>
          </a:prstGeom>
          <a:solidFill>
            <a:srgbClr val="F2F6FE"/>
          </a:solidFill>
          <a:ln w="2540">
            <a:solidFill>
              <a:srgbClr val="F2F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22459" y="2903652"/>
            <a:ext cx="2103120" cy="1225296"/>
          </a:xfrm>
          <a:prstGeom prst="rect">
            <a:avLst/>
          </a:prstGeom>
          <a:solidFill>
            <a:srgbClr val="F2F6FE"/>
          </a:solidFill>
          <a:ln w="2540">
            <a:solidFill>
              <a:srgbClr val="F2F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532120" y="1526371"/>
            <a:ext cx="2377440" cy="1069848"/>
          </a:xfrm>
          <a:prstGeom prst="rect">
            <a:avLst/>
          </a:prstGeom>
          <a:solidFill>
            <a:srgbClr val="EEF9F7"/>
          </a:solidFill>
          <a:ln w="2540">
            <a:solidFill>
              <a:srgbClr val="EEF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532120" y="2903652"/>
            <a:ext cx="2377440" cy="1225296"/>
          </a:xfrm>
          <a:prstGeom prst="rect">
            <a:avLst/>
          </a:prstGeom>
          <a:solidFill>
            <a:srgbClr val="EEF9F7"/>
          </a:solidFill>
          <a:ln w="2540">
            <a:solidFill>
              <a:srgbClr val="EEF9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577006" y="1527726"/>
            <a:ext cx="2148840" cy="1069848"/>
          </a:xfrm>
          <a:prstGeom prst="rect">
            <a:avLst/>
          </a:prstGeom>
          <a:solidFill>
            <a:srgbClr val="FFF8E8"/>
          </a:solidFill>
          <a:ln w="254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77006" y="2911103"/>
            <a:ext cx="2148840" cy="1225296"/>
          </a:xfrm>
          <a:prstGeom prst="rect">
            <a:avLst/>
          </a:prstGeom>
          <a:solidFill>
            <a:srgbClr val="FFF8E8"/>
          </a:solidFill>
          <a:ln w="2540">
            <a:solidFill>
              <a:srgbClr val="FFF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59536" y="1609344"/>
            <a:ext cx="347472" cy="347472"/>
          </a:xfrm>
          <a:prstGeom prst="ellipse">
            <a:avLst/>
          </a:prstGeom>
          <a:solidFill>
            <a:srgbClr val="18A999"/>
          </a:solidFill>
          <a:ln w="1016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1609344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1664208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7F75"/>
                </a:solidFill>
                <a:latin typeface="Aptos"/>
              </a:rPr>
              <a:t>CHROMATIN</a:t>
            </a:r>
          </a:p>
        </p:txBody>
      </p:sp>
      <p:cxnSp>
        <p:nvCxnSpPr>
          <p:cNvPr id="18" name="Connector 17"/>
          <p:cNvCxnSpPr>
            <a:cxnSpLocks/>
          </p:cNvCxnSpPr>
          <p:nvPr/>
        </p:nvCxnSpPr>
        <p:spPr>
          <a:xfrm flipV="1">
            <a:off x="2006600" y="2148840"/>
            <a:ext cx="9130792" cy="9144"/>
          </a:xfrm>
          <a:prstGeom prst="line">
            <a:avLst/>
          </a:prstGeom>
          <a:ln w="21590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 rot="1080000">
            <a:off x="597542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 rot="1080000">
            <a:off x="609740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 rot="1080000">
            <a:off x="622358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 rot="1080000">
            <a:off x="634557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 rot="540000">
            <a:off x="591653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 flipV="1">
            <a:off x="595018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 rot="1080000">
            <a:off x="6889821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 rot="1080000">
            <a:off x="701180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 rot="1080000">
            <a:off x="7137989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 rot="1080000">
            <a:off x="7259970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 rot="540000">
            <a:off x="6830933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" name="Connector 35"/>
          <p:cNvCxnSpPr/>
          <p:nvPr/>
        </p:nvCxnSpPr>
        <p:spPr>
          <a:xfrm flipV="1">
            <a:off x="6864583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 rot="1080000">
            <a:off x="9606943" y="1946940"/>
            <a:ext cx="151424" cy="403799"/>
          </a:xfrm>
          <a:prstGeom prst="ellipse">
            <a:avLst/>
          </a:prstGeom>
          <a:solidFill>
            <a:srgbClr val="6D43D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 rot="1080000">
            <a:off x="9728924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 rot="1080000">
            <a:off x="9855111" y="1946940"/>
            <a:ext cx="151424" cy="403799"/>
          </a:xfrm>
          <a:prstGeom prst="ellipse">
            <a:avLst/>
          </a:prstGeom>
          <a:solidFill>
            <a:srgbClr val="7650DE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1080000">
            <a:off x="9977092" y="1946940"/>
            <a:ext cx="151424" cy="403799"/>
          </a:xfrm>
          <a:prstGeom prst="ellipse">
            <a:avLst/>
          </a:prstGeom>
          <a:solidFill>
            <a:srgbClr val="8B5CF6"/>
          </a:solidFill>
          <a:ln w="7620">
            <a:solidFill>
              <a:srgbClr val="563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 rot="540000">
            <a:off x="9548055" y="1888053"/>
            <a:ext cx="639348" cy="521573"/>
          </a:xfrm>
          <a:prstGeom prst="ellipse">
            <a:avLst/>
          </a:prstGeom>
          <a:noFill/>
          <a:ln w="18415">
            <a:solidFill>
              <a:srgbClr val="6546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9581705" y="2064715"/>
            <a:ext cx="572049" cy="185074"/>
          </a:xfrm>
          <a:prstGeom prst="line">
            <a:avLst/>
          </a:prstGeom>
          <a:ln w="15875">
            <a:solidFill>
              <a:srgbClr val="6546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CCA3A73-A975-5D66-5B21-1DA90F32D180}"/>
              </a:ext>
            </a:extLst>
          </p:cNvPr>
          <p:cNvGrpSpPr/>
          <p:nvPr/>
        </p:nvGrpSpPr>
        <p:grpSpPr>
          <a:xfrm>
            <a:off x="10671413" y="1888053"/>
            <a:ext cx="639348" cy="521573"/>
            <a:chOff x="10671413" y="1888053"/>
            <a:chExt cx="639348" cy="521573"/>
          </a:xfrm>
        </p:grpSpPr>
        <p:sp>
          <p:nvSpPr>
            <p:cNvPr id="43" name="Oval 42"/>
            <p:cNvSpPr/>
            <p:nvPr/>
          </p:nvSpPr>
          <p:spPr>
            <a:xfrm rot="1080000">
              <a:off x="10730301" y="1946940"/>
              <a:ext cx="151424" cy="403799"/>
            </a:xfrm>
            <a:prstGeom prst="ellipse">
              <a:avLst/>
            </a:prstGeom>
            <a:solidFill>
              <a:srgbClr val="6D43D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Oval 43"/>
            <p:cNvSpPr/>
            <p:nvPr/>
          </p:nvSpPr>
          <p:spPr>
            <a:xfrm rot="1080000">
              <a:off x="10852282" y="1946940"/>
              <a:ext cx="151424" cy="403799"/>
            </a:xfrm>
            <a:prstGeom prst="ellipse">
              <a:avLst/>
            </a:prstGeom>
            <a:solidFill>
              <a:srgbClr val="8B5CF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Oval 44"/>
            <p:cNvSpPr/>
            <p:nvPr/>
          </p:nvSpPr>
          <p:spPr>
            <a:xfrm rot="1080000">
              <a:off x="10978469" y="1946940"/>
              <a:ext cx="151424" cy="403799"/>
            </a:xfrm>
            <a:prstGeom prst="ellipse">
              <a:avLst/>
            </a:prstGeom>
            <a:solidFill>
              <a:srgbClr val="7650DE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Oval 45"/>
            <p:cNvSpPr/>
            <p:nvPr/>
          </p:nvSpPr>
          <p:spPr>
            <a:xfrm rot="1080000">
              <a:off x="11100450" y="1946940"/>
              <a:ext cx="151424" cy="403799"/>
            </a:xfrm>
            <a:prstGeom prst="ellipse">
              <a:avLst/>
            </a:prstGeom>
            <a:solidFill>
              <a:srgbClr val="8B5CF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Oval 46"/>
            <p:cNvSpPr/>
            <p:nvPr/>
          </p:nvSpPr>
          <p:spPr>
            <a:xfrm rot="540000">
              <a:off x="10671413" y="1888053"/>
              <a:ext cx="639348" cy="521573"/>
            </a:xfrm>
            <a:prstGeom prst="ellipse">
              <a:avLst/>
            </a:prstGeom>
            <a:noFill/>
            <a:ln w="18415">
              <a:solidFill>
                <a:srgbClr val="65464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8" name="Connector 47"/>
            <p:cNvCxnSpPr/>
            <p:nvPr/>
          </p:nvCxnSpPr>
          <p:spPr>
            <a:xfrm flipV="1">
              <a:off x="10705063" y="2064715"/>
              <a:ext cx="572049" cy="185074"/>
            </a:xfrm>
            <a:prstGeom prst="line">
              <a:avLst/>
            </a:prstGeom>
            <a:ln w="15875">
              <a:solidFill>
                <a:srgbClr val="65464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Oval 48"/>
          <p:cNvSpPr/>
          <p:nvPr/>
        </p:nvSpPr>
        <p:spPr>
          <a:xfrm>
            <a:off x="3081528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72968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3200400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A6F05E57-BDCD-D5B9-73E5-CAC437BD6E69}"/>
              </a:ext>
            </a:extLst>
          </p:cNvPr>
          <p:cNvGrpSpPr/>
          <p:nvPr/>
        </p:nvGrpSpPr>
        <p:grpSpPr>
          <a:xfrm>
            <a:off x="3563449" y="2020824"/>
            <a:ext cx="237745" cy="265176"/>
            <a:chOff x="4672583" y="2020824"/>
            <a:chExt cx="237745" cy="265176"/>
          </a:xfrm>
        </p:grpSpPr>
        <p:sp>
          <p:nvSpPr>
            <p:cNvPr id="52" name="Oval 51"/>
            <p:cNvSpPr/>
            <p:nvPr/>
          </p:nvSpPr>
          <p:spPr>
            <a:xfrm>
              <a:off x="4672583" y="2020824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/>
            <p:cNvSpPr/>
            <p:nvPr/>
          </p:nvSpPr>
          <p:spPr>
            <a:xfrm>
              <a:off x="4764024" y="2057400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4791455" y="2157984"/>
              <a:ext cx="0" cy="128016"/>
            </a:xfrm>
            <a:prstGeom prst="line">
              <a:avLst/>
            </a:prstGeom>
            <a:ln w="1524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Oval 54"/>
          <p:cNvSpPr/>
          <p:nvPr/>
        </p:nvSpPr>
        <p:spPr>
          <a:xfrm>
            <a:off x="5568696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5660136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87568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7690104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781544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0" name="Connector 59"/>
          <p:cNvCxnSpPr/>
          <p:nvPr/>
        </p:nvCxnSpPr>
        <p:spPr>
          <a:xfrm>
            <a:off x="7808975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10291062" y="2020824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10382502" y="2057400"/>
            <a:ext cx="146304" cy="146304"/>
          </a:xfrm>
          <a:prstGeom prst="ellipse">
            <a:avLst/>
          </a:prstGeom>
          <a:solidFill>
            <a:srgbClr val="68B5E8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6" name="Connector 65"/>
          <p:cNvCxnSpPr/>
          <p:nvPr/>
        </p:nvCxnSpPr>
        <p:spPr>
          <a:xfrm>
            <a:off x="10409934" y="2157984"/>
            <a:ext cx="0" cy="128016"/>
          </a:xfrm>
          <a:prstGeom prst="line">
            <a:avLst/>
          </a:prstGeom>
          <a:ln w="1524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2762036" y="1700784"/>
            <a:ext cx="512064" cy="219456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Tn5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11011" y="2415276"/>
            <a:ext cx="1755648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 dirty="0">
                <a:solidFill>
                  <a:srgbClr val="8B5CF6"/>
                </a:solidFill>
                <a:latin typeface="Aptos"/>
              </a:rPr>
              <a:t>DNA wrapped around histones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84509" y="2413510"/>
            <a:ext cx="1261872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 dirty="0">
                <a:solidFill>
                  <a:srgbClr val="0C7F75"/>
                </a:solidFill>
                <a:latin typeface="Aptos"/>
              </a:rPr>
              <a:t>exposed linker DNA</a:t>
            </a:r>
          </a:p>
        </p:txBody>
      </p:sp>
      <p:sp>
        <p:nvSpPr>
          <p:cNvPr id="70" name="Oval 69"/>
          <p:cNvSpPr/>
          <p:nvPr/>
        </p:nvSpPr>
        <p:spPr>
          <a:xfrm>
            <a:off x="859536" y="2916597"/>
            <a:ext cx="347472" cy="347472"/>
          </a:xfrm>
          <a:prstGeom prst="ellipse">
            <a:avLst/>
          </a:prstGeom>
          <a:solidFill>
            <a:srgbClr val="F26B5B"/>
          </a:solidFill>
          <a:ln w="1016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59536" y="2916597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07592" y="2925404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F26B5B"/>
                </a:solidFill>
                <a:latin typeface="Aptos"/>
              </a:rPr>
              <a:t>FRAGMENTS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34222" y="3342303"/>
            <a:ext cx="1671234" cy="219456"/>
          </a:xfrm>
          <a:prstGeom prst="roundRect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00" b="1" dirty="0">
                <a:solidFill>
                  <a:srgbClr val="FFFFFF"/>
                </a:solidFill>
                <a:latin typeface="Aptos"/>
              </a:rPr>
              <a:t>SHORT • OPEN DNA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34222" y="3644397"/>
            <a:ext cx="1671233" cy="219456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760" b="1" dirty="0">
                <a:solidFill>
                  <a:srgbClr val="13233B"/>
                </a:solidFill>
                <a:latin typeface="Aptos"/>
              </a:rPr>
              <a:t>MEDIUM • SPANS 1 NUCLEOSOME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4222" y="3933280"/>
            <a:ext cx="1671234" cy="219456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760" b="1" dirty="0">
                <a:solidFill>
                  <a:srgbClr val="FFFFFF"/>
                </a:solidFill>
                <a:latin typeface="Aptos"/>
              </a:rPr>
              <a:t>LONG • SPANS 2 NUCLEOSOMES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78FAA9B0-6594-4E1A-E16A-6FEA77BBCC36}"/>
              </a:ext>
            </a:extLst>
          </p:cNvPr>
          <p:cNvGrpSpPr/>
          <p:nvPr/>
        </p:nvGrpSpPr>
        <p:grpSpPr>
          <a:xfrm>
            <a:off x="3167042" y="3351276"/>
            <a:ext cx="576072" cy="64008"/>
            <a:chOff x="2921508" y="3351276"/>
            <a:chExt cx="576072" cy="64008"/>
          </a:xfrm>
        </p:grpSpPr>
        <p:cxnSp>
          <p:nvCxnSpPr>
            <p:cNvPr id="76" name="Connector 75"/>
            <p:cNvCxnSpPr/>
            <p:nvPr/>
          </p:nvCxnSpPr>
          <p:spPr>
            <a:xfrm>
              <a:off x="2956899" y="3383280"/>
              <a:ext cx="512064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>
              <a:off x="2953512" y="3383280"/>
              <a:ext cx="109728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3355848" y="3383280"/>
              <a:ext cx="109728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Oval 78"/>
            <p:cNvSpPr/>
            <p:nvPr/>
          </p:nvSpPr>
          <p:spPr>
            <a:xfrm>
              <a:off x="2921508" y="3351276"/>
              <a:ext cx="64008" cy="64008"/>
            </a:xfrm>
            <a:prstGeom prst="ellipse">
              <a:avLst/>
            </a:prstGeom>
            <a:solidFill>
              <a:srgbClr val="13233B"/>
            </a:solidFill>
            <a:ln w="3810">
              <a:solidFill>
                <a:srgbClr val="13233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Oval 79"/>
            <p:cNvSpPr/>
            <p:nvPr/>
          </p:nvSpPr>
          <p:spPr>
            <a:xfrm>
              <a:off x="3433572" y="3351276"/>
              <a:ext cx="64008" cy="64008"/>
            </a:xfrm>
            <a:prstGeom prst="ellipse">
              <a:avLst/>
            </a:prstGeom>
            <a:solidFill>
              <a:srgbClr val="13233B"/>
            </a:solidFill>
            <a:ln w="3810">
              <a:solidFill>
                <a:srgbClr val="13233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283AB225-E1CF-47A4-653A-105E33D7BB83}"/>
              </a:ext>
            </a:extLst>
          </p:cNvPr>
          <p:cNvGrpSpPr/>
          <p:nvPr/>
        </p:nvGrpSpPr>
        <p:grpSpPr>
          <a:xfrm>
            <a:off x="3694176" y="3520439"/>
            <a:ext cx="667512" cy="64008"/>
            <a:chOff x="4046220" y="3945635"/>
            <a:chExt cx="667512" cy="64008"/>
          </a:xfrm>
        </p:grpSpPr>
        <p:cxnSp>
          <p:nvCxnSpPr>
            <p:cNvPr id="86" name="Connector 85"/>
            <p:cNvCxnSpPr/>
            <p:nvPr/>
          </p:nvCxnSpPr>
          <p:spPr>
            <a:xfrm>
              <a:off x="4078224" y="3977639"/>
              <a:ext cx="603504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 86"/>
            <p:cNvCxnSpPr/>
            <p:nvPr/>
          </p:nvCxnSpPr>
          <p:spPr>
            <a:xfrm>
              <a:off x="4078224" y="3977639"/>
              <a:ext cx="109728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>
              <a:off x="4572000" y="3977639"/>
              <a:ext cx="109728" cy="0"/>
            </a:xfrm>
            <a:prstGeom prst="line">
              <a:avLst/>
            </a:prstGeom>
            <a:ln w="4826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Oval 88"/>
            <p:cNvSpPr/>
            <p:nvPr/>
          </p:nvSpPr>
          <p:spPr>
            <a:xfrm>
              <a:off x="4046220" y="3945635"/>
              <a:ext cx="64008" cy="64008"/>
            </a:xfrm>
            <a:prstGeom prst="ellipse">
              <a:avLst/>
            </a:prstGeom>
            <a:solidFill>
              <a:srgbClr val="13233B"/>
            </a:solidFill>
            <a:ln w="3810">
              <a:solidFill>
                <a:srgbClr val="13233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Oval 89"/>
            <p:cNvSpPr/>
            <p:nvPr/>
          </p:nvSpPr>
          <p:spPr>
            <a:xfrm>
              <a:off x="4649724" y="3945635"/>
              <a:ext cx="64008" cy="64008"/>
            </a:xfrm>
            <a:prstGeom prst="ellipse">
              <a:avLst/>
            </a:prstGeom>
            <a:solidFill>
              <a:srgbClr val="13233B"/>
            </a:solidFill>
            <a:ln w="3810">
              <a:solidFill>
                <a:srgbClr val="13233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96" name="Connector 95"/>
          <p:cNvCxnSpPr/>
          <p:nvPr/>
        </p:nvCxnSpPr>
        <p:spPr>
          <a:xfrm>
            <a:off x="5728549" y="3858768"/>
            <a:ext cx="2029968" cy="0"/>
          </a:xfrm>
          <a:prstGeom prst="line">
            <a:avLst/>
          </a:prstGeom>
          <a:ln w="4826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728549" y="385876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648789" y="385876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5696545" y="382676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7726513" y="3826763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Connector 100"/>
          <p:cNvCxnSpPr/>
          <p:nvPr/>
        </p:nvCxnSpPr>
        <p:spPr>
          <a:xfrm>
            <a:off x="4283964" y="3378708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4283964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527548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4251960" y="3346704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605272" y="3346704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859536" y="4553712"/>
            <a:ext cx="347472" cy="347472"/>
          </a:xfrm>
          <a:prstGeom prst="ellipse">
            <a:avLst/>
          </a:prstGeom>
          <a:solidFill>
            <a:srgbClr val="3B82F6"/>
          </a:solidFill>
          <a:ln w="101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59536" y="4553712"/>
            <a:ext cx="347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307592" y="4608576"/>
            <a:ext cx="1280160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B82F6"/>
                </a:solidFill>
                <a:latin typeface="Aptos"/>
              </a:rPr>
              <a:t>PEAK COUNTS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35489" y="5245948"/>
            <a:ext cx="1627631" cy="310895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750" b="1" dirty="0">
                <a:solidFill>
                  <a:srgbClr val="FFFFFF"/>
                </a:solidFill>
                <a:latin typeface="Aptos"/>
              </a:rPr>
              <a:t>HEIGHT = COUNT </a:t>
            </a:r>
            <a:r>
              <a:rPr lang="en-US" sz="750" b="1" dirty="0">
                <a:solidFill>
                  <a:srgbClr val="FFFFFF"/>
                </a:solidFill>
                <a:latin typeface="Aptos"/>
              </a:rPr>
              <a:t>   </a:t>
            </a:r>
          </a:p>
          <a:p>
            <a:pPr algn="ctr"/>
            <a:r>
              <a:rPr sz="750" b="1" dirty="0">
                <a:solidFill>
                  <a:srgbClr val="FFFFFF"/>
                </a:solidFill>
                <a:latin typeface="Aptos"/>
              </a:rPr>
              <a:t>COLOR = FRAGMENT </a:t>
            </a:r>
            <a:r>
              <a:rPr lang="en-US" sz="75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750" b="1" dirty="0">
                <a:solidFill>
                  <a:srgbClr val="FFFFFF"/>
                </a:solidFill>
                <a:latin typeface="Aptos"/>
              </a:rPr>
              <a:t>LENGTH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697480" y="5696712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2395728" y="5614416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2697480" y="5385816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2395728" y="5303520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2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2697480" y="5074920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2395728" y="4992624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4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2697480" y="4764024"/>
            <a:ext cx="8439912" cy="0"/>
          </a:xfrm>
          <a:prstGeom prst="line">
            <a:avLst/>
          </a:prstGeom>
          <a:ln w="889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2395728" y="4681728"/>
            <a:ext cx="219456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2627A"/>
                </a:solidFill>
                <a:latin typeface="Aptos"/>
              </a:rPr>
              <a:t>6</a:t>
            </a:r>
          </a:p>
        </p:txBody>
      </p:sp>
      <p:cxnSp>
        <p:nvCxnSpPr>
          <p:cNvPr id="118" name="Connector 117"/>
          <p:cNvCxnSpPr/>
          <p:nvPr/>
        </p:nvCxnSpPr>
        <p:spPr>
          <a:xfrm flipV="1">
            <a:off x="2697480" y="4764024"/>
            <a:ext cx="0" cy="932688"/>
          </a:xfrm>
          <a:prstGeom prst="line">
            <a:avLst/>
          </a:prstGeom>
          <a:ln w="1270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2788920" y="5074920"/>
            <a:ext cx="2103120" cy="621792"/>
          </a:xfrm>
          <a:prstGeom prst="rect">
            <a:avLst/>
          </a:prstGeom>
          <a:solidFill>
            <a:srgbClr val="F26B5B"/>
          </a:solidFill>
          <a:ln w="1016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2788920" y="4700016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88920" y="5742432"/>
            <a:ext cx="21031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532120" y="5385816"/>
            <a:ext cx="2377440" cy="310896"/>
          </a:xfrm>
          <a:prstGeom prst="rect">
            <a:avLst/>
          </a:prstGeom>
          <a:solidFill>
            <a:srgbClr val="F4B942"/>
          </a:solidFill>
          <a:ln w="1016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5532120" y="4855464"/>
            <a:ext cx="23774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532120" y="5742432"/>
            <a:ext cx="23774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2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641080" y="5230368"/>
            <a:ext cx="2148840" cy="466344"/>
          </a:xfrm>
          <a:prstGeom prst="rect">
            <a:avLst/>
          </a:prstGeom>
          <a:solidFill>
            <a:srgbClr val="F4B942"/>
          </a:solidFill>
          <a:ln w="1016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8641080" y="501091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3233B"/>
                </a:solidFill>
                <a:latin typeface="Aptos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41080" y="5742432"/>
            <a:ext cx="21488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3233B"/>
                </a:solidFill>
                <a:latin typeface="Aptos"/>
              </a:rPr>
              <a:t>Peak 3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956816" y="6144768"/>
            <a:ext cx="8275320" cy="265176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P1: 4 short + 1 medium = 5   |   P2: 2 medium + 2 long = 4   |   P3: 3 medium = 3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1DE9F79-728C-4034-9189-78B7052450D2}"/>
              </a:ext>
            </a:extLst>
          </p:cNvPr>
          <p:cNvGrpSpPr/>
          <p:nvPr/>
        </p:nvGrpSpPr>
        <p:grpSpPr>
          <a:xfrm>
            <a:off x="4739024" y="1878727"/>
            <a:ext cx="639348" cy="521573"/>
            <a:chOff x="10671413" y="1888053"/>
            <a:chExt cx="639348" cy="521573"/>
          </a:xfrm>
        </p:grpSpPr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8D6186E8-9F9D-9BF3-6906-2FF6685E9480}"/>
                </a:ext>
              </a:extLst>
            </p:cNvPr>
            <p:cNvSpPr/>
            <p:nvPr/>
          </p:nvSpPr>
          <p:spPr>
            <a:xfrm rot="1080000">
              <a:off x="10730301" y="1946940"/>
              <a:ext cx="151424" cy="403799"/>
            </a:xfrm>
            <a:prstGeom prst="ellipse">
              <a:avLst/>
            </a:prstGeom>
            <a:solidFill>
              <a:srgbClr val="6D43D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E07082EB-53D1-E15C-9824-24C37F5563AA}"/>
                </a:ext>
              </a:extLst>
            </p:cNvPr>
            <p:cNvSpPr/>
            <p:nvPr/>
          </p:nvSpPr>
          <p:spPr>
            <a:xfrm rot="1080000">
              <a:off x="10852282" y="1946940"/>
              <a:ext cx="151424" cy="403799"/>
            </a:xfrm>
            <a:prstGeom prst="ellipse">
              <a:avLst/>
            </a:prstGeom>
            <a:solidFill>
              <a:srgbClr val="8B5CF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01F5811A-78D8-B932-2660-BFC35436EE0E}"/>
                </a:ext>
              </a:extLst>
            </p:cNvPr>
            <p:cNvSpPr/>
            <p:nvPr/>
          </p:nvSpPr>
          <p:spPr>
            <a:xfrm rot="1080000">
              <a:off x="10978469" y="1946940"/>
              <a:ext cx="151424" cy="403799"/>
            </a:xfrm>
            <a:prstGeom prst="ellipse">
              <a:avLst/>
            </a:prstGeom>
            <a:solidFill>
              <a:srgbClr val="7650DE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594C759A-E9B3-C751-8F45-C28BEF9190EC}"/>
                </a:ext>
              </a:extLst>
            </p:cNvPr>
            <p:cNvSpPr/>
            <p:nvPr/>
          </p:nvSpPr>
          <p:spPr>
            <a:xfrm rot="1080000">
              <a:off x="11100450" y="1946940"/>
              <a:ext cx="151424" cy="403799"/>
            </a:xfrm>
            <a:prstGeom prst="ellipse">
              <a:avLst/>
            </a:prstGeom>
            <a:solidFill>
              <a:srgbClr val="8B5CF6"/>
            </a:solidFill>
            <a:ln w="7620">
              <a:solidFill>
                <a:srgbClr val="563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9319E1C6-5B1A-5B10-5D4A-184321C79C78}"/>
                </a:ext>
              </a:extLst>
            </p:cNvPr>
            <p:cNvSpPr/>
            <p:nvPr/>
          </p:nvSpPr>
          <p:spPr>
            <a:xfrm rot="540000">
              <a:off x="10671413" y="1888053"/>
              <a:ext cx="639348" cy="521573"/>
            </a:xfrm>
            <a:prstGeom prst="ellipse">
              <a:avLst/>
            </a:prstGeom>
            <a:noFill/>
            <a:ln w="18415">
              <a:solidFill>
                <a:srgbClr val="65464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40" name="Connector 47">
              <a:extLst>
                <a:ext uri="{FF2B5EF4-FFF2-40B4-BE49-F238E27FC236}">
                  <a16:creationId xmlns:a16="http://schemas.microsoft.com/office/drawing/2014/main" id="{1CEE1483-ECB0-8346-B113-9E56CCE5F6E8}"/>
                </a:ext>
              </a:extLst>
            </p:cNvPr>
            <p:cNvCxnSpPr/>
            <p:nvPr/>
          </p:nvCxnSpPr>
          <p:spPr>
            <a:xfrm flipV="1">
              <a:off x="10705063" y="2064715"/>
              <a:ext cx="572049" cy="185074"/>
            </a:xfrm>
            <a:prstGeom prst="line">
              <a:avLst/>
            </a:prstGeom>
            <a:ln w="15875">
              <a:solidFill>
                <a:srgbClr val="65464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8B578617-B8AD-22EB-8FE6-DE0498D5FF98}"/>
              </a:ext>
            </a:extLst>
          </p:cNvPr>
          <p:cNvGrpSpPr/>
          <p:nvPr/>
        </p:nvGrpSpPr>
        <p:grpSpPr>
          <a:xfrm>
            <a:off x="4088384" y="2029291"/>
            <a:ext cx="237745" cy="265176"/>
            <a:chOff x="4672583" y="2020824"/>
            <a:chExt cx="237745" cy="265176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686BAE1D-119C-315C-8D43-EE08683DF742}"/>
                </a:ext>
              </a:extLst>
            </p:cNvPr>
            <p:cNvSpPr/>
            <p:nvPr/>
          </p:nvSpPr>
          <p:spPr>
            <a:xfrm>
              <a:off x="4672583" y="2020824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2FCB1CC9-2315-9A61-3C8F-A514EA889DA9}"/>
                </a:ext>
              </a:extLst>
            </p:cNvPr>
            <p:cNvSpPr/>
            <p:nvPr/>
          </p:nvSpPr>
          <p:spPr>
            <a:xfrm>
              <a:off x="4764024" y="2057400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46" name="Connector 53">
              <a:extLst>
                <a:ext uri="{FF2B5EF4-FFF2-40B4-BE49-F238E27FC236}">
                  <a16:creationId xmlns:a16="http://schemas.microsoft.com/office/drawing/2014/main" id="{86AE6355-591D-8139-0F18-34272AE7FA50}"/>
                </a:ext>
              </a:extLst>
            </p:cNvPr>
            <p:cNvCxnSpPr/>
            <p:nvPr/>
          </p:nvCxnSpPr>
          <p:spPr>
            <a:xfrm>
              <a:off x="4791455" y="2157984"/>
              <a:ext cx="0" cy="128016"/>
            </a:xfrm>
            <a:prstGeom prst="line">
              <a:avLst/>
            </a:prstGeom>
            <a:ln w="1524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Connector 100">
            <a:extLst>
              <a:ext uri="{FF2B5EF4-FFF2-40B4-BE49-F238E27FC236}">
                <a16:creationId xmlns:a16="http://schemas.microsoft.com/office/drawing/2014/main" id="{DFB0169C-5962-5D52-C9E0-C7137A8FD201}"/>
              </a:ext>
            </a:extLst>
          </p:cNvPr>
          <p:cNvCxnSpPr/>
          <p:nvPr/>
        </p:nvCxnSpPr>
        <p:spPr>
          <a:xfrm>
            <a:off x="7712973" y="3378708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01">
            <a:extLst>
              <a:ext uri="{FF2B5EF4-FFF2-40B4-BE49-F238E27FC236}">
                <a16:creationId xmlns:a16="http://schemas.microsoft.com/office/drawing/2014/main" id="{B31EB16C-5F46-3FB5-280F-E33B2D0E311A}"/>
              </a:ext>
            </a:extLst>
          </p:cNvPr>
          <p:cNvCxnSpPr/>
          <p:nvPr/>
        </p:nvCxnSpPr>
        <p:spPr>
          <a:xfrm>
            <a:off x="7712973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02">
            <a:extLst>
              <a:ext uri="{FF2B5EF4-FFF2-40B4-BE49-F238E27FC236}">
                <a16:creationId xmlns:a16="http://schemas.microsoft.com/office/drawing/2014/main" id="{5FAB11DE-6063-835E-AC58-684BC47CE59A}"/>
              </a:ext>
            </a:extLst>
          </p:cNvPr>
          <p:cNvCxnSpPr/>
          <p:nvPr/>
        </p:nvCxnSpPr>
        <p:spPr>
          <a:xfrm>
            <a:off x="8956557" y="3378708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CD4931C4-1494-0123-D01A-56BEB5D1FA4E}"/>
              </a:ext>
            </a:extLst>
          </p:cNvPr>
          <p:cNvSpPr/>
          <p:nvPr/>
        </p:nvSpPr>
        <p:spPr>
          <a:xfrm>
            <a:off x="7680969" y="3346704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45C247A5-529E-86B8-6A5B-A30E48F2C840}"/>
              </a:ext>
            </a:extLst>
          </p:cNvPr>
          <p:cNvSpPr/>
          <p:nvPr/>
        </p:nvSpPr>
        <p:spPr>
          <a:xfrm>
            <a:off x="9034281" y="3346704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00">
            <a:extLst>
              <a:ext uri="{FF2B5EF4-FFF2-40B4-BE49-F238E27FC236}">
                <a16:creationId xmlns:a16="http://schemas.microsoft.com/office/drawing/2014/main" id="{EF920130-0478-7CE5-58D5-635611990681}"/>
              </a:ext>
            </a:extLst>
          </p:cNvPr>
          <p:cNvCxnSpPr/>
          <p:nvPr/>
        </p:nvCxnSpPr>
        <p:spPr>
          <a:xfrm>
            <a:off x="9059175" y="3573443"/>
            <a:ext cx="1353312" cy="0"/>
          </a:xfrm>
          <a:prstGeom prst="line">
            <a:avLst/>
          </a:prstGeom>
          <a:ln w="48260">
            <a:solidFill>
              <a:srgbClr val="F4B9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01">
            <a:extLst>
              <a:ext uri="{FF2B5EF4-FFF2-40B4-BE49-F238E27FC236}">
                <a16:creationId xmlns:a16="http://schemas.microsoft.com/office/drawing/2014/main" id="{1F9912B1-511A-438E-6CE3-2AACEC9A574D}"/>
              </a:ext>
            </a:extLst>
          </p:cNvPr>
          <p:cNvCxnSpPr/>
          <p:nvPr/>
        </p:nvCxnSpPr>
        <p:spPr>
          <a:xfrm>
            <a:off x="9059175" y="3573443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02">
            <a:extLst>
              <a:ext uri="{FF2B5EF4-FFF2-40B4-BE49-F238E27FC236}">
                <a16:creationId xmlns:a16="http://schemas.microsoft.com/office/drawing/2014/main" id="{89FB7EEE-B50C-7B71-450A-FDB0C0D21772}"/>
              </a:ext>
            </a:extLst>
          </p:cNvPr>
          <p:cNvCxnSpPr/>
          <p:nvPr/>
        </p:nvCxnSpPr>
        <p:spPr>
          <a:xfrm>
            <a:off x="10302759" y="3573443"/>
            <a:ext cx="109728" cy="0"/>
          </a:xfrm>
          <a:prstGeom prst="line">
            <a:avLst/>
          </a:prstGeom>
          <a:ln w="48260">
            <a:solidFill>
              <a:srgbClr val="F26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Oval 156">
            <a:extLst>
              <a:ext uri="{FF2B5EF4-FFF2-40B4-BE49-F238E27FC236}">
                <a16:creationId xmlns:a16="http://schemas.microsoft.com/office/drawing/2014/main" id="{21E4F913-B0B0-6FD5-E580-439CEF2025FA}"/>
              </a:ext>
            </a:extLst>
          </p:cNvPr>
          <p:cNvSpPr/>
          <p:nvPr/>
        </p:nvSpPr>
        <p:spPr>
          <a:xfrm>
            <a:off x="9027171" y="3541439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D829176B-BD1A-6929-3794-0C9ECBB0B43D}"/>
              </a:ext>
            </a:extLst>
          </p:cNvPr>
          <p:cNvSpPr/>
          <p:nvPr/>
        </p:nvSpPr>
        <p:spPr>
          <a:xfrm>
            <a:off x="10380483" y="3541439"/>
            <a:ext cx="64008" cy="64008"/>
          </a:xfrm>
          <a:prstGeom prst="ellipse">
            <a:avLst/>
          </a:prstGeom>
          <a:solidFill>
            <a:srgbClr val="13233B"/>
          </a:solidFill>
          <a:ln w="381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F7734E6-1F99-4DC6-6E66-0C2E134781B1}"/>
              </a:ext>
            </a:extLst>
          </p:cNvPr>
          <p:cNvGrpSpPr/>
          <p:nvPr/>
        </p:nvGrpSpPr>
        <p:grpSpPr>
          <a:xfrm>
            <a:off x="8989903" y="2012893"/>
            <a:ext cx="237745" cy="265176"/>
            <a:chOff x="4672583" y="2020824"/>
            <a:chExt cx="237745" cy="265176"/>
          </a:xfrm>
        </p:grpSpPr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F306B23F-011F-0088-FA9B-2A64DCE21717}"/>
                </a:ext>
              </a:extLst>
            </p:cNvPr>
            <p:cNvSpPr/>
            <p:nvPr/>
          </p:nvSpPr>
          <p:spPr>
            <a:xfrm>
              <a:off x="4672583" y="2020824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6831C35F-4C41-1439-26D3-24C9AE45AEA0}"/>
                </a:ext>
              </a:extLst>
            </p:cNvPr>
            <p:cNvSpPr/>
            <p:nvPr/>
          </p:nvSpPr>
          <p:spPr>
            <a:xfrm>
              <a:off x="4764024" y="2057400"/>
              <a:ext cx="146304" cy="146304"/>
            </a:xfrm>
            <a:prstGeom prst="ellipse">
              <a:avLst/>
            </a:prstGeom>
            <a:solidFill>
              <a:srgbClr val="68B5E8"/>
            </a:solidFill>
            <a:ln w="762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62" name="Connector 53">
              <a:extLst>
                <a:ext uri="{FF2B5EF4-FFF2-40B4-BE49-F238E27FC236}">
                  <a16:creationId xmlns:a16="http://schemas.microsoft.com/office/drawing/2014/main" id="{61CE2E0C-26EB-1812-CAB3-31AA4EAA5C6F}"/>
                </a:ext>
              </a:extLst>
            </p:cNvPr>
            <p:cNvCxnSpPr/>
            <p:nvPr/>
          </p:nvCxnSpPr>
          <p:spPr>
            <a:xfrm>
              <a:off x="4791455" y="2157984"/>
              <a:ext cx="0" cy="128016"/>
            </a:xfrm>
            <a:prstGeom prst="line">
              <a:avLst/>
            </a:prstGeom>
            <a:ln w="15240">
              <a:solidFill>
                <a:srgbClr val="F26B5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Peak count stack P1 medium"/>
          <p:cNvSpPr/>
          <p:nvPr/>
        </p:nvSpPr>
        <p:spPr>
          <a:xfrm>
            <a:off x="2788920" y="4919472"/>
            <a:ext cx="2103120" cy="155448"/>
          </a:xfrm>
          <a:prstGeom prst="rect">
            <a:avLst/>
          </a:prstGeom>
          <a:solidFill>
            <a:srgbClr val="F4B942"/>
          </a:solidFill>
          <a:ln w="1016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Peak count stack P2 long"/>
          <p:cNvSpPr/>
          <p:nvPr/>
        </p:nvSpPr>
        <p:spPr>
          <a:xfrm>
            <a:off x="5532120" y="5074920"/>
            <a:ext cx="2377440" cy="310896"/>
          </a:xfrm>
          <a:prstGeom prst="rect">
            <a:avLst/>
          </a:prstGeom>
          <a:solidFill>
            <a:srgbClr val="8B5CF6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Peak count stack label P1 short"/>
          <p:cNvSpPr txBox="1"/>
          <p:nvPr/>
        </p:nvSpPr>
        <p:spPr>
          <a:xfrm>
            <a:off x="2788920" y="5074920"/>
            <a:ext cx="2103120" cy="6217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66" name="Peak count stack label P1 medium"/>
          <p:cNvSpPr txBox="1"/>
          <p:nvPr/>
        </p:nvSpPr>
        <p:spPr>
          <a:xfrm>
            <a:off x="2788920" y="4919472"/>
            <a:ext cx="2103120" cy="1554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50" b="1">
                <a:solidFill>
                  <a:srgbClr val="13233B"/>
                </a:solidFill>
                <a:latin typeface="Aptos"/>
              </a:rPr>
              <a:t>1</a:t>
            </a:r>
          </a:p>
        </p:txBody>
      </p:sp>
      <p:sp>
        <p:nvSpPr>
          <p:cNvPr id="167" name="Peak count stack label P2 medium"/>
          <p:cNvSpPr txBox="1"/>
          <p:nvPr/>
        </p:nvSpPr>
        <p:spPr>
          <a:xfrm>
            <a:off x="5532120" y="5385816"/>
            <a:ext cx="237744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68" name="Peak count stack label P2 long"/>
          <p:cNvSpPr txBox="1"/>
          <p:nvPr/>
        </p:nvSpPr>
        <p:spPr>
          <a:xfrm>
            <a:off x="5532120" y="5074920"/>
            <a:ext cx="237744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9" name="Peak count stack label P3 medium"/>
          <p:cNvSpPr txBox="1"/>
          <p:nvPr/>
        </p:nvSpPr>
        <p:spPr>
          <a:xfrm>
            <a:off x="8641080" y="5230368"/>
            <a:ext cx="2148840" cy="4663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3233B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CORE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Deconvolution works like identifying ingredients in a smoothie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069848"/>
            <a:ext cx="10881360" cy="42062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52627A"/>
                </a:solidFill>
                <a:latin typeface="Aptos"/>
              </a:rPr>
              <a:t>Known reference fingerprints + an unknown mixture → estimated cell-type proportions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847088"/>
            <a:ext cx="2907792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2276856"/>
            <a:ext cx="475488" cy="475488"/>
          </a:xfrm>
          <a:prstGeom prst="ellipse">
            <a:avLst/>
          </a:prstGeom>
          <a:solidFill>
            <a:srgbClr val="18A99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78992" y="2432304"/>
            <a:ext cx="155448" cy="155448"/>
          </a:xfrm>
          <a:prstGeom prst="ellipse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08760" y="2029968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A999"/>
                </a:solidFill>
                <a:latin typeface="Aptos"/>
              </a:rPr>
              <a:t>T cell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2350008"/>
            <a:ext cx="859536" cy="210312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DDF4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760" b="1">
                <a:solidFill>
                  <a:srgbClr val="18A999"/>
                </a:solidFill>
                <a:latin typeface="Aptos"/>
              </a:rPr>
              <a:t>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0864" y="2240279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864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642615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2656" y="2340863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2656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2542031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3552" y="29443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59152" y="2907791"/>
            <a:ext cx="122529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4944" y="3675887"/>
            <a:ext cx="2907792" cy="1389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14400" y="4105655"/>
            <a:ext cx="475488" cy="47548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78992" y="4261103"/>
            <a:ext cx="155448" cy="155448"/>
          </a:xfrm>
          <a:prstGeom prst="ellipse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08760" y="3858768"/>
            <a:ext cx="107899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B82F6"/>
                </a:solidFill>
                <a:latin typeface="Aptos"/>
              </a:rPr>
              <a:t>B cell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08760" y="4178807"/>
            <a:ext cx="859536" cy="210312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E7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760" b="1">
                <a:solidFill>
                  <a:srgbClr val="3B82F6"/>
                </a:solidFill>
                <a:latin typeface="Aptos"/>
              </a:rPr>
              <a:t>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40864" y="4471416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40864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51760" y="4069080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62656" y="4370832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62656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73552" y="4169663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73552" y="4773168"/>
            <a:ext cx="329184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359152" y="4736592"/>
            <a:ext cx="122529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59536" y="5193792"/>
            <a:ext cx="868680" cy="219456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3233B"/>
                </a:solidFill>
                <a:latin typeface="Aptos"/>
              </a:rPr>
              <a:t>LENGTH BINS: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11880" y="3099816"/>
            <a:ext cx="329184" cy="475488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52627A"/>
                </a:solidFill>
                <a:latin typeface="Aptos"/>
              </a:rPr>
              <a:t>+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005072" y="1847088"/>
            <a:ext cx="2944368" cy="3218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97680" y="2084831"/>
            <a:ext cx="2359152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B5CF6"/>
                </a:solidFill>
                <a:latin typeface="Aptos"/>
              </a:rPr>
              <a:t>UNKNOWN MIXED SPOT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6824" y="2441448"/>
            <a:ext cx="2340864" cy="21945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2627A"/>
                </a:solidFill>
                <a:latin typeface="Aptos"/>
              </a:rPr>
              <a:t>observed ATAC count profile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0" y="2889504"/>
            <a:ext cx="2359152" cy="1865376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62272" y="3364992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62272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74336" y="380390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74336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3474720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98464" y="3694176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3233B"/>
                </a:solidFill>
                <a:latin typeface="Apto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98464" y="4443984"/>
            <a:ext cx="45720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52627A"/>
                </a:solidFill>
                <a:latin typeface="Aptos"/>
              </a:rPr>
              <a:t>P4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480560" y="4407408"/>
            <a:ext cx="1956816" cy="0"/>
          </a:xfrm>
          <a:prstGeom prst="line">
            <a:avLst/>
          </a:prstGeom>
          <a:ln w="10160">
            <a:solidFill>
              <a:srgbClr val="1323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379976" y="4800600"/>
            <a:ext cx="2194560" cy="182880"/>
          </a:xfrm>
          <a:prstGeom prst="rect">
            <a:avLst/>
          </a:prstGeom>
          <a:noFill/>
        </p:spPr>
        <p:txBody>
          <a:bodyPr wrap="none" lIns="27432" tIns="27432" r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52627A"/>
                </a:solidFill>
                <a:latin typeface="Aptos"/>
              </a:rPr>
              <a:t>P1: 8 = 4 short + 3 medium + 1 long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7114032" y="2980944"/>
            <a:ext cx="859536" cy="603504"/>
          </a:xfrm>
          <a:prstGeom prst="rightArrow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7114032" y="3675887"/>
            <a:ext cx="859536" cy="438912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819" b="1">
                <a:solidFill>
                  <a:srgbClr val="FFFFFF"/>
                </a:solidFill>
                <a:latin typeface="Aptos"/>
              </a:rPr>
              <a:t>BAYESIAN
MODEL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65592" y="1847088"/>
            <a:ext cx="3383280" cy="3218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439912" y="2112264"/>
            <a:ext cx="28346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3233B"/>
                </a:solidFill>
                <a:latin typeface="Aptos"/>
              </a:rPr>
              <a:t>Estimated recipe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39912" y="2496312"/>
            <a:ext cx="2834640" cy="310896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A999"/>
                </a:solidFill>
                <a:latin typeface="Aptos"/>
              </a:rPr>
              <a:t>75% T  +  25% 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540496" y="3072384"/>
            <a:ext cx="1975104" cy="530352"/>
          </a:xfrm>
          <a:prstGeom prst="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0515600" y="3072384"/>
            <a:ext cx="658367" cy="5303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8540496" y="3072384"/>
            <a:ext cx="2633472" cy="530352"/>
          </a:xfrm>
          <a:prstGeom prst="rect">
            <a:avLst/>
          </a:prstGeom>
          <a:noFill/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540496" y="3072384"/>
            <a:ext cx="197510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75%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3072384"/>
            <a:ext cx="658367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25%</a:t>
            </a:r>
          </a:p>
        </p:txBody>
      </p:sp>
      <p:sp>
        <p:nvSpPr>
          <p:cNvPr id="72" name="Oval 71"/>
          <p:cNvSpPr/>
          <p:nvPr/>
        </p:nvSpPr>
        <p:spPr>
          <a:xfrm>
            <a:off x="8558784" y="3886200"/>
            <a:ext cx="182880" cy="182880"/>
          </a:xfrm>
          <a:prstGeom prst="ellipse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842248" y="3831335"/>
            <a:ext cx="12984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T cell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42448" y="3831335"/>
            <a:ext cx="548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75%</a:t>
            </a:r>
          </a:p>
        </p:txBody>
      </p:sp>
      <p:sp>
        <p:nvSpPr>
          <p:cNvPr id="75" name="Oval 74"/>
          <p:cNvSpPr/>
          <p:nvPr/>
        </p:nvSpPr>
        <p:spPr>
          <a:xfrm>
            <a:off x="8558784" y="4343400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842248" y="4288536"/>
            <a:ext cx="1298448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B cell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42448" y="4288536"/>
            <a:ext cx="548640" cy="256032"/>
          </a:xfrm>
          <a:prstGeom prst="rect">
            <a:avLst/>
          </a:prstGeom>
          <a:noFill/>
        </p:spPr>
        <p:txBody>
          <a:bodyPr wrap="square" lIns="27432" tIns="27432" r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3233B"/>
                </a:solidFill>
                <a:latin typeface="Aptos"/>
              </a:rPr>
              <a:t>25%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467344" y="4663440"/>
            <a:ext cx="2779776" cy="256032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sz="930" b="1">
                <a:solidFill>
                  <a:srgbClr val="FFFFFF"/>
                </a:solidFill>
                <a:latin typeface="Aptos"/>
              </a:rPr>
              <a:t>mixed = 0.75 × T + 0.25 × B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3000" y="5650992"/>
            <a:ext cx="9912096" cy="347472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tIns="0" rIns="4572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Aptos"/>
              </a:rPr>
              <a:t>SAME PEAK TOTALS  •  EXTRA CLUE: SEGMENT-LENGTH COMPOSITION</a:t>
            </a:r>
          </a:p>
        </p:txBody>
      </p:sp>
      <p:sp>
        <p:nvSpPr>
          <p:cNvPr id="80" name="Length-bin stack bar 11 bin 1"/>
          <p:cNvSpPr/>
          <p:nvPr/>
        </p:nvSpPr>
        <p:spPr>
          <a:xfrm>
            <a:off x="2414016" y="2656332"/>
            <a:ext cx="182880" cy="251460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Length-bin stack bar 11 bin 2"/>
          <p:cNvSpPr/>
          <p:nvPr/>
        </p:nvSpPr>
        <p:spPr>
          <a:xfrm>
            <a:off x="2414016" y="2455164"/>
            <a:ext cx="182880" cy="201168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Length-bin stack bar 11 bin 3"/>
          <p:cNvSpPr/>
          <p:nvPr/>
        </p:nvSpPr>
        <p:spPr>
          <a:xfrm>
            <a:off x="2414016" y="2404872"/>
            <a:ext cx="182880" cy="50292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Length-bin stack bar 14 bin 1"/>
          <p:cNvSpPr/>
          <p:nvPr/>
        </p:nvSpPr>
        <p:spPr>
          <a:xfrm>
            <a:off x="2724912" y="2857500"/>
            <a:ext cx="182880" cy="50292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Length-bin stack bar 14 bin 2"/>
          <p:cNvSpPr/>
          <p:nvPr/>
        </p:nvSpPr>
        <p:spPr>
          <a:xfrm>
            <a:off x="2724912" y="2807208"/>
            <a:ext cx="182880" cy="50292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Length-bin stack bar 17 bin 1"/>
          <p:cNvSpPr/>
          <p:nvPr/>
        </p:nvSpPr>
        <p:spPr>
          <a:xfrm>
            <a:off x="3035808" y="2706624"/>
            <a:ext cx="182880" cy="201168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Length-bin stack bar 17 bin 2"/>
          <p:cNvSpPr/>
          <p:nvPr/>
        </p:nvSpPr>
        <p:spPr>
          <a:xfrm>
            <a:off x="3035808" y="2606040"/>
            <a:ext cx="182880" cy="1005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Length-bin stack bar 17 bin 3"/>
          <p:cNvSpPr/>
          <p:nvPr/>
        </p:nvSpPr>
        <p:spPr>
          <a:xfrm>
            <a:off x="3035808" y="2505456"/>
            <a:ext cx="182880" cy="100584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Length-bin stack bar 20 bin 2"/>
          <p:cNvSpPr/>
          <p:nvPr/>
        </p:nvSpPr>
        <p:spPr>
          <a:xfrm>
            <a:off x="3346704" y="2807207"/>
            <a:ext cx="182880" cy="1005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Length-bin stack bar 20 bin 3"/>
          <p:cNvSpPr/>
          <p:nvPr/>
        </p:nvSpPr>
        <p:spPr>
          <a:xfrm>
            <a:off x="3346704" y="2706623"/>
            <a:ext cx="182880" cy="100584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Length-bin stack bar 29 bin 1"/>
          <p:cNvSpPr/>
          <p:nvPr/>
        </p:nvSpPr>
        <p:spPr>
          <a:xfrm>
            <a:off x="2414016" y="4686299"/>
            <a:ext cx="182880" cy="50292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Length-bin stack bar 29 bin 3"/>
          <p:cNvSpPr/>
          <p:nvPr/>
        </p:nvSpPr>
        <p:spPr>
          <a:xfrm>
            <a:off x="2414016" y="4636007"/>
            <a:ext cx="182880" cy="50292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Length-bin stack bar 32 bin 1"/>
          <p:cNvSpPr/>
          <p:nvPr/>
        </p:nvSpPr>
        <p:spPr>
          <a:xfrm>
            <a:off x="2724912" y="4485132"/>
            <a:ext cx="182880" cy="251460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Length-bin stack bar 32 bin 2"/>
          <p:cNvSpPr/>
          <p:nvPr/>
        </p:nvSpPr>
        <p:spPr>
          <a:xfrm>
            <a:off x="2724912" y="4434840"/>
            <a:ext cx="182880" cy="50292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Length-bin stack bar 32 bin 3"/>
          <p:cNvSpPr/>
          <p:nvPr/>
        </p:nvSpPr>
        <p:spPr>
          <a:xfrm>
            <a:off x="2724912" y="4233672"/>
            <a:ext cx="182880" cy="201168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Length-bin stack bar 35 bin 2"/>
          <p:cNvSpPr/>
          <p:nvPr/>
        </p:nvSpPr>
        <p:spPr>
          <a:xfrm>
            <a:off x="3035808" y="4636008"/>
            <a:ext cx="182880" cy="1005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Length-bin stack bar 35 bin 3"/>
          <p:cNvSpPr/>
          <p:nvPr/>
        </p:nvSpPr>
        <p:spPr>
          <a:xfrm>
            <a:off x="3035808" y="4535424"/>
            <a:ext cx="182880" cy="100584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Length-bin stack bar 38 bin 1"/>
          <p:cNvSpPr/>
          <p:nvPr/>
        </p:nvSpPr>
        <p:spPr>
          <a:xfrm>
            <a:off x="3346704" y="4535423"/>
            <a:ext cx="182880" cy="201168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Length-bin stack bar 38 bin 2"/>
          <p:cNvSpPr/>
          <p:nvPr/>
        </p:nvSpPr>
        <p:spPr>
          <a:xfrm>
            <a:off x="3346704" y="4434839"/>
            <a:ext cx="182880" cy="1005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Length-bin stack bar 38 bin 3"/>
          <p:cNvSpPr/>
          <p:nvPr/>
        </p:nvSpPr>
        <p:spPr>
          <a:xfrm>
            <a:off x="3346704" y="4334255"/>
            <a:ext cx="182880" cy="100584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Length-bin stack bar 48 bin 1"/>
          <p:cNvSpPr/>
          <p:nvPr/>
        </p:nvSpPr>
        <p:spPr>
          <a:xfrm>
            <a:off x="4535424" y="3968496"/>
            <a:ext cx="310896" cy="438912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Length-bin stack bar 48 bin 2"/>
          <p:cNvSpPr/>
          <p:nvPr/>
        </p:nvSpPr>
        <p:spPr>
          <a:xfrm>
            <a:off x="4535424" y="3639312"/>
            <a:ext cx="310896" cy="329184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Length-bin stack bar 48 bin 3"/>
          <p:cNvSpPr/>
          <p:nvPr/>
        </p:nvSpPr>
        <p:spPr>
          <a:xfrm>
            <a:off x="4535424" y="3529584"/>
            <a:ext cx="310896" cy="109728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Length-bin stack bar 51 bin 1"/>
          <p:cNvSpPr/>
          <p:nvPr/>
        </p:nvSpPr>
        <p:spPr>
          <a:xfrm>
            <a:off x="5047488" y="4187952"/>
            <a:ext cx="310896" cy="219456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Length-bin stack bar 51 bin 2"/>
          <p:cNvSpPr/>
          <p:nvPr/>
        </p:nvSpPr>
        <p:spPr>
          <a:xfrm>
            <a:off x="5047488" y="4078224"/>
            <a:ext cx="310896" cy="109728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Length-bin stack bar 51 bin 3"/>
          <p:cNvSpPr/>
          <p:nvPr/>
        </p:nvSpPr>
        <p:spPr>
          <a:xfrm>
            <a:off x="5047488" y="3968496"/>
            <a:ext cx="310896" cy="109728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Length-bin stack bar 54 bin 1"/>
          <p:cNvSpPr/>
          <p:nvPr/>
        </p:nvSpPr>
        <p:spPr>
          <a:xfrm>
            <a:off x="5559552" y="4078224"/>
            <a:ext cx="310896" cy="329184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Length-bin stack bar 54 bin 2"/>
          <p:cNvSpPr/>
          <p:nvPr/>
        </p:nvSpPr>
        <p:spPr>
          <a:xfrm>
            <a:off x="5559552" y="3858768"/>
            <a:ext cx="310896" cy="219456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Length-bin stack bar 54 bin 3"/>
          <p:cNvSpPr/>
          <p:nvPr/>
        </p:nvSpPr>
        <p:spPr>
          <a:xfrm>
            <a:off x="5559552" y="3639312"/>
            <a:ext cx="310896" cy="219456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Length-bin stack bar 57 bin 1"/>
          <p:cNvSpPr/>
          <p:nvPr/>
        </p:nvSpPr>
        <p:spPr>
          <a:xfrm>
            <a:off x="6071616" y="4297680"/>
            <a:ext cx="310896" cy="109728"/>
          </a:xfrm>
          <a:prstGeom prst="rect">
            <a:avLst/>
          </a:prstGeom>
          <a:solidFill>
            <a:srgbClr val="F26B5B"/>
          </a:solidFill>
          <a:ln w="4445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Length-bin stack bar 57 bin 2"/>
          <p:cNvSpPr/>
          <p:nvPr/>
        </p:nvSpPr>
        <p:spPr>
          <a:xfrm>
            <a:off x="6071616" y="4078224"/>
            <a:ext cx="310896" cy="219456"/>
          </a:xfrm>
          <a:prstGeom prst="rect">
            <a:avLst/>
          </a:prstGeom>
          <a:solidFill>
            <a:srgbClr val="F4B942"/>
          </a:solidFill>
          <a:ln w="4445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Length-bin stack bar 57 bin 3"/>
          <p:cNvSpPr/>
          <p:nvPr/>
        </p:nvSpPr>
        <p:spPr>
          <a:xfrm>
            <a:off x="6071616" y="3858768"/>
            <a:ext cx="310896" cy="219456"/>
          </a:xfrm>
          <a:prstGeom prst="rect">
            <a:avLst/>
          </a:prstGeom>
          <a:solidFill>
            <a:srgbClr val="8B5CF6"/>
          </a:solidFill>
          <a:ln w="444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1764792" y="5193792"/>
            <a:ext cx="612648" cy="219456"/>
          </a:xfrm>
          <a:prstGeom prst="roundRect">
            <a:avLst/>
          </a:prstGeom>
          <a:solidFill>
            <a:srgbClr val="F26B5B"/>
          </a:solidFill>
          <a:ln w="1016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ptos"/>
              </a:rPr>
              <a:t>SHORT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450592" y="5193792"/>
            <a:ext cx="749808" cy="219456"/>
          </a:xfrm>
          <a:prstGeom prst="roundRect">
            <a:avLst/>
          </a:prstGeom>
          <a:solidFill>
            <a:srgbClr val="F4B942"/>
          </a:solidFill>
          <a:ln w="1016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13233B"/>
                </a:solidFill>
                <a:latin typeface="Aptos"/>
              </a:rPr>
              <a:t>MEDIUM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73552" y="5193792"/>
            <a:ext cx="603504" cy="219456"/>
          </a:xfrm>
          <a:prstGeom prst="roundRect">
            <a:avLst/>
          </a:prstGeom>
          <a:solidFill>
            <a:srgbClr val="8B5CF6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ptos"/>
              </a:rPr>
              <a:t>LONG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SHAPEMIX • BAYESIAN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3233B"/>
                </a:solidFill>
                <a:latin typeface="Aptos Display"/>
              </a:rPr>
              <a:t>Bayesian model for ShapeMix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097280"/>
            <a:ext cx="13258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33B"/>
                </a:solidFill>
                <a:latin typeface="Aptos"/>
              </a:rPr>
              <a:t>R_LB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097280"/>
            <a:ext cx="78181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27A"/>
                </a:solidFill>
                <a:latin typeface="Aptos"/>
              </a:rPr>
              <a:t>reference rates for the short, middle, and long fragment-length bins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417320"/>
            <a:ext cx="13258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33B"/>
                </a:solidFill>
                <a:latin typeface="Aptos"/>
              </a:rPr>
              <a:t>n_lb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417320"/>
            <a:ext cx="78181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27A"/>
                </a:solidFill>
                <a:latin typeface="Aptos"/>
              </a:rPr>
              <a:t>predicted mean counts in each fragment-length bin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737360"/>
            <a:ext cx="132588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3233B"/>
                </a:solidFill>
                <a:latin typeface="Aptos"/>
              </a:rPr>
              <a:t>N_LB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737360"/>
            <a:ext cx="7818120" cy="31089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27A"/>
                </a:solidFill>
                <a:latin typeface="Aptos"/>
              </a:rPr>
              <a:t>the cut-site counts actually observed in each fragment-length bin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288036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8A999"/>
                </a:solidFill>
                <a:latin typeface="Aptos"/>
              </a:rPr>
              <a:t>p(z | N_LB, 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2" y="2990088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331720"/>
            <a:ext cx="457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3233B"/>
                </a:solidFill>
                <a:latin typeface="Aptos"/>
              </a:rPr>
              <a:t>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331720"/>
            <a:ext cx="301752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8860B"/>
                </a:solidFill>
                <a:latin typeface="Aptos"/>
              </a:rPr>
              <a:t>p(N_LB, N | z)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7" y="2990088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45720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3233B"/>
                </a:solidFill>
                <a:latin typeface="Aptos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2168" y="2331720"/>
            <a:ext cx="1554480" cy="62179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8B5CF6"/>
                </a:solidFill>
                <a:latin typeface="Aptos"/>
              </a:rPr>
              <a:t>p(z)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990088"/>
            <a:ext cx="164592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2354580" y="3317241"/>
            <a:ext cx="324612" cy="457199"/>
          </a:xfrm>
          <a:prstGeom prst="line">
            <a:avLst/>
          </a:prstGeom>
          <a:ln w="1524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749039"/>
            <a:ext cx="3429000" cy="1188720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6384" y="3840480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133087"/>
            <a:ext cx="3136392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best supported z after seeing total counts N and length-bin counts N_LB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6094476" y="3291840"/>
            <a:ext cx="96012" cy="457199"/>
          </a:xfrm>
          <a:prstGeom prst="line">
            <a:avLst/>
          </a:prstGeom>
          <a:ln w="15240">
            <a:solidFill>
              <a:srgbClr val="B886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379976" y="3749039"/>
            <a:ext cx="3429000" cy="1188720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26280" y="3840480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133087"/>
            <a:ext cx="3136392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given z, what is the probability of seeing data N_LB and 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79408" y="3291840"/>
            <a:ext cx="854964" cy="457199"/>
          </a:xfrm>
          <a:prstGeom prst="line">
            <a:avLst/>
          </a:prstGeom>
          <a:ln w="1524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119872" y="3749039"/>
            <a:ext cx="3429000" cy="1188720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66176" y="3840480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6176" y="4133087"/>
            <a:ext cx="3136392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3047"/>
                </a:solidFill>
                <a:latin typeface="Aptos"/>
              </a:rPr>
              <a:t>how plausible z is before seeing any 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8A999"/>
                </a:solidFill>
                <a:latin typeface="Aptos"/>
              </a:rPr>
              <a:t>SHAPEMIX • BAYESIAN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3233B"/>
                </a:solidFill>
                <a:latin typeface="Aptos Display"/>
              </a:rPr>
              <a:t>ShapeMix adds a likelihood for the length-bin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25296"/>
            <a:ext cx="2468880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A999"/>
                </a:solidFill>
                <a:latin typeface="Aptos"/>
              </a:rPr>
              <a:t>p(z | N_LB, 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47088"/>
            <a:ext cx="246888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225296"/>
            <a:ext cx="420624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"/>
              </a:rPr>
              <a:t>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9584" y="1225296"/>
            <a:ext cx="2487168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26B5B"/>
                </a:solidFill>
                <a:latin typeface="Aptos"/>
              </a:rPr>
              <a:t>p(N_LB | N,z)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9584" y="1847088"/>
            <a:ext cx="2487168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6B5B"/>
                </a:solidFill>
                <a:latin typeface="Aptos"/>
              </a:rPr>
              <a:t>length-bin likelihood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6752" y="1225296"/>
            <a:ext cx="384048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"/>
              </a:rPr>
              <a:t>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25296"/>
            <a:ext cx="1737360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B8860B"/>
                </a:solidFill>
                <a:latin typeface="Aptos"/>
              </a:rPr>
              <a:t>p(N | 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47088"/>
            <a:ext cx="173736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8860B"/>
                </a:solidFill>
                <a:latin typeface="Aptos"/>
              </a:rPr>
              <a:t>total-count likelihood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225296"/>
            <a:ext cx="384048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3233B"/>
                </a:solidFill>
                <a:latin typeface="Aptos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1225296"/>
            <a:ext cx="1417320" cy="60350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8B5CF6"/>
                </a:solidFill>
                <a:latin typeface="Aptos"/>
              </a:rPr>
              <a:t>p(z)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22208" y="1847088"/>
            <a:ext cx="1417320" cy="21945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404872"/>
            <a:ext cx="3429000" cy="1078992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2496312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A999"/>
                </a:solidFill>
                <a:latin typeface="Aptos"/>
              </a:rPr>
              <a:t>POSTERIOR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88920"/>
            <a:ext cx="3136392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best supported z after seeing both the total and length-bin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9976" y="2404872"/>
            <a:ext cx="3429000" cy="1078992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2496312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60B"/>
                </a:solidFill>
                <a:latin typeface="Aptos"/>
              </a:rPr>
              <a:t>LIKELIHOOD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788920"/>
            <a:ext cx="3136392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two data-fit terms: length-bin split × total peak count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9872" y="2404872"/>
            <a:ext cx="3429000" cy="1078992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66176" y="2496312"/>
            <a:ext cx="3136392" cy="23774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5CF6"/>
                </a:solidFill>
                <a:latin typeface="Aptos"/>
              </a:rPr>
              <a:t>PRIOR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2788920"/>
            <a:ext cx="3136392" cy="5120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13047"/>
                </a:solidFill>
                <a:latin typeface="Aptos"/>
              </a:rPr>
              <a:t>how plausible z is before seeing any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730752"/>
            <a:ext cx="7955279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13233B"/>
                </a:solidFill>
                <a:latin typeface="Aptos"/>
              </a:rPr>
              <a:t>The new length-bin term uses a multinomial distribution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096512"/>
            <a:ext cx="10899648" cy="822960"/>
          </a:xfrm>
          <a:prstGeom prst="roundRect">
            <a:avLst/>
          </a:prstGeom>
          <a:solidFill>
            <a:srgbClr val="FDE9E6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" y="4215384"/>
            <a:ext cx="10497312" cy="47548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3233B"/>
                </a:solidFill>
                <a:latin typeface="Aptos"/>
              </a:rPr>
              <a:t>N_LB | N,z  ~  Multinomial( N, n_lb / n )  =  Multinomial( N, z · R_LB / n 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193792"/>
            <a:ext cx="3429000" cy="621792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8096" y="5312664"/>
            <a:ext cx="896112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B82F6"/>
                </a:solidFill>
                <a:latin typeface="Aptos"/>
              </a:rPr>
              <a:t>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2495" y="5276088"/>
            <a:ext cx="2221992" cy="3566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fixed total number of cut sites at the peak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5193792"/>
            <a:ext cx="3429000" cy="621792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07992" y="5312664"/>
            <a:ext cx="896112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A999"/>
                </a:solidFill>
                <a:latin typeface="Aptos"/>
              </a:rPr>
              <a:t>n_lb / 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22392" y="5276088"/>
            <a:ext cx="2221992" cy="3566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predicted fractions across the length bins; they sum to 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2" y="5193792"/>
            <a:ext cx="3429000" cy="621792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47888" y="5312664"/>
            <a:ext cx="896112" cy="2743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860B"/>
                </a:solidFill>
                <a:latin typeface="Aptos"/>
              </a:rPr>
              <a:t>N_LB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5276088"/>
            <a:ext cx="2221992" cy="356616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3047"/>
                </a:solidFill>
                <a:latin typeface="Aptos"/>
              </a:rPr>
              <a:t>observed bin counts; they sum to 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989320"/>
            <a:ext cx="10899648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2627A"/>
                </a:solidFill>
                <a:latin typeface="Aptos"/>
              </a:rPr>
              <a:t>Same cut sites, one extra question: how were the N counts split by fragment length?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" y="6519672"/>
            <a:ext cx="10945368" cy="10058"/>
          </a:xfrm>
          <a:prstGeom prst="rect">
            <a:avLst/>
          </a:prstGeom>
          <a:solidFill>
            <a:srgbClr val="D7E0E8"/>
          </a:solidFill>
          <a:ln w="3175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17">
            <a:extLst>
              <a:ext uri="{FF2B5EF4-FFF2-40B4-BE49-F238E27FC236}">
                <a16:creationId xmlns:a16="http://schemas.microsoft.com/office/drawing/2014/main" id="{4A86D761-30D8-96AC-644A-F8F8F67EE3D3}"/>
              </a:ext>
            </a:extLst>
          </p:cNvPr>
          <p:cNvCxnSpPr>
            <a:cxnSpLocks/>
          </p:cNvCxnSpPr>
          <p:nvPr/>
        </p:nvCxnSpPr>
        <p:spPr>
          <a:xfrm>
            <a:off x="1879600" y="2066544"/>
            <a:ext cx="0" cy="331470"/>
          </a:xfrm>
          <a:prstGeom prst="line">
            <a:avLst/>
          </a:prstGeom>
          <a:ln w="15240">
            <a:solidFill>
              <a:srgbClr val="18A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DATASET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Primary dataset: human blood immune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42415"/>
            <a:ext cx="10835640" cy="40233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2627A"/>
                </a:solidFill>
                <a:latin typeface="Aptos"/>
              </a:rPr>
              <a:t>A public 10x Genomics PBMC Multiome dataset provides paired RNA labels and raw ATAC fragments.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673352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947672"/>
            <a:ext cx="512064" cy="51206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847088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PBMCs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276856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blood immune cells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1673352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18304" y="1947672"/>
            <a:ext cx="512064" cy="512064"/>
          </a:xfrm>
          <a:prstGeom prst="ellipse">
            <a:avLst/>
          </a:prstGeom>
          <a:solidFill>
            <a:srgbClr val="F26B5B"/>
          </a:solidFill>
          <a:ln w="12700">
            <a:solidFill>
              <a:srgbClr val="F26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04104" y="1847088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1 donor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4104" y="2276856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conditional first 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673352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522208" y="1947672"/>
            <a:ext cx="512064" cy="51206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08008" y="1847088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16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2276856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including rare types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072384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14400" y="3346704"/>
            <a:ext cx="512064" cy="512064"/>
          </a:xfrm>
          <a:prstGeom prst="ellipse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3246120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5,000 peaks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675888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selected from reference cells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7136" y="3072384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718304" y="3346704"/>
            <a:ext cx="512064" cy="512064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04104" y="3246120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1,024 spots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4104" y="3675888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32 × 32 simulated grid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3072384"/>
            <a:ext cx="345643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522208" y="3346704"/>
            <a:ext cx="512064" cy="512064"/>
          </a:xfrm>
          <a:prstGeom prst="ellipse">
            <a:avLst/>
          </a:prstGeom>
          <a:solidFill>
            <a:srgbClr val="43AA6A"/>
          </a:solidFill>
          <a:ln w="12700">
            <a:solidFill>
              <a:srgbClr val="43A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08008" y="3246120"/>
            <a:ext cx="22860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3233B"/>
                </a:solidFill>
                <a:latin typeface="Aptos"/>
              </a:rPr>
              <a:t>~10 cells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3675888"/>
            <a:ext cx="228600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2627A"/>
                </a:solidFill>
                <a:latin typeface="Aptos"/>
              </a:rPr>
              <a:t>average per pseudo-spot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" y="4681728"/>
            <a:ext cx="10744200" cy="1280160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14984" y="4965192"/>
            <a:ext cx="2779776" cy="32918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Why simulate spatial spots?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4487" y="4919472"/>
            <a:ext cx="713232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D7E2EE"/>
                </a:solidFill>
                <a:latin typeface="Aptos"/>
              </a:rPr>
              <a:t>Because the source cells are labeled, every pseudo-spot has an exact ingredient list. That gives a fair answer key.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25128" y="5504688"/>
            <a:ext cx="1682496" cy="310896"/>
          </a:xfrm>
          <a:prstGeom prst="roundRect">
            <a:avLst/>
          </a:prstGeom>
          <a:solidFill>
            <a:srgbClr val="18A999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KNOWN GROUND TRUTH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1792" y="256032"/>
            <a:ext cx="80467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8A999"/>
                </a:solidFill>
                <a:latin typeface="Aptos"/>
              </a:rPr>
              <a:t>VALIDATION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789920" cy="5669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3233B"/>
                </a:solidFill>
                <a:latin typeface="Aptos Display"/>
              </a:rPr>
              <a:t>Broader datasets test whether the idea generalizes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33271"/>
            <a:ext cx="10826496" cy="3662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0" i="0" dirty="0">
                <a:solidFill>
                  <a:srgbClr val="52627A"/>
                </a:solidFill>
                <a:latin typeface="Aptos"/>
              </a:rPr>
              <a:t>Different datasets answer different questions; not all provide </a:t>
            </a:r>
            <a:r>
              <a:rPr lang="en-US" sz="1900" b="0" i="0" dirty="0">
                <a:solidFill>
                  <a:srgbClr val="52627A"/>
                </a:solidFill>
                <a:latin typeface="Aptos"/>
              </a:rPr>
              <a:t>the </a:t>
            </a:r>
            <a:r>
              <a:rPr sz="1900" b="0" i="0" dirty="0">
                <a:solidFill>
                  <a:srgbClr val="52627A"/>
                </a:solidFill>
                <a:latin typeface="Aptos"/>
              </a:rPr>
              <a:t>exact ground truth.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581912"/>
            <a:ext cx="1975104" cy="338328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DATASET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1488" y="1581912"/>
            <a:ext cx="4663440" cy="338328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WHAT IT ADDS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07224" y="1581912"/>
            <a:ext cx="3867912" cy="338328"/>
          </a:xfrm>
          <a:prstGeom prst="roundRect">
            <a:avLst/>
          </a:prstGeom>
          <a:solidFill>
            <a:srgbClr val="13233B"/>
          </a:solidFill>
          <a:ln w="12700">
            <a:solidFill>
              <a:srgbClr val="13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4864" tIns="9144" rIns="54864" bIns="9144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HOW WE CHECK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93976"/>
            <a:ext cx="10771632" cy="658368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166420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3233B"/>
                </a:solidFill>
                <a:latin typeface="Aptos"/>
              </a:rPr>
              <a:t>Main PBMC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62072" y="2212848"/>
            <a:ext cx="431596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13047"/>
                </a:solidFill>
                <a:latin typeface="Aptos"/>
              </a:rPr>
              <a:t>Matched reference/test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98664" y="2212848"/>
            <a:ext cx="35661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13047"/>
                </a:solidFill>
                <a:latin typeface="Aptos"/>
              </a:rPr>
              <a:t>Exact pseudo-spot recipe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926080"/>
            <a:ext cx="10771632" cy="658368"/>
          </a:xfrm>
          <a:prstGeom prst="roundRect">
            <a:avLst/>
          </a:prstGeom>
          <a:solidFill>
            <a:srgbClr val="FFF3D6"/>
          </a:solidFill>
          <a:ln w="12700">
            <a:solidFill>
              <a:srgbClr val="F4B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4"/>
            <a:ext cx="166420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3233B"/>
                </a:solidFill>
                <a:latin typeface="Aptos"/>
              </a:rPr>
              <a:t>GSE129785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072" y="3044952"/>
            <a:ext cx="431596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13047"/>
                </a:solidFill>
                <a:latin typeface="Aptos"/>
              </a:rPr>
              <a:t>Immune dilution series + sorted cells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98664" y="3044952"/>
            <a:ext cx="35661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13047"/>
                </a:solidFill>
                <a:latin typeface="Aptos"/>
              </a:rPr>
              <a:t>Nominal ratios or new pseudo-spots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758184"/>
            <a:ext cx="10771632" cy="658368"/>
          </a:xfrm>
          <a:prstGeom prst="roundRect">
            <a:avLst/>
          </a:prstGeom>
          <a:solidFill>
            <a:srgbClr val="EEE8F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1664208" cy="2468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3233B"/>
                </a:solidFill>
                <a:latin typeface="Aptos"/>
              </a:rPr>
              <a:t>GSE194122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2072" y="3877056"/>
            <a:ext cx="431596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13047"/>
                </a:solidFill>
                <a:latin typeface="Aptos"/>
              </a:rPr>
              <a:t>Multiple bone-marrow donors and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8664" y="3877056"/>
            <a:ext cx="35661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13047"/>
                </a:solidFill>
                <a:latin typeface="Aptos"/>
              </a:rPr>
              <a:t>Hold out one donor at a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90288"/>
            <a:ext cx="10771632" cy="658368"/>
          </a:xfrm>
          <a:prstGeom prst="roundRect">
            <a:avLst/>
          </a:prstGeom>
          <a:solidFill>
            <a:srgbClr val="DDF4F1"/>
          </a:solidFill>
          <a:ln w="12700">
            <a:solidFill>
              <a:srgbClr val="18A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736592"/>
            <a:ext cx="1947672" cy="31239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 dirty="0">
                <a:solidFill>
                  <a:srgbClr val="13233B"/>
                </a:solidFill>
                <a:latin typeface="Aptos"/>
              </a:rPr>
              <a:t>GSE205055 / 263333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62072" y="4709159"/>
            <a:ext cx="4315968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13047"/>
                </a:solidFill>
                <a:latin typeface="Aptos"/>
              </a:rPr>
              <a:t>Real spatial tissues and multi-omics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8664" y="4709159"/>
            <a:ext cx="356616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13047"/>
                </a:solidFill>
                <a:latin typeface="Aptos"/>
              </a:rPr>
              <a:t>Anatomy, RNA, protein, or markers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32120"/>
            <a:ext cx="10735056" cy="585216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7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0976" y="5660136"/>
            <a:ext cx="10259568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 i="0">
                <a:solidFill>
                  <a:srgbClr val="F26B5B"/>
                </a:solidFill>
                <a:latin typeface="Aptos"/>
              </a:rPr>
              <a:t>Key rule: </a:t>
            </a:r>
            <a:r>
              <a:rPr sz="1500" b="0" i="0">
                <a:solidFill>
                  <a:srgbClr val="13233B"/>
                </a:solidFill>
                <a:latin typeface="Aptos"/>
              </a:rPr>
              <a:t>real spatial tissue usually has no exact answer key, so supporting evidence is validation—not perfect truth.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1792" y="6519672"/>
            <a:ext cx="10945368" cy="0"/>
          </a:xfrm>
          <a:prstGeom prst="line">
            <a:avLst/>
          </a:prstGeom>
          <a:ln w="10160">
            <a:solidFill>
              <a:srgbClr val="D7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2051</Words>
  <Application>Microsoft Macintosh PowerPoint</Application>
  <PresentationFormat>Widescreen</PresentationFormat>
  <Paragraphs>424</Paragraphs>
  <Slides>18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ShapeMix-ATAC: High School Science Research Deck</dc:title>
  <dc:subject>Results-free introduction, existing algorithms, Bayesian ShapeMix model, datasets, and evaluation plan</dc:subject>
  <dc:creator>Andy Zhuang</dc:creator>
  <cp:keywords>ShapeMix, ATAC-seq, spatial deconvolution, Bayesian model, MAP inference, high school research</cp:keywords>
  <dc:description>Draft deck generated from the deconvATAC repository; no study results included.</dc:description>
  <cp:lastModifiedBy>Richard Zhuang</cp:lastModifiedBy>
  <cp:revision>27</cp:revision>
  <dcterms:created xsi:type="dcterms:W3CDTF">2013-01-27T09:14:16Z</dcterms:created>
  <dcterms:modified xsi:type="dcterms:W3CDTF">2026-08-31T15:20:48Z</dcterms:modified>
  <cp:category/>
</cp:coreProperties>
</file>