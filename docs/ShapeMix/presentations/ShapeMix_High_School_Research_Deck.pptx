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9" r:id="rId4"/>
    <p:sldId id="282" r:id="rId5"/>
    <p:sldId id="283" r:id="rId6"/>
    <p:sldId id="260" r:id="rId7"/>
    <p:sldId id="284" r:id="rId8"/>
    <p:sldId id="285" r:id="rId9"/>
    <p:sldId id="286" r:id="rId10"/>
    <p:sldId id="287" r:id="rId11"/>
    <p:sldId id="288" r:id="rId12"/>
    <p:sldId id="289" r:id="rId13"/>
    <p:sldId id="280" r:id="rId14"/>
    <p:sldId id="281" r:id="rId15"/>
    <p:sldId id="290" r:id="rId16"/>
    <p:sldId id="291" r:id="rId17"/>
    <p:sldId id="270" r:id="rId18"/>
    <p:sldId id="292" r:id="rId19"/>
    <p:sldId id="29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 snapToObjects="1">
      <p:cViewPr varScale="1">
        <p:scale>
          <a:sx n="131" d="100"/>
          <a:sy n="131" d="100"/>
        </p:scale>
        <p:origin x="192" y="3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00" b="1">
                <a:solidFill>
                  <a:srgbClr val="13233B"/>
                </a:solidFill>
                <a:latin typeface="Aptos"/>
              </a:rPr>
              <a:t>Error Reduction with ShapeMix vs Count-Only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JSD</c:v>
                </c:pt>
              </c:strCache>
            </c:strRef>
          </c:tx>
          <c:spPr>
            <a:solidFill>
              <a:srgbClr val="8B5CF6"/>
            </a:solidFill>
            <a:ln>
              <a:solidFill>
                <a:srgbClr val="8B5CF6"/>
              </a:solidFill>
            </a:ln>
          </c:spPr>
          <c:invertIfNegative val="1"/>
          <c:dLbls>
            <c:numFmt formatCode="0.0&quot;%&quot;;\-0.0&quot;%&quot;;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>
                    <a:solidFill>
                      <a:srgbClr val="13233B"/>
                    </a:solidFill>
                    <a:latin typeface="Apto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Monocytes / total T cells</c:v>
                </c:pt>
                <c:pt idx="1">
                  <c:v>CD4 memory / CD8 naive</c:v>
                </c:pt>
                <c:pt idx="2">
                  <c:v>BMMC: equal</c:v>
                </c:pt>
                <c:pt idx="3">
                  <c:v>BMMC: natural</c:v>
                </c:pt>
                <c:pt idx="4">
                  <c:v>PBMC: equal</c:v>
                </c:pt>
                <c:pt idx="5">
                  <c:v>PBMC: natural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27.2</c:v>
                </c:pt>
                <c:pt idx="1">
                  <c:v>25.7</c:v>
                </c:pt>
                <c:pt idx="2">
                  <c:v>1.6</c:v>
                </c:pt>
                <c:pt idx="3">
                  <c:v>0.3</c:v>
                </c:pt>
                <c:pt idx="4">
                  <c:v>14.7</c:v>
                </c:pt>
                <c:pt idx="5">
                  <c:v>4.5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8B5CF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237-C041-9162-B8EE7509A85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3B82F6"/>
            </a:solidFill>
            <a:ln>
              <a:solidFill>
                <a:srgbClr val="3B82F6"/>
              </a:solidFill>
            </a:ln>
          </c:spPr>
          <c:invertIfNegative val="1"/>
          <c:dLbls>
            <c:numFmt formatCode="0.0&quot;%&quot;;\-0.0&quot;%&quot;;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>
                    <a:solidFill>
                      <a:srgbClr val="13233B"/>
                    </a:solidFill>
                    <a:latin typeface="Apto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Monocytes / total T cells</c:v>
                </c:pt>
                <c:pt idx="1">
                  <c:v>CD4 memory / CD8 naive</c:v>
                </c:pt>
                <c:pt idx="2">
                  <c:v>BMMC: equal</c:v>
                </c:pt>
                <c:pt idx="3">
                  <c:v>BMMC: natural</c:v>
                </c:pt>
                <c:pt idx="4">
                  <c:v>PBMC: equal</c:v>
                </c:pt>
                <c:pt idx="5">
                  <c:v>PBMC: natural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23.3</c:v>
                </c:pt>
                <c:pt idx="1">
                  <c:v>23.5</c:v>
                </c:pt>
                <c:pt idx="2">
                  <c:v>0.6</c:v>
                </c:pt>
                <c:pt idx="3">
                  <c:v>0.1</c:v>
                </c:pt>
                <c:pt idx="4">
                  <c:v>9.1</c:v>
                </c:pt>
                <c:pt idx="5">
                  <c:v>0.1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3B82F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237-C041-9162-B8EE7509A85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low"/>
        <c:txPr>
          <a:bodyPr/>
          <a:lstStyle/>
          <a:p>
            <a:pPr>
              <a:defRPr sz="1100" b="1">
                <a:solidFill>
                  <a:srgbClr val="13233B"/>
                </a:solidFill>
                <a:latin typeface="Apto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0"/>
          <c:min val="0"/>
        </c:scaling>
        <c:delete val="0"/>
        <c:axPos val="b"/>
        <c:majorGridlines/>
        <c:numFmt formatCode="0&quot;%&quot;" sourceLinked="0"/>
        <c:majorTickMark val="none"/>
        <c:minorTickMark val="none"/>
        <c:tickLblPos val="nextTo"/>
        <c:txPr>
          <a:bodyPr/>
          <a:lstStyle/>
          <a:p>
            <a:pPr>
              <a:defRPr sz="1000">
                <a:solidFill>
                  <a:srgbClr val="52627A"/>
                </a:solidFill>
                <a:latin typeface="Aptos"/>
              </a:defRPr>
            </a:pPr>
            <a:endParaRPr lang="en-US"/>
          </a:p>
        </c:txPr>
        <c:crossAx val="-2068027336"/>
        <c:crosses val="autoZero"/>
        <c:crossBetween val="between"/>
        <c:majorUnit val="5"/>
      </c:valAx>
    </c:plotArea>
    <c:legend>
      <c:legendPos val="t"/>
      <c:overlay val="0"/>
      <c:txPr>
        <a:bodyPr/>
        <a:lstStyle/>
        <a:p>
          <a:pPr>
            <a:defRPr sz="1200" b="1">
              <a:latin typeface="Aptos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08150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502920"/>
            <a:ext cx="2999232" cy="347472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6" y="1018034"/>
            <a:ext cx="10898633" cy="118186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ptos Display"/>
              </a:rPr>
              <a:t>ShapeMix-ATAC: A Novel Fragment-Shape-Aware Bayesian Model for Spatial ATAC-seq Deconvolution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65702"/>
            <a:ext cx="594360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D7E2EE"/>
                </a:solidFill>
                <a:latin typeface="Aptos Display"/>
              </a:rPr>
              <a:t>Can fragment shape help us unmix spatial chromatin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5980176"/>
            <a:ext cx="53949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D7E2EE"/>
                </a:solidFill>
                <a:latin typeface="Aptos"/>
              </a:rPr>
              <a:t>Andy Zhuang  •  High School Science Research</a:t>
            </a:r>
          </a:p>
        </p:txBody>
      </p:sp>
      <p:sp>
        <p:nvSpPr>
          <p:cNvPr id="6" name="Oval 5"/>
          <p:cNvSpPr/>
          <p:nvPr/>
        </p:nvSpPr>
        <p:spPr>
          <a:xfrm>
            <a:off x="8343054" y="2313433"/>
            <a:ext cx="3154680" cy="3154680"/>
          </a:xfrm>
          <a:prstGeom prst="ellipse">
            <a:avLst/>
          </a:prstGeom>
          <a:solidFill>
            <a:srgbClr val="1C3152"/>
          </a:solidFill>
          <a:ln w="381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2822" y="2788921"/>
            <a:ext cx="658368" cy="658368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996667" y="2999598"/>
            <a:ext cx="197510" cy="19751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742086" y="2569465"/>
            <a:ext cx="585216" cy="585216"/>
          </a:xfrm>
          <a:prstGeom prst="ellipse">
            <a:avLst/>
          </a:prstGeom>
          <a:solidFill>
            <a:srgbClr val="F26B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941059" y="2756734"/>
            <a:ext cx="175564" cy="17556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382166" y="3227832"/>
            <a:ext cx="749808" cy="749808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637100" y="3467771"/>
            <a:ext cx="224942" cy="2249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284886" y="3611881"/>
            <a:ext cx="841248" cy="84124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570910" y="3881080"/>
            <a:ext cx="252374" cy="25237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708813" y="4160521"/>
            <a:ext cx="603504" cy="603504"/>
          </a:xfrm>
          <a:prstGeom prst="ellipse">
            <a:avLst/>
          </a:prstGeom>
          <a:solidFill>
            <a:srgbClr val="8B5C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914005" y="4353642"/>
            <a:ext cx="181051" cy="18105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217574" y="4270249"/>
            <a:ext cx="640080" cy="640080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435201" y="4475074"/>
            <a:ext cx="192024" cy="19202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358038" y="4773169"/>
            <a:ext cx="566928" cy="566928"/>
          </a:xfrm>
          <a:prstGeom prst="ellipse">
            <a:avLst/>
          </a:prstGeom>
          <a:solidFill>
            <a:srgbClr val="F26B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550793" y="4954585"/>
            <a:ext cx="170078" cy="17007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53365" y="5614417"/>
            <a:ext cx="2743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7E2EE"/>
                </a:solidFill>
                <a:latin typeface="Aptos"/>
              </a:rPr>
              <a:t>mixed spatial spot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61926" y="6336793"/>
            <a:ext cx="502920" cy="0"/>
          </a:xfrm>
          <a:prstGeom prst="line">
            <a:avLst/>
          </a:prstGeom>
          <a:ln w="50800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61926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64846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02006" y="6592825"/>
            <a:ext cx="868679" cy="0"/>
          </a:xfrm>
          <a:prstGeom prst="line">
            <a:avLst/>
          </a:prstGeom>
          <a:ln w="5080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102006" y="6537961"/>
            <a:ext cx="0" cy="109728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970685" y="6537961"/>
            <a:ext cx="0" cy="109728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742086" y="6336793"/>
            <a:ext cx="384048" cy="0"/>
          </a:xfrm>
          <a:prstGeom prst="line">
            <a:avLst/>
          </a:prstGeom>
          <a:ln w="50800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742086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126134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382166" y="6592825"/>
            <a:ext cx="1152144" cy="0"/>
          </a:xfrm>
          <a:prstGeom prst="line">
            <a:avLst/>
          </a:prstGeom>
          <a:ln w="5080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382166" y="6537961"/>
            <a:ext cx="0" cy="109728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1534310" y="6537961"/>
            <a:ext cx="0" cy="109728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022246" y="6336793"/>
            <a:ext cx="640080" cy="0"/>
          </a:xfrm>
          <a:prstGeom prst="line">
            <a:avLst/>
          </a:prstGeom>
          <a:ln w="5080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022246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662326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BIOLOGY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Chromatin controls which DNA instructions can be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10896"/>
            <a:ext cx="41148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2627A"/>
                </a:solidFill>
                <a:latin typeface="Aptos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43584"/>
            <a:ext cx="3236976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572768"/>
            <a:ext cx="26974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Same DNA,
different cells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67712"/>
            <a:ext cx="2670048" cy="2414016"/>
          </a:xfrm>
          <a:prstGeom prst="rect">
            <a:avLst/>
          </a:prstGeom>
          <a:noFill/>
        </p:spPr>
        <p:txBody>
          <a:bodyPr wrap="square" lIns="36576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50" b="1">
                <a:solidFill>
                  <a:srgbClr val="18A999"/>
                </a:solidFill>
                <a:latin typeface="Aptos"/>
              </a:rPr>
              <a:t>•  </a:t>
            </a:r>
            <a:r>
              <a:rPr sz="1750">
                <a:solidFill>
                  <a:srgbClr val="213047"/>
                </a:solidFill>
                <a:latin typeface="Aptos"/>
              </a:rPr>
              <a:t>Most cells contain nearly the same genome.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50" b="1">
                <a:solidFill>
                  <a:srgbClr val="18A999"/>
                </a:solidFill>
                <a:latin typeface="Aptos"/>
              </a:rPr>
              <a:t>•  </a:t>
            </a:r>
            <a:r>
              <a:rPr sz="1750">
                <a:solidFill>
                  <a:srgbClr val="213047"/>
                </a:solidFill>
                <a:latin typeface="Aptos"/>
              </a:rPr>
              <a:t>Cell types differ in which DNA regions are open and active.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50" b="1">
                <a:solidFill>
                  <a:srgbClr val="18A999"/>
                </a:solidFill>
                <a:latin typeface="Aptos"/>
              </a:rPr>
              <a:t>•  </a:t>
            </a:r>
            <a:r>
              <a:rPr sz="1750">
                <a:solidFill>
                  <a:srgbClr val="213047"/>
                </a:solidFill>
                <a:latin typeface="Aptos"/>
              </a:rPr>
              <a:t>Those open regions help reveal cell identity and 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" y="5084064"/>
            <a:ext cx="2514600" cy="384048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CHROMATIN = DNA + PACKAGING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552" y="1335024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2627A"/>
                </a:solidFill>
                <a:latin typeface="Aptos"/>
              </a:rPr>
              <a:t>CLOSED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1335024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7F75"/>
                </a:solidFill>
                <a:latin typeface="Aptos"/>
              </a:rPr>
              <a:t>OPEN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51376" y="1673352"/>
            <a:ext cx="3044952" cy="31546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074152" y="1673352"/>
            <a:ext cx="3044952" cy="315468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08576" y="5129784"/>
            <a:ext cx="6236208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33B"/>
                </a:solidFill>
                <a:latin typeface="Aptos"/>
              </a:rPr>
              <a:t>ATAC-seq uses Tn5 to cut and tag accessible DNA.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462272" y="2880360"/>
            <a:ext cx="2596896" cy="0"/>
          </a:xfrm>
          <a:prstGeom prst="line">
            <a:avLst/>
          </a:prstGeom>
          <a:ln w="21590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 rot="1080000">
            <a:off x="4539813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 rot="1080000">
            <a:off x="4661794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 rot="1080000">
            <a:off x="4787981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 rot="1080000">
            <a:off x="490996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 rot="540000">
            <a:off x="4480925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 flipV="1">
            <a:off x="4514575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 rot="1080000">
            <a:off x="5179893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 rot="1080000">
            <a:off x="5301874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 rot="1080000">
            <a:off x="5428061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 rot="1080000">
            <a:off x="555004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 rot="540000">
            <a:off x="5121005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 flipV="1">
            <a:off x="5154655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 rot="1080000">
            <a:off x="5819973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 rot="1080000">
            <a:off x="5941954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 rot="1080000">
            <a:off x="6068141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 rot="1080000">
            <a:off x="619012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 rot="540000">
            <a:off x="5761085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 flipV="1">
            <a:off x="5794735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 rot="1080000">
            <a:off x="6460053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 rot="1080000">
            <a:off x="6582034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 rot="1080000">
            <a:off x="6708221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 rot="1080000">
            <a:off x="683020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 rot="540000">
            <a:off x="6401165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 flipV="1">
            <a:off x="6434815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038344" y="2084831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129784" y="2121408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Connector 59"/>
          <p:cNvCxnSpPr/>
          <p:nvPr/>
        </p:nvCxnSpPr>
        <p:spPr>
          <a:xfrm>
            <a:off x="5093207" y="2368296"/>
            <a:ext cx="128017" cy="128016"/>
          </a:xfrm>
          <a:prstGeom prst="line">
            <a:avLst/>
          </a:prstGeom>
          <a:ln w="2032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093207" y="2368296"/>
            <a:ext cx="128017" cy="128016"/>
          </a:xfrm>
          <a:prstGeom prst="line">
            <a:avLst/>
          </a:prstGeom>
          <a:ln w="2032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007607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6099048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4" name="Connector 63"/>
          <p:cNvCxnSpPr/>
          <p:nvPr/>
        </p:nvCxnSpPr>
        <p:spPr>
          <a:xfrm>
            <a:off x="6062471" y="2304288"/>
            <a:ext cx="128017" cy="128015"/>
          </a:xfrm>
          <a:prstGeom prst="line">
            <a:avLst/>
          </a:prstGeom>
          <a:ln w="2032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6062471" y="2304288"/>
            <a:ext cx="128017" cy="128015"/>
          </a:xfrm>
          <a:prstGeom prst="line">
            <a:avLst/>
          </a:prstGeom>
          <a:ln w="2032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297680" y="3310128"/>
            <a:ext cx="274320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950" b="1">
                <a:solidFill>
                  <a:srgbClr val="8B5CF6"/>
                </a:solidFill>
                <a:latin typeface="Aptos"/>
              </a:rPr>
              <a:t>DNA wrapped around histones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42816" y="4005072"/>
            <a:ext cx="2862072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26B5B"/>
                </a:solidFill>
                <a:latin typeface="Aptos"/>
              </a:rPr>
              <a:t>No exposed linker → Tn5 is blocked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302752" y="2880360"/>
            <a:ext cx="2615184" cy="0"/>
          </a:xfrm>
          <a:prstGeom prst="line">
            <a:avLst/>
          </a:prstGeom>
          <a:ln w="21590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 rot="1080000">
            <a:off x="8352861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 rot="1080000">
            <a:off x="847484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 rot="1080000">
            <a:off x="8601029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 rot="1080000">
            <a:off x="8723010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 rot="540000">
            <a:off x="8293973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4" name="Connector 73"/>
          <p:cNvCxnSpPr/>
          <p:nvPr/>
        </p:nvCxnSpPr>
        <p:spPr>
          <a:xfrm flipV="1">
            <a:off x="8327623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 rot="1080000">
            <a:off x="10346253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 rot="1080000">
            <a:off x="10468234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 rot="1080000">
            <a:off x="10594421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 rot="1080000">
            <a:off x="1071640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 rot="540000">
            <a:off x="10287365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 flipV="1">
            <a:off x="10321015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9153144" y="275234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9244584" y="278892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/>
          <p:cNvCxnSpPr/>
          <p:nvPr/>
        </p:nvCxnSpPr>
        <p:spPr>
          <a:xfrm>
            <a:off x="9272015" y="2889503"/>
            <a:ext cx="0" cy="128017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9592056" y="275234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9683496" y="278892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>
            <a:off x="9710928" y="2889503"/>
            <a:ext cx="0" cy="128017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030968" y="275234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0122408" y="278892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9" name="Connector 88"/>
          <p:cNvCxnSpPr/>
          <p:nvPr/>
        </p:nvCxnSpPr>
        <p:spPr>
          <a:xfrm>
            <a:off x="10149840" y="2889503"/>
            <a:ext cx="0" cy="128017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8887968" y="2176272"/>
            <a:ext cx="512064" cy="219456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Tn5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97112" y="3310128"/>
            <a:ext cx="1426464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950" b="1">
                <a:solidFill>
                  <a:srgbClr val="0C7F75"/>
                </a:solidFill>
                <a:latin typeface="Aptos"/>
              </a:rPr>
              <a:t>exposed linker DNA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65592" y="4005072"/>
            <a:ext cx="2862072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0C7F75"/>
                </a:solidFill>
                <a:latin typeface="Aptos"/>
              </a:rPr>
              <a:t>Tn5 cuts and tags the exposed DNA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ATAC-SEQ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ATAC-seq turns accessible DNA into peak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10896"/>
            <a:ext cx="41148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2627A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8813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2627A"/>
                </a:solidFill>
                <a:latin typeface="Aptos"/>
              </a:rPr>
              <a:t>The same genomic regions line up from chromatin → fragments → 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36522"/>
            <a:ext cx="10881360" cy="1271016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67512" y="2823667"/>
            <a:ext cx="10881360" cy="1426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8368" y="4390034"/>
            <a:ext cx="10890504" cy="1626717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22168" y="1536192"/>
            <a:ext cx="2103120" cy="1069848"/>
          </a:xfrm>
          <a:prstGeom prst="rect">
            <a:avLst/>
          </a:prstGeom>
          <a:solidFill>
            <a:srgbClr val="F2F6FE"/>
          </a:solidFill>
          <a:ln w="2540">
            <a:solidFill>
              <a:srgbClr val="F2F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22168" y="2903220"/>
            <a:ext cx="2103120" cy="1225296"/>
          </a:xfrm>
          <a:prstGeom prst="rect">
            <a:avLst/>
          </a:prstGeom>
          <a:solidFill>
            <a:srgbClr val="F2F6FE"/>
          </a:solidFill>
          <a:ln w="2540">
            <a:solidFill>
              <a:srgbClr val="F2F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532120" y="1526133"/>
            <a:ext cx="2377440" cy="1069848"/>
          </a:xfrm>
          <a:prstGeom prst="rect">
            <a:avLst/>
          </a:prstGeom>
          <a:solidFill>
            <a:srgbClr val="EEF9F7"/>
          </a:solidFill>
          <a:ln w="2540">
            <a:solidFill>
              <a:srgbClr val="EEF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532120" y="2903220"/>
            <a:ext cx="2377440" cy="1225296"/>
          </a:xfrm>
          <a:prstGeom prst="rect">
            <a:avLst/>
          </a:prstGeom>
          <a:solidFill>
            <a:srgbClr val="EEF9F7"/>
          </a:solidFill>
          <a:ln w="2540">
            <a:solidFill>
              <a:srgbClr val="EEF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577072" y="1527962"/>
            <a:ext cx="2148840" cy="1069848"/>
          </a:xfrm>
          <a:prstGeom prst="rect">
            <a:avLst/>
          </a:prstGeom>
          <a:solidFill>
            <a:srgbClr val="FFF8E8"/>
          </a:solidFill>
          <a:ln w="254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77072" y="2911449"/>
            <a:ext cx="2148840" cy="1225296"/>
          </a:xfrm>
          <a:prstGeom prst="rect">
            <a:avLst/>
          </a:prstGeom>
          <a:solidFill>
            <a:srgbClr val="FFF8E8"/>
          </a:solidFill>
          <a:ln w="254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59536" y="1609344"/>
            <a:ext cx="347472" cy="347472"/>
          </a:xfrm>
          <a:prstGeom prst="ellipse">
            <a:avLst/>
          </a:prstGeom>
          <a:solidFill>
            <a:srgbClr val="18A999"/>
          </a:solidFill>
          <a:ln w="1016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1609344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1664208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C7F75"/>
                </a:solidFill>
                <a:latin typeface="Aptos"/>
              </a:rPr>
              <a:t>CHROMATIN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06193" y="2148840"/>
            <a:ext cx="9131199" cy="0"/>
          </a:xfrm>
          <a:prstGeom prst="line">
            <a:avLst/>
          </a:prstGeom>
          <a:ln w="21590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 rot="1080000">
            <a:off x="4798588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 rot="1080000">
            <a:off x="4920569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 rot="1080000">
            <a:off x="5046756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 rot="1080000">
            <a:off x="5168737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 rot="540000">
            <a:off x="4739700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 flipV="1">
            <a:off x="4773350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 rot="1080000">
            <a:off x="5975421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 rot="1080000">
            <a:off x="609740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 rot="1080000">
            <a:off x="6223589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 rot="1080000">
            <a:off x="6345570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 rot="540000">
            <a:off x="5916533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 flipV="1">
            <a:off x="5950183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 rot="1080000">
            <a:off x="6889821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 rot="1080000">
            <a:off x="701180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 rot="1080000">
            <a:off x="7137989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 rot="1080000">
            <a:off x="7259970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 rot="540000">
            <a:off x="6830933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" name="Connector 35"/>
          <p:cNvCxnSpPr/>
          <p:nvPr/>
        </p:nvCxnSpPr>
        <p:spPr>
          <a:xfrm flipV="1">
            <a:off x="6864583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 rot="1080000">
            <a:off x="9607417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 rot="1080000">
            <a:off x="9729398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 rot="1080000">
            <a:off x="9855586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 rot="1080000">
            <a:off x="9977567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 rot="540000">
            <a:off x="9548530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9582180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 rot="1080000">
            <a:off x="10730301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 rot="1080000">
            <a:off x="1085228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 rot="1080000">
            <a:off x="10978469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 rot="1080000">
            <a:off x="11100450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 rot="540000">
            <a:off x="10671413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 flipV="1">
            <a:off x="10705063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3081528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72968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3200400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3563416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654856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4" name="Connector 53"/>
          <p:cNvCxnSpPr/>
          <p:nvPr/>
        </p:nvCxnSpPr>
        <p:spPr>
          <a:xfrm>
            <a:off x="3682288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4088282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4179722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4207154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568696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660136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Connector 59"/>
          <p:cNvCxnSpPr/>
          <p:nvPr/>
        </p:nvCxnSpPr>
        <p:spPr>
          <a:xfrm>
            <a:off x="5687568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690104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7781544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Connector 62"/>
          <p:cNvCxnSpPr/>
          <p:nvPr/>
        </p:nvCxnSpPr>
        <p:spPr>
          <a:xfrm>
            <a:off x="7808975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989466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080906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6" name="Connector 65"/>
          <p:cNvCxnSpPr/>
          <p:nvPr/>
        </p:nvCxnSpPr>
        <p:spPr>
          <a:xfrm>
            <a:off x="9108338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10290657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10382097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9" name="Connector 68"/>
          <p:cNvCxnSpPr/>
          <p:nvPr/>
        </p:nvCxnSpPr>
        <p:spPr>
          <a:xfrm>
            <a:off x="10409529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2762402" y="1700784"/>
            <a:ext cx="512064" cy="219456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Tn5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11012" y="2414930"/>
            <a:ext cx="1755648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B5CF6"/>
                </a:solidFill>
                <a:latin typeface="Aptos"/>
              </a:rPr>
              <a:t>DNA wrapped around histones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84271" y="2413101"/>
            <a:ext cx="126187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C7F75"/>
                </a:solidFill>
                <a:latin typeface="Aptos"/>
              </a:rPr>
              <a:t>exposed linker DNA</a:t>
            </a:r>
          </a:p>
        </p:txBody>
      </p:sp>
      <p:sp>
        <p:nvSpPr>
          <p:cNvPr id="73" name="Oval 72"/>
          <p:cNvSpPr/>
          <p:nvPr/>
        </p:nvSpPr>
        <p:spPr>
          <a:xfrm>
            <a:off x="859536" y="2916936"/>
            <a:ext cx="347472" cy="347472"/>
          </a:xfrm>
          <a:prstGeom prst="ellipse">
            <a:avLst/>
          </a:prstGeom>
          <a:solidFill>
            <a:srgbClr val="F26B5B"/>
          </a:solidFill>
          <a:ln w="1016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59536" y="2916936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07592" y="2925165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6B5B"/>
                </a:solidFill>
                <a:latin typeface="Aptos"/>
              </a:rPr>
              <a:t>FRAGMENTS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167481" y="3383280"/>
            <a:ext cx="576072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167481" y="3383280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633825" y="3383280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3135477" y="3351276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3711549" y="3351276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80"/>
          <p:cNvCxnSpPr/>
          <p:nvPr/>
        </p:nvCxnSpPr>
        <p:spPr>
          <a:xfrm>
            <a:off x="3694176" y="3552444"/>
            <a:ext cx="667512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694176" y="3552444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251959" y="3552444"/>
            <a:ext cx="109729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3662172" y="3520439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4329683" y="3520439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>
            <a:off x="4283964" y="3378708"/>
            <a:ext cx="1353311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283964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527547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4251959" y="334670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5605271" y="334670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1" name="Connector 90"/>
          <p:cNvCxnSpPr/>
          <p:nvPr/>
        </p:nvCxnSpPr>
        <p:spPr>
          <a:xfrm>
            <a:off x="5728716" y="3858768"/>
            <a:ext cx="2029967" cy="0"/>
          </a:xfrm>
          <a:prstGeom prst="line">
            <a:avLst/>
          </a:prstGeom>
          <a:ln w="482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5728716" y="385876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648956" y="3858768"/>
            <a:ext cx="109727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696712" y="382676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7726679" y="382676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6" name="Connector 95"/>
          <p:cNvCxnSpPr/>
          <p:nvPr/>
        </p:nvCxnSpPr>
        <p:spPr>
          <a:xfrm>
            <a:off x="7712964" y="3378708"/>
            <a:ext cx="1353312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7712964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8956548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7680960" y="334670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9034272" y="334670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" name="Connector 100"/>
          <p:cNvCxnSpPr/>
          <p:nvPr/>
        </p:nvCxnSpPr>
        <p:spPr>
          <a:xfrm>
            <a:off x="9058960" y="3573475"/>
            <a:ext cx="1353312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9058960" y="3573475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0302544" y="3573475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9026956" y="3541471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10380268" y="3541471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859536" y="4553712"/>
            <a:ext cx="347472" cy="347472"/>
          </a:xfrm>
          <a:prstGeom prst="ellipse">
            <a:avLst/>
          </a:prstGeom>
          <a:solidFill>
            <a:srgbClr val="3B82F6"/>
          </a:solidFill>
          <a:ln w="101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59536" y="4553712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307592" y="4608576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B82F6"/>
                </a:solidFill>
                <a:latin typeface="Aptos"/>
              </a:rPr>
              <a:t>PEAK COUNTS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35761" y="5245912"/>
            <a:ext cx="1627632" cy="310896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HEIGHT = COUNT    
COLOR = FRAGMENT  LENGTH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2697480" y="5696712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2395728" y="5614416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0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2697480" y="5385816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2395728" y="5303520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2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2697480" y="5074920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2395728" y="4992624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4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2697480" y="4764024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2395728" y="4681728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6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2697480" y="4764024"/>
            <a:ext cx="0" cy="932688"/>
          </a:xfrm>
          <a:prstGeom prst="line">
            <a:avLst/>
          </a:prstGeom>
          <a:ln w="1270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/>
          <p:cNvSpPr/>
          <p:nvPr/>
        </p:nvSpPr>
        <p:spPr>
          <a:xfrm>
            <a:off x="2788920" y="4901184"/>
            <a:ext cx="2103120" cy="795528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5532120" y="5084064"/>
            <a:ext cx="2377440" cy="612648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8641080" y="5230368"/>
            <a:ext cx="2148840" cy="466344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2788920" y="4700016"/>
            <a:ext cx="21031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532120" y="4855464"/>
            <a:ext cx="23774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41080" y="5010912"/>
            <a:ext cx="21488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788920" y="5742432"/>
            <a:ext cx="21031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532120" y="5742432"/>
            <a:ext cx="23774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41080" y="5742432"/>
            <a:ext cx="21488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3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956816" y="6144768"/>
            <a:ext cx="8275320" cy="265176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69" b="1">
                <a:solidFill>
                  <a:srgbClr val="FFFFFF"/>
                </a:solidFill>
                <a:latin typeface="Aptos"/>
              </a:rPr>
              <a:t>P1: 5   |   P2: 4   |   P3: 3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SPATIAL ATAC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3233B"/>
                </a:solidFill>
                <a:latin typeface="Aptos Display"/>
              </a:rPr>
              <a:t>Spatial ATAC maps open chromatin across a tissue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58368" y="1042415"/>
            <a:ext cx="10826496" cy="4023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2627A"/>
                </a:solidFill>
                <a:latin typeface="Aptos"/>
              </a:rPr>
              <a:t>The tissue is divided into a grid of barcoded spots — each spot collects ATAC signal from the cells it covers.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86384" y="1645920"/>
            <a:ext cx="5943600" cy="42245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24128" y="1847088"/>
            <a:ext cx="53949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3233B"/>
                </a:solidFill>
                <a:latin typeface="Aptos"/>
              </a:rPr>
              <a:t>Tissue section on a barcoded grid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37360" y="234086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1865376" y="246888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2157984" y="252374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1975104" y="276148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2560320" y="234086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2706624" y="254203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2962656" y="270662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3383279" y="2340864"/>
            <a:ext cx="749808" cy="749808"/>
          </a:xfrm>
          <a:prstGeom prst="rect">
            <a:avLst/>
          </a:prstGeom>
          <a:solidFill>
            <a:srgbClr val="FFFFFF"/>
          </a:solidFill>
          <a:ln w="3175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493008" y="2450592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803904" y="248716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529584" y="276148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803904" y="274320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4206240" y="234086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334255" y="2468880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626864" y="252374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443983" y="276148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5029200" y="234086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5175504" y="2542032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431536" y="270662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737360" y="316382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865376" y="329184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2157984" y="334670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1975104" y="358444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2560320" y="316382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2706624" y="336499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2962656" y="352958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3383279" y="316382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3511296" y="3291840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3803904" y="334670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3621024" y="358444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4206240" y="316382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4334255" y="3291840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4626864" y="334670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4443983" y="358444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5029200" y="316382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5175504" y="3364992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5431536" y="352958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1737360" y="3986783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1883664" y="4187951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2139696" y="435254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2560320" y="3986783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2688336" y="4114799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2980944" y="4169663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2798063" y="4407407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3383279" y="3986783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3529584" y="4187951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3785615" y="435254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4206240" y="3986783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4334255" y="4114799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4626864" y="4169663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4443983" y="4407407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5029200" y="3986783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5138928" y="4096511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5449824" y="4133087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5175504" y="4407407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5449824" y="4389120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1737360" y="480974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1883664" y="501091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2139696" y="517550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2560320" y="480974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2670048" y="491947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2980944" y="495604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2706624" y="523036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2980944" y="5212080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3383279" y="480974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3529584" y="501091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3785615" y="517550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4206240" y="480974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4334255" y="4937759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4626864" y="499262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4443983" y="523036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029200" y="480974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157216" y="4937759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5449824" y="499262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5266944" y="523036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987552" y="5632704"/>
            <a:ext cx="3520440" cy="23774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2627A"/>
                </a:solidFill>
                <a:latin typeface="Aptos"/>
              </a:rPr>
              <a:t>each square = one spot with its own spot barcode</a:t>
            </a:r>
          </a:p>
        </p:txBody>
      </p:sp>
      <p:sp>
        <p:nvSpPr>
          <p:cNvPr id="155" name="Oval 154"/>
          <p:cNvSpPr/>
          <p:nvPr/>
        </p:nvSpPr>
        <p:spPr>
          <a:xfrm>
            <a:off x="4626864" y="5660136"/>
            <a:ext cx="164592" cy="164592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4828032" y="5632704"/>
            <a:ext cx="566928" cy="23774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T cell</a:t>
            </a:r>
          </a:p>
        </p:txBody>
      </p:sp>
      <p:sp>
        <p:nvSpPr>
          <p:cNvPr id="157" name="Oval 156"/>
          <p:cNvSpPr/>
          <p:nvPr/>
        </p:nvSpPr>
        <p:spPr>
          <a:xfrm>
            <a:off x="5468112" y="5660136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5669280" y="5632704"/>
            <a:ext cx="566928" cy="23774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B cell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7059168" y="1645920"/>
            <a:ext cx="4480560" cy="4224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7315200" y="1847088"/>
            <a:ext cx="3931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3233B"/>
                </a:solidFill>
                <a:latin typeface="Aptos"/>
              </a:rPr>
              <a:t>How to read the grid</a:t>
            </a:r>
          </a:p>
        </p:txBody>
      </p:sp>
      <p:sp>
        <p:nvSpPr>
          <p:cNvPr id="161" name="Oval 160"/>
          <p:cNvSpPr/>
          <p:nvPr/>
        </p:nvSpPr>
        <p:spPr>
          <a:xfrm>
            <a:off x="7333488" y="2359152"/>
            <a:ext cx="457200" cy="45720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7333488" y="236829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55279" y="2322576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3233B"/>
                </a:solidFill>
                <a:latin typeface="Aptos"/>
              </a:rPr>
              <a:t>One spot barcode per spot (square)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955279" y="2633472"/>
            <a:ext cx="34290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2627A"/>
                </a:solidFill>
                <a:latin typeface="Aptos"/>
              </a:rPr>
              <a:t>every square of the grid carries its own DNA barcode</a:t>
            </a:r>
          </a:p>
        </p:txBody>
      </p:sp>
      <p:sp>
        <p:nvSpPr>
          <p:cNvPr id="165" name="Oval 164"/>
          <p:cNvSpPr/>
          <p:nvPr/>
        </p:nvSpPr>
        <p:spPr>
          <a:xfrm>
            <a:off x="7333488" y="3474720"/>
            <a:ext cx="457200" cy="457200"/>
          </a:xfrm>
          <a:prstGeom prst="ellipse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7333488" y="3483863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79" y="3438144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3233B"/>
                </a:solidFill>
                <a:latin typeface="Aptos"/>
              </a:rPr>
              <a:t>Cells sit inside spots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955279" y="3749039"/>
            <a:ext cx="34290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2627A"/>
                </a:solidFill>
                <a:latin typeface="Aptos"/>
              </a:rPr>
              <a:t>a spot usually covers several cells — here two types, blue and green</a:t>
            </a:r>
          </a:p>
        </p:txBody>
      </p:sp>
      <p:sp>
        <p:nvSpPr>
          <p:cNvPr id="169" name="Oval 168"/>
          <p:cNvSpPr/>
          <p:nvPr/>
        </p:nvSpPr>
        <p:spPr>
          <a:xfrm>
            <a:off x="7333488" y="4590288"/>
            <a:ext cx="457200" cy="45720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7333488" y="4599431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955279" y="4553712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3233B"/>
                </a:solidFill>
                <a:latin typeface="Aptos"/>
              </a:rPr>
              <a:t>One profile per spot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955279" y="4864607"/>
            <a:ext cx="34290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2627A"/>
                </a:solidFill>
                <a:latin typeface="Aptos"/>
              </a:rPr>
              <a:t>each spot reports a single ATAC peak-count profile for all its cells together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264408" y="5998464"/>
            <a:ext cx="5669280" cy="365760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RESULT: ATAC PEAK COUNTS AT EVERY SPOT IN THE TISSUE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1137392" y="310896"/>
            <a:ext cx="411480" cy="22768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2627A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WHY DECONVOLUTION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3233B"/>
                </a:solidFill>
                <a:latin typeface="Aptos Display"/>
              </a:rPr>
              <a:t>Spots are bigger than cells, so each spot reports blended peak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26496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2627A"/>
                </a:solidFill>
                <a:latin typeface="Aptos"/>
              </a:rPr>
              <a:t>A spot is about 50 µm across; a cell is about 10 µm. Every cell under a spot shares the same spot barcode.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00784"/>
            <a:ext cx="4846320" cy="42062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883664"/>
            <a:ext cx="43891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3233B"/>
                </a:solidFill>
                <a:latin typeface="Aptos"/>
              </a:rPr>
              <a:t>One spot under the microscope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778508" y="5230368"/>
            <a:ext cx="2606040" cy="0"/>
          </a:xfrm>
          <a:prstGeom prst="line">
            <a:avLst/>
          </a:prstGeom>
          <a:ln w="1524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778508" y="5175504"/>
            <a:ext cx="0" cy="109728"/>
          </a:xfrm>
          <a:prstGeom prst="line">
            <a:avLst/>
          </a:prstGeom>
          <a:ln w="1524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384548" y="5175504"/>
            <a:ext cx="0" cy="109728"/>
          </a:xfrm>
          <a:prstGeom prst="line">
            <a:avLst/>
          </a:prstGeom>
          <a:ln w="1524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377440" y="5285232"/>
            <a:ext cx="1417320" cy="23774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2627A"/>
                </a:solidFill>
                <a:latin typeface="Aptos"/>
              </a:rPr>
              <a:t>spot ≈ 50 µm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98448" y="5541264"/>
            <a:ext cx="3566160" cy="292608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OFTEN ~10 CELLS SHARE ONE SPOT BARCODE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70448" y="1700784"/>
            <a:ext cx="5660136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0" y="1883664"/>
            <a:ext cx="31089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3233B"/>
                </a:solidFill>
                <a:latin typeface="Aptos"/>
              </a:rPr>
              <a:t>What one spot reports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32520" y="2231136"/>
            <a:ext cx="2697480" cy="292608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ONE BLENDED PROFILE PER SPOT BARCODE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2651760"/>
            <a:ext cx="365760" cy="365760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6387998" y="2772459"/>
            <a:ext cx="98755" cy="98755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63640" y="2651760"/>
            <a:ext cx="365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39" name="Oval 38"/>
          <p:cNvSpPr/>
          <p:nvPr/>
        </p:nvSpPr>
        <p:spPr>
          <a:xfrm>
            <a:off x="6720840" y="2651760"/>
            <a:ext cx="365760" cy="365760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845198" y="2772459"/>
            <a:ext cx="98755" cy="98755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20840" y="2651760"/>
            <a:ext cx="365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42" name="Oval 41"/>
          <p:cNvSpPr/>
          <p:nvPr/>
        </p:nvSpPr>
        <p:spPr>
          <a:xfrm>
            <a:off x="7178040" y="2651760"/>
            <a:ext cx="365760" cy="365760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302398" y="2772459"/>
            <a:ext cx="98755" cy="98755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178040" y="2651760"/>
            <a:ext cx="365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45" name="Oval 44"/>
          <p:cNvSpPr/>
          <p:nvPr/>
        </p:nvSpPr>
        <p:spPr>
          <a:xfrm>
            <a:off x="7790688" y="2651760"/>
            <a:ext cx="365760" cy="365760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7915046" y="2772459"/>
            <a:ext cx="98755" cy="98755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90688" y="2651760"/>
            <a:ext cx="365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98664" y="2688336"/>
            <a:ext cx="2377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2627A"/>
                </a:solidFill>
                <a:latin typeface="Aptos"/>
              </a:rPr>
              <a:t>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633472"/>
            <a:ext cx="30632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33B"/>
                </a:solidFill>
                <a:latin typeface="Aptos"/>
              </a:rPr>
              <a:t>3 T cells + 1 B cell caught under the same spot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6519672" y="3063240"/>
            <a:ext cx="310896" cy="365760"/>
          </a:xfrm>
          <a:prstGeom prst="downArrow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995160" y="3346704"/>
            <a:ext cx="566928" cy="1609344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2008" y="3127248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22008" y="5001768"/>
            <a:ext cx="7132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46136" y="4151376"/>
            <a:ext cx="566928" cy="804672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872984" y="3931920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72984" y="5001768"/>
            <a:ext cx="7132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897112" y="3547872"/>
            <a:ext cx="566928" cy="1408176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823960" y="3328415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33B"/>
                </a:solidFill>
                <a:latin typeface="Aptos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23960" y="5001768"/>
            <a:ext cx="7132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48088" y="3950208"/>
            <a:ext cx="566928" cy="1005840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774936" y="3730752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33B"/>
                </a:solidFill>
                <a:latin typeface="Aptos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74936" y="5001768"/>
            <a:ext cx="7132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903720" y="4956048"/>
            <a:ext cx="3611880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126480" y="5413248"/>
            <a:ext cx="51663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26B5B"/>
                </a:solidFill>
                <a:latin typeface="Aptos"/>
              </a:rPr>
              <a:t>Which cells contributed what is hidden in this blend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58368" y="6016752"/>
            <a:ext cx="10881360" cy="402336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4400" y="6062472"/>
            <a:ext cx="10369296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Un-mixing each spot back into breakdown of cell counts by cell-type  is called DECONVOLUTION.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1778508" y="2446020"/>
            <a:ext cx="2606040" cy="2606040"/>
          </a:xfrm>
          <a:prstGeom prst="rect">
            <a:avLst/>
          </a:prstGeom>
          <a:solidFill>
            <a:srgbClr val="FFFFFF"/>
          </a:solidFill>
          <a:ln w="3175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2157984" y="2889504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2319649" y="304641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2798063" y="2779776"/>
            <a:ext cx="475488" cy="475488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2959729" y="2936687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3438144" y="2980944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3599809" y="313785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1975104" y="3529584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2136769" y="368649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2615184" y="3438144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2776849" y="359505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3300984" y="3557016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3462649" y="3713927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2249424" y="4169664"/>
            <a:ext cx="475488" cy="475488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2411089" y="432657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3483864" y="4078224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3645529" y="423513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462272" y="2761488"/>
            <a:ext cx="1005840" cy="40233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52627A"/>
                </a:solidFill>
                <a:latin typeface="Aptos"/>
              </a:rPr>
              <a:t>one cell
≈ 10 µm</a:t>
            </a:r>
          </a:p>
        </p:txBody>
      </p:sp>
      <p:cxnSp>
        <p:nvCxnSpPr>
          <p:cNvPr id="87" name="Connector 86"/>
          <p:cNvCxnSpPr/>
          <p:nvPr/>
        </p:nvCxnSpPr>
        <p:spPr>
          <a:xfrm flipH="1">
            <a:off x="3950208" y="3145536"/>
            <a:ext cx="493776" cy="100584"/>
          </a:xfrm>
          <a:prstGeom prst="line">
            <a:avLst/>
          </a:prstGeom>
          <a:ln w="1270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1137392" y="310896"/>
            <a:ext cx="41148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2627A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CORE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Deconvolution works like identifying ingredients in a smoothie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10896"/>
            <a:ext cx="41148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2627A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069848"/>
            <a:ext cx="10881360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52627A"/>
                </a:solidFill>
                <a:latin typeface="Aptos"/>
              </a:rPr>
              <a:t>Known reference fingerprints + an unknown mixture → estimated cell-type proportions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847088"/>
            <a:ext cx="2907792" cy="1389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2276856"/>
            <a:ext cx="475488" cy="47548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78992" y="2432304"/>
            <a:ext cx="155448" cy="155448"/>
          </a:xfrm>
          <a:prstGeom prst="ellipse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107899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A999"/>
                </a:solidFill>
                <a:latin typeface="Aptos"/>
              </a:rPr>
              <a:t>T cell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760" y="2350008"/>
            <a:ext cx="859536" cy="210312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DDF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760" b="1">
                <a:solidFill>
                  <a:srgbClr val="18A999"/>
                </a:solidFill>
                <a:latin typeface="Aptos"/>
              </a:rPr>
              <a:t>REFERENCE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4016" y="2404872"/>
            <a:ext cx="182880" cy="502920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40864" y="2240279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0864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2807208"/>
            <a:ext cx="182880" cy="100584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51760" y="2642615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35808" y="2505456"/>
            <a:ext cx="182880" cy="402336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62656" y="2340863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2656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6704" y="2706623"/>
            <a:ext cx="182880" cy="201168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73552" y="2542031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3552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59152" y="2907791"/>
            <a:ext cx="122529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4944" y="3675887"/>
            <a:ext cx="2907792" cy="1389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14400" y="4105655"/>
            <a:ext cx="475488" cy="47548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78992" y="4261103"/>
            <a:ext cx="155448" cy="155448"/>
          </a:xfrm>
          <a:prstGeom prst="ellipse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08760" y="3858768"/>
            <a:ext cx="107899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B82F6"/>
                </a:solidFill>
                <a:latin typeface="Aptos"/>
              </a:rPr>
              <a:t>B cell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08760" y="4178807"/>
            <a:ext cx="859536" cy="210312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E7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760" b="1">
                <a:solidFill>
                  <a:srgbClr val="3B82F6"/>
                </a:solidFill>
                <a:latin typeface="Aptos"/>
              </a:rPr>
              <a:t>REFERENCE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14016" y="4636007"/>
            <a:ext cx="182880" cy="100584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340864" y="4471416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0864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24912" y="4233672"/>
            <a:ext cx="182880" cy="502920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51760" y="4069080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35808" y="4535424"/>
            <a:ext cx="182880" cy="201168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962656" y="4370832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62656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46704" y="4334255"/>
            <a:ext cx="182880" cy="402336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73552" y="4169663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73552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359152" y="4736592"/>
            <a:ext cx="122529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59536" y="5212080"/>
            <a:ext cx="257860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2627A"/>
                </a:solidFill>
                <a:latin typeface="Aptos"/>
              </a:rPr>
              <a:t>reference ATAC count profiles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11880" y="3099816"/>
            <a:ext cx="329184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52627A"/>
                </a:solidFill>
                <a:latin typeface="Aptos"/>
              </a:rPr>
              <a:t>+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05072" y="1847088"/>
            <a:ext cx="2944368" cy="3218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97680" y="2084831"/>
            <a:ext cx="235915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B5CF6"/>
                </a:solidFill>
                <a:latin typeface="Aptos"/>
              </a:rPr>
              <a:t>UNKNOWN MIXED SPOT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6824" y="2441448"/>
            <a:ext cx="234086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2627A"/>
                </a:solidFill>
                <a:latin typeface="Aptos"/>
              </a:rPr>
              <a:t>observed ATAC count profile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0" y="2889504"/>
            <a:ext cx="2359152" cy="1865376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535424" y="3529584"/>
            <a:ext cx="310896" cy="877824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62272" y="3364992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62272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47488" y="3968496"/>
            <a:ext cx="310896" cy="438912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974336" y="380390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74336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59552" y="3639312"/>
            <a:ext cx="310896" cy="768096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86400" y="3474720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71616" y="3858768"/>
            <a:ext cx="310896" cy="548640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998464" y="3694176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98464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480560" y="4407408"/>
            <a:ext cx="195681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379976" y="4800600"/>
            <a:ext cx="21945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52627A"/>
                </a:solidFill>
                <a:latin typeface="Aptos"/>
              </a:rPr>
              <a:t>same four peaks • same count scale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7114032" y="2980944"/>
            <a:ext cx="859536" cy="603504"/>
          </a:xfrm>
          <a:prstGeom prst="rightArrow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7114032" y="3675887"/>
            <a:ext cx="859536" cy="438912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BAYESIAN
MODEL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65592" y="1847088"/>
            <a:ext cx="3383280" cy="3218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439912" y="2112264"/>
            <a:ext cx="283464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3233B"/>
                </a:solidFill>
                <a:latin typeface="Aptos"/>
              </a:rPr>
              <a:t>Estimated recipe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39912" y="2496312"/>
            <a:ext cx="283464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A999"/>
                </a:solidFill>
                <a:latin typeface="Aptos"/>
              </a:rPr>
              <a:t>75% T  +  25% 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540496" y="3072384"/>
            <a:ext cx="1975104" cy="530352"/>
          </a:xfrm>
          <a:prstGeom prst="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10515600" y="3072384"/>
            <a:ext cx="658367" cy="5303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8540496" y="3072384"/>
            <a:ext cx="2633472" cy="530352"/>
          </a:xfrm>
          <a:prstGeom prst="rect">
            <a:avLst/>
          </a:prstGeom>
          <a:noFill/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540496" y="3072384"/>
            <a:ext cx="197510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75%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3072384"/>
            <a:ext cx="658367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25%</a:t>
            </a:r>
          </a:p>
        </p:txBody>
      </p:sp>
      <p:sp>
        <p:nvSpPr>
          <p:cNvPr id="72" name="Oval 71"/>
          <p:cNvSpPr/>
          <p:nvPr/>
        </p:nvSpPr>
        <p:spPr>
          <a:xfrm>
            <a:off x="8558784" y="3886200"/>
            <a:ext cx="182880" cy="182880"/>
          </a:xfrm>
          <a:prstGeom prst="ellipse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842248" y="3831335"/>
            <a:ext cx="1298448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T cell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42448" y="3831335"/>
            <a:ext cx="5486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33B"/>
                </a:solidFill>
                <a:latin typeface="Aptos"/>
              </a:rPr>
              <a:t>75%</a:t>
            </a:r>
          </a:p>
        </p:txBody>
      </p:sp>
      <p:sp>
        <p:nvSpPr>
          <p:cNvPr id="75" name="Oval 74"/>
          <p:cNvSpPr/>
          <p:nvPr/>
        </p:nvSpPr>
        <p:spPr>
          <a:xfrm>
            <a:off x="8558784" y="4343400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842248" y="4288536"/>
            <a:ext cx="1298448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B cell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42448" y="4288536"/>
            <a:ext cx="5486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33B"/>
                </a:solidFill>
                <a:latin typeface="Aptos"/>
              </a:rPr>
              <a:t>25%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467344" y="4663440"/>
            <a:ext cx="2779776" cy="256032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ptos"/>
              </a:rPr>
              <a:t>mixed = 0.75 × T + 0.25 × B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3000" y="5650992"/>
            <a:ext cx="9912096" cy="347472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THE BAYESIAN MODEL FINDS THE T/B WEIGHTS THAT BEST REPRESENT THE OBSERVED ATAC PEAK COUNTS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WHY THIS WORK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3233B"/>
                </a:solidFill>
                <a:latin typeface="Aptos Display"/>
              </a:rPr>
              <a:t>A better deconvolution method can help many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817352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2627A"/>
                </a:solidFill>
                <a:latin typeface="Aptos"/>
              </a:rPr>
              <a:t>Researchers across genomics use deconvolution to interpret mixed measurements.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39112"/>
            <a:ext cx="3255264" cy="2468880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353312" y="2258568"/>
            <a:ext cx="1828800" cy="292608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COMMON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16352"/>
            <a:ext cx="288950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3233B"/>
                </a:solidFill>
                <a:latin typeface="Aptos"/>
              </a:rPr>
              <a:t>Mixed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2"/>
            <a:ext cx="2743200" cy="6766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A sample or spatial spot can contain several cell types.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41063" y="2898648"/>
            <a:ext cx="43891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8A999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039112"/>
            <a:ext cx="3255264" cy="246888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175504" y="2258568"/>
            <a:ext cx="1828800" cy="292608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WIDELY USED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816352"/>
            <a:ext cx="288950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3233B"/>
                </a:solidFill>
                <a:latin typeface="Aptos"/>
              </a:rPr>
              <a:t>Deconvolution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8304" y="3410712"/>
            <a:ext cx="2743200" cy="6766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Estimate how much of each cell type is present.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3256" y="2898648"/>
            <a:ext cx="43891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8A999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4464" y="2039112"/>
            <a:ext cx="3255264" cy="2468880"/>
          </a:xfrm>
          <a:prstGeom prst="roundRect">
            <a:avLst/>
          </a:prstGeom>
          <a:solidFill>
            <a:srgbClr val="E5F5E9"/>
          </a:solidFill>
          <a:ln w="12700">
            <a:solidFill>
              <a:srgbClr val="43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997696" y="2258568"/>
            <a:ext cx="1828800" cy="292608"/>
          </a:xfrm>
          <a:prstGeom prst="roundRect">
            <a:avLst/>
          </a:prstGeom>
          <a:solidFill>
            <a:srgbClr val="43AA6A"/>
          </a:solidFill>
          <a:ln w="12700">
            <a:solidFill>
              <a:srgbClr val="43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BROAD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816352"/>
            <a:ext cx="288950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3233B"/>
                </a:solidFill>
                <a:latin typeface="Aptos"/>
              </a:rPr>
              <a:t>Better conclusions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0496" y="3410712"/>
            <a:ext cx="2743200" cy="6766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More reliable tissue maps, comparisons, and biological interpretation.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37760"/>
            <a:ext cx="10899648" cy="713232"/>
          </a:xfrm>
          <a:prstGeom prst="roundRect">
            <a:avLst/>
          </a:prstGeom>
          <a:solidFill>
            <a:srgbClr val="DDF4F1"/>
          </a:solidFill>
          <a:ln w="1778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056632"/>
            <a:ext cx="1044244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33B"/>
                </a:solidFill>
                <a:latin typeface="Aptos"/>
              </a:rPr>
              <a:t>Improve a method used by many researchers  →  improve many downstream 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25312"/>
            <a:ext cx="10899648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2627A"/>
                </a:solidFill>
                <a:latin typeface="Aptos"/>
              </a:rPr>
              <a:t>ShapeMix asks whether fragment-length information can make this widely used step more accurate.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WHY THIS WORK IS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3233B"/>
                </a:solidFill>
                <a:latin typeface="Aptos Display"/>
              </a:rPr>
              <a:t>ShapeMix uses an ATAC-specific signal that RNA methods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817352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2627A"/>
                </a:solidFill>
                <a:latin typeface="Aptos"/>
              </a:rPr>
              <a:t>Spatial ATAC deconvolution is still an open problem.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64208"/>
            <a:ext cx="5285232" cy="3246120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96112" y="1874519"/>
            <a:ext cx="1993392" cy="283464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2025 STATE OF THE 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31720"/>
            <a:ext cx="473659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3233B"/>
                </a:solidFill>
                <a:latin typeface="Aptos"/>
              </a:rPr>
              <a:t>Borrow spatial-RNA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70632"/>
            <a:ext cx="4736592" cy="6035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3047"/>
                </a:solidFill>
                <a:latin typeface="Aptos"/>
              </a:rPr>
              <a:t>The benchmark applies methods designed for gene-expression data to an ATAC peak-count matrix.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4178808"/>
            <a:ext cx="4069080" cy="13716"/>
          </a:xfrm>
          <a:prstGeom prst="rect">
            <a:avLst/>
          </a:prstGeom>
          <a:solidFill>
            <a:srgbClr val="D7E0E8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481328" y="3721608"/>
            <a:ext cx="329184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08176" y="4233672"/>
            <a:ext cx="475488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3118104"/>
            <a:ext cx="329184" cy="1060704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67128" y="4233672"/>
            <a:ext cx="475488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9232" y="3520440"/>
            <a:ext cx="329184" cy="658368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80" y="4233672"/>
            <a:ext cx="475488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58183" y="2880360"/>
            <a:ext cx="329184" cy="1298448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85031" y="4233672"/>
            <a:ext cx="475488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17136" y="3346704"/>
            <a:ext cx="329184" cy="832104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43983" y="4233672"/>
            <a:ext cx="475488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P5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407408"/>
            <a:ext cx="473659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B82F6"/>
                </a:solidFill>
                <a:latin typeface="Aptos"/>
              </a:rPr>
              <a:t>Peak totals only  →  fragment lengths are ignored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1664208"/>
            <a:ext cx="5303520" cy="324612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92240" y="1874519"/>
            <a:ext cx="1554480" cy="283464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SHAPEMIX-ATAC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331720"/>
            <a:ext cx="47548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3233B"/>
                </a:solidFill>
                <a:latin typeface="Aptos"/>
              </a:rPr>
              <a:t>Keep an ATAC-specific signal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675534"/>
            <a:ext cx="475488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3047"/>
                </a:solidFill>
                <a:latin typeface="Aptos"/>
              </a:rPr>
              <a:t>DNA wrapping around nucleosomes creates informative fragment-size patterns: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47104" y="3260750"/>
            <a:ext cx="850392" cy="256032"/>
          </a:xfrm>
          <a:prstGeom prst="roundRect">
            <a:avLst/>
          </a:prstGeom>
          <a:solidFill>
            <a:srgbClr val="F26B5B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SHORT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3352190"/>
            <a:ext cx="749808" cy="41148"/>
          </a:xfrm>
          <a:prstGeom prst="rect">
            <a:avLst/>
          </a:prstGeom>
          <a:solidFill>
            <a:srgbClr val="F26B5B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735824" y="3292754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85632" y="3292754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22054" y="3251606"/>
            <a:ext cx="2039112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open, nucleosome-free DNA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7104" y="3699662"/>
            <a:ext cx="850392" cy="256032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13233B"/>
                </a:solidFill>
                <a:latin typeface="Aptos"/>
              </a:rPr>
              <a:t>MIDDLE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44383" y="3791102"/>
            <a:ext cx="1170432" cy="41148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7607808" y="3731666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778240" y="3731666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22054" y="3690518"/>
            <a:ext cx="2039112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spans about one nucleosome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7104" y="4138574"/>
            <a:ext cx="850392" cy="256032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LONG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79" y="4230014"/>
            <a:ext cx="1481328" cy="411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461504" y="4170578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942832" y="4170578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38513" y="4129430"/>
            <a:ext cx="2039112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can span two nucleosomes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230368"/>
            <a:ext cx="10899648" cy="874166"/>
          </a:xfrm>
          <a:prstGeom prst="roundRect">
            <a:avLst/>
          </a:prstGeom>
          <a:solidFill>
            <a:srgbClr val="FDE9E6"/>
          </a:solidFill>
          <a:ln w="1651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68680" y="5275173"/>
            <a:ext cx="10442448" cy="5504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33B"/>
                </a:solidFill>
                <a:latin typeface="Aptos"/>
              </a:rPr>
              <a:t>NOVELTY: model the fragment-length composition inside each peak, not peak counts alone
Note: RNA measurements have no equivalent fragment-length feature.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74320"/>
            <a:ext cx="73152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RESEARCH QUESTION • HYPOTHESIS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66928"/>
            <a:ext cx="731520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3233B"/>
                </a:solidFill>
                <a:latin typeface="Aptos Display"/>
              </a:rPr>
              <a:t>Our hypothesis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08176"/>
            <a:ext cx="10954512" cy="214884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682496"/>
            <a:ext cx="1243584" cy="301752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48256"/>
            <a:ext cx="10268712" cy="104241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3233B"/>
                </a:solidFill>
                <a:latin typeface="Aptos"/>
              </a:rPr>
              <a:t>A Bayesian model using ATAC fragment-length signals will recover cell-type mixtures in spatial ATAC-seq spots more accurately than models using peak counts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087368"/>
            <a:ext cx="2980944" cy="1207008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77240" y="4215384"/>
            <a:ext cx="1097280" cy="256032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72000"/>
            <a:ext cx="2670048" cy="2651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Peak 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2670048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how many cut sites fall in each peak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4361688"/>
            <a:ext cx="502920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2627A"/>
                </a:solidFill>
                <a:latin typeface="Aptos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087368"/>
            <a:ext cx="2980944" cy="1207008"/>
          </a:xfrm>
          <a:prstGeom prst="roundRect">
            <a:avLst/>
          </a:prstGeom>
          <a:solidFill>
            <a:srgbClr val="FDE9E6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53128" y="4215384"/>
            <a:ext cx="1097280" cy="256032"/>
          </a:xfrm>
          <a:prstGeom prst="roundRect">
            <a:avLst/>
          </a:prstGeom>
          <a:solidFill>
            <a:srgbClr val="F26B5B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ATAC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4572000"/>
            <a:ext cx="2670048" cy="2651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Fragment lengths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4846320"/>
            <a:ext cx="2670048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how those same fragments split by length</a:t>
            </a:r>
          </a:p>
        </p:txBody>
      </p:sp>
      <p:sp>
        <p:nvSpPr>
          <p:cNvPr id="16" name="Chevron 15"/>
          <p:cNvSpPr/>
          <p:nvPr/>
        </p:nvSpPr>
        <p:spPr>
          <a:xfrm>
            <a:off x="7434072" y="4407408"/>
            <a:ext cx="603504" cy="521207"/>
          </a:xfrm>
          <a:prstGeom prst="chevron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56448" y="4087368"/>
            <a:ext cx="2980944" cy="1207008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11896" y="4215384"/>
            <a:ext cx="1097280" cy="256032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EXPECTED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572000"/>
            <a:ext cx="2670048" cy="2651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Better deconvolution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4846320"/>
            <a:ext cx="2670048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more accurate estimates of the cell-type mixture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15000"/>
            <a:ext cx="10716768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2627A"/>
                </a:solidFill>
                <a:latin typeface="Aptos"/>
              </a:rPr>
              <a:t>The comparison makes the hypothesis testable: fragment-length model vs. count-only model.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BAYESIAN MODEL • WITHOUT LENGTH BINS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 Display"/>
              </a:rPr>
              <a:t>Bayesian model to find the number of cells for each cell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99108"/>
            <a:ext cx="8503920" cy="308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3233B"/>
                </a:solidFill>
                <a:latin typeface="Aptos"/>
              </a:rPr>
              <a:t>z   </a:t>
            </a:r>
            <a:r>
              <a:rPr sz="1400">
                <a:solidFill>
                  <a:srgbClr val="52627A"/>
                </a:solidFill>
                <a:latin typeface="Aptos"/>
              </a:rPr>
              <a:t>number of cells for each cell type in the spot — what we want to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2516" y="1413662"/>
            <a:ext cx="8503920" cy="308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3233B"/>
                </a:solidFill>
                <a:latin typeface="Aptos"/>
              </a:rPr>
              <a:t>N   </a:t>
            </a:r>
            <a:r>
              <a:rPr sz="1400">
                <a:solidFill>
                  <a:srgbClr val="52627A"/>
                </a:solidFill>
                <a:latin typeface="Aptos"/>
              </a:rPr>
              <a:t>the cut-site counts actually observed at the peaks — what we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103120"/>
            <a:ext cx="210312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8A999"/>
                </a:solidFill>
                <a:latin typeface="Aptos"/>
              </a:rPr>
              <a:t>p(z | 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2779776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103120"/>
            <a:ext cx="45720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33B"/>
                </a:solidFill>
                <a:latin typeface="Aptos"/>
              </a:rPr>
              <a:t>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103120"/>
            <a:ext cx="210312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B8860B"/>
                </a:solidFill>
                <a:latin typeface="Aptos"/>
              </a:rPr>
              <a:t>p(N | z)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779776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60B"/>
                </a:solidFill>
                <a:latin typeface="Aptos"/>
              </a:rPr>
              <a:t>likelihood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03120"/>
            <a:ext cx="45720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33B"/>
                </a:solidFill>
                <a:latin typeface="Aptos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103120"/>
            <a:ext cx="155448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8B5CF6"/>
                </a:solidFill>
                <a:latin typeface="Aptos"/>
              </a:rPr>
              <a:t>p(z)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779776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354580" y="3072384"/>
            <a:ext cx="1257300" cy="585216"/>
          </a:xfrm>
          <a:prstGeom prst="line">
            <a:avLst/>
          </a:prstGeom>
          <a:ln w="15240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3657600"/>
            <a:ext cx="3429000" cy="105156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" y="3749039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4041648"/>
            <a:ext cx="3136392" cy="28895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3047"/>
                </a:solidFill>
                <a:latin typeface="Aptos"/>
              </a:rPr>
              <a:t>best supported z after seeing data 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094476" y="3072384"/>
            <a:ext cx="260604" cy="585216"/>
          </a:xfrm>
          <a:prstGeom prst="line">
            <a:avLst/>
          </a:prstGeom>
          <a:ln w="15240">
            <a:solidFill>
              <a:srgbClr val="B886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379976" y="3657600"/>
            <a:ext cx="3429000" cy="105156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26280" y="3749039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60B"/>
                </a:solidFill>
                <a:latin typeface="Aptos"/>
              </a:rPr>
              <a:t>LIKELIHOOD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041648"/>
            <a:ext cx="3136392" cy="5047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3047"/>
                </a:solidFill>
                <a:latin typeface="Aptos"/>
              </a:rPr>
              <a:t>given z, what is the probability of seeing data 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823960" y="3072384"/>
            <a:ext cx="1010412" cy="585216"/>
          </a:xfrm>
          <a:prstGeom prst="line">
            <a:avLst/>
          </a:prstGeom>
          <a:ln w="1524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119872" y="3657600"/>
            <a:ext cx="3429000" cy="1051560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6176" y="3749039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4041648"/>
            <a:ext cx="3136392" cy="5047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3047"/>
                </a:solidFill>
                <a:latin typeface="Aptos"/>
              </a:rPr>
              <a:t>how plausible z is before seeing any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BAYESIAN MODEL • WITHOUT LENGTH BINS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 Display"/>
              </a:rPr>
              <a:t>The prior: what is plausible before seeing any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3434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1508760"/>
            <a:ext cx="1417320" cy="292608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PRIOR  p(z)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3931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3233B"/>
                </a:solidFill>
                <a:latin typeface="Aptos"/>
              </a:rPr>
              <a:t>z ~ Gamma(shape = 2, rate =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3931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2627A"/>
                </a:solidFill>
                <a:latin typeface="Aptos"/>
              </a:rPr>
              <a:t>the frozen version-1 prior, applied to every element of 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88920"/>
            <a:ext cx="1170432" cy="713232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852928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1170432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27A"/>
                </a:solidFill>
                <a:latin typeface="Aptos"/>
              </a:rPr>
              <a:t>mean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67128" y="2788920"/>
            <a:ext cx="1170432" cy="713232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7128" y="2852928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7128" y="3200400"/>
            <a:ext cx="1170432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27A"/>
                </a:solidFill>
                <a:latin typeface="Aptos"/>
              </a:rPr>
              <a:t>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2788920"/>
            <a:ext cx="1170432" cy="713232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65576" y="2852928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3233B"/>
                </a:solidFill>
                <a:latin typeface="Apto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200400"/>
            <a:ext cx="1170432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27A"/>
                </a:solidFill>
                <a:latin typeface="Aptos"/>
              </a:rPr>
              <a:t>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03320"/>
            <a:ext cx="39319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13047"/>
                </a:solidFill>
                <a:latin typeface="Aptos"/>
              </a:rPr>
              <a:t>Only positive values are allowed — a cell amount cannot be negative.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1325880"/>
            <a:ext cx="630936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5806440" y="1645920"/>
            <a:ext cx="0" cy="2496312"/>
          </a:xfrm>
          <a:prstGeom prst="line">
            <a:avLst/>
          </a:prstGeom>
          <a:ln w="1524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806440" y="4142232"/>
            <a:ext cx="5440680" cy="0"/>
          </a:xfrm>
          <a:prstGeom prst="line">
            <a:avLst/>
          </a:prstGeom>
          <a:ln w="1524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reeform 20"/>
          <p:cNvSpPr/>
          <p:nvPr/>
        </p:nvSpPr>
        <p:spPr>
          <a:xfrm>
            <a:off x="5820041" y="1996074"/>
            <a:ext cx="5427079" cy="2130499"/>
          </a:xfrm>
          <a:custGeom>
            <a:avLst/>
            <a:gdLst/>
            <a:ahLst/>
            <a:cxnLst/>
            <a:rect l="l" t="t" r="r" b="b"/>
            <a:pathLst>
              <a:path w="5427079" h="2130499">
                <a:moveTo>
                  <a:pt x="0" y="2031773"/>
                </a:moveTo>
                <a:lnTo>
                  <a:pt x="84798" y="1415665"/>
                </a:lnTo>
                <a:lnTo>
                  <a:pt x="169596" y="945578"/>
                </a:lnTo>
                <a:lnTo>
                  <a:pt x="254394" y="595744"/>
                </a:lnTo>
                <a:lnTo>
                  <a:pt x="339193" y="344428"/>
                </a:lnTo>
                <a:lnTo>
                  <a:pt x="423991" y="173341"/>
                </a:lnTo>
                <a:lnTo>
                  <a:pt x="508789" y="67126"/>
                </a:lnTo>
                <a:lnTo>
                  <a:pt x="593587" y="12924"/>
                </a:lnTo>
                <a:lnTo>
                  <a:pt x="678385" y="0"/>
                </a:lnTo>
                <a:lnTo>
                  <a:pt x="763183" y="19422"/>
                </a:lnTo>
                <a:lnTo>
                  <a:pt x="847981" y="63784"/>
                </a:lnTo>
                <a:lnTo>
                  <a:pt x="932779" y="126971"/>
                </a:lnTo>
                <a:lnTo>
                  <a:pt x="1017577" y="203959"/>
                </a:lnTo>
                <a:lnTo>
                  <a:pt x="1102375" y="290646"/>
                </a:lnTo>
                <a:lnTo>
                  <a:pt x="1187174" y="383699"/>
                </a:lnTo>
                <a:lnTo>
                  <a:pt x="1271972" y="480434"/>
                </a:lnTo>
                <a:lnTo>
                  <a:pt x="1356770" y="578709"/>
                </a:lnTo>
                <a:lnTo>
                  <a:pt x="1441568" y="676833"/>
                </a:lnTo>
                <a:lnTo>
                  <a:pt x="1526366" y="773493"/>
                </a:lnTo>
                <a:lnTo>
                  <a:pt x="1611164" y="867682"/>
                </a:lnTo>
                <a:lnTo>
                  <a:pt x="1695962" y="958651"/>
                </a:lnTo>
                <a:lnTo>
                  <a:pt x="1780760" y="1045861"/>
                </a:lnTo>
                <a:lnTo>
                  <a:pt x="1865558" y="1128944"/>
                </a:lnTo>
                <a:lnTo>
                  <a:pt x="1950356" y="1207667"/>
                </a:lnTo>
                <a:lnTo>
                  <a:pt x="2035155" y="1281913"/>
                </a:lnTo>
                <a:lnTo>
                  <a:pt x="2119953" y="1351648"/>
                </a:lnTo>
                <a:lnTo>
                  <a:pt x="2204751" y="1416910"/>
                </a:lnTo>
                <a:lnTo>
                  <a:pt x="2289549" y="1477790"/>
                </a:lnTo>
                <a:lnTo>
                  <a:pt x="2374347" y="1534417"/>
                </a:lnTo>
                <a:lnTo>
                  <a:pt x="2459145" y="1586953"/>
                </a:lnTo>
                <a:lnTo>
                  <a:pt x="2543943" y="1635578"/>
                </a:lnTo>
                <a:lnTo>
                  <a:pt x="2628741" y="1680488"/>
                </a:lnTo>
                <a:lnTo>
                  <a:pt x="2713539" y="1721885"/>
                </a:lnTo>
                <a:lnTo>
                  <a:pt x="2798337" y="1759975"/>
                </a:lnTo>
                <a:lnTo>
                  <a:pt x="2883136" y="1794966"/>
                </a:lnTo>
                <a:lnTo>
                  <a:pt x="2967934" y="1827059"/>
                </a:lnTo>
                <a:lnTo>
                  <a:pt x="3052732" y="1856455"/>
                </a:lnTo>
                <a:lnTo>
                  <a:pt x="3137530" y="1883343"/>
                </a:lnTo>
                <a:lnTo>
                  <a:pt x="3222328" y="1907909"/>
                </a:lnTo>
                <a:lnTo>
                  <a:pt x="3307126" y="1930327"/>
                </a:lnTo>
                <a:lnTo>
                  <a:pt x="3391924" y="1950763"/>
                </a:lnTo>
                <a:lnTo>
                  <a:pt x="3476722" y="1969373"/>
                </a:lnTo>
                <a:lnTo>
                  <a:pt x="3561520" y="1986306"/>
                </a:lnTo>
                <a:lnTo>
                  <a:pt x="3646318" y="2001698"/>
                </a:lnTo>
                <a:lnTo>
                  <a:pt x="3731117" y="2015678"/>
                </a:lnTo>
                <a:lnTo>
                  <a:pt x="3815915" y="2028365"/>
                </a:lnTo>
                <a:lnTo>
                  <a:pt x="3900713" y="2039871"/>
                </a:lnTo>
                <a:lnTo>
                  <a:pt x="3985511" y="2050298"/>
                </a:lnTo>
                <a:lnTo>
                  <a:pt x="4070309" y="2059741"/>
                </a:lnTo>
                <a:lnTo>
                  <a:pt x="4155107" y="2068287"/>
                </a:lnTo>
                <a:lnTo>
                  <a:pt x="4239905" y="2076018"/>
                </a:lnTo>
                <a:lnTo>
                  <a:pt x="4324703" y="2083006"/>
                </a:lnTo>
                <a:lnTo>
                  <a:pt x="4409501" y="2089319"/>
                </a:lnTo>
                <a:lnTo>
                  <a:pt x="4494299" y="2095020"/>
                </a:lnTo>
                <a:lnTo>
                  <a:pt x="4579098" y="2100166"/>
                </a:lnTo>
                <a:lnTo>
                  <a:pt x="4663896" y="2104807"/>
                </a:lnTo>
                <a:lnTo>
                  <a:pt x="4748694" y="2108993"/>
                </a:lnTo>
                <a:lnTo>
                  <a:pt x="4833492" y="2112766"/>
                </a:lnTo>
                <a:lnTo>
                  <a:pt x="4918290" y="2116164"/>
                </a:lnTo>
                <a:lnTo>
                  <a:pt x="5003088" y="2119225"/>
                </a:lnTo>
                <a:lnTo>
                  <a:pt x="5087886" y="2121980"/>
                </a:lnTo>
                <a:lnTo>
                  <a:pt x="5172684" y="2124460"/>
                </a:lnTo>
                <a:lnTo>
                  <a:pt x="5257482" y="2126690"/>
                </a:lnTo>
                <a:lnTo>
                  <a:pt x="5342280" y="2128696"/>
                </a:lnTo>
                <a:lnTo>
                  <a:pt x="5427079" y="2130499"/>
                </a:lnTo>
              </a:path>
            </a:pathLst>
          </a:custGeom>
          <a:noFill/>
          <a:ln w="349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6486525" y="1995750"/>
            <a:ext cx="0" cy="2146482"/>
          </a:xfrm>
          <a:prstGeom prst="line">
            <a:avLst/>
          </a:prstGeom>
          <a:ln w="19050">
            <a:solidFill>
              <a:srgbClr val="18A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59677" y="1739718"/>
            <a:ext cx="1097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mode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4661" y="2858588"/>
            <a:ext cx="201168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2627A"/>
                </a:solidFill>
                <a:latin typeface="Aptos"/>
              </a:rPr>
              <a:t>positive values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96712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6882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7052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77222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37392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6797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A999"/>
                </a:solidFill>
                <a:latin typeface="Apto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2379" y="4325112"/>
            <a:ext cx="1828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2627A"/>
                </a:solidFill>
                <a:latin typeface="Aptos"/>
              </a:rPr>
              <a:t>possible amount 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1463040"/>
            <a:ext cx="146304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2627A"/>
                </a:solidFill>
                <a:latin typeface="Aptos"/>
              </a:rPr>
              <a:t>prior density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46320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How is the prior determined?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" y="5175504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8B5CF6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Chosen ahead of time and frozen: the Gamma(2, 1) prior is fixed before any spot's data is analyzed (version-1 protocol).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8B5CF6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Fair across cell types: every type gets the identical prior, so none starts with an advantage.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8B5CF6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An assumption, not a measurement: it gently prefers moderate positive amounts, and other reasonable priors can be tested in sensitivity checks.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" y="6519672"/>
            <a:ext cx="10945368" cy="10058"/>
          </a:xfrm>
          <a:prstGeom prst="round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BAYESIAN MODEL • WITHOUT LENGTH BINS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 Display"/>
              </a:rPr>
              <a:t>The likelihood: the probability of seeing N, given 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99108"/>
            <a:ext cx="9052560" cy="308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3233B"/>
                </a:solidFill>
                <a:latin typeface="Aptos"/>
              </a:rPr>
              <a:t>R   </a:t>
            </a:r>
            <a:r>
              <a:rPr sz="1400">
                <a:solidFill>
                  <a:srgbClr val="52627A"/>
                </a:solidFill>
                <a:latin typeface="Aptos"/>
              </a:rPr>
              <a:t>reference peak rate — expected cut sites per cell of each type, learned from labeled reference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2516" y="1413662"/>
            <a:ext cx="9052560" cy="308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3233B"/>
                </a:solidFill>
                <a:latin typeface="Aptos"/>
              </a:rPr>
              <a:t>n   </a:t>
            </a:r>
            <a:r>
              <a:rPr sz="1400">
                <a:solidFill>
                  <a:srgbClr val="52627A"/>
                </a:solidFill>
                <a:latin typeface="Aptos"/>
              </a:rPr>
              <a:t>predicted (mean) counts — what a candidate recipe z predicts: n = z ·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16002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2148840" cy="292608"/>
          </a:xfrm>
          <a:prstGeom prst="roundRect">
            <a:avLst/>
          </a:prstGeom>
          <a:solidFill>
            <a:srgbClr val="B8860B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LIKELIHOOD  p(N | 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1046988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3233B"/>
                </a:solidFill>
                <a:latin typeface="Aptos"/>
              </a:rPr>
              <a:t>N  ~  NegBinomial( mean n=z · R ,   inverse-dispersion = φref · Σ z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72384"/>
            <a:ext cx="104698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2627A"/>
                </a:solidFill>
                <a:latin typeface="Aptos"/>
              </a:rPr>
              <a:t>n = z · R is a dot product: each cell type's amount × its reference rate, added over the cell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749039"/>
            <a:ext cx="53949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How to read the 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4078224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n is the prediction: the counts we would expect if the spot truly had recipe z.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N rarely equals n exactly — sequencing counts fluctuate around the prediction.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φref is a fixed constant estimated from reference cells; multiplied by Σ z, it sets how much spread is allowed.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749039"/>
            <a:ext cx="53035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Why the negative binomial?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078224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N is a count — a non-negative whole number — so it needs a count distribution.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A Poisson model forces the spread to equal the mean; real sequencing counts vary more than that (overdispersion).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The negative binomial adds a controllable extra-spread term — its variance is n + n² / (φref · Σ z) — so noisy real data fit honestly.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6519672"/>
            <a:ext cx="10945368" cy="10058"/>
          </a:xfrm>
          <a:prstGeom prst="round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ATAC-SEQ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ATAC-seq turns accessible DNA into peak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8813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2627A"/>
                </a:solidFill>
                <a:latin typeface="Aptos"/>
              </a:rPr>
              <a:t>The same genomic regions line up from chromatin → fragments → counts.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36522"/>
            <a:ext cx="10881360" cy="1271016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67512" y="2823667"/>
            <a:ext cx="10881360" cy="1426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8368" y="4390034"/>
            <a:ext cx="10890504" cy="1626717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22168" y="1536192"/>
            <a:ext cx="2103120" cy="1069848"/>
          </a:xfrm>
          <a:prstGeom prst="rect">
            <a:avLst/>
          </a:prstGeom>
          <a:solidFill>
            <a:srgbClr val="F2F6FE"/>
          </a:solidFill>
          <a:ln w="2540">
            <a:solidFill>
              <a:srgbClr val="F2F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22168" y="2903220"/>
            <a:ext cx="2103120" cy="1225296"/>
          </a:xfrm>
          <a:prstGeom prst="rect">
            <a:avLst/>
          </a:prstGeom>
          <a:solidFill>
            <a:srgbClr val="F2F6FE"/>
          </a:solidFill>
          <a:ln w="2540">
            <a:solidFill>
              <a:srgbClr val="F2F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532120" y="1526133"/>
            <a:ext cx="2377440" cy="1069848"/>
          </a:xfrm>
          <a:prstGeom prst="rect">
            <a:avLst/>
          </a:prstGeom>
          <a:solidFill>
            <a:srgbClr val="EEF9F7"/>
          </a:solidFill>
          <a:ln w="2540">
            <a:solidFill>
              <a:srgbClr val="EEF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532120" y="2903220"/>
            <a:ext cx="2377440" cy="1225296"/>
          </a:xfrm>
          <a:prstGeom prst="rect">
            <a:avLst/>
          </a:prstGeom>
          <a:solidFill>
            <a:srgbClr val="EEF9F7"/>
          </a:solidFill>
          <a:ln w="2540">
            <a:solidFill>
              <a:srgbClr val="EEF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77072" y="1527962"/>
            <a:ext cx="2148840" cy="1069848"/>
          </a:xfrm>
          <a:prstGeom prst="rect">
            <a:avLst/>
          </a:prstGeom>
          <a:solidFill>
            <a:srgbClr val="FFF8E8"/>
          </a:solidFill>
          <a:ln w="254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577072" y="2911449"/>
            <a:ext cx="2148840" cy="1225296"/>
          </a:xfrm>
          <a:prstGeom prst="rect">
            <a:avLst/>
          </a:prstGeom>
          <a:solidFill>
            <a:srgbClr val="FFF8E8"/>
          </a:solidFill>
          <a:ln w="254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59536" y="1609344"/>
            <a:ext cx="347472" cy="347472"/>
          </a:xfrm>
          <a:prstGeom prst="ellipse">
            <a:avLst/>
          </a:prstGeom>
          <a:solidFill>
            <a:srgbClr val="18A999"/>
          </a:solidFill>
          <a:ln w="1016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1609344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1664208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C7F75"/>
                </a:solidFill>
                <a:latin typeface="Aptos"/>
              </a:rPr>
              <a:t>CHROMATIN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006193" y="2148840"/>
            <a:ext cx="9131199" cy="0"/>
          </a:xfrm>
          <a:prstGeom prst="line">
            <a:avLst/>
          </a:prstGeom>
          <a:ln w="21590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 rot="1080000">
            <a:off x="4798588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 rot="1080000">
            <a:off x="4920569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 rot="1080000">
            <a:off x="5046756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 rot="1080000">
            <a:off x="5168737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 rot="540000">
            <a:off x="4739700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4773350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 rot="1080000">
            <a:off x="5975421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 rot="1080000">
            <a:off x="609740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 rot="1080000">
            <a:off x="6223589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 rot="1080000">
            <a:off x="6345570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 rot="540000">
            <a:off x="5916533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 flipV="1">
            <a:off x="5950183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 rot="1080000">
            <a:off x="6889821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 rot="1080000">
            <a:off x="701180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 rot="1080000">
            <a:off x="7137989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 rot="1080000">
            <a:off x="7259970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 rot="540000">
            <a:off x="6830933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/>
          <p:nvPr/>
        </p:nvCxnSpPr>
        <p:spPr>
          <a:xfrm flipV="1">
            <a:off x="6864583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 rot="1080000">
            <a:off x="9607417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 rot="1080000">
            <a:off x="9729398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 rot="1080000">
            <a:off x="9855586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 rot="1080000">
            <a:off x="9977567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 rot="540000">
            <a:off x="9548530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1" name="Connector 40"/>
          <p:cNvCxnSpPr/>
          <p:nvPr/>
        </p:nvCxnSpPr>
        <p:spPr>
          <a:xfrm flipV="1">
            <a:off x="9582180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 rot="1080000">
            <a:off x="10730301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 rot="1080000">
            <a:off x="1085228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 rot="1080000">
            <a:off x="10978469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 rot="1080000">
            <a:off x="11100450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 rot="540000">
            <a:off x="10671413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 flipV="1">
            <a:off x="10705063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3081528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172968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3200400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3563416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654856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3682288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4088282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4179722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6" name="Connector 55"/>
          <p:cNvCxnSpPr/>
          <p:nvPr/>
        </p:nvCxnSpPr>
        <p:spPr>
          <a:xfrm>
            <a:off x="4207154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568696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5660136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9" name="Connector 58"/>
          <p:cNvCxnSpPr/>
          <p:nvPr/>
        </p:nvCxnSpPr>
        <p:spPr>
          <a:xfrm>
            <a:off x="5687568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7690104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7781544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7808975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8989466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080906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5" name="Connector 64"/>
          <p:cNvCxnSpPr/>
          <p:nvPr/>
        </p:nvCxnSpPr>
        <p:spPr>
          <a:xfrm>
            <a:off x="9108338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290657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10382097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Connector 67"/>
          <p:cNvCxnSpPr/>
          <p:nvPr/>
        </p:nvCxnSpPr>
        <p:spPr>
          <a:xfrm>
            <a:off x="10409529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2762402" y="1700784"/>
            <a:ext cx="512064" cy="219456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Tn5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11012" y="2414930"/>
            <a:ext cx="1755648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B5CF6"/>
                </a:solidFill>
                <a:latin typeface="Aptos"/>
              </a:rPr>
              <a:t>DNA wrapped around histones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84271" y="2413101"/>
            <a:ext cx="126187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C7F75"/>
                </a:solidFill>
                <a:latin typeface="Aptos"/>
              </a:rPr>
              <a:t>exposed linker DNA</a:t>
            </a:r>
          </a:p>
        </p:txBody>
      </p:sp>
      <p:sp>
        <p:nvSpPr>
          <p:cNvPr id="72" name="Oval 71"/>
          <p:cNvSpPr/>
          <p:nvPr/>
        </p:nvSpPr>
        <p:spPr>
          <a:xfrm>
            <a:off x="859536" y="2916936"/>
            <a:ext cx="347472" cy="347472"/>
          </a:xfrm>
          <a:prstGeom prst="ellipse">
            <a:avLst/>
          </a:prstGeom>
          <a:solidFill>
            <a:srgbClr val="F26B5B"/>
          </a:solidFill>
          <a:ln w="1016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9536" y="2916936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2925165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6B5B"/>
                </a:solidFill>
                <a:latin typeface="Aptos"/>
              </a:rPr>
              <a:t>FRAGMENTS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3932" y="3342132"/>
            <a:ext cx="1671523" cy="219456"/>
          </a:xfrm>
          <a:prstGeom prst="roundRect">
            <a:avLst/>
          </a:prstGeom>
          <a:solidFill>
            <a:srgbClr val="F26B5B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SHORT • OPEN DNA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33932" y="3644798"/>
            <a:ext cx="1671523" cy="219456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730" b="1">
                <a:solidFill>
                  <a:srgbClr val="13233B"/>
                </a:solidFill>
                <a:latin typeface="Aptos"/>
              </a:rPr>
              <a:t>MEDIUM • SPANS 1 NUCLEOSOME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3932" y="3932834"/>
            <a:ext cx="1671523" cy="219456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730" b="1">
                <a:solidFill>
                  <a:srgbClr val="FFFFFF"/>
                </a:solidFill>
                <a:latin typeface="Aptos"/>
              </a:rPr>
              <a:t>LONG • SPANS 2 NUCLEOSOMES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67481" y="3383280"/>
            <a:ext cx="576072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67481" y="3383280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633825" y="3383280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135477" y="3351276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3711549" y="3351276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/>
          <p:cNvCxnSpPr/>
          <p:nvPr/>
        </p:nvCxnSpPr>
        <p:spPr>
          <a:xfrm>
            <a:off x="3694176" y="3552444"/>
            <a:ext cx="667512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94176" y="3552444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251959" y="3552444"/>
            <a:ext cx="109729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/>
          <p:cNvSpPr/>
          <p:nvPr/>
        </p:nvSpPr>
        <p:spPr>
          <a:xfrm>
            <a:off x="3662172" y="3520439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4329683" y="3520439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8" name="Connector 87"/>
          <p:cNvCxnSpPr/>
          <p:nvPr/>
        </p:nvCxnSpPr>
        <p:spPr>
          <a:xfrm>
            <a:off x="4283964" y="3378708"/>
            <a:ext cx="1353311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283964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527547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4251959" y="334670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5605271" y="334670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3" name="Connector 92"/>
          <p:cNvCxnSpPr/>
          <p:nvPr/>
        </p:nvCxnSpPr>
        <p:spPr>
          <a:xfrm>
            <a:off x="5728716" y="3858768"/>
            <a:ext cx="2029967" cy="0"/>
          </a:xfrm>
          <a:prstGeom prst="line">
            <a:avLst/>
          </a:prstGeom>
          <a:ln w="482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5728716" y="385876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648956" y="3858768"/>
            <a:ext cx="109727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5696712" y="382676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7726679" y="382676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8" name="Connector 97"/>
          <p:cNvCxnSpPr/>
          <p:nvPr/>
        </p:nvCxnSpPr>
        <p:spPr>
          <a:xfrm>
            <a:off x="7712964" y="3378708"/>
            <a:ext cx="1353312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7712964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8956548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7680960" y="334670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9034272" y="334670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/>
          <p:cNvCxnSpPr/>
          <p:nvPr/>
        </p:nvCxnSpPr>
        <p:spPr>
          <a:xfrm>
            <a:off x="9058960" y="3573475"/>
            <a:ext cx="1353312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9058960" y="3573475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302544" y="3573475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/>
          <p:cNvSpPr/>
          <p:nvPr/>
        </p:nvSpPr>
        <p:spPr>
          <a:xfrm>
            <a:off x="9026956" y="3541471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0380268" y="3541471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859536" y="4553712"/>
            <a:ext cx="347472" cy="347472"/>
          </a:xfrm>
          <a:prstGeom prst="ellipse">
            <a:avLst/>
          </a:prstGeom>
          <a:solidFill>
            <a:srgbClr val="3B82F6"/>
          </a:solidFill>
          <a:ln w="101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859536" y="4553712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07592" y="4608576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B82F6"/>
                </a:solidFill>
                <a:latin typeface="Aptos"/>
              </a:rPr>
              <a:t>PEAK COUNTS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35761" y="5245912"/>
            <a:ext cx="1627632" cy="310896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ptos"/>
              </a:rPr>
              <a:t>HEIGHT = COUNT    
COLOR = FRAGMENT  LENGTH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2697480" y="5696712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2395728" y="5614416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0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2697480" y="5385816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2395728" y="5303520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2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2697480" y="5074920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2395728" y="4992624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4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2697480" y="4764024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2395728" y="4681728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6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2697480" y="4764024"/>
            <a:ext cx="0" cy="932688"/>
          </a:xfrm>
          <a:prstGeom prst="line">
            <a:avLst/>
          </a:prstGeom>
          <a:ln w="1270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120"/>
          <p:cNvSpPr/>
          <p:nvPr/>
        </p:nvSpPr>
        <p:spPr>
          <a:xfrm>
            <a:off x="2788920" y="5074920"/>
            <a:ext cx="2103120" cy="621792"/>
          </a:xfrm>
          <a:prstGeom prst="rect">
            <a:avLst/>
          </a:prstGeom>
          <a:solidFill>
            <a:srgbClr val="F26B5B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2788920" y="4919472"/>
            <a:ext cx="2103120" cy="155448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5532120" y="5385816"/>
            <a:ext cx="2377440" cy="310896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5532120" y="5074920"/>
            <a:ext cx="2377440" cy="31089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8641080" y="5230368"/>
            <a:ext cx="2148840" cy="466344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2788920" y="5074920"/>
            <a:ext cx="21031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88920" y="4919472"/>
            <a:ext cx="210312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233B"/>
                </a:solidFill>
                <a:latin typeface="Aptos"/>
              </a:rP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532120" y="5385816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532120" y="5074920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641080" y="5230368"/>
            <a:ext cx="2148840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233B"/>
                </a:solidFill>
                <a:latin typeface="Aptos"/>
              </a:rP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788920" y="4700016"/>
            <a:ext cx="21031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32120" y="4855464"/>
            <a:ext cx="23774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641080" y="5010912"/>
            <a:ext cx="21488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788920" y="5742432"/>
            <a:ext cx="21031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532120" y="5742432"/>
            <a:ext cx="23774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41080" y="5742432"/>
            <a:ext cx="21488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956816" y="6144768"/>
            <a:ext cx="8275320" cy="265176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69" b="1">
                <a:solidFill>
                  <a:srgbClr val="FFFFFF"/>
                </a:solidFill>
                <a:latin typeface="Aptos"/>
              </a:rPr>
              <a:t>P1: 4 short + 1 medium = 5   |   P2: 2 medium + 2 long = 4   |   P3: 3 medium = 3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CORE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Deconvolution works like identifying ingredients in a smoothie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069848"/>
            <a:ext cx="10881360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52627A"/>
                </a:solidFill>
                <a:latin typeface="Aptos"/>
              </a:rPr>
              <a:t>Known reference fingerprints + an unknown mixture → estimated cell-type proportions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847088"/>
            <a:ext cx="2907792" cy="1389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2276856"/>
            <a:ext cx="475488" cy="47548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78992" y="2432304"/>
            <a:ext cx="155448" cy="155448"/>
          </a:xfrm>
          <a:prstGeom prst="ellipse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107899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A999"/>
                </a:solidFill>
                <a:latin typeface="Aptos"/>
              </a:rPr>
              <a:t>T cell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760" y="2350008"/>
            <a:ext cx="859536" cy="210312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DDF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760" b="1">
                <a:solidFill>
                  <a:srgbClr val="18A999"/>
                </a:solidFill>
                <a:latin typeface="Aptos"/>
              </a:rPr>
              <a:t>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0864" y="2240279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0864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642615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2656" y="2340863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2656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3552" y="2542031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3552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59152" y="2907791"/>
            <a:ext cx="122529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4944" y="3675887"/>
            <a:ext cx="2907792" cy="1389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14400" y="4105655"/>
            <a:ext cx="475488" cy="47548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78992" y="4261103"/>
            <a:ext cx="155448" cy="155448"/>
          </a:xfrm>
          <a:prstGeom prst="ellipse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08760" y="3858768"/>
            <a:ext cx="107899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B82F6"/>
                </a:solidFill>
                <a:latin typeface="Aptos"/>
              </a:rPr>
              <a:t>B cell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08760" y="4178807"/>
            <a:ext cx="859536" cy="210312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E7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760" b="1">
                <a:solidFill>
                  <a:srgbClr val="3B82F6"/>
                </a:solidFill>
                <a:latin typeface="Aptos"/>
              </a:rPr>
              <a:t>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40864" y="4471416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0864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51760" y="4069080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62656" y="4370832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62656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73552" y="4169663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73552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359152" y="4736592"/>
            <a:ext cx="122529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59536" y="5193792"/>
            <a:ext cx="868680" cy="219456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3233B"/>
                </a:solidFill>
                <a:latin typeface="Aptos"/>
              </a:rPr>
              <a:t>LENGTH BINS: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11880" y="3099816"/>
            <a:ext cx="329184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52627A"/>
                </a:solidFill>
                <a:latin typeface="Aptos"/>
              </a:rPr>
              <a:t>+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05072" y="1847088"/>
            <a:ext cx="2944368" cy="3218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97680" y="2084831"/>
            <a:ext cx="235915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B5CF6"/>
                </a:solidFill>
                <a:latin typeface="Aptos"/>
              </a:rPr>
              <a:t>UNKNOWN MIXED SPOT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6824" y="2441448"/>
            <a:ext cx="234086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2627A"/>
                </a:solidFill>
                <a:latin typeface="Aptos"/>
              </a:rPr>
              <a:t>observed ATAC count profile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0" y="2889504"/>
            <a:ext cx="2359152" cy="1865376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62272" y="3364992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62272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74336" y="380390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74336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3474720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98464" y="3694176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98464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480560" y="4407408"/>
            <a:ext cx="195681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379976" y="4800600"/>
            <a:ext cx="2194560" cy="18288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52627A"/>
                </a:solidFill>
                <a:latin typeface="Aptos"/>
              </a:rPr>
              <a:t>P1: 8 = 4 short + 3 medium + 1 long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7114032" y="2980944"/>
            <a:ext cx="859536" cy="603504"/>
          </a:xfrm>
          <a:prstGeom prst="rightArrow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7114032" y="3675887"/>
            <a:ext cx="859536" cy="438912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BAYESIAN
MODEL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65592" y="1847088"/>
            <a:ext cx="3383280" cy="3218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439912" y="2112264"/>
            <a:ext cx="283464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3233B"/>
                </a:solidFill>
                <a:latin typeface="Aptos"/>
              </a:rPr>
              <a:t>Estimated recipe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39912" y="2496312"/>
            <a:ext cx="283464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A999"/>
                </a:solidFill>
                <a:latin typeface="Aptos"/>
              </a:rPr>
              <a:t>75% T  +  25% 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540496" y="3072384"/>
            <a:ext cx="1975104" cy="530352"/>
          </a:xfrm>
          <a:prstGeom prst="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10515600" y="3072384"/>
            <a:ext cx="658367" cy="5303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8540496" y="3072384"/>
            <a:ext cx="2633472" cy="530352"/>
          </a:xfrm>
          <a:prstGeom prst="rect">
            <a:avLst/>
          </a:prstGeom>
          <a:noFill/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540496" y="3072384"/>
            <a:ext cx="197510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75%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3072384"/>
            <a:ext cx="658367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25%</a:t>
            </a:r>
          </a:p>
        </p:txBody>
      </p:sp>
      <p:sp>
        <p:nvSpPr>
          <p:cNvPr id="72" name="Oval 71"/>
          <p:cNvSpPr/>
          <p:nvPr/>
        </p:nvSpPr>
        <p:spPr>
          <a:xfrm>
            <a:off x="8558784" y="3886200"/>
            <a:ext cx="182880" cy="182880"/>
          </a:xfrm>
          <a:prstGeom prst="ellipse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842248" y="3831335"/>
            <a:ext cx="1298448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T cell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42448" y="3831335"/>
            <a:ext cx="5486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33B"/>
                </a:solidFill>
                <a:latin typeface="Aptos"/>
              </a:rPr>
              <a:t>75%</a:t>
            </a:r>
          </a:p>
        </p:txBody>
      </p:sp>
      <p:sp>
        <p:nvSpPr>
          <p:cNvPr id="75" name="Oval 74"/>
          <p:cNvSpPr/>
          <p:nvPr/>
        </p:nvSpPr>
        <p:spPr>
          <a:xfrm>
            <a:off x="8558784" y="4343400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842248" y="4288536"/>
            <a:ext cx="1298448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B cell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42448" y="4288536"/>
            <a:ext cx="5486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33B"/>
                </a:solidFill>
                <a:latin typeface="Aptos"/>
              </a:rPr>
              <a:t>25%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467344" y="4663440"/>
            <a:ext cx="2779776" cy="256032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ptos"/>
              </a:rPr>
              <a:t>mixed = 0.75 × T + 0.25 × B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3000" y="5650992"/>
            <a:ext cx="9912096" cy="347472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Aptos"/>
              </a:rPr>
              <a:t>SAME PEAK TOTALS  •  EXTRA CLUE: SEGMENT-LENGTH COMPOSITION</a:t>
            </a:r>
          </a:p>
        </p:txBody>
      </p:sp>
      <p:sp>
        <p:nvSpPr>
          <p:cNvPr id="80" name="Length-bin stack bar 11 bin 1"/>
          <p:cNvSpPr/>
          <p:nvPr/>
        </p:nvSpPr>
        <p:spPr>
          <a:xfrm>
            <a:off x="2414016" y="2656332"/>
            <a:ext cx="182880" cy="251460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Length-bin stack bar 11 bin 2"/>
          <p:cNvSpPr/>
          <p:nvPr/>
        </p:nvSpPr>
        <p:spPr>
          <a:xfrm>
            <a:off x="2414016" y="2455164"/>
            <a:ext cx="182880" cy="201168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Length-bin stack bar 11 bin 3"/>
          <p:cNvSpPr/>
          <p:nvPr/>
        </p:nvSpPr>
        <p:spPr>
          <a:xfrm>
            <a:off x="2414016" y="2404872"/>
            <a:ext cx="182880" cy="50292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Length-bin stack bar 14 bin 1"/>
          <p:cNvSpPr/>
          <p:nvPr/>
        </p:nvSpPr>
        <p:spPr>
          <a:xfrm>
            <a:off x="2724912" y="2857500"/>
            <a:ext cx="182880" cy="50292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Length-bin stack bar 14 bin 2"/>
          <p:cNvSpPr/>
          <p:nvPr/>
        </p:nvSpPr>
        <p:spPr>
          <a:xfrm>
            <a:off x="2724912" y="2807208"/>
            <a:ext cx="182880" cy="50292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Length-bin stack bar 17 bin 1"/>
          <p:cNvSpPr/>
          <p:nvPr/>
        </p:nvSpPr>
        <p:spPr>
          <a:xfrm>
            <a:off x="3035808" y="2706624"/>
            <a:ext cx="182880" cy="201168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Length-bin stack bar 17 bin 2"/>
          <p:cNvSpPr/>
          <p:nvPr/>
        </p:nvSpPr>
        <p:spPr>
          <a:xfrm>
            <a:off x="3035808" y="2606040"/>
            <a:ext cx="182880" cy="100584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Length-bin stack bar 17 bin 3"/>
          <p:cNvSpPr/>
          <p:nvPr/>
        </p:nvSpPr>
        <p:spPr>
          <a:xfrm>
            <a:off x="3035808" y="2505456"/>
            <a:ext cx="182880" cy="100584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Length-bin stack bar 20 bin 2"/>
          <p:cNvSpPr/>
          <p:nvPr/>
        </p:nvSpPr>
        <p:spPr>
          <a:xfrm>
            <a:off x="3346704" y="2807207"/>
            <a:ext cx="182880" cy="100584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Length-bin stack bar 20 bin 3"/>
          <p:cNvSpPr/>
          <p:nvPr/>
        </p:nvSpPr>
        <p:spPr>
          <a:xfrm>
            <a:off x="3346704" y="2706623"/>
            <a:ext cx="182880" cy="100584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Length-bin stack bar 29 bin 1"/>
          <p:cNvSpPr/>
          <p:nvPr/>
        </p:nvSpPr>
        <p:spPr>
          <a:xfrm>
            <a:off x="2414016" y="4686299"/>
            <a:ext cx="182880" cy="50292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Length-bin stack bar 29 bin 3"/>
          <p:cNvSpPr/>
          <p:nvPr/>
        </p:nvSpPr>
        <p:spPr>
          <a:xfrm>
            <a:off x="2414016" y="4636007"/>
            <a:ext cx="182880" cy="50292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Length-bin stack bar 32 bin 1"/>
          <p:cNvSpPr/>
          <p:nvPr/>
        </p:nvSpPr>
        <p:spPr>
          <a:xfrm>
            <a:off x="2724912" y="4485132"/>
            <a:ext cx="182880" cy="251460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Length-bin stack bar 32 bin 2"/>
          <p:cNvSpPr/>
          <p:nvPr/>
        </p:nvSpPr>
        <p:spPr>
          <a:xfrm>
            <a:off x="2724912" y="4434840"/>
            <a:ext cx="182880" cy="50292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Length-bin stack bar 32 bin 3"/>
          <p:cNvSpPr/>
          <p:nvPr/>
        </p:nvSpPr>
        <p:spPr>
          <a:xfrm>
            <a:off x="2724912" y="4233672"/>
            <a:ext cx="182880" cy="201168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Length-bin stack bar 35 bin 2"/>
          <p:cNvSpPr/>
          <p:nvPr/>
        </p:nvSpPr>
        <p:spPr>
          <a:xfrm>
            <a:off x="3035808" y="4636008"/>
            <a:ext cx="182880" cy="100584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Length-bin stack bar 35 bin 3"/>
          <p:cNvSpPr/>
          <p:nvPr/>
        </p:nvSpPr>
        <p:spPr>
          <a:xfrm>
            <a:off x="3035808" y="4535424"/>
            <a:ext cx="182880" cy="100584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Length-bin stack bar 38 bin 1"/>
          <p:cNvSpPr/>
          <p:nvPr/>
        </p:nvSpPr>
        <p:spPr>
          <a:xfrm>
            <a:off x="3346704" y="4535423"/>
            <a:ext cx="182880" cy="201168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Length-bin stack bar 38 bin 2"/>
          <p:cNvSpPr/>
          <p:nvPr/>
        </p:nvSpPr>
        <p:spPr>
          <a:xfrm>
            <a:off x="3346704" y="4434839"/>
            <a:ext cx="182880" cy="100584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Length-bin stack bar 38 bin 3"/>
          <p:cNvSpPr/>
          <p:nvPr/>
        </p:nvSpPr>
        <p:spPr>
          <a:xfrm>
            <a:off x="3346704" y="4334255"/>
            <a:ext cx="182880" cy="100584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Length-bin stack bar 48 bin 1"/>
          <p:cNvSpPr/>
          <p:nvPr/>
        </p:nvSpPr>
        <p:spPr>
          <a:xfrm>
            <a:off x="4535424" y="3968496"/>
            <a:ext cx="310896" cy="438912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Length-bin stack bar 48 bin 2"/>
          <p:cNvSpPr/>
          <p:nvPr/>
        </p:nvSpPr>
        <p:spPr>
          <a:xfrm>
            <a:off x="4535424" y="3639312"/>
            <a:ext cx="310896" cy="329184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Length-bin stack bar 48 bin 3"/>
          <p:cNvSpPr/>
          <p:nvPr/>
        </p:nvSpPr>
        <p:spPr>
          <a:xfrm>
            <a:off x="4535424" y="3529584"/>
            <a:ext cx="310896" cy="109728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Length-bin stack bar 51 bin 1"/>
          <p:cNvSpPr/>
          <p:nvPr/>
        </p:nvSpPr>
        <p:spPr>
          <a:xfrm>
            <a:off x="5047488" y="4187952"/>
            <a:ext cx="310896" cy="219456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Length-bin stack bar 51 bin 2"/>
          <p:cNvSpPr/>
          <p:nvPr/>
        </p:nvSpPr>
        <p:spPr>
          <a:xfrm>
            <a:off x="5047488" y="4078224"/>
            <a:ext cx="310896" cy="109728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Length-bin stack bar 51 bin 3"/>
          <p:cNvSpPr/>
          <p:nvPr/>
        </p:nvSpPr>
        <p:spPr>
          <a:xfrm>
            <a:off x="5047488" y="3968496"/>
            <a:ext cx="310896" cy="109728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Length-bin stack bar 54 bin 1"/>
          <p:cNvSpPr/>
          <p:nvPr/>
        </p:nvSpPr>
        <p:spPr>
          <a:xfrm>
            <a:off x="5559552" y="4078224"/>
            <a:ext cx="310896" cy="329184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Length-bin stack bar 54 bin 2"/>
          <p:cNvSpPr/>
          <p:nvPr/>
        </p:nvSpPr>
        <p:spPr>
          <a:xfrm>
            <a:off x="5559552" y="3858768"/>
            <a:ext cx="310896" cy="219456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Length-bin stack bar 54 bin 3"/>
          <p:cNvSpPr/>
          <p:nvPr/>
        </p:nvSpPr>
        <p:spPr>
          <a:xfrm>
            <a:off x="5559552" y="3639312"/>
            <a:ext cx="310896" cy="219456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Length-bin stack bar 57 bin 1"/>
          <p:cNvSpPr/>
          <p:nvPr/>
        </p:nvSpPr>
        <p:spPr>
          <a:xfrm>
            <a:off x="6071616" y="4297680"/>
            <a:ext cx="310896" cy="109728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Length-bin stack bar 57 bin 2"/>
          <p:cNvSpPr/>
          <p:nvPr/>
        </p:nvSpPr>
        <p:spPr>
          <a:xfrm>
            <a:off x="6071616" y="4078224"/>
            <a:ext cx="310896" cy="219456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Length-bin stack bar 57 bin 3"/>
          <p:cNvSpPr/>
          <p:nvPr/>
        </p:nvSpPr>
        <p:spPr>
          <a:xfrm>
            <a:off x="6071616" y="3858768"/>
            <a:ext cx="310896" cy="219456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1764792" y="5193792"/>
            <a:ext cx="612648" cy="219456"/>
          </a:xfrm>
          <a:prstGeom prst="roundRect">
            <a:avLst/>
          </a:prstGeom>
          <a:solidFill>
            <a:srgbClr val="F26B5B"/>
          </a:solidFill>
          <a:ln w="1016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ptos"/>
              </a:rPr>
              <a:t>SHORT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450592" y="5193792"/>
            <a:ext cx="749808" cy="219456"/>
          </a:xfrm>
          <a:prstGeom prst="roundRect">
            <a:avLst/>
          </a:prstGeom>
          <a:solidFill>
            <a:srgbClr val="F4B942"/>
          </a:solidFill>
          <a:ln w="1016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13233B"/>
                </a:solidFill>
                <a:latin typeface="Aptos"/>
              </a:rPr>
              <a:t>MEDIUM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73552" y="5193792"/>
            <a:ext cx="603504" cy="219456"/>
          </a:xfrm>
          <a:prstGeom prst="roundRect">
            <a:avLst/>
          </a:prstGeom>
          <a:solidFill>
            <a:srgbClr val="8B5CF6"/>
          </a:solidFill>
          <a:ln w="1016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ptos"/>
              </a:rPr>
              <a:t>LONG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SHAPEMIX • BAYESIAN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3233B"/>
                </a:solidFill>
                <a:latin typeface="Aptos Display"/>
              </a:rPr>
              <a:t>Bayesian model for ShapeMix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097280"/>
            <a:ext cx="13258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33B"/>
                </a:solidFill>
                <a:latin typeface="Aptos"/>
              </a:rPr>
              <a:t>R_LB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097280"/>
            <a:ext cx="781812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27A"/>
                </a:solidFill>
                <a:latin typeface="Aptos"/>
              </a:rPr>
              <a:t>reference rates for the short, middle, and long fragment-length bins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17320"/>
            <a:ext cx="13258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33B"/>
                </a:solidFill>
                <a:latin typeface="Aptos"/>
              </a:rPr>
              <a:t>n_lb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417320"/>
            <a:ext cx="781812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27A"/>
                </a:solidFill>
                <a:latin typeface="Aptos"/>
              </a:rPr>
              <a:t>predicted mean counts in each fragment-length bin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37360"/>
            <a:ext cx="13258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33B"/>
                </a:solidFill>
                <a:latin typeface="Aptos"/>
              </a:rPr>
              <a:t>N_LB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737360"/>
            <a:ext cx="781812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27A"/>
                </a:solidFill>
                <a:latin typeface="Aptos"/>
              </a:rPr>
              <a:t>the cut-site counts actually observed in each fragment-length bin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31720"/>
            <a:ext cx="288036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8A999"/>
                </a:solidFill>
                <a:latin typeface="Aptos"/>
              </a:rPr>
              <a:t>p(z | N_LB, 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2" y="2990088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331720"/>
            <a:ext cx="45720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3233B"/>
                </a:solidFill>
                <a:latin typeface="Aptos"/>
              </a:rPr>
              <a:t>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331720"/>
            <a:ext cx="301752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8860B"/>
                </a:solidFill>
                <a:latin typeface="Aptos"/>
              </a:rPr>
              <a:t>p(N_LB, N | z)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7" y="2990088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60B"/>
                </a:solidFill>
                <a:latin typeface="Aptos"/>
              </a:rPr>
              <a:t>likelihood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45720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3233B"/>
                </a:solidFill>
                <a:latin typeface="Aptos"/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2331720"/>
            <a:ext cx="155448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8B5CF6"/>
                </a:solidFill>
                <a:latin typeface="Aptos"/>
              </a:rPr>
              <a:t>p(z)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990088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2354580" y="3291840"/>
            <a:ext cx="324612" cy="457199"/>
          </a:xfrm>
          <a:prstGeom prst="line">
            <a:avLst/>
          </a:prstGeom>
          <a:ln w="15240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3749039"/>
            <a:ext cx="3429000" cy="118872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6384" y="3840480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133087"/>
            <a:ext cx="3136392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3047"/>
                </a:solidFill>
                <a:latin typeface="Aptos"/>
              </a:rPr>
              <a:t>best supported z after seeing total counts N and length-bin counts N_LB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6094476" y="3291840"/>
            <a:ext cx="96012" cy="457199"/>
          </a:xfrm>
          <a:prstGeom prst="line">
            <a:avLst/>
          </a:prstGeom>
          <a:ln w="15240">
            <a:solidFill>
              <a:srgbClr val="B886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79976" y="3749039"/>
            <a:ext cx="3429000" cy="118872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26280" y="3840480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60B"/>
                </a:solidFill>
                <a:latin typeface="Aptos"/>
              </a:rPr>
              <a:t>LIKELIHOOD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133087"/>
            <a:ext cx="3136392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3047"/>
                </a:solidFill>
                <a:latin typeface="Aptos"/>
              </a:rPr>
              <a:t>given z, what is the probability of seeing data N_LB and 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79408" y="3291840"/>
            <a:ext cx="854964" cy="457199"/>
          </a:xfrm>
          <a:prstGeom prst="line">
            <a:avLst/>
          </a:prstGeom>
          <a:ln w="1524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119872" y="3749039"/>
            <a:ext cx="3429000" cy="1188720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66176" y="3840480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4133087"/>
            <a:ext cx="3136392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3047"/>
                </a:solidFill>
                <a:latin typeface="Aptos"/>
              </a:rPr>
              <a:t>how plausible z is before seeing any data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SHAPEMIX • BAYESIAN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3233B"/>
                </a:solidFill>
                <a:latin typeface="Aptos Display"/>
              </a:rPr>
              <a:t>ShapeMix adds a likelihood for the length-bin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25296"/>
            <a:ext cx="2468880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8A999"/>
                </a:solidFill>
                <a:latin typeface="Aptos"/>
              </a:rPr>
              <a:t>p(z | N_LB, 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24688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225296"/>
            <a:ext cx="420624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"/>
              </a:rPr>
              <a:t>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9584" y="1225296"/>
            <a:ext cx="2487168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26B5B"/>
                </a:solidFill>
                <a:latin typeface="Aptos"/>
              </a:rPr>
              <a:t>p(N_LB | N,z)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9584" y="1847088"/>
            <a:ext cx="2487168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6B5B"/>
                </a:solidFill>
                <a:latin typeface="Aptos"/>
              </a:rPr>
              <a:t>length-bin likelihood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6752" y="1225296"/>
            <a:ext cx="384048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"/>
              </a:rPr>
              <a:t>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25296"/>
            <a:ext cx="1737360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B8860B"/>
                </a:solidFill>
                <a:latin typeface="Aptos"/>
              </a:rPr>
              <a:t>p(N | 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47088"/>
            <a:ext cx="173736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8860B"/>
                </a:solidFill>
                <a:latin typeface="Aptos"/>
              </a:rPr>
              <a:t>total-count likelihood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225296"/>
            <a:ext cx="384048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1225296"/>
            <a:ext cx="1417320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8B5CF6"/>
                </a:solidFill>
                <a:latin typeface="Aptos"/>
              </a:rPr>
              <a:t>p(z)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2208" y="1847088"/>
            <a:ext cx="141732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404872"/>
            <a:ext cx="3429000" cy="1078992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" y="2496312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88920"/>
            <a:ext cx="3136392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best supported z after seeing both the total and length-bin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2404872"/>
            <a:ext cx="3429000" cy="1078992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2496312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60B"/>
                </a:solidFill>
                <a:latin typeface="Aptos"/>
              </a:rPr>
              <a:t>LIKELIHOOD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788920"/>
            <a:ext cx="3136392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two data-fit terms: length-bin split × total peak count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9872" y="2404872"/>
            <a:ext cx="3429000" cy="1078992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66176" y="2496312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2788920"/>
            <a:ext cx="3136392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how plausible z is before seeing any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730752"/>
            <a:ext cx="7955279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The new length-bin term uses a multinomial distribution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096512"/>
            <a:ext cx="10899648" cy="822960"/>
          </a:xfrm>
          <a:prstGeom prst="roundRect">
            <a:avLst/>
          </a:prstGeom>
          <a:solidFill>
            <a:srgbClr val="FDE9E6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" y="4215384"/>
            <a:ext cx="1049731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3233B"/>
                </a:solidFill>
                <a:latin typeface="Aptos"/>
              </a:rPr>
              <a:t>N_LB | N,z  ~  Multinomial( N, n_lb / n )  =  Multinomial( N, z · R_LB / n 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193792"/>
            <a:ext cx="3429000" cy="621792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68096" y="5312664"/>
            <a:ext cx="896112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ptos"/>
              </a:rPr>
              <a:t>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2495" y="5276088"/>
            <a:ext cx="2221992" cy="35661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fixed total number of cut sites at the peak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5193792"/>
            <a:ext cx="3429000" cy="621792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07992" y="5312664"/>
            <a:ext cx="896112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A999"/>
                </a:solidFill>
                <a:latin typeface="Aptos"/>
              </a:rPr>
              <a:t>n_lb / 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22392" y="5276088"/>
            <a:ext cx="2221992" cy="35661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predicted fractions across the length bins; they sum to 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9872" y="5193792"/>
            <a:ext cx="3429000" cy="621792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47888" y="5312664"/>
            <a:ext cx="896112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N_LB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5276088"/>
            <a:ext cx="2221992" cy="35661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observed bin counts; they sum to 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989320"/>
            <a:ext cx="10899648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2627A"/>
                </a:solidFill>
                <a:latin typeface="Aptos"/>
              </a:rPr>
              <a:t>Same cut sites, one extra question: how were the N counts split by fragment length?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1880006" y="2066543"/>
            <a:ext cx="0" cy="331013"/>
          </a:xfrm>
          <a:prstGeom prst="line">
            <a:avLst/>
          </a:prstGeom>
          <a:ln w="19050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DATASET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Primary dataset: human blood immune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42415"/>
            <a:ext cx="10835640" cy="4023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2627A"/>
                </a:solidFill>
                <a:latin typeface="Aptos"/>
              </a:rPr>
              <a:t>A public 10x Genomics PBMC Multiome dataset provides paired RNA labels and raw ATAC fragments.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673352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947672"/>
            <a:ext cx="512064" cy="51206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847088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PBMCs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276856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blood immune cells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1673352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718304" y="1947672"/>
            <a:ext cx="512064" cy="512064"/>
          </a:xfrm>
          <a:prstGeom prst="ellipse">
            <a:avLst/>
          </a:prstGeom>
          <a:solidFill>
            <a:srgbClr val="F26B5B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04104" y="1847088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1 donor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4104" y="2276856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conditional first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673352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522208" y="1947672"/>
            <a:ext cx="512064" cy="51206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08008" y="1847088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16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8008" y="2276856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including rare 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072384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14400" y="3346704"/>
            <a:ext cx="512064" cy="512064"/>
          </a:xfrm>
          <a:prstGeom prst="ellipse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3246120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5,000 peaks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675888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selected from reference cells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17136" y="3072384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718304" y="3346704"/>
            <a:ext cx="512064" cy="512064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04104" y="3246120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1,024 spots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4104" y="3675888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32 × 32 simulated grid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3072384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522208" y="3346704"/>
            <a:ext cx="512064" cy="512064"/>
          </a:xfrm>
          <a:prstGeom prst="ellipse">
            <a:avLst/>
          </a:prstGeom>
          <a:solidFill>
            <a:srgbClr val="43AA6A"/>
          </a:solidFill>
          <a:ln w="12700">
            <a:solidFill>
              <a:srgbClr val="43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08008" y="3246120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~10 cells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3675888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average per pseudo-spot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" y="4681728"/>
            <a:ext cx="10744200" cy="1280160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14984" y="4965192"/>
            <a:ext cx="2779776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ptos"/>
              </a:rPr>
              <a:t>Why simulate spatial spots?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4487" y="4919472"/>
            <a:ext cx="713232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D7E2EE"/>
                </a:solidFill>
                <a:latin typeface="Aptos"/>
              </a:rPr>
              <a:t>Because the source cells are labeled, every pseudo-spot has an exact ingredient list. That gives a fair answer key.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25128" y="5504688"/>
            <a:ext cx="1682496" cy="310896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KNOWN GROUND TRUTH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EVALUATION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4893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3233B"/>
                </a:solidFill>
                <a:latin typeface="Aptos Display"/>
              </a:rPr>
              <a:t>Datasets in Three C</a:t>
            </a:r>
            <a:r>
              <a:rPr sz="2700" b="1" i="0">
                <a:solidFill>
                  <a:srgbClr val="13233B"/>
                </a:solidFill>
                <a:latin typeface="Aptos Display"/>
              </a:rPr>
              <a:t>ategories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60704"/>
            <a:ext cx="108813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2627A"/>
                </a:solidFill>
                <a:latin typeface="Aptos"/>
              </a:rPr>
              <a:t>The categories differ in how the ATAC profile is created and what composition information is available.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6189952"/>
              </p:ext>
            </p:extLst>
          </p:nvPr>
        </p:nvGraphicFramePr>
        <p:xfrm>
          <a:off x="640080" y="1536192"/>
          <a:ext cx="10899648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95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3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700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CATEGORY</a:t>
                      </a:r>
                    </a:p>
                  </a:txBody>
                  <a:tcPr marL="109728" marT="73152" marB="54864" anchor="ctr">
                    <a:solidFill>
                      <a:srgbClr val="1323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DATASETS</a:t>
                      </a:r>
                    </a:p>
                  </a:txBody>
                  <a:tcPr marL="109728" marT="73152" marB="54864" anchor="ctr">
                    <a:solidFill>
                      <a:srgbClr val="1323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SPECIES AND TISSUE</a:t>
                      </a:r>
                    </a:p>
                  </a:txBody>
                  <a:tcPr marL="109728" marT="73152" marB="54864" anchor="ctr">
                    <a:solidFill>
                      <a:srgbClr val="1323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 dirty="0">
                          <a:solidFill>
                            <a:srgbClr val="FFFFFF"/>
                          </a:solidFill>
                          <a:latin typeface="Aptos"/>
                        </a:rPr>
                        <a:t>SPOT-LEVEL
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ptos"/>
                        </a:rPr>
                        <a:t>SPATIAL </a:t>
                      </a:r>
                      <a:r>
                        <a:rPr sz="1050" b="1" dirty="0">
                          <a:solidFill>
                            <a:srgbClr val="FFFFFF"/>
                          </a:solidFill>
                          <a:latin typeface="Aptos"/>
                        </a:rPr>
                        <a:t>ATAC PROFILE</a:t>
                      </a:r>
                    </a:p>
                  </a:txBody>
                  <a:tcPr marL="109728" marT="73152" marB="54864" anchor="ctr">
                    <a:solidFill>
                      <a:srgbClr val="1323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COMPOSITION LABEL</a:t>
                      </a:r>
                    </a:p>
                  </a:txBody>
                  <a:tcPr marL="109728" marT="73152" marB="54864" anchor="ctr">
                    <a:solidFill>
                      <a:srgbClr val="1323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899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ptos"/>
                        </a:rPr>
                        <a:t>P</a:t>
                      </a:r>
                      <a:r>
                        <a:rPr sz="1500" b="1" dirty="0">
                          <a:solidFill>
                            <a:srgbClr val="FFFFFF"/>
                          </a:solidFill>
                          <a:latin typeface="Aptos"/>
                        </a:rPr>
                        <a:t>seudo-spots</a:t>
                      </a:r>
                    </a:p>
                  </a:txBody>
                  <a:tcPr marL="109728" marT="73152" marB="54864" anchor="ctr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13047"/>
                          </a:solidFill>
                          <a:latin typeface="Aptos"/>
                        </a:rPr>
                        <a:t>PBMC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13047"/>
                          </a:solidFill>
                          <a:latin typeface="Aptos"/>
                        </a:rPr>
                        <a:t>GSE194122 BMMC</a:t>
                      </a:r>
                    </a:p>
                  </a:txBody>
                  <a:tcPr marL="109728" marT="73152" marB="54864" anchor="ctr">
                    <a:solidFill>
                      <a:srgbClr val="E7F0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dirty="0">
                          <a:solidFill>
                            <a:srgbClr val="213047"/>
                          </a:solidFill>
                          <a:latin typeface="Aptos"/>
                        </a:rPr>
                        <a:t>Human:</a:t>
                      </a:r>
                      <a:r>
                        <a:rPr sz="1300" b="0" dirty="0">
                          <a:solidFill>
                            <a:srgbClr val="213047"/>
                          </a:solidFill>
                          <a:latin typeface="Aptos"/>
                        </a:rPr>
                        <a:t> peripheral blood
</a:t>
                      </a:r>
                      <a:r>
                        <a:rPr sz="1300" b="1" dirty="0">
                          <a:solidFill>
                            <a:srgbClr val="213047"/>
                          </a:solidFill>
                          <a:latin typeface="Aptos"/>
                        </a:rPr>
                        <a:t>Human</a:t>
                      </a:r>
                      <a:r>
                        <a:rPr lang="en-US" sz="1300" b="1" dirty="0">
                          <a:solidFill>
                            <a:srgbClr val="213047"/>
                          </a:solidFill>
                          <a:latin typeface="Aptos"/>
                        </a:rPr>
                        <a:t>:</a:t>
                      </a:r>
                      <a:r>
                        <a:rPr sz="1300" b="0" dirty="0">
                          <a:solidFill>
                            <a:srgbClr val="213047"/>
                          </a:solidFill>
                          <a:latin typeface="Aptos"/>
                        </a:rPr>
                        <a:t> bone marrow</a:t>
                      </a:r>
                    </a:p>
                  </a:txBody>
                  <a:tcPr marL="109728" marT="73152" marB="54864" anchor="ctr">
                    <a:solidFill>
                      <a:srgbClr val="E7F0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50" b="0" dirty="0">
                          <a:solidFill>
                            <a:srgbClr val="213047"/>
                          </a:solidFill>
                          <a:latin typeface="Aptos"/>
                        </a:rPr>
                        <a:t>Calculated profile based on composition</a:t>
                      </a:r>
                    </a:p>
                  </a:txBody>
                  <a:tcPr marL="109728" marT="73152" marB="54864" anchor="ctr">
                    <a:solidFill>
                      <a:srgbClr val="E7F0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213047"/>
                          </a:solidFill>
                          <a:latin typeface="Aptos"/>
                        </a:rPr>
                        <a:t>Exact </a:t>
                      </a:r>
                      <a:r>
                        <a:rPr lang="en-US" sz="1250" b="0" dirty="0">
                          <a:solidFill>
                            <a:srgbClr val="213047"/>
                          </a:solidFill>
                          <a:latin typeface="Aptos"/>
                        </a:rPr>
                        <a:t>composition</a:t>
                      </a:r>
                      <a:r>
                        <a:rPr sz="1250" b="0" dirty="0">
                          <a:solidFill>
                            <a:srgbClr val="213047"/>
                          </a:solidFill>
                          <a:latin typeface="Aptos"/>
                        </a:rPr>
                        <a:t> used to build each spot</a:t>
                      </a:r>
                    </a:p>
                  </a:txBody>
                  <a:tcPr marL="109728" marT="73152" marB="54864" anchor="ctr">
                    <a:solidFill>
                      <a:srgbClr val="E7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35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3233B"/>
                          </a:solidFill>
                          <a:latin typeface="Aptos"/>
                        </a:rPr>
                        <a:t>Physical
dilutions</a:t>
                      </a:r>
                    </a:p>
                  </a:txBody>
                  <a:tcPr marL="109728" marT="73152" marB="54864" anchor="ctr">
                    <a:solidFill>
                      <a:srgbClr val="F4B94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13047"/>
                          </a:solidFill>
                          <a:latin typeface="Aptos"/>
                        </a:rPr>
                        <a:t>GSE129785
CD4-memory + CD8-naive
Monocytes + T cells</a:t>
                      </a:r>
                    </a:p>
                  </a:txBody>
                  <a:tcPr marL="109728" marT="73152" marB="54864" anchor="ctr"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213047"/>
                          </a:solidFill>
                          <a:latin typeface="Aptos"/>
                        </a:rPr>
                        <a:t>Human</a:t>
                      </a:r>
                      <a:r>
                        <a:rPr lang="en-US" sz="1300" b="1" dirty="0">
                          <a:solidFill>
                            <a:srgbClr val="213047"/>
                          </a:solidFill>
                          <a:latin typeface="Aptos"/>
                        </a:rPr>
                        <a:t>:</a:t>
                      </a:r>
                      <a:r>
                        <a:rPr sz="1300" b="0" dirty="0">
                          <a:solidFill>
                            <a:srgbClr val="213047"/>
                          </a:solidFill>
                          <a:latin typeface="Aptos"/>
                        </a:rPr>
                        <a:t> blood</a:t>
                      </a:r>
                      <a:r>
                        <a:rPr lang="en-US" sz="1300" b="0" dirty="0">
                          <a:solidFill>
                            <a:srgbClr val="213047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>
                          <a:solidFill>
                            <a:srgbClr val="213047"/>
                          </a:solidFill>
                          <a:latin typeface="Aptos"/>
                        </a:rPr>
                        <a:t>immune cells</a:t>
                      </a:r>
                    </a:p>
                  </a:txBody>
                  <a:tcPr marL="109728" marT="73152" marB="54864" anchor="ctr"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213047"/>
                          </a:solidFill>
                          <a:latin typeface="Aptos"/>
                        </a:rPr>
                        <a:t>Measured </a:t>
                      </a:r>
                      <a:r>
                        <a:rPr lang="en-US" sz="1250" b="0" dirty="0">
                          <a:solidFill>
                            <a:srgbClr val="213047"/>
                          </a:solidFill>
                          <a:latin typeface="Aptos"/>
                        </a:rPr>
                        <a:t>real </a:t>
                      </a:r>
                      <a:r>
                        <a:rPr sz="1250" b="0" dirty="0">
                          <a:solidFill>
                            <a:srgbClr val="213047"/>
                          </a:solidFill>
                          <a:latin typeface="Aptos"/>
                        </a:rPr>
                        <a:t>profile</a:t>
                      </a:r>
                    </a:p>
                  </a:txBody>
                  <a:tcPr marL="109728" marT="73152" marB="54864" anchor="ctr"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50" b="0" dirty="0">
                          <a:solidFill>
                            <a:srgbClr val="213047"/>
                          </a:solidFill>
                          <a:latin typeface="Aptos"/>
                        </a:rPr>
                        <a:t>Known real composition.</a:t>
                      </a:r>
                    </a:p>
                  </a:txBody>
                  <a:tcPr marL="109728" marT="73152" marB="54864" anchor="ctr">
                    <a:solidFill>
                      <a:srgbClr val="FFF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420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</a:rPr>
                        <a:t>Real spatial
tissue</a:t>
                      </a:r>
                    </a:p>
                  </a:txBody>
                  <a:tcPr marL="109728" marT="73152" marB="54864" anchor="ctr">
                    <a:solidFill>
                      <a:srgbClr val="18A99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213047"/>
                          </a:solidFill>
                          <a:latin typeface="Aptos"/>
                        </a:rPr>
                        <a:t>GSE205055
GSE263333</a:t>
                      </a:r>
                    </a:p>
                  </a:txBody>
                  <a:tcPr marL="109728" marT="73152" marB="54864" anchor="ctr">
                    <a:solidFill>
                      <a:srgbClr val="DDF4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dirty="0">
                          <a:solidFill>
                            <a:srgbClr val="213047"/>
                          </a:solidFill>
                          <a:latin typeface="Aptos"/>
                        </a:rPr>
                        <a:t>Mouse</a:t>
                      </a:r>
                      <a:r>
                        <a:rPr sz="1300" b="0" dirty="0">
                          <a:solidFill>
                            <a:srgbClr val="213047"/>
                          </a:solidFill>
                          <a:latin typeface="Aptos"/>
                        </a:rPr>
                        <a:t>: day-13 mouse embryos, brains from young mice 21–22 days after birth,</a:t>
                      </a:r>
                      <a:r>
                        <a:rPr sz="1400" dirty="0"/>
                        <a:t> </a:t>
                      </a:r>
                      <a:r>
                        <a:rPr sz="1300" b="0" dirty="0">
                          <a:solidFill>
                            <a:srgbClr val="213047"/>
                          </a:solidFill>
                          <a:latin typeface="Aptos"/>
                        </a:rPr>
                        <a:t>brains from 5-month-old mice with EAE
</a:t>
                      </a:r>
                      <a:r>
                        <a:rPr sz="1300" b="1" dirty="0">
                          <a:solidFill>
                            <a:srgbClr val="213047"/>
                          </a:solidFill>
                          <a:latin typeface="Aptos"/>
                        </a:rPr>
                        <a:t>Human</a:t>
                      </a:r>
                      <a:r>
                        <a:rPr sz="1300" b="0" dirty="0">
                          <a:solidFill>
                            <a:srgbClr val="213047"/>
                          </a:solidFill>
                          <a:latin typeface="Aptos"/>
                        </a:rPr>
                        <a:t>: adult hippocampus</a:t>
                      </a:r>
                    </a:p>
                  </a:txBody>
                  <a:tcPr marL="109728" marT="73152" marB="54864" anchor="ctr">
                    <a:solidFill>
                      <a:srgbClr val="DDF4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213047"/>
                          </a:solidFill>
                          <a:latin typeface="Aptos"/>
                        </a:rPr>
                        <a:t>Measured </a:t>
                      </a:r>
                      <a:r>
                        <a:rPr lang="en-US" sz="1250" b="0" dirty="0">
                          <a:solidFill>
                            <a:srgbClr val="213047"/>
                          </a:solidFill>
                          <a:latin typeface="Aptos"/>
                        </a:rPr>
                        <a:t>real profile</a:t>
                      </a:r>
                    </a:p>
                  </a:txBody>
                  <a:tcPr marL="109728" marT="73152" marB="54864" anchor="ctr">
                    <a:solidFill>
                      <a:srgbClr val="DDF4F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50" b="0" dirty="0">
                          <a:solidFill>
                            <a:srgbClr val="213047"/>
                          </a:solidFill>
                          <a:latin typeface="Aptos"/>
                        </a:rPr>
                        <a:t>C</a:t>
                      </a:r>
                      <a:r>
                        <a:rPr sz="1250" b="0" dirty="0">
                          <a:solidFill>
                            <a:srgbClr val="213047"/>
                          </a:solidFill>
                          <a:latin typeface="Aptos"/>
                        </a:rPr>
                        <a:t>omposition</a:t>
                      </a:r>
                      <a:r>
                        <a:rPr lang="en-US" sz="1250" b="0" dirty="0">
                          <a:solidFill>
                            <a:srgbClr val="213047"/>
                          </a:solidFill>
                          <a:latin typeface="Aptos"/>
                        </a:rPr>
                        <a:t> unknown</a:t>
                      </a:r>
                      <a:r>
                        <a:rPr sz="1250" b="0" dirty="0">
                          <a:solidFill>
                            <a:srgbClr val="213047"/>
                          </a:solidFill>
                          <a:latin typeface="Aptos"/>
                        </a:rPr>
                        <a:t>. Supporting evidence only.</a:t>
                      </a:r>
                    </a:p>
                  </a:txBody>
                  <a:tcPr marL="109728" marT="73152" marB="54864" anchor="ctr">
                    <a:solidFill>
                      <a:srgbClr val="DDF4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EVALUATION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4893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13233B"/>
                </a:solidFill>
                <a:latin typeface="Aptos Display"/>
              </a:rPr>
              <a:t>Compare Count-Only and </a:t>
            </a:r>
            <a:r>
              <a:rPr lang="en-US" sz="2700" b="1" dirty="0" err="1">
                <a:solidFill>
                  <a:srgbClr val="13233B"/>
                </a:solidFill>
                <a:latin typeface="Aptos Display"/>
              </a:rPr>
              <a:t>ShapeMix</a:t>
            </a:r>
            <a:endParaRPr sz="2700" b="1" i="0" dirty="0">
              <a:solidFill>
                <a:srgbClr val="13233B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137392" y="310896"/>
            <a:ext cx="41148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2627A"/>
                </a:solidFill>
                <a:latin typeface="Aptos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093583"/>
            <a:ext cx="10890504" cy="273921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 i="0" dirty="0">
                <a:solidFill>
                  <a:srgbClr val="3B82F6"/>
                </a:solidFill>
                <a:latin typeface="Aptos"/>
              </a:rPr>
              <a:t>RMSE</a:t>
            </a:r>
            <a:r>
              <a:rPr lang="en-US" sz="1300" b="1" i="0" dirty="0">
                <a:solidFill>
                  <a:srgbClr val="3B82F6"/>
                </a:solidFill>
                <a:latin typeface="Aptos"/>
              </a:rPr>
              <a:t>: </a:t>
            </a:r>
            <a:r>
              <a:rPr sz="1300" b="0" i="0" dirty="0">
                <a:solidFill>
                  <a:srgbClr val="52627A"/>
                </a:solidFill>
                <a:latin typeface="Aptos"/>
              </a:rPr>
              <a:t> </a:t>
            </a:r>
            <a:r>
              <a:rPr lang="en-US" sz="1300" dirty="0">
                <a:solidFill>
                  <a:srgbClr val="52627A"/>
                </a:solidFill>
                <a:latin typeface="Aptos"/>
              </a:rPr>
              <a:t>R</a:t>
            </a:r>
            <a:r>
              <a:rPr lang="en-US" sz="1300" b="0" i="0" dirty="0">
                <a:solidFill>
                  <a:srgbClr val="52627A"/>
                </a:solidFill>
                <a:latin typeface="Aptos"/>
              </a:rPr>
              <a:t>oot </a:t>
            </a:r>
            <a:r>
              <a:rPr lang="en-US" sz="1300" dirty="0">
                <a:solidFill>
                  <a:srgbClr val="52627A"/>
                </a:solidFill>
                <a:latin typeface="Aptos"/>
              </a:rPr>
              <a:t>M</a:t>
            </a:r>
            <a:r>
              <a:rPr lang="en-US" sz="1300" b="0" i="0" dirty="0">
                <a:solidFill>
                  <a:srgbClr val="52627A"/>
                </a:solidFill>
                <a:latin typeface="Aptos"/>
              </a:rPr>
              <a:t>ean </a:t>
            </a:r>
            <a:r>
              <a:rPr lang="en-US" sz="1300" dirty="0">
                <a:solidFill>
                  <a:srgbClr val="52627A"/>
                </a:solidFill>
                <a:latin typeface="Aptos"/>
              </a:rPr>
              <a:t>S</a:t>
            </a:r>
            <a:r>
              <a:rPr lang="en-US" sz="1300" b="0" i="0" dirty="0">
                <a:solidFill>
                  <a:srgbClr val="52627A"/>
                </a:solidFill>
                <a:latin typeface="Aptos"/>
              </a:rPr>
              <a:t>quare </a:t>
            </a:r>
            <a:r>
              <a:rPr lang="en-US" sz="1300" dirty="0">
                <a:solidFill>
                  <a:srgbClr val="52627A"/>
                </a:solidFill>
                <a:latin typeface="Aptos"/>
              </a:rPr>
              <a:t>E</a:t>
            </a:r>
            <a:r>
              <a:rPr lang="en-US" sz="1300" b="0" i="0" dirty="0">
                <a:solidFill>
                  <a:srgbClr val="52627A"/>
                </a:solidFill>
                <a:latin typeface="Aptos"/>
              </a:rPr>
              <a:t>rror</a:t>
            </a:r>
            <a:r>
              <a:rPr sz="1300" b="0" i="0" dirty="0">
                <a:solidFill>
                  <a:srgbClr val="52627A"/>
                </a:solidFill>
                <a:latin typeface="Aptos"/>
              </a:rPr>
              <a:t>     </a:t>
            </a:r>
            <a:r>
              <a:rPr sz="1300" b="1" i="0" dirty="0">
                <a:solidFill>
                  <a:srgbClr val="8B5CF6"/>
                </a:solidFill>
                <a:latin typeface="Aptos"/>
              </a:rPr>
              <a:t>JSD</a:t>
            </a:r>
            <a:r>
              <a:rPr lang="en-US" sz="1300" b="1" i="0" dirty="0">
                <a:solidFill>
                  <a:srgbClr val="8B5CF6"/>
                </a:solidFill>
                <a:latin typeface="Aptos"/>
              </a:rPr>
              <a:t>:</a:t>
            </a:r>
            <a:r>
              <a:rPr lang="en-US" sz="1300" dirty="0">
                <a:solidFill>
                  <a:srgbClr val="52627A"/>
                </a:solidFill>
                <a:latin typeface="Aptos"/>
              </a:rPr>
              <a:t> </a:t>
            </a:r>
            <a:r>
              <a:rPr sz="1300" b="0" i="0" dirty="0">
                <a:solidFill>
                  <a:srgbClr val="52627A"/>
                </a:solidFill>
                <a:latin typeface="Aptos"/>
              </a:rPr>
              <a:t> </a:t>
            </a:r>
            <a:r>
              <a:rPr lang="en-US" sz="1300" b="0" i="0" dirty="0">
                <a:solidFill>
                  <a:srgbClr val="52627A"/>
                </a:solidFill>
                <a:latin typeface="Aptos"/>
              </a:rPr>
              <a:t>Jenson-Shannon Divergence</a:t>
            </a:r>
            <a:r>
              <a:rPr sz="1300" b="0" i="0" dirty="0">
                <a:solidFill>
                  <a:srgbClr val="52627A"/>
                </a:solidFill>
                <a:latin typeface="Aptos"/>
              </a:rPr>
              <a:t>    </a:t>
            </a:r>
            <a:r>
              <a:rPr sz="1300" b="1" i="0" dirty="0">
                <a:solidFill>
                  <a:srgbClr val="0C7F75"/>
                </a:solidFill>
                <a:latin typeface="Aptos"/>
              </a:rPr>
              <a:t>Lower is better.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340105"/>
              </p:ext>
            </p:extLst>
          </p:nvPr>
        </p:nvGraphicFramePr>
        <p:xfrm>
          <a:off x="582978" y="1627656"/>
          <a:ext cx="11022995" cy="44483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144768"/>
            <a:ext cx="1089964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50" b="1" i="0">
                <a:solidFill>
                  <a:srgbClr val="13233B"/>
                </a:solidFill>
                <a:latin typeface="Aptos"/>
              </a:rPr>
              <a:t>Natural:</a:t>
            </a:r>
            <a:r>
              <a:rPr sz="1050" b="0" i="0">
                <a:solidFill>
                  <a:srgbClr val="52627A"/>
                </a:solidFill>
                <a:latin typeface="Aptos"/>
              </a:rPr>
              <a:t> cell types are sampled using their observed frequencies.    </a:t>
            </a:r>
            <a:r>
              <a:rPr sz="1050" b="1" i="0">
                <a:solidFill>
                  <a:srgbClr val="13233B"/>
                </a:solidFill>
                <a:latin typeface="Aptos"/>
              </a:rPr>
              <a:t>Equal:</a:t>
            </a:r>
            <a:r>
              <a:rPr sz="1050" b="0" i="0">
                <a:solidFill>
                  <a:srgbClr val="52627A"/>
                </a:solidFill>
                <a:latin typeface="Aptos"/>
              </a:rPr>
              <a:t> every cell type is sampled with the same probability.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2129</Words>
  <Application>Microsoft Macintosh PowerPoint</Application>
  <PresentationFormat>Widescreen</PresentationFormat>
  <Paragraphs>431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ShapeMix-ATAC: High School Science Research Deck</dc:title>
  <dc:subject>Introduction, Bayesian ShapeMix model, datasets, evaluation design, and results</dc:subject>
  <dc:creator>Andy Zhuang</dc:creator>
  <cp:keywords>ShapeMix, ATAC-seq, spatial deconvolution, Bayesian model, MAP inference, high school research</cp:keywords>
  <dc:description>Deck generated from the deconvATAC repository with finalized RMSE and JSD comparisons.</dc:description>
  <cp:lastModifiedBy>Richard Zhuang</cp:lastModifiedBy>
  <cp:revision>5</cp:revision>
  <dcterms:created xsi:type="dcterms:W3CDTF">2013-01-27T09:14:16Z</dcterms:created>
  <dcterms:modified xsi:type="dcterms:W3CDTF">2026-09-28T01:27:31Z</dcterms:modified>
  <cp:category/>
</cp:coreProperties>
</file>