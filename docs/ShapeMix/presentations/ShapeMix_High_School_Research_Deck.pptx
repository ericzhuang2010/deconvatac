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79" r:id="rId31"/>
    <p:sldId id="282" r:id="rId34"/>
    <p:sldId id="283" r:id="rId35"/>
    <p:sldId id="260" r:id="rId12"/>
    <p:sldId id="284" r:id="rId36"/>
    <p:sldId id="285" r:id="rId37"/>
    <p:sldId id="286" r:id="rId38"/>
    <p:sldId id="287" r:id="rId39"/>
    <p:sldId id="288" r:id="rId40"/>
    <p:sldId id="289" r:id="rId41"/>
    <p:sldId id="280" r:id="rId32"/>
    <p:sldId id="281" r:id="rId33"/>
    <p:sldId id="290" r:id="rId42"/>
    <p:sldId id="291" r:id="rId43"/>
    <p:sldId id="270" r:id="rId22"/>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3B82F6"/>
                </a:solidFill>
                <a:latin typeface="Aptos"/>
              </a:rPr>
              <a:t>RMSE error reduction (%)</a:t>
            </a:r>
          </a:p>
        </c:rich>
      </c:tx>
      <c:layout/>
      <c:overlay val="0"/>
    </c:title>
    <c:autoTitleDeleted val="0"/>
    <c:plotArea>
      <c:barChart>
        <c:barDir val="bar"/>
        <c:grouping val="clustered"/>
        <c:ser>
          <c:idx val="0"/>
          <c:order val="0"/>
          <c:tx>
            <c:strRef>
              <c:f>Sheet1!$B$1</c:f>
              <c:strCache>
                <c:ptCount val="1"/>
                <c:pt idx="0">
                  <c:v>RMSE</c:v>
                </c:pt>
              </c:strCache>
            </c:strRef>
          </c:tx>
          <c:spPr>
            <a:solidFill>
              <a:srgbClr val="3B82F6"/>
            </a:solidFill>
            <a:ln>
              <a:solidFill>
                <a:srgbClr val="3B82F6"/>
              </a:solidFill>
            </a:ln>
          </c:spPr>
          <c:cat>
            <c:strRef>
              <c:f>Sheet1!$A$2:$A$7</c:f>
              <c:strCache>
                <c:ptCount val="6"/>
                <c:pt idx="0">
                  <c:v>Monocytes / total T cells</c:v>
                </c:pt>
                <c:pt idx="1">
                  <c:v>CD4 memory / CD8 naive</c:v>
                </c:pt>
                <c:pt idx="2">
                  <c:v>BMMC: equal</c:v>
                </c:pt>
                <c:pt idx="3">
                  <c:v>BMMC: natural</c:v>
                </c:pt>
                <c:pt idx="4">
                  <c:v>PBMC: equal</c:v>
                </c:pt>
                <c:pt idx="5">
                  <c:v>PBMC: natural</c:v>
                </c:pt>
              </c:strCache>
            </c:strRef>
          </c:cat>
          <c:val>
            <c:numRef>
              <c:f>Sheet1!$B$2:$B$7</c:f>
              <c:numCache>
                <c:formatCode>General</c:formatCode>
                <c:ptCount val="6"/>
                <c:pt idx="0">
                  <c:v>23.3</c:v>
                </c:pt>
                <c:pt idx="1">
                  <c:v>23.5</c:v>
                </c:pt>
                <c:pt idx="2">
                  <c:v>0.6</c:v>
                </c:pt>
                <c:pt idx="3">
                  <c:v>0.1</c:v>
                </c:pt>
                <c:pt idx="4">
                  <c:v>9.1</c:v>
                </c:pt>
                <c:pt idx="5">
                  <c:v>0.1</c:v>
                </c:pt>
              </c:numCache>
            </c:numRef>
          </c:val>
        </c:ser>
        <c:dLbls>
          <c:numFmt formatCode="0.0&quot;%&quot;;-0.0&quot;%&quot;;0.0&quot;%&quot;" sourceLinked="0"/>
          <c:txPr>
            <a:bodyPr/>
            <a:lstStyle/>
            <a:p>
              <a:pPr>
                <a:defRPr sz="950" b="1">
                  <a:solidFill>
                    <a:srgbClr val="13233B"/>
                  </a:solidFill>
                  <a:latin typeface="Aptos"/>
                </a:defRPr>
              </a:pPr>
            </a:p>
          </c:txPr>
          <c:dLblPos val="outEnd"/>
          <c:showLegendKey val="0"/>
          <c:showVal val="1"/>
          <c:showCatName val="0"/>
          <c:showSerName val="0"/>
          <c:showPercent val="0"/>
          <c:showBubbleSize val="0"/>
          <c:showLeaderLines val="1"/>
        </c:dLbls>
        <c:gapWidth val="64"/>
        <c:axId val="-2068027336"/>
        <c:axId val="-2113994440"/>
      </c:barChart>
      <c:catAx>
        <c:axId val="-2068027336"/>
        <c:scaling/>
        <c:delete val="0"/>
        <c:axPos val="l"/>
        <c:majorTickMark val="none"/>
        <c:minorTickMark val="none"/>
        <c:tickLblPos val="low"/>
        <c:txPr>
          <a:bodyPr/>
          <a:lstStyle/>
          <a:p>
            <a:pPr>
              <a:defRPr sz="900" b="1">
                <a:solidFill>
                  <a:srgbClr val="13233B"/>
                </a:solidFill>
                <a:latin typeface="Aptos"/>
              </a:defRPr>
            </a:pPr>
          </a:p>
        </c:txPr>
        <c:crossAx val="-2113994440"/>
        <c:crosses val="autoZero"/>
        <c:auto val="1"/>
        <c:lblAlgn val="ctr"/>
        <c:lblOffset val="100"/>
        <c:noMultiLvlLbl val="0"/>
      </c:catAx>
      <c:valAx>
        <c:axId val="-2113994440"/>
        <c:scaling>
          <c:max val="25.0"/>
          <c:min val="0.0"/>
        </c:scaling>
        <c:delete val="0"/>
        <c:axPos val="b"/>
        <c:majorGridlines>
          <c:spPr>
            <a:ln w="8890">
              <a:solidFill>
                <a:srgbClr val="D7E0E8"/>
              </a:solidFill>
            </a:ln>
          </c:spPr>
        </c:majorGridlines>
        <c:numFmt formatCode="0&quot;%&quot;" sourceLinked="0"/>
        <c:majorTickMark val="none"/>
        <c:minorTickMark val="none"/>
        <c:tickLblPos val="nextTo"/>
        <c:txPr>
          <a:bodyPr/>
          <a:lstStyle/>
          <a:p>
            <a:pPr>
              <a:defRPr sz="900">
                <a:solidFill>
                  <a:srgbClr val="52627A"/>
                </a:solidFill>
                <a:latin typeface="Aptos"/>
              </a:defRPr>
            </a:pPr>
          </a:p>
        </c:txPr>
        <c:crossAx val="-2068027336"/>
        <c:crosses val="autoZero"/>
        <c:majorUnit val="5.0"/>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8B5CF6"/>
                </a:solidFill>
                <a:latin typeface="Aptos"/>
              </a:rPr>
              <a:t>JSD error reduction (%)</a:t>
            </a:r>
          </a:p>
        </c:rich>
      </c:tx>
      <c:layout/>
      <c:overlay val="0"/>
    </c:title>
    <c:autoTitleDeleted val="0"/>
    <c:plotArea>
      <c:barChart>
        <c:barDir val="bar"/>
        <c:grouping val="clustered"/>
        <c:ser>
          <c:idx val="0"/>
          <c:order val="0"/>
          <c:tx>
            <c:strRef>
              <c:f>Sheet1!$B$1</c:f>
              <c:strCache>
                <c:ptCount val="1"/>
                <c:pt idx="0">
                  <c:v>JSD</c:v>
                </c:pt>
              </c:strCache>
            </c:strRef>
          </c:tx>
          <c:spPr>
            <a:solidFill>
              <a:srgbClr val="8B5CF6"/>
            </a:solidFill>
            <a:ln>
              <a:solidFill>
                <a:srgbClr val="8B5CF6"/>
              </a:solidFill>
            </a:ln>
          </c:spPr>
          <c:cat>
            <c:strRef>
              <c:f>Sheet1!$A$2:$A$7</c:f>
              <c:strCache>
                <c:ptCount val="6"/>
                <c:pt idx="0">
                  <c:v>Monocytes / total T cells</c:v>
                </c:pt>
                <c:pt idx="1">
                  <c:v>CD4 memory / CD8 naive</c:v>
                </c:pt>
                <c:pt idx="2">
                  <c:v>BMMC: equal</c:v>
                </c:pt>
                <c:pt idx="3">
                  <c:v>BMMC: natural</c:v>
                </c:pt>
                <c:pt idx="4">
                  <c:v>PBMC: equal</c:v>
                </c:pt>
                <c:pt idx="5">
                  <c:v>PBMC: natural</c:v>
                </c:pt>
              </c:strCache>
            </c:strRef>
          </c:cat>
          <c:val>
            <c:numRef>
              <c:f>Sheet1!$B$2:$B$7</c:f>
              <c:numCache>
                <c:formatCode>General</c:formatCode>
                <c:ptCount val="6"/>
                <c:pt idx="0">
                  <c:v>27.2</c:v>
                </c:pt>
                <c:pt idx="1">
                  <c:v>25.7</c:v>
                </c:pt>
                <c:pt idx="2">
                  <c:v>1.6</c:v>
                </c:pt>
                <c:pt idx="3">
                  <c:v>0.3</c:v>
                </c:pt>
                <c:pt idx="4">
                  <c:v>14.7</c:v>
                </c:pt>
                <c:pt idx="5">
                  <c:v>4.5</c:v>
                </c:pt>
              </c:numCache>
            </c:numRef>
          </c:val>
        </c:ser>
        <c:dLbls>
          <c:numFmt formatCode="0.0&quot;%&quot;;-0.0&quot;%&quot;;0.0&quot;%&quot;" sourceLinked="0"/>
          <c:txPr>
            <a:bodyPr/>
            <a:lstStyle/>
            <a:p>
              <a:pPr>
                <a:defRPr sz="950" b="1">
                  <a:solidFill>
                    <a:srgbClr val="13233B"/>
                  </a:solidFill>
                  <a:latin typeface="Aptos"/>
                </a:defRPr>
              </a:pPr>
            </a:p>
          </c:txPr>
          <c:dLblPos val="outEnd"/>
          <c:showLegendKey val="0"/>
          <c:showVal val="1"/>
          <c:showCatName val="0"/>
          <c:showSerName val="0"/>
          <c:showPercent val="0"/>
          <c:showBubbleSize val="0"/>
          <c:showLeaderLines val="1"/>
        </c:dLbls>
        <c:gapWidth val="64"/>
        <c:axId val="-2068027336"/>
        <c:axId val="-2113994440"/>
      </c:barChart>
      <c:catAx>
        <c:axId val="-2068027336"/>
        <c:scaling/>
        <c:delete val="0"/>
        <c:axPos val="l"/>
        <c:majorTickMark val="none"/>
        <c:minorTickMark val="none"/>
        <c:tickLblPos val="low"/>
        <c:txPr>
          <a:bodyPr/>
          <a:lstStyle/>
          <a:p>
            <a:pPr>
              <a:defRPr sz="900" b="1">
                <a:solidFill>
                  <a:srgbClr val="13233B"/>
                </a:solidFill>
                <a:latin typeface="Aptos"/>
              </a:defRPr>
            </a:pPr>
          </a:p>
        </c:txPr>
        <c:crossAx val="-2113994440"/>
        <c:crosses val="autoZero"/>
        <c:auto val="1"/>
        <c:lblAlgn val="ctr"/>
        <c:lblOffset val="100"/>
        <c:noMultiLvlLbl val="0"/>
      </c:catAx>
      <c:valAx>
        <c:axId val="-2113994440"/>
        <c:scaling>
          <c:max val="30.0"/>
          <c:min val="0.0"/>
        </c:scaling>
        <c:delete val="0"/>
        <c:axPos val="b"/>
        <c:majorGridlines>
          <c:spPr>
            <a:ln w="8890">
              <a:solidFill>
                <a:srgbClr val="D7E0E8"/>
              </a:solidFill>
            </a:ln>
          </c:spPr>
        </c:majorGridlines>
        <c:numFmt formatCode="0&quot;%&quot;" sourceLinked="0"/>
        <c:majorTickMark val="none"/>
        <c:minorTickMark val="none"/>
        <c:tickLblPos val="nextTo"/>
        <c:txPr>
          <a:bodyPr/>
          <a:lstStyle/>
          <a:p>
            <a:pPr>
              <a:defRPr sz="900">
                <a:solidFill>
                  <a:srgbClr val="52627A"/>
                </a:solidFill>
                <a:latin typeface="Aptos"/>
              </a:defRPr>
            </a:pPr>
          </a:p>
        </c:txPr>
        <c:crossAx val="-2068027336"/>
        <c:crosses val="autoZero"/>
        <c:majorUnit val="5.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Science does not require the hypothesis to win. If ShapeMix ties or loses, that still tells us that this particular fragment representation did not justify its complexity under the tested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limitations do not invalidate a project; they define what can be concluded. The biggest limitation is that the first benchmark uses one donor, so it cannot establish broad biological generalization by itself.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PROJECT OVERVIEW</a:t>
            </a:r>
          </a:p>
        </p:txBody>
      </p:sp>
      <p:sp>
        <p:nvSpPr>
          <p:cNvPr id="3" name="TextBox 2"/>
          <p:cNvSpPr txBox="1"/>
          <p:nvPr/>
        </p:nvSpPr>
        <p:spPr>
          <a:xfrm>
            <a:off x="658366" y="1018034"/>
            <a:ext cx="10898633" cy="1181862"/>
          </a:xfrm>
          <a:prstGeom prst="rect">
            <a:avLst/>
          </a:prstGeom>
          <a:noFill/>
        </p:spPr>
        <p:txBody>
          <a:bodyPr wrap="square" lIns="36576" rIns="36576" tIns="36576" bIns="36576" anchor="t">
            <a:spAutoFit/>
          </a:bodyPr>
          <a:lstStyle/>
          <a:p>
            <a:pPr/>
            <a:r>
              <a:rPr sz="3600" b="1">
                <a:solidFill>
                  <a:srgbClr val="FFFFFF"/>
                </a:solidFill>
                <a:latin typeface="Aptos Display"/>
              </a:rPr>
              <a:t>ShapeMix-ATAC: A Novel Fragment-Shape-Aware Bayesian Model for Spatial ATAC-seq Deconvolution</a:t>
            </a:r>
          </a:p>
        </p:txBody>
      </p:sp>
      <p:sp>
        <p:nvSpPr>
          <p:cNvPr id="4" name="TextBox 3"/>
          <p:cNvSpPr txBox="1"/>
          <p:nvPr/>
        </p:nvSpPr>
        <p:spPr>
          <a:xfrm>
            <a:off x="676656" y="2965702"/>
            <a:ext cx="5943600" cy="987552"/>
          </a:xfrm>
          <a:prstGeom prst="rect">
            <a:avLst/>
          </a:prstGeom>
          <a:noFill/>
        </p:spPr>
        <p:txBody>
          <a:bodyPr wrap="square" lIns="36576" rIns="36576" t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rIns="36576" t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8343054" y="2313433"/>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72822" y="2788921"/>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996667" y="2999598"/>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42086" y="2569465"/>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41059" y="2756734"/>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382166" y="3227832"/>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100" y="3467771"/>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84886" y="3611881"/>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570910" y="3881080"/>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708813" y="4160521"/>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14005" y="4353642"/>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217574" y="4270249"/>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435201" y="4475074"/>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58038" y="4773169"/>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50793" y="4954585"/>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3365" y="5614417"/>
            <a:ext cx="2743200" cy="320040"/>
          </a:xfrm>
          <a:prstGeom prst="rect">
            <a:avLst/>
          </a:prstGeom>
          <a:noFill/>
        </p:spPr>
        <p:txBody>
          <a:bodyPr wrap="square" lIns="36576" rIns="36576" t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8461926" y="6336793"/>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6192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96484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102006" y="6592825"/>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02006"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970685"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42086" y="6336793"/>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74208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126134"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382166" y="6592825"/>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82166"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534310" y="6537961"/>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022246" y="6336793"/>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02224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662326" y="6281929"/>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572768"/>
            <a:ext cx="2697480" cy="475488"/>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rIns="18288" t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08576" y="5129784"/>
            <a:ext cx="6236208" cy="53035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62272" y="2880360"/>
            <a:ext cx="2596896"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rot="1080000">
            <a:off x="453981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rot="1080000">
            <a:off x="466179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rot="1080000">
            <a:off x="478798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rot="1080000">
            <a:off x="490996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rot="540000">
            <a:off x="448092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451457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rot="1080000">
            <a:off x="517989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rot="1080000">
            <a:off x="530187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rot="1080000">
            <a:off x="542806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rot="1080000">
            <a:off x="55500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rot="540000">
            <a:off x="512100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flipV="1">
            <a:off x="515465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rot="1080000">
            <a:off x="581997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rot="1080000">
            <a:off x="594195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rot="1080000">
            <a:off x="606814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rot="1080000">
            <a:off x="619012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rot="540000">
            <a:off x="576108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flipV="1">
            <a:off x="579473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rot="1080000">
            <a:off x="64600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rot="1080000">
            <a:off x="65820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rot="1080000">
            <a:off x="67082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rot="1080000">
            <a:off x="68302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rot="540000">
            <a:off x="64011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64348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038344" y="2084831"/>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129784" y="2121408"/>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007607"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609904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4297680" y="3310128"/>
            <a:ext cx="2743200" cy="182880"/>
          </a:xfrm>
          <a:prstGeom prst="rect">
            <a:avLst/>
          </a:prstGeom>
          <a:noFill/>
        </p:spPr>
        <p:txBody>
          <a:bodyPr wrap="square" lIns="18288" rIns="18288" tIns="18288" bIns="18288">
            <a:spAutoFit/>
          </a:bodyPr>
          <a:lstStyle/>
          <a:p>
            <a:pPr algn="ctr"/>
            <a:r>
              <a:rPr sz="950" b="1">
                <a:solidFill>
                  <a:srgbClr val="8B5CF6"/>
                </a:solidFill>
                <a:latin typeface="Aptos"/>
              </a:rPr>
              <a:t>DNA wrapped around histones</a:t>
            </a:r>
          </a:p>
        </p:txBody>
      </p:sp>
      <p:sp>
        <p:nvSpPr>
          <p:cNvPr id="67" name="TextBox 66"/>
          <p:cNvSpPr txBox="1"/>
          <p:nvPr/>
        </p:nvSpPr>
        <p:spPr>
          <a:xfrm>
            <a:off x="4242816" y="4005072"/>
            <a:ext cx="2862072" cy="274320"/>
          </a:xfrm>
          <a:prstGeom prst="rect">
            <a:avLst/>
          </a:prstGeom>
          <a:noFill/>
        </p:spPr>
        <p:txBody>
          <a:bodyPr wrap="square" lIns="18288" rIns="18288" tIns="18288" bIns="18288">
            <a:spAutoFit/>
          </a:bodyPr>
          <a:lstStyle/>
          <a:p>
            <a:pPr algn="ctr"/>
            <a:r>
              <a:rPr sz="1300" b="1">
                <a:solidFill>
                  <a:srgbClr val="F26B5B"/>
                </a:solidFill>
                <a:latin typeface="Aptos"/>
              </a:rPr>
              <a:t>No exposed linker → Tn5 is blocked</a:t>
            </a:r>
          </a:p>
        </p:txBody>
      </p:sp>
      <p:cxnSp>
        <p:nvCxnSpPr>
          <p:cNvPr id="68" name="Connector 67"/>
          <p:cNvCxnSpPr/>
          <p:nvPr/>
        </p:nvCxnSpPr>
        <p:spPr>
          <a:xfrm>
            <a:off x="8302752" y="2880360"/>
            <a:ext cx="2615184"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rot="1080000">
            <a:off x="8352861"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rot="1080000">
            <a:off x="84748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rot="1080000">
            <a:off x="8601029"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rot="1080000">
            <a:off x="8723010"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rot="540000">
            <a:off x="8293973"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flipV="1">
            <a:off x="8327623"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rot="1080000">
            <a:off x="103462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rot="1080000">
            <a:off x="104682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rot="1080000">
            <a:off x="105944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rot="1080000">
            <a:off x="107164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rot="540000">
            <a:off x="102873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flipV="1">
            <a:off x="103210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9153144"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244584"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9272015"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9592056"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683496"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9710928"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030968"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0122408"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9" name="Connector 88"/>
          <p:cNvCxnSpPr/>
          <p:nvPr/>
        </p:nvCxnSpPr>
        <p:spPr>
          <a:xfrm>
            <a:off x="10149840"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8887968" y="2176272"/>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27432" rIns="27432" tIns="0" bIns="0"/>
          <a:lstStyle/>
          <a:p>
            <a:pPr algn="ctr"/>
            <a:r>
              <a:rPr sz="819" b="1">
                <a:solidFill>
                  <a:srgbClr val="FFFFFF"/>
                </a:solidFill>
                <a:latin typeface="Aptos"/>
              </a:rPr>
              <a:t>Tn5</a:t>
            </a:r>
          </a:p>
        </p:txBody>
      </p:sp>
      <p:sp>
        <p:nvSpPr>
          <p:cNvPr id="91" name="TextBox 90"/>
          <p:cNvSpPr txBox="1"/>
          <p:nvPr/>
        </p:nvSpPr>
        <p:spPr>
          <a:xfrm>
            <a:off x="8897112" y="3310128"/>
            <a:ext cx="1426464" cy="182880"/>
          </a:xfrm>
          <a:prstGeom prst="rect">
            <a:avLst/>
          </a:prstGeom>
          <a:noFill/>
        </p:spPr>
        <p:txBody>
          <a:bodyPr wrap="square" lIns="18288" rIns="18288" tIns="18288" bIns="18288">
            <a:spAutoFit/>
          </a:bodyPr>
          <a:lstStyle/>
          <a:p>
            <a:pPr algn="ctr"/>
            <a:r>
              <a:rPr sz="950" b="1">
                <a:solidFill>
                  <a:srgbClr val="0C7F75"/>
                </a:solidFill>
                <a:latin typeface="Aptos"/>
              </a:rPr>
              <a:t>exposed linker DNA</a:t>
            </a:r>
          </a:p>
        </p:txBody>
      </p:sp>
      <p:sp>
        <p:nvSpPr>
          <p:cNvPr id="92" name="TextBox 91"/>
          <p:cNvSpPr txBox="1"/>
          <p:nvPr/>
        </p:nvSpPr>
        <p:spPr>
          <a:xfrm>
            <a:off x="8165592" y="4005072"/>
            <a:ext cx="2862072" cy="274320"/>
          </a:xfrm>
          <a:prstGeom prst="rect">
            <a:avLst/>
          </a:prstGeom>
          <a:noFill/>
        </p:spPr>
        <p:txBody>
          <a:bodyPr wrap="square" lIns="18288" rIns="18288" tIns="18288" bIns="18288">
            <a:spAutoFit/>
          </a:bodyPr>
          <a:lstStyle/>
          <a:p>
            <a:pPr algn="ctr"/>
            <a:r>
              <a:rPr sz="1300" b="1">
                <a:solidFill>
                  <a:srgbClr val="0C7F75"/>
                </a:solidFill>
                <a:latin typeface="Aptos"/>
              </a:rPr>
              <a:t>Tn5 cuts and tags the exposed DNA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52627A"/>
                </a:solidFill>
                <a:latin typeface="Aptos"/>
              </a:rPr>
              <a:t>The same genomic regions line up from chromatin → fragments → counts.</a:t>
            </a:r>
          </a:p>
        </p:txBody>
      </p:sp>
      <p:sp>
        <p:nvSpPr>
          <p:cNvPr id="6" name="Rounded Rectangle 5"/>
          <p:cNvSpPr/>
          <p:nvPr/>
        </p:nvSpPr>
        <p:spPr>
          <a:xfrm>
            <a:off x="658368" y="141732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2788920"/>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4315968"/>
            <a:ext cx="10881360" cy="170078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88920" y="1517904"/>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88920" y="2889504"/>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32120" y="1517904"/>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32120" y="2889504"/>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41080" y="1517904"/>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41080" y="2889504"/>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1609344"/>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p:nvPr/>
        </p:nvCxnSpPr>
        <p:spPr>
          <a:xfrm>
            <a:off x="2487168" y="2148840"/>
            <a:ext cx="8650224"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rot="1080000">
            <a:off x="3543117"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1080000">
            <a:off x="3665098"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1080000">
            <a:off x="3791285"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1080000">
            <a:off x="3913266"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rot="540000">
            <a:off x="3484229"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3517879"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395277"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rot="1080000">
            <a:off x="9517258"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rot="1080000">
            <a:off x="9643445"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rot="1080000">
            <a:off x="9765426"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rot="540000">
            <a:off x="9336389"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9370039"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878738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8788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8906256"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34186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43330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10460736"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4590288" y="1581912"/>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Tn5</a:t>
            </a:r>
          </a:p>
        </p:txBody>
      </p:sp>
      <p:sp>
        <p:nvSpPr>
          <p:cNvPr id="68" name="TextBox 67"/>
          <p:cNvSpPr txBox="1"/>
          <p:nvPr/>
        </p:nvSpPr>
        <p:spPr>
          <a:xfrm>
            <a:off x="2907792" y="2423160"/>
            <a:ext cx="1755648"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8B5CF6"/>
                </a:solidFill>
                <a:latin typeface="Aptos"/>
              </a:rPr>
              <a:t>DNA wrapped around histones</a:t>
            </a:r>
          </a:p>
        </p:txBody>
      </p:sp>
      <p:sp>
        <p:nvSpPr>
          <p:cNvPr id="69" name="TextBox 68"/>
          <p:cNvSpPr txBox="1"/>
          <p:nvPr/>
        </p:nvSpPr>
        <p:spPr>
          <a:xfrm>
            <a:off x="4983480" y="2423160"/>
            <a:ext cx="1261872"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0C7F75"/>
                </a:solidFill>
                <a:latin typeface="Aptos"/>
              </a:rPr>
              <a:t>exposed linker DNA</a:t>
            </a:r>
          </a:p>
        </p:txBody>
      </p:sp>
      <p:sp>
        <p:nvSpPr>
          <p:cNvPr id="70" name="Oval 69"/>
          <p:cNvSpPr/>
          <p:nvPr/>
        </p:nvSpPr>
        <p:spPr>
          <a:xfrm>
            <a:off x="859536" y="3026664"/>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9536" y="3026664"/>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3081528"/>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F26B5B"/>
                </a:solidFill>
                <a:latin typeface="Aptos"/>
              </a:rPr>
              <a:t>FRAGMENTS</a:t>
            </a:r>
          </a:p>
        </p:txBody>
      </p:sp>
      <p:sp>
        <p:nvSpPr>
          <p:cNvPr id="73" name="Rounded Rectangle 72"/>
          <p:cNvSpPr/>
          <p:nvPr/>
        </p:nvSpPr>
        <p:spPr>
          <a:xfrm>
            <a:off x="2633472" y="2926080"/>
            <a:ext cx="1225296"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00" b="1">
                <a:solidFill>
                  <a:srgbClr val="FFFFFF"/>
                </a:solidFill>
                <a:latin typeface="Aptos"/>
              </a:rPr>
              <a:t>SHORT • OPEN DNA</a:t>
            </a:r>
          </a:p>
        </p:txBody>
      </p:sp>
      <p:sp>
        <p:nvSpPr>
          <p:cNvPr id="74" name="Rounded Rectangle 73"/>
          <p:cNvSpPr/>
          <p:nvPr/>
        </p:nvSpPr>
        <p:spPr>
          <a:xfrm>
            <a:off x="5047488" y="2926080"/>
            <a:ext cx="1938528"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60" b="1">
                <a:solidFill>
                  <a:srgbClr val="13233B"/>
                </a:solidFill>
                <a:latin typeface="Aptos"/>
              </a:rPr>
              <a:t>MEDIUM • SPANS 1 NUCLEOSOME</a:t>
            </a:r>
          </a:p>
        </p:txBody>
      </p:sp>
      <p:sp>
        <p:nvSpPr>
          <p:cNvPr id="75" name="Rounded Rectangle 74"/>
          <p:cNvSpPr/>
          <p:nvPr/>
        </p:nvSpPr>
        <p:spPr>
          <a:xfrm>
            <a:off x="7104888" y="2926080"/>
            <a:ext cx="1865376"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60" b="1">
                <a:solidFill>
                  <a:srgbClr val="FFFFFF"/>
                </a:solidFill>
                <a:latin typeface="Aptos"/>
              </a:rPr>
              <a:t>LONG • SPANS 2 NUCLEOSOMES</a:t>
            </a:r>
          </a:p>
        </p:txBody>
      </p:sp>
      <p:cxnSp>
        <p:nvCxnSpPr>
          <p:cNvPr id="76" name="Connector 75"/>
          <p:cNvCxnSpPr/>
          <p:nvPr/>
        </p:nvCxnSpPr>
        <p:spPr>
          <a:xfrm>
            <a:off x="2953512"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3465576" y="3685032"/>
            <a:ext cx="704088"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465576" y="3685032"/>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059936" y="3685032"/>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3433572" y="3653028"/>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137660" y="3653028"/>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5879592" y="3410712"/>
            <a:ext cx="11247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79592" y="3410712"/>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6894576" y="3410712"/>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5847588" y="3378708"/>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972300" y="3378708"/>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a:off x="5669280"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669280"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589520"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37276"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667244"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8979408" y="3648456"/>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79408" y="3648456"/>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222992" y="3648456"/>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8947404" y="3616452"/>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300716" y="3616452"/>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9536" y="4553712"/>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769096" y="4425696"/>
            <a:ext cx="2295144" cy="21945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70" b="1">
                <a:solidFill>
                  <a:srgbClr val="FFFFFF"/>
                </a:solidFill>
                <a:latin typeface="Aptos"/>
              </a:rPr>
              <a:t>HEIGHT = COUNT  •  WIDTH = PEAK INTERVAL</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4764024"/>
            <a:ext cx="2103120" cy="9326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788920" y="4544568"/>
            <a:ext cx="210312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6</a:t>
            </a:r>
          </a:p>
        </p:txBody>
      </p:sp>
      <p:sp>
        <p:nvSpPr>
          <p:cNvPr id="121" name="TextBox 120"/>
          <p:cNvSpPr txBox="1"/>
          <p:nvPr/>
        </p:nvSpPr>
        <p:spPr>
          <a:xfrm>
            <a:off x="2788920" y="5742432"/>
            <a:ext cx="210312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074920"/>
            <a:ext cx="2377440" cy="62179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532120" y="4855464"/>
            <a:ext cx="23774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385816"/>
            <a:ext cx="2148840" cy="31089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641080" y="5166360"/>
            <a:ext cx="21488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2</a:t>
            </a:r>
          </a:p>
        </p:txBody>
      </p:sp>
      <p:sp>
        <p:nvSpPr>
          <p:cNvPr id="127" name="TextBox 126"/>
          <p:cNvSpPr txBox="1"/>
          <p:nvPr/>
        </p:nvSpPr>
        <p:spPr>
          <a:xfrm>
            <a:off x="8641080" y="5742432"/>
            <a:ext cx="21488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69" b="1">
                <a:solidFill>
                  <a:srgbClr val="FFFFFF"/>
                </a:solidFill>
                <a:latin typeface="Aptos"/>
              </a:rPr>
              <a:t>COUNT THE ENDPOINT DOTS: 3 fragments → 6 counts   |   2 → 4   |   1 → 2</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Conceptual ATAC-seq schematic. Some pipelines count fragment overlaps instead; the convention must be stated.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0080" y="1078992"/>
            <a:ext cx="10698480" cy="438912"/>
          </a:xfrm>
          <a:prstGeom prst="rect">
            <a:avLst/>
          </a:prstGeom>
          <a:noFill/>
        </p:spPr>
        <p:txBody>
          <a:bodyPr wrap="square" lIns="36576" rIns="36576" t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01952"/>
            <a:ext cx="2011680" cy="320040"/>
          </a:xfrm>
          <a:prstGeom prst="rect">
            <a:avLst/>
          </a:prstGeom>
          <a:noFill/>
        </p:spPr>
        <p:txBody>
          <a:bodyPr wrap="square" lIns="36576" rIns="36576" t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422392"/>
            <a:ext cx="3493008"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86016" y="1901952"/>
            <a:ext cx="3566160" cy="320040"/>
          </a:xfrm>
          <a:prstGeom prst="rect">
            <a:avLst/>
          </a:prstGeom>
          <a:noFill/>
        </p:spPr>
        <p:txBody>
          <a:bodyPr wrap="square" lIns="36576" rIns="36576" t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49224" y="1069848"/>
            <a:ext cx="10881360" cy="420624"/>
          </a:xfrm>
          <a:prstGeom prst="rect">
            <a:avLst/>
          </a:prstGeom>
          <a:noFill/>
        </p:spPr>
        <p:txBody>
          <a:bodyPr wrap="square" lIns="36576" rIns="36576" t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029968"/>
            <a:ext cx="1078992" cy="256032"/>
          </a:xfrm>
          <a:prstGeom prst="rect">
            <a:avLst/>
          </a:prstGeom>
          <a:noFill/>
        </p:spPr>
        <p:txBody>
          <a:bodyPr wrap="square" lIns="27432" rIns="27432" t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760" b="1">
                <a:solidFill>
                  <a:srgbClr val="18A999"/>
                </a:solidFill>
                <a:latin typeface="Aptos"/>
              </a:rPr>
              <a:t>REFERENCE</a:t>
            </a:r>
          </a:p>
        </p:txBody>
      </p:sp>
      <p:sp>
        <p:nvSpPr>
          <p:cNvPr id="11" name="Rectangle 10"/>
          <p:cNvSpPr/>
          <p:nvPr/>
        </p:nvSpPr>
        <p:spPr>
          <a:xfrm>
            <a:off x="2414016" y="24048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40864" y="2240279"/>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P1</a:t>
            </a:r>
          </a:p>
        </p:txBody>
      </p:sp>
      <p:sp>
        <p:nvSpPr>
          <p:cNvPr id="14" name="Rectangle 13"/>
          <p:cNvSpPr/>
          <p:nvPr/>
        </p:nvSpPr>
        <p:spPr>
          <a:xfrm>
            <a:off x="2724912" y="2807208"/>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2642615"/>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P2</a:t>
            </a:r>
          </a:p>
        </p:txBody>
      </p:sp>
      <p:sp>
        <p:nvSpPr>
          <p:cNvPr id="17" name="Rectangle 16"/>
          <p:cNvSpPr/>
          <p:nvPr/>
        </p:nvSpPr>
        <p:spPr>
          <a:xfrm>
            <a:off x="3035808" y="2505456"/>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2656" y="2340863"/>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P3</a:t>
            </a:r>
          </a:p>
        </p:txBody>
      </p:sp>
      <p:sp>
        <p:nvSpPr>
          <p:cNvPr id="20" name="Rectangle 19"/>
          <p:cNvSpPr/>
          <p:nvPr/>
        </p:nvSpPr>
        <p:spPr>
          <a:xfrm>
            <a:off x="3346704" y="2706623"/>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73552" y="2542031"/>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3858768"/>
            <a:ext cx="1078992" cy="256032"/>
          </a:xfrm>
          <a:prstGeom prst="rect">
            <a:avLst/>
          </a:prstGeom>
          <a:noFill/>
        </p:spPr>
        <p:txBody>
          <a:bodyPr wrap="square" lIns="27432" rIns="27432" t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760" b="1">
                <a:solidFill>
                  <a:srgbClr val="3B82F6"/>
                </a:solidFill>
                <a:latin typeface="Aptos"/>
              </a:rPr>
              <a:t>REFERENCE</a:t>
            </a:r>
          </a:p>
        </p:txBody>
      </p:sp>
      <p:sp>
        <p:nvSpPr>
          <p:cNvPr id="29" name="Rectangle 28"/>
          <p:cNvSpPr/>
          <p:nvPr/>
        </p:nvSpPr>
        <p:spPr>
          <a:xfrm>
            <a:off x="2414016" y="4636007"/>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340864" y="4471416"/>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P1</a:t>
            </a:r>
          </a:p>
        </p:txBody>
      </p:sp>
      <p:sp>
        <p:nvSpPr>
          <p:cNvPr id="32" name="Rectangle 31"/>
          <p:cNvSpPr/>
          <p:nvPr/>
        </p:nvSpPr>
        <p:spPr>
          <a:xfrm>
            <a:off x="2724912" y="42336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4069080"/>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P2</a:t>
            </a:r>
          </a:p>
        </p:txBody>
      </p:sp>
      <p:sp>
        <p:nvSpPr>
          <p:cNvPr id="35" name="Rectangle 34"/>
          <p:cNvSpPr/>
          <p:nvPr/>
        </p:nvSpPr>
        <p:spPr>
          <a:xfrm>
            <a:off x="3035808" y="4535424"/>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62656" y="4370832"/>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P3</a:t>
            </a:r>
          </a:p>
        </p:txBody>
      </p:sp>
      <p:sp>
        <p:nvSpPr>
          <p:cNvPr id="38" name="Rectangle 37"/>
          <p:cNvSpPr/>
          <p:nvPr/>
        </p:nvSpPr>
        <p:spPr>
          <a:xfrm>
            <a:off x="3346704" y="4334255"/>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73552" y="4169663"/>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212080"/>
            <a:ext cx="2578608" cy="219456"/>
          </a:xfrm>
          <a:prstGeom prst="rect">
            <a:avLst/>
          </a:prstGeom>
          <a:noFill/>
        </p:spPr>
        <p:txBody>
          <a:bodyPr wrap="square" lIns="27432" rIns="27432" tIns="27432" bIns="27432" anchor="t">
            <a:spAutoFit/>
          </a:bodyPr>
          <a:lstStyle/>
          <a:p>
            <a:pPr algn="ctr">
              <a:spcBef>
                <a:spcPts val="0"/>
              </a:spcBef>
              <a:spcAft>
                <a:spcPts val="0"/>
              </a:spcAft>
            </a:pPr>
            <a:r>
              <a:rPr sz="1050" b="1">
                <a:solidFill>
                  <a:srgbClr val="52627A"/>
                </a:solidFill>
                <a:latin typeface="Aptos"/>
              </a:rPr>
              <a:t>reference ATAC count profiles</a:t>
            </a:r>
          </a:p>
        </p:txBody>
      </p:sp>
      <p:sp>
        <p:nvSpPr>
          <p:cNvPr id="43" name="TextBox 42"/>
          <p:cNvSpPr txBox="1"/>
          <p:nvPr/>
        </p:nvSpPr>
        <p:spPr>
          <a:xfrm>
            <a:off x="3611880" y="3099816"/>
            <a:ext cx="329184" cy="475488"/>
          </a:xfrm>
          <a:prstGeom prst="rect">
            <a:avLst/>
          </a:prstGeom>
          <a:noFill/>
        </p:spPr>
        <p:txBody>
          <a:bodyPr wrap="square" lIns="27432" rIns="27432" t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7680" y="2084831"/>
            <a:ext cx="2359152" cy="256032"/>
          </a:xfrm>
          <a:prstGeom prst="rect">
            <a:avLst/>
          </a:prstGeom>
          <a:noFill/>
        </p:spPr>
        <p:txBody>
          <a:bodyPr wrap="square" lIns="27432" rIns="27432" t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rIns="27432" t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535424" y="3529584"/>
            <a:ext cx="310896" cy="87782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62272" y="3364992"/>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P1</a:t>
            </a:r>
          </a:p>
        </p:txBody>
      </p:sp>
      <p:sp>
        <p:nvSpPr>
          <p:cNvPr id="51" name="Rectangle 50"/>
          <p:cNvSpPr/>
          <p:nvPr/>
        </p:nvSpPr>
        <p:spPr>
          <a:xfrm>
            <a:off x="5047488" y="3968496"/>
            <a:ext cx="310896" cy="438912"/>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74336" y="3803904"/>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P2</a:t>
            </a:r>
          </a:p>
        </p:txBody>
      </p:sp>
      <p:sp>
        <p:nvSpPr>
          <p:cNvPr id="54" name="Rectangle 53"/>
          <p:cNvSpPr/>
          <p:nvPr/>
        </p:nvSpPr>
        <p:spPr>
          <a:xfrm>
            <a:off x="5559552" y="3639312"/>
            <a:ext cx="310896" cy="76809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486400" y="3474720"/>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P3</a:t>
            </a:r>
          </a:p>
        </p:txBody>
      </p:sp>
      <p:sp>
        <p:nvSpPr>
          <p:cNvPr id="57" name="Rectangle 56"/>
          <p:cNvSpPr/>
          <p:nvPr/>
        </p:nvSpPr>
        <p:spPr>
          <a:xfrm>
            <a:off x="6071616" y="3858768"/>
            <a:ext cx="310896" cy="54864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98464" y="3694176"/>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square" lIns="27432" rIns="27432" tIns="27432" bIns="27432" anchor="t">
            <a:spAutoFit/>
          </a:bodyPr>
          <a:lstStyle/>
          <a:p>
            <a:pPr algn="ctr">
              <a:spcBef>
                <a:spcPts val="0"/>
              </a:spcBef>
              <a:spcAft>
                <a:spcPts val="0"/>
              </a:spcAft>
            </a:pPr>
            <a:r>
              <a:rPr sz="869" b="0">
                <a:solidFill>
                  <a:srgbClr val="52627A"/>
                </a:solidFill>
                <a:latin typeface="Aptos"/>
              </a:rPr>
              <a:t>same four peaks • same count scale</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39912" y="2112264"/>
            <a:ext cx="2834640" cy="310896"/>
          </a:xfrm>
          <a:prstGeom prst="rect">
            <a:avLst/>
          </a:prstGeom>
          <a:noFill/>
        </p:spPr>
        <p:txBody>
          <a:bodyPr wrap="square" lIns="27432" rIns="27432" t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rIns="27432" t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40496" y="3072384"/>
            <a:ext cx="1975104" cy="530352"/>
          </a:xfrm>
          <a:prstGeom prst="rect">
            <a:avLst/>
          </a:prstGeom>
          <a:noFill/>
        </p:spPr>
        <p:txBody>
          <a:bodyPr wrap="square" lIns="0" rIns="0" t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42248" y="3831335"/>
            <a:ext cx="1298448" cy="256032"/>
          </a:xfrm>
          <a:prstGeom prst="rect">
            <a:avLst/>
          </a:prstGeom>
          <a:noFill/>
        </p:spPr>
        <p:txBody>
          <a:bodyPr wrap="square" lIns="27432" rIns="27432" t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rIns="27432" t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842248" y="4288536"/>
            <a:ext cx="1298448" cy="256032"/>
          </a:xfrm>
          <a:prstGeom prst="rect">
            <a:avLst/>
          </a:prstGeom>
          <a:noFill/>
        </p:spPr>
        <p:txBody>
          <a:bodyPr wrap="square" lIns="27432" rIns="27432" t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rIns="27432" t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950" b="1">
                <a:solidFill>
                  <a:srgbClr val="FFFFFF"/>
                </a:solidFill>
                <a:latin typeface="Aptos"/>
              </a:rPr>
              <a:t>THE BAYESIAN MODEL FINDS THE T/B WEIGHTS THAT BEST REPRESENT THE OBSERVED ATAC PEAK COUNTS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01952"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14016"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2468880"/>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89888"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1952"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14016"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26080" y="3008376"/>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89888"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01952"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14016"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6080" y="3547872"/>
            <a:ext cx="402336" cy="256032"/>
          </a:xfrm>
          <a:prstGeom prst="rect">
            <a:avLst/>
          </a:prstGeom>
          <a:noFill/>
        </p:spPr>
        <p:txBody>
          <a:bodyPr wrap="square" lIns="36576" rIns="36576" t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rIns="36576" t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18888"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21807"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24727"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27648" y="4169663"/>
            <a:ext cx="438912" cy="201168"/>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rIns="36576" t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87968" y="2752344"/>
            <a:ext cx="1078992"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966960" y="2752344"/>
            <a:ext cx="647395"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14355" y="2752344"/>
            <a:ext cx="431596" cy="493776"/>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17152" y="3520440"/>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217152" y="3959352"/>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217152" y="4398264"/>
            <a:ext cx="1005840" cy="265176"/>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rIns="36576" t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7007"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5"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3104" y="3099816"/>
            <a:ext cx="2350008" cy="347472"/>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rIns="36576" t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rIns="36576" t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rIns="36576" t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rIns="36576" t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892807"/>
            <a:ext cx="182880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37376" y="1892807"/>
            <a:ext cx="182880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554480" y="4937760"/>
            <a:ext cx="4297680"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rIns="36576" t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rIns="36576" t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523744"/>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474720"/>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425696"/>
            <a:ext cx="475488" cy="365760"/>
          </a:xfrm>
          <a:prstGeom prst="rect">
            <a:avLst/>
          </a:prstGeom>
          <a:noFill/>
        </p:spPr>
        <p:txBody>
          <a:bodyPr wrap="square" lIns="36576" rIns="36576" t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rIns="36576" t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rIns="36576" t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24144" y="3986784"/>
            <a:ext cx="603504" cy="21031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rIns="36576" t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rIns="36576" t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rIns="36576" t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rIns="36576" t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rIns="36576" t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rIns="36576" t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rIns="36576" t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rIns="36576" t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42448" y="2624328"/>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42448" y="3392424"/>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42448" y="4160520"/>
            <a:ext cx="621792" cy="246888"/>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rIns="36576" t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rIns="36576" t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4919472"/>
            <a:ext cx="4416552" cy="283464"/>
          </a:xfrm>
          <a:prstGeom prst="rect">
            <a:avLst/>
          </a:prstGeom>
          <a:noFill/>
        </p:spPr>
        <p:txBody>
          <a:bodyPr wrap="square" lIns="36576" rIns="36576" t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rIns="36576" t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3904487"/>
            <a:ext cx="208026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5420" y="3904487"/>
            <a:ext cx="89154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60" y="3904487"/>
            <a:ext cx="594360" cy="54864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0528" y="4919472"/>
            <a:ext cx="4608576" cy="283464"/>
          </a:xfrm>
          <a:prstGeom prst="rect">
            <a:avLst/>
          </a:prstGeom>
          <a:noFill/>
        </p:spPr>
        <p:txBody>
          <a:bodyPr wrap="square" lIns="36576" rIns="36576" t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rIns="36576" t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rIns="36576" t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83664"/>
            <a:ext cx="1618488" cy="347472"/>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rIns="36576" t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rIns="36576" t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47872"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69864"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91856"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13848" y="4014215"/>
            <a:ext cx="731520" cy="55778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rIns="36576" t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rIns="36576" t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87168" y="6025896"/>
            <a:ext cx="7232904" cy="292608"/>
          </a:xfrm>
          <a:prstGeom prst="rect">
            <a:avLst/>
          </a:prstGeom>
          <a:noFill/>
        </p:spPr>
        <p:txBody>
          <a:bodyPr wrap="square" lIns="36576" rIns="36576" t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85032"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74536"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42632" y="3099816"/>
            <a:ext cx="640080" cy="502920"/>
          </a:xfrm>
          <a:prstGeom prst="rect">
            <a:avLst/>
          </a:prstGeom>
          <a:noFill/>
        </p:spPr>
        <p:txBody>
          <a:bodyPr wrap="square" lIns="36576" rIns="36576" t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64040" y="1600200"/>
            <a:ext cx="530352" cy="420624"/>
          </a:xfrm>
          <a:prstGeom prst="rect">
            <a:avLst/>
          </a:prstGeom>
          <a:noFill/>
        </p:spPr>
        <p:txBody>
          <a:bodyPr wrap="square" lIns="36576" rIns="36576" t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0" y="2606039"/>
            <a:ext cx="859535" cy="475488"/>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52176" y="2606039"/>
            <a:ext cx="515721" cy="475488"/>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509760" y="3675887"/>
            <a:ext cx="2121408" cy="384048"/>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rIns="36576" t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56231"/>
            <a:ext cx="2377440" cy="310896"/>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2468879"/>
            <a:ext cx="1600200" cy="45720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2468879"/>
            <a:ext cx="685800" cy="457200"/>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3090672"/>
            <a:ext cx="1188720" cy="219456"/>
          </a:xfrm>
          <a:prstGeom prst="rect">
            <a:avLst/>
          </a:prstGeom>
          <a:noFill/>
        </p:spPr>
        <p:txBody>
          <a:bodyPr wrap="square" lIns="36576" rIns="36576" t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rIns="36576" t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rIns="18288" t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05656" y="1856231"/>
            <a:ext cx="2862072" cy="310896"/>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10912" y="4462272"/>
            <a:ext cx="1042415" cy="384048"/>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54696" y="1856231"/>
            <a:ext cx="3364992" cy="310896"/>
          </a:xfrm>
          <a:prstGeom prst="rect">
            <a:avLst/>
          </a:prstGeom>
          <a:noFill/>
        </p:spPr>
        <p:txBody>
          <a:bodyPr wrap="square" lIns="36576" rIns="36576" t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25128" y="3822191"/>
            <a:ext cx="1024128" cy="384048"/>
          </a:xfrm>
          <a:prstGeom prst="rect">
            <a:avLst/>
          </a:prstGeom>
          <a:noFill/>
        </p:spPr>
        <p:txBody>
          <a:bodyPr wrap="square" lIns="36576" rIns="36576" t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5" name="TextBox 4"/>
          <p:cNvSpPr txBox="1"/>
          <p:nvPr/>
        </p:nvSpPr>
        <p:spPr>
          <a:xfrm>
            <a:off x="658368" y="1042415"/>
            <a:ext cx="10835640" cy="402336"/>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04104"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8" y="1847088"/>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00200"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04104"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246120"/>
            <a:ext cx="2286000" cy="365760"/>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rIns="36576" t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4" y="4965192"/>
            <a:ext cx="2779776" cy="329184"/>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rIns="36576" t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rIns="36576" t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40280"/>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072384"/>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04488"/>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736592"/>
            <a:ext cx="1664208" cy="246888"/>
          </a:xfrm>
          <a:prstGeom prst="rect">
            <a:avLst/>
          </a:prstGeom>
          <a:noFill/>
        </p:spPr>
        <p:txBody>
          <a:bodyPr wrap="square" lIns="36576" rIns="36576" t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 y="5660136"/>
            <a:ext cx="10259568" cy="292608"/>
          </a:xfrm>
          <a:prstGeom prst="rect">
            <a:avLst/>
          </a:prstGeom>
          <a:noFill/>
        </p:spPr>
        <p:txBody>
          <a:bodyPr wrap="square" lIns="36576" rIns="36576" t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5029200" cy="347472"/>
          </a:xfrm>
          <a:prstGeom prst="rect">
            <a:avLst/>
          </a:prstGeom>
          <a:noFill/>
        </p:spPr>
        <p:txBody>
          <a:bodyPr wrap="square" lIns="36576" rIns="36576" t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29968" y="2670048"/>
            <a:ext cx="179222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22191" y="2670048"/>
            <a:ext cx="107533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7526" y="2670048"/>
            <a:ext cx="716889"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3593592"/>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29968" y="3529584"/>
            <a:ext cx="1648846"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8814" y="3529584"/>
            <a:ext cx="1218712"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97526" y="3529584"/>
            <a:ext cx="716889"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rIns="36576" t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29968" y="4389120"/>
            <a:ext cx="1003645"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33613" y="4389120"/>
            <a:ext cx="1505468"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9081" y="4389120"/>
            <a:ext cx="1075334" cy="438912"/>
          </a:xfrm>
          <a:prstGeom prst="rect">
            <a:avLst/>
          </a:prstGeom>
          <a:noFill/>
        </p:spPr>
        <p:txBody>
          <a:bodyPr wrap="square" lIns="36576" rIns="36576" t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1051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2783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5152" y="5294376"/>
            <a:ext cx="1005840" cy="228600"/>
          </a:xfrm>
          <a:prstGeom prst="rect">
            <a:avLst/>
          </a:prstGeom>
          <a:noFill/>
        </p:spPr>
        <p:txBody>
          <a:bodyPr wrap="square" lIns="36576" rIns="36576" t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rIns="36576" t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F4B942"/>
                </a:solidFill>
                <a:latin typeface="Aptos"/>
              </a:rPr>
              <a:t>INTERPRETING THE STUDY</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FFFFFF"/>
                </a:solidFill>
                <a:latin typeface="Aptos Display"/>
              </a:rPr>
              <a:t>Every possible outcome teaches us something</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D7E2EE"/>
                </a:solidFill>
                <a:latin typeface="Aptos"/>
              </a:rPr>
              <a:t>18</a:t>
            </a:r>
          </a:p>
        </p:txBody>
      </p:sp>
      <p:sp>
        <p:nvSpPr>
          <p:cNvPr id="5" name="Rounded Rectangle 4"/>
          <p:cNvSpPr/>
          <p:nvPr/>
        </p:nvSpPr>
        <p:spPr>
          <a:xfrm>
            <a:off x="667512" y="1435608"/>
            <a:ext cx="3456432" cy="4270248"/>
          </a:xfrm>
          <a:prstGeom prst="roundRect">
            <a:avLst/>
          </a:prstGeom>
          <a:solidFill>
            <a:srgbClr val="1C3152"/>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47672" y="1764792"/>
            <a:ext cx="896112" cy="896112"/>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47672"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8" name="TextBox 7"/>
          <p:cNvSpPr txBox="1"/>
          <p:nvPr/>
        </p:nvSpPr>
        <p:spPr>
          <a:xfrm>
            <a:off x="969264"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SHAPE HELPS</a:t>
            </a:r>
          </a:p>
        </p:txBody>
      </p:sp>
      <p:sp>
        <p:nvSpPr>
          <p:cNvPr id="9" name="Rounded Rectangle 8"/>
          <p:cNvSpPr/>
          <p:nvPr/>
        </p:nvSpPr>
        <p:spPr>
          <a:xfrm>
            <a:off x="1636776" y="3383280"/>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LOWER ERROR</a:t>
            </a:r>
          </a:p>
        </p:txBody>
      </p:sp>
      <p:sp>
        <p:nvSpPr>
          <p:cNvPr id="10" name="TextBox 9"/>
          <p:cNvSpPr txBox="1"/>
          <p:nvPr/>
        </p:nvSpPr>
        <p:spPr>
          <a:xfrm>
            <a:off x="1051560"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Fragment length adds cell-type information beyond peak totals.</a:t>
            </a:r>
          </a:p>
        </p:txBody>
      </p:sp>
      <p:sp>
        <p:nvSpPr>
          <p:cNvPr id="11" name="Rounded Rectangle 10"/>
          <p:cNvSpPr/>
          <p:nvPr/>
        </p:nvSpPr>
        <p:spPr>
          <a:xfrm>
            <a:off x="4480560" y="1435608"/>
            <a:ext cx="3456432" cy="4270248"/>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760720" y="1764792"/>
            <a:ext cx="896112" cy="89611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0"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14" name="TextBox 13"/>
          <p:cNvSpPr txBox="1"/>
          <p:nvPr/>
        </p:nvSpPr>
        <p:spPr>
          <a:xfrm>
            <a:off x="4782312"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ABOUT THE SAME</a:t>
            </a:r>
          </a:p>
        </p:txBody>
      </p:sp>
      <p:sp>
        <p:nvSpPr>
          <p:cNvPr id="15" name="Rounded Rectangle 14"/>
          <p:cNvSpPr/>
          <p:nvPr/>
        </p:nvSpPr>
        <p:spPr>
          <a:xfrm>
            <a:off x="5449824" y="338328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SIMILAR ERROR</a:t>
            </a:r>
          </a:p>
        </p:txBody>
      </p:sp>
      <p:sp>
        <p:nvSpPr>
          <p:cNvPr id="16" name="TextBox 15"/>
          <p:cNvSpPr txBox="1"/>
          <p:nvPr/>
        </p:nvSpPr>
        <p:spPr>
          <a:xfrm>
            <a:off x="4864608"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The extra clue may be too weak or redundant in this setting.</a:t>
            </a:r>
          </a:p>
        </p:txBody>
      </p:sp>
      <p:sp>
        <p:nvSpPr>
          <p:cNvPr id="17" name="Rounded Rectangle 16"/>
          <p:cNvSpPr/>
          <p:nvPr/>
        </p:nvSpPr>
        <p:spPr>
          <a:xfrm>
            <a:off x="8293608" y="1435608"/>
            <a:ext cx="3456432" cy="4270248"/>
          </a:xfrm>
          <a:prstGeom prst="roundRect">
            <a:avLst/>
          </a:prstGeom>
          <a:solidFill>
            <a:srgbClr val="1C3152"/>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573768" y="1764792"/>
            <a:ext cx="896112" cy="896112"/>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73768" y="1773936"/>
            <a:ext cx="896112" cy="731520"/>
          </a:xfrm>
          <a:prstGeom prst="rect">
            <a:avLst/>
          </a:prstGeom>
          <a:noFill/>
        </p:spPr>
        <p:txBody>
          <a:bodyPr wrap="square" lIns="36576" rIns="36576" tIns="36576" bIns="36576" anchor="ctr">
            <a:spAutoFit/>
          </a:bodyPr>
          <a:lstStyle/>
          <a:p>
            <a:pPr algn="ctr">
              <a:spcBef>
                <a:spcPts val="0"/>
              </a:spcBef>
              <a:spcAft>
                <a:spcPts val="0"/>
              </a:spcAft>
            </a:pPr>
            <a:r>
              <a:rPr sz="3400" b="1" i="0">
                <a:solidFill>
                  <a:srgbClr val="FFFFFF"/>
                </a:solidFill>
                <a:latin typeface="Aptos"/>
              </a:rPr>
              <a:t>↑</a:t>
            </a:r>
          </a:p>
        </p:txBody>
      </p:sp>
      <p:sp>
        <p:nvSpPr>
          <p:cNvPr id="20" name="TextBox 19"/>
          <p:cNvSpPr txBox="1"/>
          <p:nvPr/>
        </p:nvSpPr>
        <p:spPr>
          <a:xfrm>
            <a:off x="8595360" y="2852928"/>
            <a:ext cx="2834640" cy="347472"/>
          </a:xfrm>
          <a:prstGeom prst="rect">
            <a:avLst/>
          </a:prstGeom>
          <a:noFill/>
        </p:spPr>
        <p:txBody>
          <a:bodyPr wrap="square" lIns="36576" rIns="36576" tIns="36576" bIns="36576" anchor="t">
            <a:spAutoFit/>
          </a:bodyPr>
          <a:lstStyle/>
          <a:p>
            <a:pPr algn="ctr">
              <a:spcBef>
                <a:spcPts val="0"/>
              </a:spcBef>
              <a:spcAft>
                <a:spcPts val="0"/>
              </a:spcAft>
            </a:pPr>
            <a:r>
              <a:rPr sz="2000" b="1" i="0">
                <a:solidFill>
                  <a:srgbClr val="FFFFFF"/>
                </a:solidFill>
                <a:latin typeface="Aptos"/>
              </a:rPr>
              <a:t>SHAPE HURTS</a:t>
            </a:r>
          </a:p>
        </p:txBody>
      </p:sp>
      <p:sp>
        <p:nvSpPr>
          <p:cNvPr id="21" name="Rounded Rectangle 20"/>
          <p:cNvSpPr/>
          <p:nvPr/>
        </p:nvSpPr>
        <p:spPr>
          <a:xfrm>
            <a:off x="9262872" y="3383280"/>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HIGHER ERROR</a:t>
            </a:r>
          </a:p>
        </p:txBody>
      </p:sp>
      <p:sp>
        <p:nvSpPr>
          <p:cNvPr id="22" name="TextBox 21"/>
          <p:cNvSpPr txBox="1"/>
          <p:nvPr/>
        </p:nvSpPr>
        <p:spPr>
          <a:xfrm>
            <a:off x="8677656" y="4014215"/>
            <a:ext cx="2688336" cy="1005840"/>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D7E2EE"/>
                </a:solidFill>
                <a:latin typeface="Aptos"/>
              </a:rPr>
              <a:t>Noise, sparsity, or reference mismatch may outweigh the added detail.</a:t>
            </a:r>
          </a:p>
        </p:txBody>
      </p:sp>
      <p:sp>
        <p:nvSpPr>
          <p:cNvPr id="23" name="TextBox 22"/>
          <p:cNvSpPr txBox="1"/>
          <p:nvPr/>
        </p:nvSpPr>
        <p:spPr>
          <a:xfrm>
            <a:off x="1316736" y="6016752"/>
            <a:ext cx="9537192" cy="310896"/>
          </a:xfrm>
          <a:prstGeom prst="rect">
            <a:avLst/>
          </a:prstGeom>
          <a:noFill/>
        </p:spPr>
        <p:txBody>
          <a:bodyPr wrap="square" lIns="36576" rIns="36576" tIns="36576" bIns="36576" anchor="t">
            <a:spAutoFit/>
          </a:bodyPr>
          <a:lstStyle/>
          <a:p>
            <a:pPr algn="ctr">
              <a:spcBef>
                <a:spcPts val="0"/>
              </a:spcBef>
              <a:spcAft>
                <a:spcPts val="0"/>
              </a:spcAft>
            </a:pPr>
            <a:r>
              <a:rPr sz="1800" b="1" i="0">
                <a:solidFill>
                  <a:srgbClr val="FFFFFF"/>
                </a:solidFill>
                <a:latin typeface="Aptos"/>
              </a:rPr>
              <a:t>A negative result is still a real result: it sets a boundary on when added complexity is useful.</a:t>
            </a:r>
          </a:p>
        </p:txBody>
      </p:sp>
      <p:cxnSp>
        <p:nvCxnSpPr>
          <p:cNvPr id="24" name="Connector 23"/>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Outcome cards describe interpretations only; they do not report study results.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SCIENTIFIC CAUTION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Known risks—and how the design handles them</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19</a:t>
            </a:r>
          </a:p>
        </p:txBody>
      </p:sp>
      <p:sp>
        <p:nvSpPr>
          <p:cNvPr id="5" name="Rounded Rectangle 4"/>
          <p:cNvSpPr/>
          <p:nvPr/>
        </p:nvSpPr>
        <p:spPr>
          <a:xfrm>
            <a:off x="713232" y="1399032"/>
            <a:ext cx="5230368" cy="1883664"/>
          </a:xfrm>
          <a:prstGeom prst="roundRect">
            <a:avLst/>
          </a:prstGeom>
          <a:solidFill>
            <a:srgbClr val="F4F7FA"/>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41832" y="1627632"/>
            <a:ext cx="676656"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7" name="TextBox 6"/>
          <p:cNvSpPr txBox="1"/>
          <p:nvPr/>
        </p:nvSpPr>
        <p:spPr>
          <a:xfrm>
            <a:off x="1783080" y="1563624"/>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Sparse shape counts</a:t>
            </a:r>
          </a:p>
        </p:txBody>
      </p:sp>
      <p:cxnSp>
        <p:nvCxnSpPr>
          <p:cNvPr id="8" name="Connector 7"/>
          <p:cNvCxnSpPr/>
          <p:nvPr/>
        </p:nvCxnSpPr>
        <p:spPr>
          <a:xfrm>
            <a:off x="960120"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41832"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10" name="TextBox 9"/>
          <p:cNvSpPr txBox="1"/>
          <p:nvPr/>
        </p:nvSpPr>
        <p:spPr>
          <a:xfrm>
            <a:off x="2084832" y="2276856"/>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Use only three broad length bins and well-covered peaks.</a:t>
            </a:r>
          </a:p>
        </p:txBody>
      </p:sp>
      <p:sp>
        <p:nvSpPr>
          <p:cNvPr id="11" name="Rounded Rectangle 10"/>
          <p:cNvSpPr/>
          <p:nvPr/>
        </p:nvSpPr>
        <p:spPr>
          <a:xfrm>
            <a:off x="6272784" y="1399032"/>
            <a:ext cx="5230368" cy="1883664"/>
          </a:xfrm>
          <a:prstGeom prst="roundRect">
            <a:avLst/>
          </a:prstGeom>
          <a:solidFill>
            <a:srgbClr val="F4F7FA"/>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1384" y="1627632"/>
            <a:ext cx="676656" cy="30175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13" name="TextBox 12"/>
          <p:cNvSpPr txBox="1"/>
          <p:nvPr/>
        </p:nvSpPr>
        <p:spPr>
          <a:xfrm>
            <a:off x="7342632" y="1563624"/>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One main donor</a:t>
            </a:r>
          </a:p>
        </p:txBody>
      </p:sp>
      <p:cxnSp>
        <p:nvCxnSpPr>
          <p:cNvPr id="14" name="Connector 13"/>
          <p:cNvCxnSpPr/>
          <p:nvPr/>
        </p:nvCxnSpPr>
        <p:spPr>
          <a:xfrm>
            <a:off x="6519672" y="2112264"/>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501384" y="2340864"/>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16" name="TextBox 15"/>
          <p:cNvSpPr txBox="1"/>
          <p:nvPr/>
        </p:nvSpPr>
        <p:spPr>
          <a:xfrm>
            <a:off x="7644383" y="2276856"/>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Limit claims; add multi-donor data before generalizing.</a:t>
            </a:r>
          </a:p>
        </p:txBody>
      </p:sp>
      <p:sp>
        <p:nvSpPr>
          <p:cNvPr id="17" name="Rounded Rectangle 16"/>
          <p:cNvSpPr/>
          <p:nvPr/>
        </p:nvSpPr>
        <p:spPr>
          <a:xfrm>
            <a:off x="713232" y="3648456"/>
            <a:ext cx="5230368" cy="1883664"/>
          </a:xfrm>
          <a:prstGeom prst="roundRect">
            <a:avLst/>
          </a:prstGeom>
          <a:solidFill>
            <a:srgbClr val="F4F7F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41832" y="3877056"/>
            <a:ext cx="676656"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19" name="TextBox 18"/>
          <p:cNvSpPr txBox="1"/>
          <p:nvPr/>
        </p:nvSpPr>
        <p:spPr>
          <a:xfrm>
            <a:off x="1783080" y="3813048"/>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Reference ≠ spatial assay</a:t>
            </a:r>
          </a:p>
        </p:txBody>
      </p:sp>
      <p:cxnSp>
        <p:nvCxnSpPr>
          <p:cNvPr id="20" name="Connector 19"/>
          <p:cNvCxnSpPr/>
          <p:nvPr/>
        </p:nvCxnSpPr>
        <p:spPr>
          <a:xfrm>
            <a:off x="960120"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41832"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22" name="TextBox 21"/>
          <p:cNvSpPr txBox="1"/>
          <p:nvPr/>
        </p:nvSpPr>
        <p:spPr>
          <a:xfrm>
            <a:off x="2084832" y="4526280"/>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Audit protocol differences and treat real tissue as qualitative validation.</a:t>
            </a:r>
          </a:p>
        </p:txBody>
      </p:sp>
      <p:sp>
        <p:nvSpPr>
          <p:cNvPr id="23" name="Rounded Rectangle 22"/>
          <p:cNvSpPr/>
          <p:nvPr/>
        </p:nvSpPr>
        <p:spPr>
          <a:xfrm>
            <a:off x="6272784" y="3648456"/>
            <a:ext cx="5230368" cy="1883664"/>
          </a:xfrm>
          <a:prstGeom prst="roundRect">
            <a:avLst/>
          </a:prstGeom>
          <a:solidFill>
            <a:srgbClr val="F4F7FA"/>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01384" y="3877056"/>
            <a:ext cx="676656"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RISK</a:t>
            </a:r>
          </a:p>
        </p:txBody>
      </p:sp>
      <p:sp>
        <p:nvSpPr>
          <p:cNvPr id="25" name="TextBox 24"/>
          <p:cNvSpPr txBox="1"/>
          <p:nvPr/>
        </p:nvSpPr>
        <p:spPr>
          <a:xfrm>
            <a:off x="7342632" y="3813048"/>
            <a:ext cx="3785615" cy="384048"/>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13233B"/>
                </a:solidFill>
                <a:latin typeface="Aptos"/>
              </a:rPr>
              <a:t>More complexity can overfit</a:t>
            </a:r>
          </a:p>
        </p:txBody>
      </p:sp>
      <p:cxnSp>
        <p:nvCxnSpPr>
          <p:cNvPr id="26" name="Connector 25"/>
          <p:cNvCxnSpPr/>
          <p:nvPr/>
        </p:nvCxnSpPr>
        <p:spPr>
          <a:xfrm>
            <a:off x="6519672" y="4361688"/>
            <a:ext cx="4718304"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501384" y="4590288"/>
            <a:ext cx="987552"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50" b="1">
                <a:solidFill>
                  <a:srgbClr val="FFFFFF"/>
                </a:solidFill>
                <a:latin typeface="Aptos"/>
              </a:rPr>
              <a:t>SAFEGUARD</a:t>
            </a:r>
          </a:p>
        </p:txBody>
      </p:sp>
      <p:sp>
        <p:nvSpPr>
          <p:cNvPr id="28" name="TextBox 27"/>
          <p:cNvSpPr txBox="1"/>
          <p:nvPr/>
        </p:nvSpPr>
        <p:spPr>
          <a:xfrm>
            <a:off x="7644383" y="4526280"/>
            <a:ext cx="3493008" cy="640080"/>
          </a:xfrm>
          <a:prstGeom prst="rect">
            <a:avLst/>
          </a:prstGeom>
          <a:noFill/>
        </p:spPr>
        <p:txBody>
          <a:bodyPr wrap="square" lIns="36576" rIns="36576" tIns="36576" bIns="36576" anchor="t">
            <a:spAutoFit/>
          </a:bodyPr>
          <a:lstStyle/>
          <a:p>
            <a:pPr algn="l">
              <a:spcBef>
                <a:spcPts val="0"/>
              </a:spcBef>
              <a:spcAft>
                <a:spcPts val="0"/>
              </a:spcAft>
            </a:pPr>
            <a:r>
              <a:rPr sz="1450" b="0" i="0">
                <a:solidFill>
                  <a:srgbClr val="213047"/>
                </a:solidFill>
                <a:latin typeface="Aptos"/>
              </a:rPr>
              <a:t>Use held-out cells and an exactly matched count-only baseline.</a:t>
            </a:r>
          </a:p>
        </p:txBody>
      </p:sp>
      <p:sp>
        <p:nvSpPr>
          <p:cNvPr id="29" name="Rounded Rectangle 28"/>
          <p:cNvSpPr/>
          <p:nvPr/>
        </p:nvSpPr>
        <p:spPr>
          <a:xfrm>
            <a:off x="3931920" y="6044184"/>
            <a:ext cx="4325112" cy="3657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50" b="1">
                <a:solidFill>
                  <a:srgbClr val="FFFFFF"/>
                </a:solidFill>
                <a:latin typeface="Aptos"/>
              </a:rPr>
              <a:t>Claims will match the strength of the evidence</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These limitations are part of the planned interpretation, not after-the-fact excuses.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18488"/>
            <a:ext cx="2468880" cy="384048"/>
          </a:xfrm>
          <a:prstGeom prst="rect">
            <a:avLst/>
          </a:prstGeom>
          <a:noFill/>
        </p:spPr>
        <p:txBody>
          <a:bodyPr wrap="square" lIns="36576" rIns="36576" t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rIns="36576" t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0"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13248"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6096"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38944" y="3337560"/>
            <a:ext cx="694944" cy="548640"/>
          </a:xfrm>
          <a:prstGeom prst="rect">
            <a:avLst/>
          </a:prstGeom>
          <a:noFill/>
        </p:spPr>
        <p:txBody>
          <a:bodyPr wrap="square" lIns="36576" rIns="36576" t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rIns="36576" t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rIns="36576" t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3233B"/>
        </a:solidFill>
        <a:effectLst/>
      </p:bgPr>
    </p:bg>
    <p:spTree>
      <p:nvGrpSpPr>
        <p:cNvPr id="1" name=""/>
        <p:cNvGrpSpPr/>
        <p:nvPr/>
      </p:nvGrpSpPr>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rIns="36576" t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rIns="36576" t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rIns="36576" t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161288"/>
            <a:ext cx="2194560" cy="1755648"/>
          </a:xfrm>
          <a:prstGeom prst="rect">
            <a:avLst/>
          </a:prstGeom>
          <a:noFill/>
        </p:spPr>
        <p:txBody>
          <a:bodyPr wrap="square" lIns="36576" rIns="36576" t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rIns="36576" t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rIns="36576" t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rIns="18288" t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rIns="36576" t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rIns="36576" t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0528" y="6080760"/>
            <a:ext cx="4800600" cy="182880"/>
          </a:xfrm>
          <a:prstGeom prst="rect">
            <a:avLst/>
          </a:prstGeom>
          <a:noFill/>
        </p:spPr>
        <p:txBody>
          <a:bodyPr wrap="square" lIns="36576" rIns="36576" t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rIns="36576" t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rIns="36576" t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21992" y="6044184"/>
            <a:ext cx="7744968" cy="274320"/>
          </a:xfrm>
          <a:prstGeom prst="rect">
            <a:avLst/>
          </a:prstGeom>
          <a:noFill/>
        </p:spPr>
        <p:txBody>
          <a:bodyPr wrap="square" lIns="36576" rIns="36576" t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rIns="36576" t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52627A"/>
                </a:solidFill>
                <a:latin typeface="Aptos"/>
              </a:rPr>
              <a:t>The same genomic regions line up from chromatin → fragments → counts.</a:t>
            </a:r>
          </a:p>
        </p:txBody>
      </p:sp>
      <p:sp>
        <p:nvSpPr>
          <p:cNvPr id="6" name="Rounded Rectangle 5"/>
          <p:cNvSpPr/>
          <p:nvPr/>
        </p:nvSpPr>
        <p:spPr>
          <a:xfrm>
            <a:off x="658368" y="1436522"/>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67512" y="2823667"/>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4390034"/>
            <a:ext cx="10890504" cy="1626717"/>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22168" y="1536192"/>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22168" y="2903220"/>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32120" y="1526133"/>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32120" y="2903220"/>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7072" y="1527962"/>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77072" y="2911449"/>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1609344"/>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p:nvPr/>
        </p:nvCxnSpPr>
        <p:spPr>
          <a:xfrm>
            <a:off x="2006193" y="2148840"/>
            <a:ext cx="9131199"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rot="1080000">
            <a:off x="4798588"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1080000">
            <a:off x="4920569"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1080000">
            <a:off x="5046756"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1080000">
            <a:off x="5168737"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rot="540000">
            <a:off x="4739700"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4773350"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7417"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rot="1080000">
            <a:off x="9729398"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rot="1080000">
            <a:off x="9855586"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rot="1080000">
            <a:off x="9977567"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rot="540000">
            <a:off x="9548530"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9582180"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356341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5485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368228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408828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17972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420715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898946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08090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910833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10290657"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382097"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10409529"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2762402"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Tn5</a:t>
            </a:r>
          </a:p>
        </p:txBody>
      </p:sp>
      <p:sp>
        <p:nvSpPr>
          <p:cNvPr id="71" name="TextBox 70"/>
          <p:cNvSpPr txBox="1"/>
          <p:nvPr/>
        </p:nvSpPr>
        <p:spPr>
          <a:xfrm>
            <a:off x="5811012" y="2414930"/>
            <a:ext cx="1755648"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8B5CF6"/>
                </a:solidFill>
                <a:latin typeface="Aptos"/>
              </a:rPr>
              <a:t>DNA wrapped around histones</a:t>
            </a:r>
          </a:p>
        </p:txBody>
      </p:sp>
      <p:sp>
        <p:nvSpPr>
          <p:cNvPr id="72" name="TextBox 71"/>
          <p:cNvSpPr txBox="1"/>
          <p:nvPr/>
        </p:nvSpPr>
        <p:spPr>
          <a:xfrm>
            <a:off x="3084271" y="2413101"/>
            <a:ext cx="1261872"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0C7F75"/>
                </a:solidFill>
                <a:latin typeface="Aptos"/>
              </a:rPr>
              <a:t>exposed linker DNA</a:t>
            </a:r>
          </a:p>
        </p:txBody>
      </p:sp>
      <p:sp>
        <p:nvSpPr>
          <p:cNvPr id="73" name="Oval 72"/>
          <p:cNvSpPr/>
          <p:nvPr/>
        </p:nvSpPr>
        <p:spPr>
          <a:xfrm>
            <a:off x="859536" y="2916936"/>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9536" y="2916936"/>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2</a:t>
            </a:r>
          </a:p>
        </p:txBody>
      </p:sp>
      <p:sp>
        <p:nvSpPr>
          <p:cNvPr id="75" name="TextBox 74"/>
          <p:cNvSpPr txBox="1"/>
          <p:nvPr/>
        </p:nvSpPr>
        <p:spPr>
          <a:xfrm>
            <a:off x="1307592" y="2925165"/>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F26B5B"/>
                </a:solidFill>
                <a:latin typeface="Aptos"/>
              </a:rPr>
              <a:t>FRAGMENTS</a:t>
            </a:r>
          </a:p>
        </p:txBody>
      </p:sp>
      <p:cxnSp>
        <p:nvCxnSpPr>
          <p:cNvPr id="76" name="Connector 75"/>
          <p:cNvCxnSpPr/>
          <p:nvPr/>
        </p:nvCxnSpPr>
        <p:spPr>
          <a:xfrm>
            <a:off x="3167481" y="3383280"/>
            <a:ext cx="576072"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167481"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633825"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3135477"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711549"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3694176" y="3552444"/>
            <a:ext cx="667512"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694176" y="3552444"/>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251959" y="3552444"/>
            <a:ext cx="109729"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3662172" y="3520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329683" y="3520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4283964" y="3378708"/>
            <a:ext cx="1353311"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52754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251959"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605271"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5728716" y="3858768"/>
            <a:ext cx="2029967"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728716"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7648956" y="3858768"/>
            <a:ext cx="109727"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5696712"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726679"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a:off x="7712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7712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956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7680960"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034272"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1" name="Connector 100"/>
          <p:cNvCxnSpPr/>
          <p:nvPr/>
        </p:nvCxnSpPr>
        <p:spPr>
          <a:xfrm>
            <a:off x="9058960" y="3573475"/>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9058960" y="3573475"/>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302544" y="3573475"/>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9026956" y="3541471"/>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380268" y="3541471"/>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9536" y="4553712"/>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761" y="5245912"/>
            <a:ext cx="1627632"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50" b="1">
                <a:solidFill>
                  <a:srgbClr val="FFFFFF"/>
                </a:solidFill>
                <a:latin typeface="Aptos"/>
              </a:rPr>
              <a:t>HEIGHT = COUNT    
COLOR = FRAGMENT  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4901184"/>
            <a:ext cx="2103120" cy="7955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532120" y="5084064"/>
            <a:ext cx="2377440" cy="61264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641080" y="5230368"/>
            <a:ext cx="2148840" cy="46634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788920" y="4700016"/>
            <a:ext cx="210312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5</a:t>
            </a:r>
          </a:p>
        </p:txBody>
      </p:sp>
      <p:sp>
        <p:nvSpPr>
          <p:cNvPr id="123" name="TextBox 122"/>
          <p:cNvSpPr txBox="1"/>
          <p:nvPr/>
        </p:nvSpPr>
        <p:spPr>
          <a:xfrm>
            <a:off x="5532120" y="4855464"/>
            <a:ext cx="23774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8641080" y="5010912"/>
            <a:ext cx="21488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3</a:t>
            </a:r>
          </a:p>
        </p:txBody>
      </p:sp>
      <p:sp>
        <p:nvSpPr>
          <p:cNvPr id="125" name="TextBox 124"/>
          <p:cNvSpPr txBox="1"/>
          <p:nvPr/>
        </p:nvSpPr>
        <p:spPr>
          <a:xfrm>
            <a:off x="2788920" y="5742432"/>
            <a:ext cx="210312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1</a:t>
            </a:r>
          </a:p>
        </p:txBody>
      </p:sp>
      <p:sp>
        <p:nvSpPr>
          <p:cNvPr id="126" name="TextBox 125"/>
          <p:cNvSpPr txBox="1"/>
          <p:nvPr/>
        </p:nvSpPr>
        <p:spPr>
          <a:xfrm>
            <a:off x="5532120" y="5742432"/>
            <a:ext cx="23774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2</a:t>
            </a:r>
          </a:p>
        </p:txBody>
      </p:sp>
      <p:sp>
        <p:nvSpPr>
          <p:cNvPr id="127" name="TextBox 126"/>
          <p:cNvSpPr txBox="1"/>
          <p:nvPr/>
        </p:nvSpPr>
        <p:spPr>
          <a:xfrm>
            <a:off x="8641080" y="5742432"/>
            <a:ext cx="21488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69" b="1">
                <a:solidFill>
                  <a:srgbClr val="FFFFFF"/>
                </a:solidFill>
                <a:latin typeface="Aptos"/>
              </a:rPr>
              <a:t>P1: 5   |   P2: 4   |   P3: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640080" y="1051560"/>
            <a:ext cx="10881360" cy="292608"/>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52627A"/>
                </a:solidFill>
                <a:latin typeface="Aptos"/>
              </a:rPr>
              <a:t>The same genomic regions line up from chromatin → fragments → counts.</a:t>
            </a:r>
          </a:p>
        </p:txBody>
      </p:sp>
      <p:sp>
        <p:nvSpPr>
          <p:cNvPr id="5" name="Rounded Rectangle 4"/>
          <p:cNvSpPr/>
          <p:nvPr/>
        </p:nvSpPr>
        <p:spPr>
          <a:xfrm>
            <a:off x="658368" y="1436522"/>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67512" y="2823667"/>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4390034"/>
            <a:ext cx="10890504" cy="1626717"/>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22168" y="1536192"/>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22168" y="2903220"/>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32120" y="1526133"/>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32120" y="2903220"/>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577072" y="1527962"/>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7072" y="2911449"/>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1609344"/>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1</a:t>
            </a:r>
          </a:p>
        </p:txBody>
      </p:sp>
      <p:sp>
        <p:nvSpPr>
          <p:cNvPr id="16" name="TextBox 15"/>
          <p:cNvSpPr txBox="1"/>
          <p:nvPr/>
        </p:nvSpPr>
        <p:spPr>
          <a:xfrm>
            <a:off x="1307592" y="1664208"/>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7" name="Connector 16"/>
          <p:cNvCxnSpPr/>
          <p:nvPr/>
        </p:nvCxnSpPr>
        <p:spPr>
          <a:xfrm>
            <a:off x="2006193" y="2148840"/>
            <a:ext cx="9131199"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rot="1080000">
            <a:off x="4798588"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080000">
            <a:off x="4920569"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1080000">
            <a:off x="5046756"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1080000">
            <a:off x="5168737"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rot="540000">
            <a:off x="4739700"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V="1">
            <a:off x="4773350"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rot="1080000">
            <a:off x="9607417"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rot="1080000">
            <a:off x="9729398"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rot="1080000">
            <a:off x="9855586"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rot="1080000">
            <a:off x="9977567"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rot="540000">
            <a:off x="9548530"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flipV="1">
            <a:off x="9582180"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356341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65485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368228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408828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17972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420715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898946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08090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910833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10290657"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382097"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Connector 67"/>
          <p:cNvCxnSpPr/>
          <p:nvPr/>
        </p:nvCxnSpPr>
        <p:spPr>
          <a:xfrm>
            <a:off x="10409529"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2762402"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Tn5</a:t>
            </a:r>
          </a:p>
        </p:txBody>
      </p:sp>
      <p:sp>
        <p:nvSpPr>
          <p:cNvPr id="70" name="TextBox 69"/>
          <p:cNvSpPr txBox="1"/>
          <p:nvPr/>
        </p:nvSpPr>
        <p:spPr>
          <a:xfrm>
            <a:off x="5811012" y="2414930"/>
            <a:ext cx="1755648"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8B5CF6"/>
                </a:solidFill>
                <a:latin typeface="Aptos"/>
              </a:rPr>
              <a:t>DNA wrapped around histones</a:t>
            </a:r>
          </a:p>
        </p:txBody>
      </p:sp>
      <p:sp>
        <p:nvSpPr>
          <p:cNvPr id="71" name="TextBox 70"/>
          <p:cNvSpPr txBox="1"/>
          <p:nvPr/>
        </p:nvSpPr>
        <p:spPr>
          <a:xfrm>
            <a:off x="3084271" y="2413101"/>
            <a:ext cx="1261872" cy="164592"/>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0C7F75"/>
                </a:solidFill>
                <a:latin typeface="Aptos"/>
              </a:rPr>
              <a:t>exposed linker DNA</a:t>
            </a:r>
          </a:p>
        </p:txBody>
      </p:sp>
      <p:sp>
        <p:nvSpPr>
          <p:cNvPr id="72" name="Oval 71"/>
          <p:cNvSpPr/>
          <p:nvPr/>
        </p:nvSpPr>
        <p:spPr>
          <a:xfrm>
            <a:off x="859536" y="2916936"/>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9536" y="2916936"/>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2</a:t>
            </a:r>
          </a:p>
        </p:txBody>
      </p:sp>
      <p:sp>
        <p:nvSpPr>
          <p:cNvPr id="74" name="TextBox 73"/>
          <p:cNvSpPr txBox="1"/>
          <p:nvPr/>
        </p:nvSpPr>
        <p:spPr>
          <a:xfrm>
            <a:off x="1307592" y="2925165"/>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F26B5B"/>
                </a:solidFill>
                <a:latin typeface="Aptos"/>
              </a:rPr>
              <a:t>FRAGMENTS</a:t>
            </a:r>
          </a:p>
        </p:txBody>
      </p:sp>
      <p:sp>
        <p:nvSpPr>
          <p:cNvPr id="75" name="Rounded Rectangle 74"/>
          <p:cNvSpPr/>
          <p:nvPr/>
        </p:nvSpPr>
        <p:spPr>
          <a:xfrm>
            <a:off x="833932" y="3342132"/>
            <a:ext cx="1671523"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00" b="1">
                <a:solidFill>
                  <a:srgbClr val="FFFFFF"/>
                </a:solidFill>
                <a:latin typeface="Aptos"/>
              </a:rPr>
              <a:t>SHORT • OPEN DNA</a:t>
            </a:r>
          </a:p>
        </p:txBody>
      </p:sp>
      <p:sp>
        <p:nvSpPr>
          <p:cNvPr id="76" name="Rounded Rectangle 75"/>
          <p:cNvSpPr/>
          <p:nvPr/>
        </p:nvSpPr>
        <p:spPr>
          <a:xfrm>
            <a:off x="833932" y="3644798"/>
            <a:ext cx="167152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30" b="1">
                <a:solidFill>
                  <a:srgbClr val="13233B"/>
                </a:solidFill>
                <a:latin typeface="Aptos"/>
              </a:rPr>
              <a:t>MEDIUM • SPANS 1 NUCLEOSOME</a:t>
            </a:r>
          </a:p>
        </p:txBody>
      </p:sp>
      <p:sp>
        <p:nvSpPr>
          <p:cNvPr id="77" name="Rounded Rectangle 76"/>
          <p:cNvSpPr/>
          <p:nvPr/>
        </p:nvSpPr>
        <p:spPr>
          <a:xfrm>
            <a:off x="833932" y="3932834"/>
            <a:ext cx="1671523"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30" b="1">
                <a:solidFill>
                  <a:srgbClr val="FFFFFF"/>
                </a:solidFill>
                <a:latin typeface="Aptos"/>
              </a:rPr>
              <a:t>LONG • SPANS 2 NUCLEOSOMES</a:t>
            </a:r>
          </a:p>
        </p:txBody>
      </p:sp>
      <p:cxnSp>
        <p:nvCxnSpPr>
          <p:cNvPr id="78" name="Connector 77"/>
          <p:cNvCxnSpPr/>
          <p:nvPr/>
        </p:nvCxnSpPr>
        <p:spPr>
          <a:xfrm>
            <a:off x="3167481" y="3383280"/>
            <a:ext cx="576072"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167481"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633825"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3135477"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711549"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Connector 82"/>
          <p:cNvCxnSpPr/>
          <p:nvPr/>
        </p:nvCxnSpPr>
        <p:spPr>
          <a:xfrm>
            <a:off x="3694176" y="3552444"/>
            <a:ext cx="667512"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3694176" y="3552444"/>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251959" y="3552444"/>
            <a:ext cx="109729"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3662172" y="3520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329683" y="3520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4283964" y="3378708"/>
            <a:ext cx="1353311"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52754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4251959"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5605271"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5728716" y="3858768"/>
            <a:ext cx="2029967"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728716"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648956" y="3858768"/>
            <a:ext cx="109727"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6" name="Oval 95"/>
          <p:cNvSpPr/>
          <p:nvPr/>
        </p:nvSpPr>
        <p:spPr>
          <a:xfrm>
            <a:off x="5696712"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726679"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8" name="Connector 97"/>
          <p:cNvCxnSpPr/>
          <p:nvPr/>
        </p:nvCxnSpPr>
        <p:spPr>
          <a:xfrm>
            <a:off x="7712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712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956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7680960"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034272" y="334670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9058960" y="3573475"/>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058960" y="3573475"/>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302544" y="3573475"/>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9026956" y="3541471"/>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10380268" y="3541471"/>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59536" y="4553712"/>
            <a:ext cx="347472" cy="310896"/>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3</a:t>
            </a:r>
          </a:p>
        </p:txBody>
      </p:sp>
      <p:sp>
        <p:nvSpPr>
          <p:cNvPr id="110" name="TextBox 109"/>
          <p:cNvSpPr txBox="1"/>
          <p:nvPr/>
        </p:nvSpPr>
        <p:spPr>
          <a:xfrm>
            <a:off x="1307592" y="4608576"/>
            <a:ext cx="1280160" cy="246888"/>
          </a:xfrm>
          <a:prstGeom prst="rect">
            <a:avLst/>
          </a:prstGeom>
          <a:noFill/>
        </p:spPr>
        <p:txBody>
          <a:bodyPr wrap="square" lIns="36576" rIns="36576" tIns="36576" bIns="36576" anchor="t">
            <a:spAutoFit/>
          </a:bodyPr>
          <a:lstStyle/>
          <a:p>
            <a:pPr algn="l">
              <a:spcBef>
                <a:spcPts val="0"/>
              </a:spcBef>
              <a:spcAft>
                <a:spcPts val="0"/>
              </a:spcAft>
            </a:pPr>
            <a:r>
              <a:rPr sz="1200" b="1" i="0">
                <a:solidFill>
                  <a:srgbClr val="3B82F6"/>
                </a:solidFill>
                <a:latin typeface="Aptos"/>
              </a:rPr>
              <a:t>PEAK COUNTS</a:t>
            </a:r>
          </a:p>
        </p:txBody>
      </p:sp>
      <p:sp>
        <p:nvSpPr>
          <p:cNvPr id="111" name="Rounded Rectangle 110"/>
          <p:cNvSpPr/>
          <p:nvPr/>
        </p:nvSpPr>
        <p:spPr>
          <a:xfrm>
            <a:off x="835761" y="5245912"/>
            <a:ext cx="1627632"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750" b="1">
                <a:solidFill>
                  <a:srgbClr val="FFFFFF"/>
                </a:solidFill>
                <a:latin typeface="Aptos"/>
              </a:rPr>
              <a:t>HEIGHT = COUNT    
COLOR = FRAGMENT  LENGTH</a:t>
            </a:r>
          </a:p>
        </p:txBody>
      </p:sp>
      <p:cxnSp>
        <p:nvCxnSpPr>
          <p:cNvPr id="112" name="Connector 111"/>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614416"/>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0</a:t>
            </a:r>
          </a:p>
        </p:txBody>
      </p:sp>
      <p:cxnSp>
        <p:nvCxnSpPr>
          <p:cNvPr id="114" name="Connector 113"/>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5303520"/>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2</a:t>
            </a:r>
          </a:p>
        </p:txBody>
      </p:sp>
      <p:cxnSp>
        <p:nvCxnSpPr>
          <p:cNvPr id="116" name="Connector 115"/>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992624"/>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4</a:t>
            </a:r>
          </a:p>
        </p:txBody>
      </p:sp>
      <p:cxnSp>
        <p:nvCxnSpPr>
          <p:cNvPr id="118" name="Connector 117"/>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2395728" y="4681728"/>
            <a:ext cx="219456" cy="164592"/>
          </a:xfrm>
          <a:prstGeom prst="rect">
            <a:avLst/>
          </a:prstGeom>
          <a:noFill/>
        </p:spPr>
        <p:txBody>
          <a:bodyPr wrap="square" lIns="36576" rIns="36576" tIns="36576" bIns="36576" anchor="t">
            <a:spAutoFit/>
          </a:bodyPr>
          <a:lstStyle/>
          <a:p>
            <a:pPr algn="r">
              <a:spcBef>
                <a:spcPts val="0"/>
              </a:spcBef>
              <a:spcAft>
                <a:spcPts val="0"/>
              </a:spcAft>
            </a:pPr>
            <a:r>
              <a:rPr sz="850" b="0" i="0">
                <a:solidFill>
                  <a:srgbClr val="52627A"/>
                </a:solidFill>
                <a:latin typeface="Aptos"/>
              </a:rPr>
              <a:t>6</a:t>
            </a:r>
          </a:p>
        </p:txBody>
      </p:sp>
      <p:cxnSp>
        <p:nvCxnSpPr>
          <p:cNvPr id="120" name="Connector 119"/>
          <p:cNvCxnSpPr/>
          <p:nvPr/>
        </p:nvCxnSpPr>
        <p:spPr>
          <a:xfrm>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2788920" y="5074920"/>
            <a:ext cx="2103120" cy="62179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2788920" y="4919472"/>
            <a:ext cx="2103120" cy="15544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532120" y="5385816"/>
            <a:ext cx="2377440" cy="31089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532120" y="5074920"/>
            <a:ext cx="2377440" cy="310896"/>
          </a:xfrm>
          <a:prstGeom prst="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8641080" y="5230368"/>
            <a:ext cx="2148840" cy="46634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788920" y="5074920"/>
            <a:ext cx="2103120" cy="621792"/>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Aptos"/>
              </a:rPr>
              <a:t>4</a:t>
            </a:r>
          </a:p>
        </p:txBody>
      </p:sp>
      <p:sp>
        <p:nvSpPr>
          <p:cNvPr id="127" name="TextBox 126"/>
          <p:cNvSpPr txBox="1"/>
          <p:nvPr/>
        </p:nvSpPr>
        <p:spPr>
          <a:xfrm>
            <a:off x="2788920" y="4919472"/>
            <a:ext cx="2103120" cy="155448"/>
          </a:xfrm>
          <a:prstGeom prst="rect">
            <a:avLst/>
          </a:prstGeom>
          <a:noFill/>
        </p:spPr>
        <p:txBody>
          <a:bodyPr wrap="square" lIns="0" rIns="0" tIns="0" bIns="0" anchor="ctr">
            <a:spAutoFit/>
          </a:bodyPr>
          <a:lstStyle/>
          <a:p>
            <a:pPr algn="ctr">
              <a:spcBef>
                <a:spcPts val="0"/>
              </a:spcBef>
              <a:spcAft>
                <a:spcPts val="0"/>
              </a:spcAft>
            </a:pPr>
            <a:r>
              <a:rPr sz="1000" b="1" i="0">
                <a:solidFill>
                  <a:srgbClr val="13233B"/>
                </a:solidFill>
                <a:latin typeface="Aptos"/>
              </a:rPr>
              <a:t>1</a:t>
            </a:r>
          </a:p>
        </p:txBody>
      </p:sp>
      <p:sp>
        <p:nvSpPr>
          <p:cNvPr id="128" name="TextBox 127"/>
          <p:cNvSpPr txBox="1"/>
          <p:nvPr/>
        </p:nvSpPr>
        <p:spPr>
          <a:xfrm>
            <a:off x="5532120" y="5385816"/>
            <a:ext cx="2377440" cy="310896"/>
          </a:xfrm>
          <a:prstGeom prst="rect">
            <a:avLst/>
          </a:prstGeom>
          <a:noFill/>
        </p:spPr>
        <p:txBody>
          <a:bodyPr wrap="square" lIns="0" rIns="0" tIns="0" bIns="0" anchor="ctr">
            <a:spAutoFit/>
          </a:bodyPr>
          <a:lstStyle/>
          <a:p>
            <a:pPr algn="ctr">
              <a:spcBef>
                <a:spcPts val="0"/>
              </a:spcBef>
              <a:spcAft>
                <a:spcPts val="0"/>
              </a:spcAft>
            </a:pPr>
            <a:r>
              <a:rPr sz="1000" b="1" i="0">
                <a:solidFill>
                  <a:srgbClr val="13233B"/>
                </a:solidFill>
                <a:latin typeface="Aptos"/>
              </a:rPr>
              <a:t>2</a:t>
            </a:r>
          </a:p>
        </p:txBody>
      </p:sp>
      <p:sp>
        <p:nvSpPr>
          <p:cNvPr id="129" name="TextBox 128"/>
          <p:cNvSpPr txBox="1"/>
          <p:nvPr/>
        </p:nvSpPr>
        <p:spPr>
          <a:xfrm>
            <a:off x="5532120" y="5074920"/>
            <a:ext cx="2377440" cy="310896"/>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Aptos"/>
              </a:rPr>
              <a:t>2</a:t>
            </a:r>
          </a:p>
        </p:txBody>
      </p:sp>
      <p:sp>
        <p:nvSpPr>
          <p:cNvPr id="130" name="TextBox 129"/>
          <p:cNvSpPr txBox="1"/>
          <p:nvPr/>
        </p:nvSpPr>
        <p:spPr>
          <a:xfrm>
            <a:off x="8641080" y="5230368"/>
            <a:ext cx="2148840" cy="466344"/>
          </a:xfrm>
          <a:prstGeom prst="rect">
            <a:avLst/>
          </a:prstGeom>
          <a:noFill/>
        </p:spPr>
        <p:txBody>
          <a:bodyPr wrap="square" lIns="0" rIns="0" tIns="0" bIns="0" anchor="ctr">
            <a:spAutoFit/>
          </a:bodyPr>
          <a:lstStyle/>
          <a:p>
            <a:pPr algn="ctr">
              <a:spcBef>
                <a:spcPts val="0"/>
              </a:spcBef>
              <a:spcAft>
                <a:spcPts val="0"/>
              </a:spcAft>
            </a:pPr>
            <a:r>
              <a:rPr sz="1000" b="1" i="0">
                <a:solidFill>
                  <a:srgbClr val="13233B"/>
                </a:solidFill>
                <a:latin typeface="Aptos"/>
              </a:rPr>
              <a:t>3</a:t>
            </a:r>
          </a:p>
        </p:txBody>
      </p:sp>
      <p:sp>
        <p:nvSpPr>
          <p:cNvPr id="131" name="TextBox 130"/>
          <p:cNvSpPr txBox="1"/>
          <p:nvPr/>
        </p:nvSpPr>
        <p:spPr>
          <a:xfrm>
            <a:off x="2788920" y="4700016"/>
            <a:ext cx="210312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5</a:t>
            </a:r>
          </a:p>
        </p:txBody>
      </p:sp>
      <p:sp>
        <p:nvSpPr>
          <p:cNvPr id="132" name="TextBox 131"/>
          <p:cNvSpPr txBox="1"/>
          <p:nvPr/>
        </p:nvSpPr>
        <p:spPr>
          <a:xfrm>
            <a:off x="5532120" y="4855464"/>
            <a:ext cx="23774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4</a:t>
            </a:r>
          </a:p>
        </p:txBody>
      </p:sp>
      <p:sp>
        <p:nvSpPr>
          <p:cNvPr id="133" name="TextBox 132"/>
          <p:cNvSpPr txBox="1"/>
          <p:nvPr/>
        </p:nvSpPr>
        <p:spPr>
          <a:xfrm>
            <a:off x="8641080" y="5010912"/>
            <a:ext cx="2148840" cy="182880"/>
          </a:xfrm>
          <a:prstGeom prst="rect">
            <a:avLst/>
          </a:prstGeom>
          <a:noFill/>
        </p:spPr>
        <p:txBody>
          <a:bodyPr wrap="square" lIns="36576" rIns="36576" tIns="36576" bIns="36576" anchor="t">
            <a:spAutoFit/>
          </a:bodyPr>
          <a:lstStyle/>
          <a:p>
            <a:pPr algn="ctr">
              <a:spcBef>
                <a:spcPts val="0"/>
              </a:spcBef>
              <a:spcAft>
                <a:spcPts val="0"/>
              </a:spcAft>
            </a:pPr>
            <a:r>
              <a:rPr sz="1300" b="1" i="0">
                <a:solidFill>
                  <a:srgbClr val="13233B"/>
                </a:solidFill>
                <a:latin typeface="Aptos"/>
              </a:rPr>
              <a:t>3</a:t>
            </a:r>
          </a:p>
        </p:txBody>
      </p:sp>
      <p:sp>
        <p:nvSpPr>
          <p:cNvPr id="134" name="TextBox 133"/>
          <p:cNvSpPr txBox="1"/>
          <p:nvPr/>
        </p:nvSpPr>
        <p:spPr>
          <a:xfrm>
            <a:off x="2788920" y="5742432"/>
            <a:ext cx="210312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1</a:t>
            </a:r>
          </a:p>
        </p:txBody>
      </p:sp>
      <p:sp>
        <p:nvSpPr>
          <p:cNvPr id="135" name="TextBox 134"/>
          <p:cNvSpPr txBox="1"/>
          <p:nvPr/>
        </p:nvSpPr>
        <p:spPr>
          <a:xfrm>
            <a:off x="5532120" y="5742432"/>
            <a:ext cx="23774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2</a:t>
            </a:r>
          </a:p>
        </p:txBody>
      </p:sp>
      <p:sp>
        <p:nvSpPr>
          <p:cNvPr id="136" name="TextBox 135"/>
          <p:cNvSpPr txBox="1"/>
          <p:nvPr/>
        </p:nvSpPr>
        <p:spPr>
          <a:xfrm>
            <a:off x="8641080" y="5742432"/>
            <a:ext cx="2148840" cy="182880"/>
          </a:xfrm>
          <a:prstGeom prst="rect">
            <a:avLst/>
          </a:prstGeom>
          <a:noFill/>
        </p:spPr>
        <p:txBody>
          <a:bodyPr wrap="square" lIns="36576" rIns="36576" tIns="36576" bIns="36576" anchor="t">
            <a:spAutoFit/>
          </a:bodyPr>
          <a:lstStyle/>
          <a:p>
            <a:pPr algn="ctr">
              <a:spcBef>
                <a:spcPts val="0"/>
              </a:spcBef>
              <a:spcAft>
                <a:spcPts val="0"/>
              </a:spcAft>
            </a:pPr>
            <a:r>
              <a:rPr sz="950" b="1" i="0">
                <a:solidFill>
                  <a:srgbClr val="13233B"/>
                </a:solidFill>
                <a:latin typeface="Aptos"/>
              </a:rPr>
              <a:t>Peak 3</a:t>
            </a:r>
          </a:p>
        </p:txBody>
      </p:sp>
      <p:sp>
        <p:nvSpPr>
          <p:cNvPr id="137" name="Rounded Rectangle 136"/>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69" b="1">
                <a:solidFill>
                  <a:srgbClr val="FFFFFF"/>
                </a:solidFill>
                <a:latin typeface="Aptos"/>
              </a:rPr>
              <a:t>P1: 4 short + 1 medium = 5   |   P2: 2 medium + 2 long = 4   |   P3: 3 medium = 3</a:t>
            </a:r>
          </a:p>
        </p:txBody>
      </p:sp>
      <p:cxnSp>
        <p:nvCxnSpPr>
          <p:cNvPr id="138" name="Connector 137"/>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5" name="TextBox 4"/>
          <p:cNvSpPr txBox="1"/>
          <p:nvPr/>
        </p:nvSpPr>
        <p:spPr>
          <a:xfrm>
            <a:off x="649224" y="1069848"/>
            <a:ext cx="10881360" cy="420624"/>
          </a:xfrm>
          <a:prstGeom prst="rect">
            <a:avLst/>
          </a:prstGeom>
          <a:noFill/>
        </p:spPr>
        <p:txBody>
          <a:bodyPr wrap="square" lIns="36576" rIns="36576" t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029968"/>
            <a:ext cx="1078992" cy="256032"/>
          </a:xfrm>
          <a:prstGeom prst="rect">
            <a:avLst/>
          </a:prstGeom>
          <a:noFill/>
        </p:spPr>
        <p:txBody>
          <a:bodyPr wrap="square" lIns="27432" rIns="27432" t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760" b="1">
                <a:solidFill>
                  <a:srgbClr val="18A999"/>
                </a:solidFill>
                <a:latin typeface="Aptos"/>
              </a:rPr>
              <a:t>REFERENCE</a:t>
            </a:r>
          </a:p>
        </p:txBody>
      </p:sp>
      <p:sp>
        <p:nvSpPr>
          <p:cNvPr id="12" name="TextBox 11"/>
          <p:cNvSpPr txBox="1"/>
          <p:nvPr/>
        </p:nvSpPr>
        <p:spPr>
          <a:xfrm>
            <a:off x="2340864" y="2240279"/>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P1</a:t>
            </a:r>
          </a:p>
        </p:txBody>
      </p:sp>
      <p:sp>
        <p:nvSpPr>
          <p:cNvPr id="15" name="TextBox 14"/>
          <p:cNvSpPr txBox="1"/>
          <p:nvPr/>
        </p:nvSpPr>
        <p:spPr>
          <a:xfrm>
            <a:off x="2651760" y="2642615"/>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P2</a:t>
            </a:r>
          </a:p>
        </p:txBody>
      </p:sp>
      <p:sp>
        <p:nvSpPr>
          <p:cNvPr id="18" name="TextBox 17"/>
          <p:cNvSpPr txBox="1"/>
          <p:nvPr/>
        </p:nvSpPr>
        <p:spPr>
          <a:xfrm>
            <a:off x="2962656" y="2340863"/>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P3</a:t>
            </a:r>
          </a:p>
        </p:txBody>
      </p:sp>
      <p:sp>
        <p:nvSpPr>
          <p:cNvPr id="21" name="TextBox 20"/>
          <p:cNvSpPr txBox="1"/>
          <p:nvPr/>
        </p:nvSpPr>
        <p:spPr>
          <a:xfrm>
            <a:off x="3273552" y="2542031"/>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08760" y="3858768"/>
            <a:ext cx="1078992" cy="256032"/>
          </a:xfrm>
          <a:prstGeom prst="rect">
            <a:avLst/>
          </a:prstGeom>
          <a:noFill/>
        </p:spPr>
        <p:txBody>
          <a:bodyPr wrap="square" lIns="27432" rIns="27432" t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760" b="1">
                <a:solidFill>
                  <a:srgbClr val="3B82F6"/>
                </a:solidFill>
                <a:latin typeface="Aptos"/>
              </a:rPr>
              <a:t>REFERENCE</a:t>
            </a:r>
          </a:p>
        </p:txBody>
      </p:sp>
      <p:sp>
        <p:nvSpPr>
          <p:cNvPr id="30" name="TextBox 29"/>
          <p:cNvSpPr txBox="1"/>
          <p:nvPr/>
        </p:nvSpPr>
        <p:spPr>
          <a:xfrm>
            <a:off x="2340864" y="4471416"/>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P1</a:t>
            </a:r>
          </a:p>
        </p:txBody>
      </p:sp>
      <p:sp>
        <p:nvSpPr>
          <p:cNvPr id="33" name="TextBox 32"/>
          <p:cNvSpPr txBox="1"/>
          <p:nvPr/>
        </p:nvSpPr>
        <p:spPr>
          <a:xfrm>
            <a:off x="2651760" y="4069080"/>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P2</a:t>
            </a:r>
          </a:p>
        </p:txBody>
      </p:sp>
      <p:sp>
        <p:nvSpPr>
          <p:cNvPr id="36" name="TextBox 35"/>
          <p:cNvSpPr txBox="1"/>
          <p:nvPr/>
        </p:nvSpPr>
        <p:spPr>
          <a:xfrm>
            <a:off x="2962656" y="4370832"/>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P3</a:t>
            </a:r>
          </a:p>
        </p:txBody>
      </p:sp>
      <p:sp>
        <p:nvSpPr>
          <p:cNvPr id="39" name="TextBox 38"/>
          <p:cNvSpPr txBox="1"/>
          <p:nvPr/>
        </p:nvSpPr>
        <p:spPr>
          <a:xfrm>
            <a:off x="3273552" y="4169663"/>
            <a:ext cx="329184" cy="155448"/>
          </a:xfrm>
          <a:prstGeom prst="rect">
            <a:avLst/>
          </a:prstGeom>
          <a:noFill/>
        </p:spPr>
        <p:txBody>
          <a:bodyPr wrap="square" lIns="0" rIns="0" t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rIns="0" t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193792"/>
            <a:ext cx="868680" cy="219456"/>
          </a:xfrm>
          <a:prstGeom prst="rect">
            <a:avLst/>
          </a:prstGeom>
          <a:noFill/>
        </p:spPr>
        <p:txBody>
          <a:bodyPr wrap="none" lIns="27432" rIns="27432" tIns="27432" bIns="27432" anchor="ctr">
            <a:spAutoFit/>
          </a:bodyPr>
          <a:lstStyle/>
          <a:p>
            <a:pPr algn="ctr">
              <a:spcBef>
                <a:spcPts val="0"/>
              </a:spcBef>
              <a:spcAft>
                <a:spcPts val="0"/>
              </a:spcAft>
            </a:pPr>
            <a:r>
              <a:rPr sz="919" b="1">
                <a:solidFill>
                  <a:srgbClr val="13233B"/>
                </a:solidFill>
                <a:latin typeface="Aptos"/>
              </a:rPr>
              <a:t>LENGTH BINS:</a:t>
            </a:r>
          </a:p>
        </p:txBody>
      </p:sp>
      <p:sp>
        <p:nvSpPr>
          <p:cNvPr id="43" name="TextBox 42"/>
          <p:cNvSpPr txBox="1"/>
          <p:nvPr/>
        </p:nvSpPr>
        <p:spPr>
          <a:xfrm>
            <a:off x="3611880" y="3099816"/>
            <a:ext cx="329184" cy="475488"/>
          </a:xfrm>
          <a:prstGeom prst="rect">
            <a:avLst/>
          </a:prstGeom>
          <a:noFill/>
        </p:spPr>
        <p:txBody>
          <a:bodyPr wrap="square" lIns="27432" rIns="27432" t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7680" y="2084831"/>
            <a:ext cx="2359152" cy="256032"/>
          </a:xfrm>
          <a:prstGeom prst="rect">
            <a:avLst/>
          </a:prstGeom>
          <a:noFill/>
        </p:spPr>
        <p:txBody>
          <a:bodyPr wrap="square" lIns="27432" rIns="27432" t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rIns="27432" t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462272" y="3364992"/>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P1</a:t>
            </a:r>
          </a:p>
        </p:txBody>
      </p:sp>
      <p:sp>
        <p:nvSpPr>
          <p:cNvPr id="52" name="TextBox 51"/>
          <p:cNvSpPr txBox="1"/>
          <p:nvPr/>
        </p:nvSpPr>
        <p:spPr>
          <a:xfrm>
            <a:off x="4974336" y="3803904"/>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P2</a:t>
            </a:r>
          </a:p>
        </p:txBody>
      </p:sp>
      <p:sp>
        <p:nvSpPr>
          <p:cNvPr id="55" name="TextBox 54"/>
          <p:cNvSpPr txBox="1"/>
          <p:nvPr/>
        </p:nvSpPr>
        <p:spPr>
          <a:xfrm>
            <a:off x="5486400" y="3474720"/>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P3</a:t>
            </a:r>
          </a:p>
        </p:txBody>
      </p:sp>
      <p:sp>
        <p:nvSpPr>
          <p:cNvPr id="58" name="TextBox 57"/>
          <p:cNvSpPr txBox="1"/>
          <p:nvPr/>
        </p:nvSpPr>
        <p:spPr>
          <a:xfrm>
            <a:off x="5998464" y="3694176"/>
            <a:ext cx="457200" cy="155448"/>
          </a:xfrm>
          <a:prstGeom prst="rect">
            <a:avLst/>
          </a:prstGeom>
          <a:noFill/>
        </p:spPr>
        <p:txBody>
          <a:bodyPr wrap="square" lIns="0" rIns="0" t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rIns="0" t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none" lIns="27432" rIns="27432" tIns="27432" bIns="27432" anchor="ctr">
            <a:spAutoFit/>
          </a:bodyPr>
          <a:lstStyle/>
          <a:p>
            <a:pPr algn="ctr">
              <a:spcBef>
                <a:spcPts val="0"/>
              </a:spcBef>
              <a:spcAft>
                <a:spcPts val="0"/>
              </a:spcAft>
            </a:pPr>
            <a:r>
              <a:rPr sz="810" b="1">
                <a:solidFill>
                  <a:srgbClr val="52627A"/>
                </a:solidFill>
                <a:latin typeface="Aptos"/>
              </a:rPr>
              <a:t>P1: 8 = 4 short + 3 medium + 1 long</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39912" y="2112264"/>
            <a:ext cx="2834640" cy="310896"/>
          </a:xfrm>
          <a:prstGeom prst="rect">
            <a:avLst/>
          </a:prstGeom>
          <a:noFill/>
        </p:spPr>
        <p:txBody>
          <a:bodyPr wrap="square" lIns="27432" rIns="27432" t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rIns="27432" t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40496" y="3072384"/>
            <a:ext cx="1975104" cy="530352"/>
          </a:xfrm>
          <a:prstGeom prst="rect">
            <a:avLst/>
          </a:prstGeom>
          <a:noFill/>
        </p:spPr>
        <p:txBody>
          <a:bodyPr wrap="square" lIns="0" rIns="0" t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42248" y="3831335"/>
            <a:ext cx="1298448" cy="256032"/>
          </a:xfrm>
          <a:prstGeom prst="rect">
            <a:avLst/>
          </a:prstGeom>
          <a:noFill/>
        </p:spPr>
        <p:txBody>
          <a:bodyPr wrap="square" lIns="27432" rIns="27432" t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rIns="27432" t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842248" y="4288536"/>
            <a:ext cx="1298448" cy="256032"/>
          </a:xfrm>
          <a:prstGeom prst="rect">
            <a:avLst/>
          </a:prstGeom>
          <a:noFill/>
        </p:spPr>
        <p:txBody>
          <a:bodyPr wrap="square" lIns="27432" rIns="27432" t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rIns="27432" t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wrap="none"/>
          <a:lstStyle/>
          <a:p>
            <a:pPr algn="ctr">
              <a:spcBef>
                <a:spcPts val="0"/>
              </a:spcBef>
              <a:spcAft>
                <a:spcPts val="0"/>
              </a:spcAft>
            </a:pPr>
            <a:r>
              <a:rPr sz="969" b="1">
                <a:solidFill>
                  <a:srgbClr val="FFFFFF"/>
                </a:solidFill>
                <a:latin typeface="Aptos"/>
              </a:rPr>
              <a:t>SAME PEAK TOTALS  •  EXTRA CLUE: SEGMENT-LENGTH COMPOSITION</a:t>
            </a:r>
          </a:p>
        </p:txBody>
      </p:sp>
      <p:sp>
        <p:nvSpPr>
          <p:cNvPr id="80" name="Length-bin stack bar 11 bin 1"/>
          <p:cNvSpPr/>
          <p:nvPr/>
        </p:nvSpPr>
        <p:spPr>
          <a:xfrm>
            <a:off x="2414016" y="26563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Length-bin stack bar 11 bin 2"/>
          <p:cNvSpPr/>
          <p:nvPr/>
        </p:nvSpPr>
        <p:spPr>
          <a:xfrm>
            <a:off x="2414016" y="2455164"/>
            <a:ext cx="182880" cy="20116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Length-bin stack bar 11 bin 3"/>
          <p:cNvSpPr/>
          <p:nvPr/>
        </p:nvSpPr>
        <p:spPr>
          <a:xfrm>
            <a:off x="2414016" y="2404872"/>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Length-bin stack bar 14 bin 1"/>
          <p:cNvSpPr/>
          <p:nvPr/>
        </p:nvSpPr>
        <p:spPr>
          <a:xfrm>
            <a:off x="2724912" y="2857500"/>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Length-bin stack bar 14 bin 2"/>
          <p:cNvSpPr/>
          <p:nvPr/>
        </p:nvSpPr>
        <p:spPr>
          <a:xfrm>
            <a:off x="2724912" y="2807208"/>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Length-bin stack bar 17 bin 1"/>
          <p:cNvSpPr/>
          <p:nvPr/>
        </p:nvSpPr>
        <p:spPr>
          <a:xfrm>
            <a:off x="3035808" y="2706624"/>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ength-bin stack bar 17 bin 2"/>
          <p:cNvSpPr/>
          <p:nvPr/>
        </p:nvSpPr>
        <p:spPr>
          <a:xfrm>
            <a:off x="3035808" y="2606040"/>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ength-bin stack bar 17 bin 3"/>
          <p:cNvSpPr/>
          <p:nvPr/>
        </p:nvSpPr>
        <p:spPr>
          <a:xfrm>
            <a:off x="3035808" y="2505456"/>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ength-bin stack bar 20 bin 2"/>
          <p:cNvSpPr/>
          <p:nvPr/>
        </p:nvSpPr>
        <p:spPr>
          <a:xfrm>
            <a:off x="3346704" y="2807207"/>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ength-bin stack bar 20 bin 3"/>
          <p:cNvSpPr/>
          <p:nvPr/>
        </p:nvSpPr>
        <p:spPr>
          <a:xfrm>
            <a:off x="3346704" y="2706623"/>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ength-bin stack bar 29 bin 1"/>
          <p:cNvSpPr/>
          <p:nvPr/>
        </p:nvSpPr>
        <p:spPr>
          <a:xfrm>
            <a:off x="2414016" y="4686299"/>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Length-bin stack bar 29 bin 3"/>
          <p:cNvSpPr/>
          <p:nvPr/>
        </p:nvSpPr>
        <p:spPr>
          <a:xfrm>
            <a:off x="2414016" y="4636007"/>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Length-bin stack bar 32 bin 1"/>
          <p:cNvSpPr/>
          <p:nvPr/>
        </p:nvSpPr>
        <p:spPr>
          <a:xfrm>
            <a:off x="2724912" y="44851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Length-bin stack bar 32 bin 2"/>
          <p:cNvSpPr/>
          <p:nvPr/>
        </p:nvSpPr>
        <p:spPr>
          <a:xfrm>
            <a:off x="2724912" y="4434840"/>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Length-bin stack bar 32 bin 3"/>
          <p:cNvSpPr/>
          <p:nvPr/>
        </p:nvSpPr>
        <p:spPr>
          <a:xfrm>
            <a:off x="2724912" y="4233672"/>
            <a:ext cx="182880" cy="20116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Length-bin stack bar 35 bin 2"/>
          <p:cNvSpPr/>
          <p:nvPr/>
        </p:nvSpPr>
        <p:spPr>
          <a:xfrm>
            <a:off x="3035808" y="4636008"/>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Length-bin stack bar 35 bin 3"/>
          <p:cNvSpPr/>
          <p:nvPr/>
        </p:nvSpPr>
        <p:spPr>
          <a:xfrm>
            <a:off x="3035808" y="4535424"/>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Length-bin stack bar 38 bin 1"/>
          <p:cNvSpPr/>
          <p:nvPr/>
        </p:nvSpPr>
        <p:spPr>
          <a:xfrm>
            <a:off x="3346704" y="4535423"/>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Length-bin stack bar 38 bin 2"/>
          <p:cNvSpPr/>
          <p:nvPr/>
        </p:nvSpPr>
        <p:spPr>
          <a:xfrm>
            <a:off x="3346704" y="4434839"/>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Length-bin stack bar 38 bin 3"/>
          <p:cNvSpPr/>
          <p:nvPr/>
        </p:nvSpPr>
        <p:spPr>
          <a:xfrm>
            <a:off x="3346704" y="4334255"/>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Length-bin stack bar 48 bin 1"/>
          <p:cNvSpPr/>
          <p:nvPr/>
        </p:nvSpPr>
        <p:spPr>
          <a:xfrm>
            <a:off x="4535424" y="3968496"/>
            <a:ext cx="310896" cy="43891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Length-bin stack bar 48 bin 2"/>
          <p:cNvSpPr/>
          <p:nvPr/>
        </p:nvSpPr>
        <p:spPr>
          <a:xfrm>
            <a:off x="4535424" y="3639312"/>
            <a:ext cx="310896" cy="3291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ength-bin stack bar 48 bin 3"/>
          <p:cNvSpPr/>
          <p:nvPr/>
        </p:nvSpPr>
        <p:spPr>
          <a:xfrm>
            <a:off x="4535424" y="3529584"/>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Length-bin stack bar 51 bin 1"/>
          <p:cNvSpPr/>
          <p:nvPr/>
        </p:nvSpPr>
        <p:spPr>
          <a:xfrm>
            <a:off x="5047488" y="4187952"/>
            <a:ext cx="310896" cy="219456"/>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Length-bin stack bar 51 bin 2"/>
          <p:cNvSpPr/>
          <p:nvPr/>
        </p:nvSpPr>
        <p:spPr>
          <a:xfrm>
            <a:off x="5047488" y="4078224"/>
            <a:ext cx="310896" cy="10972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Length-bin stack bar 51 bin 3"/>
          <p:cNvSpPr/>
          <p:nvPr/>
        </p:nvSpPr>
        <p:spPr>
          <a:xfrm>
            <a:off x="5047488" y="3968496"/>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Length-bin stack bar 54 bin 1"/>
          <p:cNvSpPr/>
          <p:nvPr/>
        </p:nvSpPr>
        <p:spPr>
          <a:xfrm>
            <a:off x="5559552" y="4078224"/>
            <a:ext cx="310896" cy="329184"/>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Length-bin stack bar 54 bin 2"/>
          <p:cNvSpPr/>
          <p:nvPr/>
        </p:nvSpPr>
        <p:spPr>
          <a:xfrm>
            <a:off x="5559552" y="3858768"/>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Length-bin stack bar 54 bin 3"/>
          <p:cNvSpPr/>
          <p:nvPr/>
        </p:nvSpPr>
        <p:spPr>
          <a:xfrm>
            <a:off x="5559552" y="3639312"/>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Length-bin stack bar 57 bin 1"/>
          <p:cNvSpPr/>
          <p:nvPr/>
        </p:nvSpPr>
        <p:spPr>
          <a:xfrm>
            <a:off x="6071616" y="4297680"/>
            <a:ext cx="310896" cy="10972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Length-bin stack bar 57 bin 2"/>
          <p:cNvSpPr/>
          <p:nvPr/>
        </p:nvSpPr>
        <p:spPr>
          <a:xfrm>
            <a:off x="6071616" y="4078224"/>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Length-bin stack bar 57 bin 3"/>
          <p:cNvSpPr/>
          <p:nvPr/>
        </p:nvSpPr>
        <p:spPr>
          <a:xfrm>
            <a:off x="6071616" y="3858768"/>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1764792" y="5193792"/>
            <a:ext cx="612648" cy="219456"/>
          </a:xfrm>
          <a:prstGeom prst="round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FFFFFF"/>
                </a:solidFill>
                <a:latin typeface="Aptos"/>
              </a:rPr>
              <a:t>SHORT</a:t>
            </a:r>
          </a:p>
        </p:txBody>
      </p:sp>
      <p:sp>
        <p:nvSpPr>
          <p:cNvPr id="113" name="Rounded Rectangle 112"/>
          <p:cNvSpPr/>
          <p:nvPr/>
        </p:nvSpPr>
        <p:spPr>
          <a:xfrm>
            <a:off x="2450592" y="5193792"/>
            <a:ext cx="749808" cy="219456"/>
          </a:xfrm>
          <a:prstGeom prst="round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13233B"/>
                </a:solidFill>
                <a:latin typeface="Aptos"/>
              </a:rPr>
              <a:t>MEDIUM</a:t>
            </a:r>
          </a:p>
        </p:txBody>
      </p:sp>
      <p:sp>
        <p:nvSpPr>
          <p:cNvPr id="114" name="Rounded Rectangle 113"/>
          <p:cNvSpPr/>
          <p:nvPr/>
        </p:nvSpPr>
        <p:spPr>
          <a:xfrm>
            <a:off x="3273552" y="5193792"/>
            <a:ext cx="603504" cy="219456"/>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36576" rIns="36576" tIns="0" bIns="0" wrap="none"/>
          <a:lstStyle/>
          <a:p>
            <a:pPr algn="ctr">
              <a:spcBef>
                <a:spcPts val="0"/>
              </a:spcBef>
              <a:spcAft>
                <a:spcPts val="0"/>
              </a:spcAft>
            </a:pPr>
            <a:r>
              <a:rPr sz="740" b="1">
                <a:solidFill>
                  <a:srgbClr val="FFFFFF"/>
                </a:solidFill>
                <a:latin typeface="Aptos"/>
              </a:rPr>
              <a:t>LONG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SPATIAL ATAC</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Spatial ATAC maps open chromatin across a tissue</a:t>
            </a:r>
          </a:p>
        </p:txBody>
      </p:sp>
      <p:cxnSp>
        <p:nvCxnSpPr>
          <p:cNvPr id="74" name="Connector 7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58368" y="1042415"/>
            <a:ext cx="10826496" cy="402336"/>
          </a:xfrm>
          <a:prstGeom prst="rect">
            <a:avLst/>
          </a:prstGeom>
          <a:noFill/>
        </p:spPr>
        <p:txBody>
          <a:bodyPr wrap="square" lIns="36576" rIns="36576" tIns="36576" bIns="36576" anchor="t">
            <a:spAutoFit/>
          </a:bodyPr>
          <a:lstStyle/>
          <a:p>
            <a:pPr algn="ctr">
              <a:spcBef>
                <a:spcPts val="0"/>
              </a:spcBef>
              <a:spcAft>
                <a:spcPts val="0"/>
              </a:spcAft>
            </a:pPr>
            <a:r>
              <a:rPr sz="1850" b="0">
                <a:solidFill>
                  <a:srgbClr val="52627A"/>
                </a:solidFill>
                <a:latin typeface="Aptos"/>
              </a:rPr>
              <a:t>The tissue is divided into a grid of barcoded spots — each spot collects ATAC signal from the cells it covers.</a:t>
            </a:r>
          </a:p>
        </p:txBody>
      </p:sp>
      <p:sp>
        <p:nvSpPr>
          <p:cNvPr id="77" name="Rounded Rectangle 76"/>
          <p:cNvSpPr/>
          <p:nvPr/>
        </p:nvSpPr>
        <p:spPr>
          <a:xfrm>
            <a:off x="786384" y="1645920"/>
            <a:ext cx="5943600" cy="4224528"/>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24128" y="1847088"/>
            <a:ext cx="5394960" cy="310896"/>
          </a:xfrm>
          <a:prstGeom prst="rect">
            <a:avLst/>
          </a:prstGeom>
          <a:noFill/>
        </p:spPr>
        <p:txBody>
          <a:bodyPr wrap="square" lIns="36576" rIns="36576" tIns="36576" bIns="36576" anchor="t">
            <a:spAutoFit/>
          </a:bodyPr>
          <a:lstStyle/>
          <a:p>
            <a:pPr algn="l">
              <a:spcBef>
                <a:spcPts val="0"/>
              </a:spcBef>
              <a:spcAft>
                <a:spcPts val="0"/>
              </a:spcAft>
            </a:pPr>
            <a:r>
              <a:rPr sz="1800" b="1">
                <a:solidFill>
                  <a:srgbClr val="13233B"/>
                </a:solidFill>
                <a:latin typeface="Aptos"/>
              </a:rPr>
              <a:t>Tissue section on a barcoded grid</a:t>
            </a:r>
          </a:p>
        </p:txBody>
      </p:sp>
      <p:sp>
        <p:nvSpPr>
          <p:cNvPr id="79" name="Rectangle 78"/>
          <p:cNvSpPr/>
          <p:nvPr/>
        </p:nvSpPr>
        <p:spPr>
          <a:xfrm>
            <a:off x="173736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865376" y="246888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157984" y="25237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97510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6032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706624" y="254203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962656" y="2706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383279" y="2340864"/>
            <a:ext cx="749808" cy="749808"/>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493008" y="24505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803904" y="24871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2958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803904" y="274320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20624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334255" y="24688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626864" y="25237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443983" y="276148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02920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175504" y="254203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31536" y="2706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73736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865376" y="329184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15798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975104" y="35844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56032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706624" y="336499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2962656" y="352958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383279"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3511296"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0390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621024"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20624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334255"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4626864" y="33467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443983"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02920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5175504" y="33649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431536" y="352958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73736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883664" y="4187951"/>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2139696" y="43525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256032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2688336" y="4114799"/>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980944" y="4169663"/>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2798063"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3383279"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3529584" y="418795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785615" y="43525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20624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4334255" y="411479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626864" y="4169663"/>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443983" y="4407407"/>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502920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5138928" y="409651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5449824" y="413308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5175504"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5449824" y="438912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73736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88366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139696" y="51755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256032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2670048" y="491947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2980944" y="49560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2706624" y="52303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2980944" y="52120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3383279"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52958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785615" y="51755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420624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334255"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4626864" y="4992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443983"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502920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5157216"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5449824" y="4992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5266944"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987552" y="5632704"/>
            <a:ext cx="3520440" cy="237744"/>
          </a:xfrm>
          <a:prstGeom prst="rect">
            <a:avLst/>
          </a:prstGeom>
          <a:noFill/>
        </p:spPr>
        <p:txBody>
          <a:bodyPr wrap="square" lIns="9144" rIns="9144" tIns="9144" bIns="9144" anchor="t">
            <a:spAutoFit/>
          </a:bodyPr>
          <a:lstStyle/>
          <a:p>
            <a:pPr algn="l">
              <a:spcBef>
                <a:spcPts val="0"/>
              </a:spcBef>
              <a:spcAft>
                <a:spcPts val="0"/>
              </a:spcAft>
            </a:pPr>
            <a:r>
              <a:rPr sz="1050" b="0">
                <a:solidFill>
                  <a:srgbClr val="52627A"/>
                </a:solidFill>
                <a:latin typeface="Aptos"/>
              </a:rPr>
              <a:t>each square = one spot with its own spot barcode</a:t>
            </a:r>
          </a:p>
        </p:txBody>
      </p:sp>
      <p:sp>
        <p:nvSpPr>
          <p:cNvPr id="155" name="Oval 154"/>
          <p:cNvSpPr/>
          <p:nvPr/>
        </p:nvSpPr>
        <p:spPr>
          <a:xfrm>
            <a:off x="4626864" y="5660136"/>
            <a:ext cx="164592" cy="16459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828032" y="5632704"/>
            <a:ext cx="566928" cy="237744"/>
          </a:xfrm>
          <a:prstGeom prst="rect">
            <a:avLst/>
          </a:prstGeom>
          <a:noFill/>
        </p:spPr>
        <p:txBody>
          <a:bodyPr wrap="square" lIns="9144" rIns="9144" tIns="9144" bIns="9144" anchor="t">
            <a:spAutoFit/>
          </a:bodyPr>
          <a:lstStyle/>
          <a:p>
            <a:pPr algn="l">
              <a:spcBef>
                <a:spcPts val="0"/>
              </a:spcBef>
              <a:spcAft>
                <a:spcPts val="0"/>
              </a:spcAft>
            </a:pPr>
            <a:r>
              <a:rPr sz="1050" b="0">
                <a:solidFill>
                  <a:srgbClr val="213047"/>
                </a:solidFill>
                <a:latin typeface="Aptos"/>
              </a:rPr>
              <a:t>T cell</a:t>
            </a:r>
          </a:p>
        </p:txBody>
      </p:sp>
      <p:sp>
        <p:nvSpPr>
          <p:cNvPr id="157" name="Oval 156"/>
          <p:cNvSpPr/>
          <p:nvPr/>
        </p:nvSpPr>
        <p:spPr>
          <a:xfrm>
            <a:off x="5468112" y="5660136"/>
            <a:ext cx="164592" cy="16459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5669280" y="5632704"/>
            <a:ext cx="566928" cy="237744"/>
          </a:xfrm>
          <a:prstGeom prst="rect">
            <a:avLst/>
          </a:prstGeom>
          <a:noFill/>
        </p:spPr>
        <p:txBody>
          <a:bodyPr wrap="square" lIns="9144" rIns="9144" tIns="9144" bIns="9144" anchor="t">
            <a:spAutoFit/>
          </a:bodyPr>
          <a:lstStyle/>
          <a:p>
            <a:pPr algn="l">
              <a:spcBef>
                <a:spcPts val="0"/>
              </a:spcBef>
              <a:spcAft>
                <a:spcPts val="0"/>
              </a:spcAft>
            </a:pPr>
            <a:r>
              <a:rPr sz="1050" b="0">
                <a:solidFill>
                  <a:srgbClr val="213047"/>
                </a:solidFill>
                <a:latin typeface="Aptos"/>
              </a:rPr>
              <a:t>B cell</a:t>
            </a:r>
          </a:p>
        </p:txBody>
      </p:sp>
      <p:sp>
        <p:nvSpPr>
          <p:cNvPr id="159" name="Rounded Rectangle 158"/>
          <p:cNvSpPr/>
          <p:nvPr/>
        </p:nvSpPr>
        <p:spPr>
          <a:xfrm>
            <a:off x="7059168" y="1645920"/>
            <a:ext cx="4480560" cy="422452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315200" y="1847088"/>
            <a:ext cx="3931920" cy="310896"/>
          </a:xfrm>
          <a:prstGeom prst="rect">
            <a:avLst/>
          </a:prstGeom>
          <a:noFill/>
        </p:spPr>
        <p:txBody>
          <a:bodyPr wrap="square" lIns="36576" rIns="36576" tIns="36576" bIns="36576" anchor="t">
            <a:spAutoFit/>
          </a:bodyPr>
          <a:lstStyle/>
          <a:p>
            <a:pPr algn="l">
              <a:spcBef>
                <a:spcPts val="0"/>
              </a:spcBef>
              <a:spcAft>
                <a:spcPts val="0"/>
              </a:spcAft>
            </a:pPr>
            <a:r>
              <a:rPr sz="1800" b="1">
                <a:solidFill>
                  <a:srgbClr val="13233B"/>
                </a:solidFill>
                <a:latin typeface="Aptos"/>
              </a:rPr>
              <a:t>How to read the grid</a:t>
            </a:r>
          </a:p>
        </p:txBody>
      </p:sp>
      <p:sp>
        <p:nvSpPr>
          <p:cNvPr id="161" name="Oval 160"/>
          <p:cNvSpPr/>
          <p:nvPr/>
        </p:nvSpPr>
        <p:spPr>
          <a:xfrm>
            <a:off x="7333488" y="2359152"/>
            <a:ext cx="457200" cy="45720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7333488" y="2368296"/>
            <a:ext cx="457200" cy="365760"/>
          </a:xfrm>
          <a:prstGeom prst="rect">
            <a:avLst/>
          </a:prstGeom>
          <a:noFill/>
        </p:spPr>
        <p:txBody>
          <a:bodyPr wrap="square" lIns="0" rIns="0" tIns="0" bIns="0" anchor="ctr">
            <a:spAutoFit/>
          </a:bodyPr>
          <a:lstStyle/>
          <a:p>
            <a:pPr algn="ctr">
              <a:spcBef>
                <a:spcPts val="0"/>
              </a:spcBef>
              <a:spcAft>
                <a:spcPts val="0"/>
              </a:spcAft>
            </a:pPr>
            <a:r>
              <a:rPr sz="1700" b="1">
                <a:solidFill>
                  <a:srgbClr val="FFFFFF"/>
                </a:solidFill>
                <a:latin typeface="Aptos"/>
              </a:rPr>
              <a:t>1</a:t>
            </a:r>
          </a:p>
        </p:txBody>
      </p:sp>
      <p:sp>
        <p:nvSpPr>
          <p:cNvPr id="163" name="TextBox 162"/>
          <p:cNvSpPr txBox="1"/>
          <p:nvPr/>
        </p:nvSpPr>
        <p:spPr>
          <a:xfrm>
            <a:off x="7955279" y="2322576"/>
            <a:ext cx="3429000" cy="292608"/>
          </a:xfrm>
          <a:prstGeom prst="rect">
            <a:avLst/>
          </a:prstGeom>
          <a:noFill/>
        </p:spPr>
        <p:txBody>
          <a:bodyPr wrap="square" lIns="36576" rIns="36576" tIns="36576" bIns="36576" anchor="t">
            <a:spAutoFit/>
          </a:bodyPr>
          <a:lstStyle/>
          <a:p>
            <a:pPr algn="l">
              <a:spcBef>
                <a:spcPts val="0"/>
              </a:spcBef>
              <a:spcAft>
                <a:spcPts val="0"/>
              </a:spcAft>
            </a:pPr>
            <a:r>
              <a:rPr sz="1550" b="1">
                <a:solidFill>
                  <a:srgbClr val="13233B"/>
                </a:solidFill>
                <a:latin typeface="Aptos"/>
              </a:rPr>
              <a:t>One spot barcode per spot (square)</a:t>
            </a:r>
          </a:p>
        </p:txBody>
      </p:sp>
      <p:sp>
        <p:nvSpPr>
          <p:cNvPr id="164" name="TextBox 163"/>
          <p:cNvSpPr txBox="1"/>
          <p:nvPr/>
        </p:nvSpPr>
        <p:spPr>
          <a:xfrm>
            <a:off x="7955279" y="2633472"/>
            <a:ext cx="3429000" cy="566928"/>
          </a:xfrm>
          <a:prstGeom prst="rect">
            <a:avLst/>
          </a:prstGeom>
          <a:noFill/>
        </p:spPr>
        <p:txBody>
          <a:bodyPr wrap="square" lIns="36576" rIns="36576" tIns="36576" bIns="36576" anchor="t">
            <a:spAutoFit/>
          </a:bodyPr>
          <a:lstStyle/>
          <a:p>
            <a:pPr algn="l">
              <a:spcBef>
                <a:spcPts val="0"/>
              </a:spcBef>
              <a:spcAft>
                <a:spcPts val="0"/>
              </a:spcAft>
            </a:pPr>
            <a:r>
              <a:rPr sz="1250" b="0">
                <a:solidFill>
                  <a:srgbClr val="52627A"/>
                </a:solidFill>
                <a:latin typeface="Aptos"/>
              </a:rPr>
              <a:t>every square of the grid carries its own DNA barcode</a:t>
            </a:r>
          </a:p>
        </p:txBody>
      </p:sp>
      <p:sp>
        <p:nvSpPr>
          <p:cNvPr id="165" name="Oval 164"/>
          <p:cNvSpPr/>
          <p:nvPr/>
        </p:nvSpPr>
        <p:spPr>
          <a:xfrm>
            <a:off x="7333488" y="3474720"/>
            <a:ext cx="457200" cy="45720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7333488" y="3483863"/>
            <a:ext cx="457200" cy="365760"/>
          </a:xfrm>
          <a:prstGeom prst="rect">
            <a:avLst/>
          </a:prstGeom>
          <a:noFill/>
        </p:spPr>
        <p:txBody>
          <a:bodyPr wrap="square" lIns="0" rIns="0" tIns="0" bIns="0" anchor="ctr">
            <a:spAutoFit/>
          </a:bodyPr>
          <a:lstStyle/>
          <a:p>
            <a:pPr algn="ctr">
              <a:spcBef>
                <a:spcPts val="0"/>
              </a:spcBef>
              <a:spcAft>
                <a:spcPts val="0"/>
              </a:spcAft>
            </a:pPr>
            <a:r>
              <a:rPr sz="1700" b="1">
                <a:solidFill>
                  <a:srgbClr val="FFFFFF"/>
                </a:solidFill>
                <a:latin typeface="Aptos"/>
              </a:rPr>
              <a:t>2</a:t>
            </a:r>
          </a:p>
        </p:txBody>
      </p:sp>
      <p:sp>
        <p:nvSpPr>
          <p:cNvPr id="167" name="TextBox 166"/>
          <p:cNvSpPr txBox="1"/>
          <p:nvPr/>
        </p:nvSpPr>
        <p:spPr>
          <a:xfrm>
            <a:off x="7955279" y="3438144"/>
            <a:ext cx="3429000" cy="292608"/>
          </a:xfrm>
          <a:prstGeom prst="rect">
            <a:avLst/>
          </a:prstGeom>
          <a:noFill/>
        </p:spPr>
        <p:txBody>
          <a:bodyPr wrap="square" lIns="36576" rIns="36576" tIns="36576" bIns="36576" anchor="t">
            <a:spAutoFit/>
          </a:bodyPr>
          <a:lstStyle/>
          <a:p>
            <a:pPr algn="l">
              <a:spcBef>
                <a:spcPts val="0"/>
              </a:spcBef>
              <a:spcAft>
                <a:spcPts val="0"/>
              </a:spcAft>
            </a:pPr>
            <a:r>
              <a:rPr sz="1550" b="1">
                <a:solidFill>
                  <a:srgbClr val="13233B"/>
                </a:solidFill>
                <a:latin typeface="Aptos"/>
              </a:rPr>
              <a:t>Cells sit inside spots</a:t>
            </a:r>
          </a:p>
        </p:txBody>
      </p:sp>
      <p:sp>
        <p:nvSpPr>
          <p:cNvPr id="168" name="TextBox 167"/>
          <p:cNvSpPr txBox="1"/>
          <p:nvPr/>
        </p:nvSpPr>
        <p:spPr>
          <a:xfrm>
            <a:off x="7955279" y="3749039"/>
            <a:ext cx="3429000" cy="566928"/>
          </a:xfrm>
          <a:prstGeom prst="rect">
            <a:avLst/>
          </a:prstGeom>
          <a:noFill/>
        </p:spPr>
        <p:txBody>
          <a:bodyPr wrap="square" lIns="36576" rIns="36576" tIns="36576" bIns="36576" anchor="t">
            <a:spAutoFit/>
          </a:bodyPr>
          <a:lstStyle/>
          <a:p>
            <a:pPr algn="l">
              <a:spcBef>
                <a:spcPts val="0"/>
              </a:spcBef>
              <a:spcAft>
                <a:spcPts val="0"/>
              </a:spcAft>
            </a:pPr>
            <a:r>
              <a:rPr sz="1250" b="0">
                <a:solidFill>
                  <a:srgbClr val="52627A"/>
                </a:solidFill>
                <a:latin typeface="Aptos"/>
              </a:rPr>
              <a:t>a spot usually covers several cells — here two types, blue and green</a:t>
            </a:r>
          </a:p>
        </p:txBody>
      </p:sp>
      <p:sp>
        <p:nvSpPr>
          <p:cNvPr id="169" name="Oval 168"/>
          <p:cNvSpPr/>
          <p:nvPr/>
        </p:nvSpPr>
        <p:spPr>
          <a:xfrm>
            <a:off x="7333488" y="4590288"/>
            <a:ext cx="457200" cy="457200"/>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7333488" y="4599431"/>
            <a:ext cx="457200" cy="365760"/>
          </a:xfrm>
          <a:prstGeom prst="rect">
            <a:avLst/>
          </a:prstGeom>
          <a:noFill/>
        </p:spPr>
        <p:txBody>
          <a:bodyPr wrap="square" lIns="0" rIns="0" tIns="0" bIns="0" anchor="ctr">
            <a:spAutoFit/>
          </a:bodyPr>
          <a:lstStyle/>
          <a:p>
            <a:pPr algn="ctr">
              <a:spcBef>
                <a:spcPts val="0"/>
              </a:spcBef>
              <a:spcAft>
                <a:spcPts val="0"/>
              </a:spcAft>
            </a:pPr>
            <a:r>
              <a:rPr sz="1700" b="1">
                <a:solidFill>
                  <a:srgbClr val="FFFFFF"/>
                </a:solidFill>
                <a:latin typeface="Aptos"/>
              </a:rPr>
              <a:t>3</a:t>
            </a:r>
          </a:p>
        </p:txBody>
      </p:sp>
      <p:sp>
        <p:nvSpPr>
          <p:cNvPr id="171" name="TextBox 170"/>
          <p:cNvSpPr txBox="1"/>
          <p:nvPr/>
        </p:nvSpPr>
        <p:spPr>
          <a:xfrm>
            <a:off x="7955279" y="4553712"/>
            <a:ext cx="3429000" cy="292608"/>
          </a:xfrm>
          <a:prstGeom prst="rect">
            <a:avLst/>
          </a:prstGeom>
          <a:noFill/>
        </p:spPr>
        <p:txBody>
          <a:bodyPr wrap="square" lIns="36576" rIns="36576" tIns="36576" bIns="36576" anchor="t">
            <a:spAutoFit/>
          </a:bodyPr>
          <a:lstStyle/>
          <a:p>
            <a:pPr algn="l">
              <a:spcBef>
                <a:spcPts val="0"/>
              </a:spcBef>
              <a:spcAft>
                <a:spcPts val="0"/>
              </a:spcAft>
            </a:pPr>
            <a:r>
              <a:rPr sz="1550" b="1">
                <a:solidFill>
                  <a:srgbClr val="13233B"/>
                </a:solidFill>
                <a:latin typeface="Aptos"/>
              </a:rPr>
              <a:t>One profile per spot</a:t>
            </a:r>
          </a:p>
        </p:txBody>
      </p:sp>
      <p:sp>
        <p:nvSpPr>
          <p:cNvPr id="172" name="TextBox 171"/>
          <p:cNvSpPr txBox="1"/>
          <p:nvPr/>
        </p:nvSpPr>
        <p:spPr>
          <a:xfrm>
            <a:off x="7955279" y="4864607"/>
            <a:ext cx="3429000" cy="566928"/>
          </a:xfrm>
          <a:prstGeom prst="rect">
            <a:avLst/>
          </a:prstGeom>
          <a:noFill/>
        </p:spPr>
        <p:txBody>
          <a:bodyPr wrap="square" lIns="36576" rIns="36576" tIns="36576" bIns="36576" anchor="t">
            <a:spAutoFit/>
          </a:bodyPr>
          <a:lstStyle/>
          <a:p>
            <a:pPr algn="l">
              <a:spcBef>
                <a:spcPts val="0"/>
              </a:spcBef>
              <a:spcAft>
                <a:spcPts val="0"/>
              </a:spcAft>
            </a:pPr>
            <a:r>
              <a:rPr sz="1250" b="0">
                <a:solidFill>
                  <a:srgbClr val="52627A"/>
                </a:solidFill>
                <a:latin typeface="Aptos"/>
              </a:rPr>
              <a:t>each spot reports a single ATAC peak-count profile for all its cells together</a:t>
            </a:r>
          </a:p>
        </p:txBody>
      </p:sp>
      <p:sp>
        <p:nvSpPr>
          <p:cNvPr id="173" name="Rounded Rectangle 172"/>
          <p:cNvSpPr/>
          <p:nvPr/>
        </p:nvSpPr>
        <p:spPr>
          <a:xfrm>
            <a:off x="3264408" y="5998464"/>
            <a:ext cx="5669280" cy="36576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050" b="1">
                <a:solidFill>
                  <a:srgbClr val="FFFFFF"/>
                </a:solidFill>
                <a:latin typeface="Aptos"/>
              </a:rPr>
              <a:t>RESULT: ATAC PEAK COUNTS AT EVERY SPOT IN THE TISSUE</a:t>
            </a:r>
          </a:p>
        </p:txBody>
      </p:sp>
      <p:sp>
        <p:nvSpPr>
          <p:cNvPr id="174" name="TextBox 173"/>
          <p:cNvSpPr txBox="1"/>
          <p:nvPr/>
        </p:nvSpPr>
        <p:spPr>
          <a:xfrm>
            <a:off x="11137392" y="310896"/>
            <a:ext cx="411480" cy="227685"/>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WHY DECONVOLUTION</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Spots are bigger than cells, so each spot reports blended peak counts</a:t>
            </a:r>
          </a:p>
        </p:txBody>
      </p:sp>
      <p:sp>
        <p:nvSpPr>
          <p:cNvPr id="4" name="TextBox 3"/>
          <p:cNvSpPr txBox="1"/>
          <p:nvPr/>
        </p:nvSpPr>
        <p:spPr>
          <a:xfrm>
            <a:off x="658368" y="1042415"/>
            <a:ext cx="10826496" cy="420624"/>
          </a:xfrm>
          <a:prstGeom prst="rect">
            <a:avLst/>
          </a:prstGeom>
          <a:noFill/>
        </p:spPr>
        <p:txBody>
          <a:bodyPr wrap="square" lIns="36576" rIns="36576" tIns="36576" bIns="36576" anchor="t">
            <a:spAutoFit/>
          </a:bodyPr>
          <a:lstStyle/>
          <a:p>
            <a:pPr algn="ctr">
              <a:spcBef>
                <a:spcPts val="0"/>
              </a:spcBef>
              <a:spcAft>
                <a:spcPts val="0"/>
              </a:spcAft>
            </a:pPr>
            <a:r>
              <a:rPr sz="1850" b="0">
                <a:solidFill>
                  <a:srgbClr val="52627A"/>
                </a:solidFill>
                <a:latin typeface="Aptos"/>
              </a:rPr>
              <a:t>A spot is about 50 µm across; a cell is about 10 µm. Every cell under a spot shares the same spot barcode.</a:t>
            </a:r>
          </a:p>
        </p:txBody>
      </p:sp>
      <p:sp>
        <p:nvSpPr>
          <p:cNvPr id="5" name="Rounded Rectangle 4"/>
          <p:cNvSpPr/>
          <p:nvPr/>
        </p:nvSpPr>
        <p:spPr>
          <a:xfrm>
            <a:off x="658368" y="1700784"/>
            <a:ext cx="4846320" cy="420624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883664"/>
            <a:ext cx="4389120" cy="310896"/>
          </a:xfrm>
          <a:prstGeom prst="rect">
            <a:avLst/>
          </a:prstGeom>
          <a:noFill/>
        </p:spPr>
        <p:txBody>
          <a:bodyPr wrap="square" lIns="36576" rIns="36576" tIns="36576" bIns="36576" anchor="t">
            <a:spAutoFit/>
          </a:bodyPr>
          <a:lstStyle/>
          <a:p>
            <a:pPr algn="l">
              <a:spcBef>
                <a:spcPts val="0"/>
              </a:spcBef>
              <a:spcAft>
                <a:spcPts val="0"/>
              </a:spcAft>
            </a:pPr>
            <a:r>
              <a:rPr sz="1800" b="1">
                <a:solidFill>
                  <a:srgbClr val="13233B"/>
                </a:solidFill>
                <a:latin typeface="Aptos"/>
              </a:rPr>
              <a:t>One spot under the microscope</a:t>
            </a:r>
          </a:p>
        </p:txBody>
      </p:sp>
      <p:cxnSp>
        <p:nvCxnSpPr>
          <p:cNvPr id="28" name="Connector 27"/>
          <p:cNvCxnSpPr/>
          <p:nvPr/>
        </p:nvCxnSpPr>
        <p:spPr>
          <a:xfrm>
            <a:off x="1778508" y="5230368"/>
            <a:ext cx="2606040" cy="0"/>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77850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454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377440" y="5285232"/>
            <a:ext cx="1417320" cy="237744"/>
          </a:xfrm>
          <a:prstGeom prst="rect">
            <a:avLst/>
          </a:prstGeom>
          <a:noFill/>
        </p:spPr>
        <p:txBody>
          <a:bodyPr wrap="square" lIns="9144" rIns="9144" tIns="9144" bIns="9144" anchor="t">
            <a:spAutoFit/>
          </a:bodyPr>
          <a:lstStyle/>
          <a:p>
            <a:pPr algn="ctr">
              <a:spcBef>
                <a:spcPts val="0"/>
              </a:spcBef>
              <a:spcAft>
                <a:spcPts val="0"/>
              </a:spcAft>
            </a:pPr>
            <a:r>
              <a:rPr sz="1100" b="1">
                <a:solidFill>
                  <a:srgbClr val="52627A"/>
                </a:solidFill>
                <a:latin typeface="Aptos"/>
              </a:rPr>
              <a:t>spot ≈ 50 µm</a:t>
            </a:r>
          </a:p>
        </p:txBody>
      </p:sp>
      <p:sp>
        <p:nvSpPr>
          <p:cNvPr id="32" name="Rounded Rectangle 31"/>
          <p:cNvSpPr/>
          <p:nvPr/>
        </p:nvSpPr>
        <p:spPr>
          <a:xfrm>
            <a:off x="1298448" y="5541264"/>
            <a:ext cx="3566160"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OFTEN ~10 CELLS SHARE ONE SPOT BARCODE</a:t>
            </a:r>
          </a:p>
        </p:txBody>
      </p:sp>
      <p:sp>
        <p:nvSpPr>
          <p:cNvPr id="33" name="Rounded Rectangle 32"/>
          <p:cNvSpPr/>
          <p:nvPr/>
        </p:nvSpPr>
        <p:spPr>
          <a:xfrm>
            <a:off x="5870448" y="1700784"/>
            <a:ext cx="5660136" cy="420624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1883664"/>
            <a:ext cx="3108960" cy="310896"/>
          </a:xfrm>
          <a:prstGeom prst="rect">
            <a:avLst/>
          </a:prstGeom>
          <a:noFill/>
        </p:spPr>
        <p:txBody>
          <a:bodyPr wrap="square" lIns="36576" rIns="36576" tIns="36576" bIns="36576" anchor="t">
            <a:spAutoFit/>
          </a:bodyPr>
          <a:lstStyle/>
          <a:p>
            <a:pPr algn="l">
              <a:spcBef>
                <a:spcPts val="0"/>
              </a:spcBef>
              <a:spcAft>
                <a:spcPts val="0"/>
              </a:spcAft>
            </a:pPr>
            <a:r>
              <a:rPr sz="1800" b="1">
                <a:solidFill>
                  <a:srgbClr val="13233B"/>
                </a:solidFill>
                <a:latin typeface="Aptos"/>
              </a:rPr>
              <a:t>What one spot reports</a:t>
            </a:r>
          </a:p>
        </p:txBody>
      </p:sp>
      <p:sp>
        <p:nvSpPr>
          <p:cNvPr id="35" name="Rounded Rectangle 34"/>
          <p:cNvSpPr/>
          <p:nvPr/>
        </p:nvSpPr>
        <p:spPr>
          <a:xfrm>
            <a:off x="8732520" y="2231136"/>
            <a:ext cx="269748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819" b="1">
                <a:solidFill>
                  <a:srgbClr val="FFFFFF"/>
                </a:solidFill>
                <a:latin typeface="Aptos"/>
              </a:rPr>
              <a:t>ONE BLENDED PROFILE PER SPOT BARCODE</a:t>
            </a:r>
          </a:p>
        </p:txBody>
      </p:sp>
      <p:sp>
        <p:nvSpPr>
          <p:cNvPr id="36" name="Oval 35"/>
          <p:cNvSpPr/>
          <p:nvPr/>
        </p:nvSpPr>
        <p:spPr>
          <a:xfrm>
            <a:off x="62636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879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3640" y="2651760"/>
            <a:ext cx="365760" cy="34747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T</a:t>
            </a:r>
          </a:p>
        </p:txBody>
      </p:sp>
      <p:sp>
        <p:nvSpPr>
          <p:cNvPr id="39" name="Oval 38"/>
          <p:cNvSpPr/>
          <p:nvPr/>
        </p:nvSpPr>
        <p:spPr>
          <a:xfrm>
            <a:off x="67208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8451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20840" y="2651760"/>
            <a:ext cx="365760" cy="34747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T</a:t>
            </a:r>
          </a:p>
        </p:txBody>
      </p:sp>
      <p:sp>
        <p:nvSpPr>
          <p:cNvPr id="42" name="Oval 41"/>
          <p:cNvSpPr/>
          <p:nvPr/>
        </p:nvSpPr>
        <p:spPr>
          <a:xfrm>
            <a:off x="71780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3023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78040" y="2651760"/>
            <a:ext cx="365760" cy="34747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T</a:t>
            </a:r>
          </a:p>
        </p:txBody>
      </p:sp>
      <p:sp>
        <p:nvSpPr>
          <p:cNvPr id="45" name="Oval 44"/>
          <p:cNvSpPr/>
          <p:nvPr/>
        </p:nvSpPr>
        <p:spPr>
          <a:xfrm>
            <a:off x="7790688" y="2651760"/>
            <a:ext cx="365760" cy="36576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915046"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90688" y="2651760"/>
            <a:ext cx="365760" cy="347472"/>
          </a:xfrm>
          <a:prstGeom prst="rect">
            <a:avLst/>
          </a:prstGeom>
          <a:noFill/>
        </p:spPr>
        <p:txBody>
          <a:bodyPr wrap="square" lIns="0" rIns="0" tIns="0" bIns="0" anchor="ctr">
            <a:spAutoFit/>
          </a:bodyPr>
          <a:lstStyle/>
          <a:p>
            <a:pPr algn="ctr">
              <a:spcBef>
                <a:spcPts val="0"/>
              </a:spcBef>
              <a:spcAft>
                <a:spcPts val="0"/>
              </a:spcAft>
            </a:pPr>
            <a:r>
              <a:rPr sz="1100" b="1">
                <a:solidFill>
                  <a:srgbClr val="FFFFFF"/>
                </a:solidFill>
                <a:latin typeface="Aptos"/>
              </a:rPr>
              <a:t>B</a:t>
            </a:r>
          </a:p>
        </p:txBody>
      </p:sp>
      <p:sp>
        <p:nvSpPr>
          <p:cNvPr id="48" name="TextBox 47"/>
          <p:cNvSpPr txBox="1"/>
          <p:nvPr/>
        </p:nvSpPr>
        <p:spPr>
          <a:xfrm>
            <a:off x="7598664" y="2688336"/>
            <a:ext cx="237744" cy="292608"/>
          </a:xfrm>
          <a:prstGeom prst="rect">
            <a:avLst/>
          </a:prstGeom>
          <a:noFill/>
        </p:spPr>
        <p:txBody>
          <a:bodyPr wrap="square" lIns="0" rIns="0" tIns="0" bIns="0" anchor="t">
            <a:spAutoFit/>
          </a:bodyPr>
          <a:lstStyle/>
          <a:p>
            <a:pPr algn="ctr">
              <a:spcBef>
                <a:spcPts val="0"/>
              </a:spcBef>
              <a:spcAft>
                <a:spcPts val="0"/>
              </a:spcAft>
            </a:pPr>
            <a:r>
              <a:rPr sz="1600" b="1">
                <a:solidFill>
                  <a:srgbClr val="52627A"/>
                </a:solidFill>
                <a:latin typeface="Aptos"/>
              </a:rPr>
              <a:t>+</a:t>
            </a:r>
          </a:p>
        </p:txBody>
      </p:sp>
      <p:sp>
        <p:nvSpPr>
          <p:cNvPr id="49" name="TextBox 48"/>
          <p:cNvSpPr txBox="1"/>
          <p:nvPr/>
        </p:nvSpPr>
        <p:spPr>
          <a:xfrm>
            <a:off x="8321040" y="2633472"/>
            <a:ext cx="3063240" cy="502920"/>
          </a:xfrm>
          <a:prstGeom prst="rect">
            <a:avLst/>
          </a:prstGeom>
          <a:noFill/>
        </p:spPr>
        <p:txBody>
          <a:bodyPr wrap="square" lIns="36576" rIns="36576" tIns="36576" bIns="36576" anchor="t">
            <a:spAutoFit/>
          </a:bodyPr>
          <a:lstStyle/>
          <a:p>
            <a:pPr algn="l">
              <a:spcBef>
                <a:spcPts val="0"/>
              </a:spcBef>
              <a:spcAft>
                <a:spcPts val="0"/>
              </a:spcAft>
            </a:pPr>
            <a:r>
              <a:rPr sz="1250" b="1">
                <a:solidFill>
                  <a:srgbClr val="13233B"/>
                </a:solidFill>
                <a:latin typeface="Aptos"/>
              </a:rPr>
              <a:t>3 T cells + 1 B cell caught under the same spot</a:t>
            </a:r>
          </a:p>
        </p:txBody>
      </p:sp>
      <p:sp>
        <p:nvSpPr>
          <p:cNvPr id="50" name="Down Arrow 49"/>
          <p:cNvSpPr/>
          <p:nvPr/>
        </p:nvSpPr>
        <p:spPr>
          <a:xfrm>
            <a:off x="6519672" y="3063240"/>
            <a:ext cx="310896" cy="365760"/>
          </a:xfrm>
          <a:prstGeom prst="down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995160" y="3346704"/>
            <a:ext cx="566928" cy="160934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22008" y="3127248"/>
            <a:ext cx="713232" cy="182880"/>
          </a:xfrm>
          <a:prstGeom prst="rect">
            <a:avLst/>
          </a:prstGeom>
          <a:noFill/>
        </p:spPr>
        <p:txBody>
          <a:bodyPr wrap="square" lIns="0" rIns="0" tIns="0" bIns="0" anchor="t">
            <a:spAutoFit/>
          </a:bodyPr>
          <a:lstStyle/>
          <a:p>
            <a:pPr algn="ctr">
              <a:spcBef>
                <a:spcPts val="0"/>
              </a:spcBef>
              <a:spcAft>
                <a:spcPts val="0"/>
              </a:spcAft>
            </a:pPr>
            <a:r>
              <a:rPr sz="1100" b="1">
                <a:solidFill>
                  <a:srgbClr val="13233B"/>
                </a:solidFill>
                <a:latin typeface="Aptos"/>
              </a:rPr>
              <a:t>8</a:t>
            </a:r>
          </a:p>
        </p:txBody>
      </p:sp>
      <p:sp>
        <p:nvSpPr>
          <p:cNvPr id="53" name="TextBox 52"/>
          <p:cNvSpPr txBox="1"/>
          <p:nvPr/>
        </p:nvSpPr>
        <p:spPr>
          <a:xfrm>
            <a:off x="6922008" y="5001768"/>
            <a:ext cx="713232" cy="164592"/>
          </a:xfrm>
          <a:prstGeom prst="rect">
            <a:avLst/>
          </a:prstGeom>
          <a:noFill/>
        </p:spPr>
        <p:txBody>
          <a:bodyPr wrap="square" lIns="0" rIns="0" tIns="0" bIns="0" anchor="t">
            <a:spAutoFit/>
          </a:bodyPr>
          <a:lstStyle/>
          <a:p>
            <a:pPr algn="ctr">
              <a:spcBef>
                <a:spcPts val="0"/>
              </a:spcBef>
              <a:spcAft>
                <a:spcPts val="0"/>
              </a:spcAft>
            </a:pPr>
            <a:r>
              <a:rPr sz="950" b="1">
                <a:solidFill>
                  <a:srgbClr val="52627A"/>
                </a:solidFill>
                <a:latin typeface="Aptos"/>
              </a:rPr>
              <a:t>P1</a:t>
            </a:r>
          </a:p>
        </p:txBody>
      </p:sp>
      <p:sp>
        <p:nvSpPr>
          <p:cNvPr id="54" name="Rectangle 53"/>
          <p:cNvSpPr/>
          <p:nvPr/>
        </p:nvSpPr>
        <p:spPr>
          <a:xfrm>
            <a:off x="7946136" y="4151376"/>
            <a:ext cx="566928" cy="8046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72984" y="3931920"/>
            <a:ext cx="713232" cy="182880"/>
          </a:xfrm>
          <a:prstGeom prst="rect">
            <a:avLst/>
          </a:prstGeom>
          <a:noFill/>
        </p:spPr>
        <p:txBody>
          <a:bodyPr wrap="square" lIns="0" rIns="0" tIns="0" bIns="0" anchor="t">
            <a:spAutoFit/>
          </a:bodyPr>
          <a:lstStyle/>
          <a:p>
            <a:pPr algn="ctr">
              <a:spcBef>
                <a:spcPts val="0"/>
              </a:spcBef>
              <a:spcAft>
                <a:spcPts val="0"/>
              </a:spcAft>
            </a:pPr>
            <a:r>
              <a:rPr sz="1100" b="1">
                <a:solidFill>
                  <a:srgbClr val="13233B"/>
                </a:solidFill>
                <a:latin typeface="Aptos"/>
              </a:rPr>
              <a:t>4</a:t>
            </a:r>
          </a:p>
        </p:txBody>
      </p:sp>
      <p:sp>
        <p:nvSpPr>
          <p:cNvPr id="56" name="TextBox 55"/>
          <p:cNvSpPr txBox="1"/>
          <p:nvPr/>
        </p:nvSpPr>
        <p:spPr>
          <a:xfrm>
            <a:off x="7872984" y="5001768"/>
            <a:ext cx="713232" cy="164592"/>
          </a:xfrm>
          <a:prstGeom prst="rect">
            <a:avLst/>
          </a:prstGeom>
          <a:noFill/>
        </p:spPr>
        <p:txBody>
          <a:bodyPr wrap="square" lIns="0" rIns="0" tIns="0" bIns="0" anchor="t">
            <a:spAutoFit/>
          </a:bodyPr>
          <a:lstStyle/>
          <a:p>
            <a:pPr algn="ctr">
              <a:spcBef>
                <a:spcPts val="0"/>
              </a:spcBef>
              <a:spcAft>
                <a:spcPts val="0"/>
              </a:spcAft>
            </a:pPr>
            <a:r>
              <a:rPr sz="950" b="1">
                <a:solidFill>
                  <a:srgbClr val="52627A"/>
                </a:solidFill>
                <a:latin typeface="Aptos"/>
              </a:rPr>
              <a:t>P2</a:t>
            </a:r>
          </a:p>
        </p:txBody>
      </p:sp>
      <p:sp>
        <p:nvSpPr>
          <p:cNvPr id="57" name="Rectangle 56"/>
          <p:cNvSpPr/>
          <p:nvPr/>
        </p:nvSpPr>
        <p:spPr>
          <a:xfrm>
            <a:off x="8897112" y="3547872"/>
            <a:ext cx="566928" cy="14081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823960" y="3328415"/>
            <a:ext cx="713232" cy="182880"/>
          </a:xfrm>
          <a:prstGeom prst="rect">
            <a:avLst/>
          </a:prstGeom>
          <a:noFill/>
        </p:spPr>
        <p:txBody>
          <a:bodyPr wrap="square" lIns="0" rIns="0" tIns="0" bIns="0" anchor="t">
            <a:spAutoFit/>
          </a:bodyPr>
          <a:lstStyle/>
          <a:p>
            <a:pPr algn="ctr">
              <a:spcBef>
                <a:spcPts val="0"/>
              </a:spcBef>
              <a:spcAft>
                <a:spcPts val="0"/>
              </a:spcAft>
            </a:pPr>
            <a:r>
              <a:rPr sz="1100" b="1">
                <a:solidFill>
                  <a:srgbClr val="13233B"/>
                </a:solidFill>
                <a:latin typeface="Aptos"/>
              </a:rPr>
              <a:t>7</a:t>
            </a:r>
          </a:p>
        </p:txBody>
      </p:sp>
      <p:sp>
        <p:nvSpPr>
          <p:cNvPr id="59" name="TextBox 58"/>
          <p:cNvSpPr txBox="1"/>
          <p:nvPr/>
        </p:nvSpPr>
        <p:spPr>
          <a:xfrm>
            <a:off x="8823960" y="5001768"/>
            <a:ext cx="713232" cy="164592"/>
          </a:xfrm>
          <a:prstGeom prst="rect">
            <a:avLst/>
          </a:prstGeom>
          <a:noFill/>
        </p:spPr>
        <p:txBody>
          <a:bodyPr wrap="square" lIns="0" rIns="0" tIns="0" bIns="0" anchor="t">
            <a:spAutoFit/>
          </a:bodyPr>
          <a:lstStyle/>
          <a:p>
            <a:pPr algn="ctr">
              <a:spcBef>
                <a:spcPts val="0"/>
              </a:spcBef>
              <a:spcAft>
                <a:spcPts val="0"/>
              </a:spcAft>
            </a:pPr>
            <a:r>
              <a:rPr sz="950" b="1">
                <a:solidFill>
                  <a:srgbClr val="52627A"/>
                </a:solidFill>
                <a:latin typeface="Aptos"/>
              </a:rPr>
              <a:t>P3</a:t>
            </a:r>
          </a:p>
        </p:txBody>
      </p:sp>
      <p:sp>
        <p:nvSpPr>
          <p:cNvPr id="60" name="Rectangle 59"/>
          <p:cNvSpPr/>
          <p:nvPr/>
        </p:nvSpPr>
        <p:spPr>
          <a:xfrm>
            <a:off x="9848088" y="3950208"/>
            <a:ext cx="566928" cy="1005840"/>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74936" y="3730752"/>
            <a:ext cx="713232" cy="182880"/>
          </a:xfrm>
          <a:prstGeom prst="rect">
            <a:avLst/>
          </a:prstGeom>
          <a:noFill/>
        </p:spPr>
        <p:txBody>
          <a:bodyPr wrap="square" lIns="0" rIns="0" tIns="0" bIns="0" anchor="t">
            <a:spAutoFit/>
          </a:bodyPr>
          <a:lstStyle/>
          <a:p>
            <a:pPr algn="ctr">
              <a:spcBef>
                <a:spcPts val="0"/>
              </a:spcBef>
              <a:spcAft>
                <a:spcPts val="0"/>
              </a:spcAft>
            </a:pPr>
            <a:r>
              <a:rPr sz="1100" b="1">
                <a:solidFill>
                  <a:srgbClr val="13233B"/>
                </a:solidFill>
                <a:latin typeface="Aptos"/>
              </a:rPr>
              <a:t>5</a:t>
            </a:r>
          </a:p>
        </p:txBody>
      </p:sp>
      <p:sp>
        <p:nvSpPr>
          <p:cNvPr id="62" name="TextBox 61"/>
          <p:cNvSpPr txBox="1"/>
          <p:nvPr/>
        </p:nvSpPr>
        <p:spPr>
          <a:xfrm>
            <a:off x="9774936" y="5001768"/>
            <a:ext cx="713232" cy="164592"/>
          </a:xfrm>
          <a:prstGeom prst="rect">
            <a:avLst/>
          </a:prstGeom>
          <a:noFill/>
        </p:spPr>
        <p:txBody>
          <a:bodyPr wrap="square" lIns="0" rIns="0" tIns="0" bIns="0" anchor="t">
            <a:spAutoFit/>
          </a:bodyPr>
          <a:lstStyle/>
          <a:p>
            <a:pPr algn="ctr">
              <a:spcBef>
                <a:spcPts val="0"/>
              </a:spcBef>
              <a:spcAft>
                <a:spcPts val="0"/>
              </a:spcAft>
            </a:pPr>
            <a:r>
              <a:rPr sz="950" b="1">
                <a:solidFill>
                  <a:srgbClr val="52627A"/>
                </a:solidFill>
                <a:latin typeface="Aptos"/>
              </a:rPr>
              <a:t>P4</a:t>
            </a:r>
          </a:p>
        </p:txBody>
      </p:sp>
      <p:cxnSp>
        <p:nvCxnSpPr>
          <p:cNvPr id="63" name="Connector 62"/>
          <p:cNvCxnSpPr/>
          <p:nvPr/>
        </p:nvCxnSpPr>
        <p:spPr>
          <a:xfrm>
            <a:off x="6903720" y="4956048"/>
            <a:ext cx="3611880"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126480" y="5413248"/>
            <a:ext cx="5166360" cy="310896"/>
          </a:xfrm>
          <a:prstGeom prst="rect">
            <a:avLst/>
          </a:prstGeom>
          <a:noFill/>
        </p:spPr>
        <p:txBody>
          <a:bodyPr wrap="square" lIns="36576" rIns="36576" tIns="36576" bIns="36576" anchor="t">
            <a:spAutoFit/>
          </a:bodyPr>
          <a:lstStyle/>
          <a:p>
            <a:pPr algn="ctr">
              <a:spcBef>
                <a:spcPts val="0"/>
              </a:spcBef>
              <a:spcAft>
                <a:spcPts val="0"/>
              </a:spcAft>
            </a:pPr>
            <a:r>
              <a:rPr sz="1400" b="1">
                <a:solidFill>
                  <a:srgbClr val="F26B5B"/>
                </a:solidFill>
                <a:latin typeface="Aptos"/>
              </a:rPr>
              <a:t>Which cells contributed what is hidden in this blend</a:t>
            </a:r>
          </a:p>
        </p:txBody>
      </p:sp>
      <p:sp>
        <p:nvSpPr>
          <p:cNvPr id="65" name="Rounded Rectangle 64"/>
          <p:cNvSpPr/>
          <p:nvPr/>
        </p:nvSpPr>
        <p:spPr>
          <a:xfrm>
            <a:off x="658368" y="6016752"/>
            <a:ext cx="10881360" cy="40233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 y="6062472"/>
            <a:ext cx="10369296" cy="292608"/>
          </a:xfrm>
          <a:prstGeom prst="rect">
            <a:avLst/>
          </a:prstGeom>
          <a:noFill/>
        </p:spPr>
        <p:txBody>
          <a:bodyPr wrap="square" lIns="36576" rIns="36576" tIns="36576" bIns="36576">
            <a:spAutoFit/>
          </a:bodyPr>
          <a:lstStyle/>
          <a:p>
            <a:pPr algn="ctr"/>
            <a:r>
              <a:rPr sz="1350" b="1">
                <a:solidFill>
                  <a:srgbClr val="FFFFFF"/>
                </a:solidFill>
                <a:latin typeface="Aptos"/>
              </a:rPr>
              <a:t>Un-mixing each spot back into breakdown of cell counts by cell-type  is called DECONVOLUTION.</a:t>
            </a:r>
          </a:p>
        </p:txBody>
      </p:sp>
      <p:cxnSp>
        <p:nvCxnSpPr>
          <p:cNvPr id="67" name="Connector 6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1778508" y="2446020"/>
            <a:ext cx="2606040" cy="2606040"/>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2157984" y="288950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319649" y="304641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798063" y="2779776"/>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959729" y="293668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438144" y="29809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599809" y="31378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975104" y="352958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136769" y="368649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2615184" y="34381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2776849" y="35950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300984" y="3557016"/>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462649" y="371392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249424" y="4169664"/>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411089" y="432657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483864" y="407822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645529" y="423513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462272" y="2761488"/>
            <a:ext cx="1005840" cy="402336"/>
          </a:xfrm>
          <a:prstGeom prst="rect">
            <a:avLst/>
          </a:prstGeom>
          <a:noFill/>
        </p:spPr>
        <p:txBody>
          <a:bodyPr wrap="square" lIns="36576" rIns="36576" tIns="36576" bIns="36576">
            <a:spAutoFit/>
          </a:bodyPr>
          <a:lstStyle/>
          <a:p>
            <a:pPr algn="l"/>
            <a:r>
              <a:rPr sz="1000" b="1">
                <a:solidFill>
                  <a:srgbClr val="52627A"/>
                </a:solidFill>
                <a:latin typeface="Aptos"/>
              </a:rPr>
              <a:t>one cell
≈ 10 µm</a:t>
            </a:r>
          </a:p>
        </p:txBody>
      </p:sp>
      <p:cxnSp>
        <p:nvCxnSpPr>
          <p:cNvPr id="87" name="Connector 86"/>
          <p:cNvCxnSpPr/>
          <p:nvPr/>
        </p:nvCxnSpPr>
        <p:spPr>
          <a:xfrm flipH="1">
            <a:off x="3950208" y="3145536"/>
            <a:ext cx="493776" cy="100584"/>
          </a:xfrm>
          <a:prstGeom prst="line">
            <a:avLst/>
          </a:prstGeom>
          <a:ln w="12700">
            <a:solidFill>
              <a:srgbClr val="52627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05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WHY THIS WORK MATTERS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A better deconvolution method can help many studies</a:t>
            </a:r>
          </a:p>
        </p:txBody>
      </p:sp>
      <p:sp>
        <p:nvSpPr>
          <p:cNvPr id="4" name="TextBox 3"/>
          <p:cNvSpPr txBox="1"/>
          <p:nvPr/>
        </p:nvSpPr>
        <p:spPr>
          <a:xfrm>
            <a:off x="685800" y="1234440"/>
            <a:ext cx="10817352" cy="365760"/>
          </a:xfrm>
          <a:prstGeom prst="rect">
            <a:avLst/>
          </a:prstGeom>
          <a:noFill/>
        </p:spPr>
        <p:txBody>
          <a:bodyPr wrap="square" lIns="36576" rIns="36576" tIns="36576" bIns="36576" anchor="ctr">
            <a:spAutoFit/>
          </a:bodyPr>
          <a:lstStyle/>
          <a:p>
            <a:pPr algn="ctr">
              <a:spcBef>
                <a:spcPts val="0"/>
              </a:spcBef>
              <a:spcAft>
                <a:spcPts val="0"/>
              </a:spcAft>
            </a:pPr>
            <a:r>
              <a:rPr sz="1600" b="1">
                <a:solidFill>
                  <a:srgbClr val="52627A"/>
                </a:solidFill>
                <a:latin typeface="Aptos"/>
              </a:rPr>
              <a:t>Researchers across genomics use deconvolution to interpret mixed measurements.</a:t>
            </a:r>
          </a:p>
        </p:txBody>
      </p:sp>
      <p:sp>
        <p:nvSpPr>
          <p:cNvPr id="5" name="Rounded Rectangle 4"/>
          <p:cNvSpPr/>
          <p:nvPr/>
        </p:nvSpPr>
        <p:spPr>
          <a:xfrm>
            <a:off x="640080" y="2039112"/>
            <a:ext cx="3255264" cy="2468880"/>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53312" y="2258568"/>
            <a:ext cx="182880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COMMON PROBLEM</a:t>
            </a:r>
          </a:p>
        </p:txBody>
      </p:sp>
      <p:sp>
        <p:nvSpPr>
          <p:cNvPr id="7" name="TextBox 6"/>
          <p:cNvSpPr txBox="1"/>
          <p:nvPr/>
        </p:nvSpPr>
        <p:spPr>
          <a:xfrm>
            <a:off x="822959" y="2816352"/>
            <a:ext cx="2889504" cy="438912"/>
          </a:xfrm>
          <a:prstGeom prst="rect">
            <a:avLst/>
          </a:prstGeom>
          <a:noFill/>
        </p:spPr>
        <p:txBody>
          <a:bodyPr wrap="square" lIns="36576" rIns="36576" tIns="36576" bIns="36576" anchor="ctr">
            <a:spAutoFit/>
          </a:bodyPr>
          <a:lstStyle/>
          <a:p>
            <a:pPr algn="ctr">
              <a:spcBef>
                <a:spcPts val="0"/>
              </a:spcBef>
              <a:spcAft>
                <a:spcPts val="0"/>
              </a:spcAft>
            </a:pPr>
            <a:r>
              <a:rPr sz="2000" b="1">
                <a:solidFill>
                  <a:srgbClr val="13233B"/>
                </a:solidFill>
                <a:latin typeface="Aptos"/>
              </a:rPr>
              <a:t>Mixed data</a:t>
            </a:r>
          </a:p>
        </p:txBody>
      </p:sp>
      <p:sp>
        <p:nvSpPr>
          <p:cNvPr id="8" name="TextBox 7"/>
          <p:cNvSpPr txBox="1"/>
          <p:nvPr/>
        </p:nvSpPr>
        <p:spPr>
          <a:xfrm>
            <a:off x="896112" y="3410712"/>
            <a:ext cx="2743200" cy="676656"/>
          </a:xfrm>
          <a:prstGeom prst="rect">
            <a:avLst/>
          </a:prstGeom>
          <a:noFill/>
        </p:spPr>
        <p:txBody>
          <a:bodyPr wrap="square" lIns="36576" rIns="36576" tIns="36576" bIns="36576" anchor="ctr">
            <a:spAutoFit/>
          </a:bodyPr>
          <a:lstStyle/>
          <a:p>
            <a:pPr algn="ctr">
              <a:spcBef>
                <a:spcPts val="0"/>
              </a:spcBef>
              <a:spcAft>
                <a:spcPts val="0"/>
              </a:spcAft>
            </a:pPr>
            <a:r>
              <a:rPr sz="1250" b="0">
                <a:solidFill>
                  <a:srgbClr val="213047"/>
                </a:solidFill>
                <a:latin typeface="Aptos"/>
              </a:rPr>
              <a:t>A sample or spatial spot can contain several cell types.</a:t>
            </a:r>
          </a:p>
        </p:txBody>
      </p:sp>
      <p:sp>
        <p:nvSpPr>
          <p:cNvPr id="9" name="TextBox 8"/>
          <p:cNvSpPr txBox="1"/>
          <p:nvPr/>
        </p:nvSpPr>
        <p:spPr>
          <a:xfrm>
            <a:off x="3941063" y="2898648"/>
            <a:ext cx="438912" cy="502920"/>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18A999"/>
                </a:solidFill>
                <a:latin typeface="Aptos"/>
              </a:rPr>
              <a:t>→</a:t>
            </a:r>
          </a:p>
        </p:txBody>
      </p:sp>
      <p:sp>
        <p:nvSpPr>
          <p:cNvPr id="10" name="Rounded Rectangle 9"/>
          <p:cNvSpPr/>
          <p:nvPr/>
        </p:nvSpPr>
        <p:spPr>
          <a:xfrm>
            <a:off x="4462272" y="2039112"/>
            <a:ext cx="3255264" cy="24688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75504" y="2258568"/>
            <a:ext cx="182880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WIDELY USED TOOL</a:t>
            </a:r>
          </a:p>
        </p:txBody>
      </p:sp>
      <p:sp>
        <p:nvSpPr>
          <p:cNvPr id="12" name="TextBox 11"/>
          <p:cNvSpPr txBox="1"/>
          <p:nvPr/>
        </p:nvSpPr>
        <p:spPr>
          <a:xfrm>
            <a:off x="4645152" y="2816352"/>
            <a:ext cx="2889504" cy="438912"/>
          </a:xfrm>
          <a:prstGeom prst="rect">
            <a:avLst/>
          </a:prstGeom>
          <a:noFill/>
        </p:spPr>
        <p:txBody>
          <a:bodyPr wrap="square" lIns="36576" rIns="36576" tIns="36576" bIns="36576" anchor="ctr">
            <a:spAutoFit/>
          </a:bodyPr>
          <a:lstStyle/>
          <a:p>
            <a:pPr algn="ctr">
              <a:spcBef>
                <a:spcPts val="0"/>
              </a:spcBef>
              <a:spcAft>
                <a:spcPts val="0"/>
              </a:spcAft>
            </a:pPr>
            <a:r>
              <a:rPr sz="2000" b="1">
                <a:solidFill>
                  <a:srgbClr val="13233B"/>
                </a:solidFill>
                <a:latin typeface="Aptos"/>
              </a:rPr>
              <a:t>Deconvolution</a:t>
            </a:r>
          </a:p>
        </p:txBody>
      </p:sp>
      <p:sp>
        <p:nvSpPr>
          <p:cNvPr id="13" name="TextBox 12"/>
          <p:cNvSpPr txBox="1"/>
          <p:nvPr/>
        </p:nvSpPr>
        <p:spPr>
          <a:xfrm>
            <a:off x="4718304" y="3410712"/>
            <a:ext cx="2743200" cy="676656"/>
          </a:xfrm>
          <a:prstGeom prst="rect">
            <a:avLst/>
          </a:prstGeom>
          <a:noFill/>
        </p:spPr>
        <p:txBody>
          <a:bodyPr wrap="square" lIns="36576" rIns="36576" tIns="36576" bIns="36576" anchor="ctr">
            <a:spAutoFit/>
          </a:bodyPr>
          <a:lstStyle/>
          <a:p>
            <a:pPr algn="ctr">
              <a:spcBef>
                <a:spcPts val="0"/>
              </a:spcBef>
              <a:spcAft>
                <a:spcPts val="0"/>
              </a:spcAft>
            </a:pPr>
            <a:r>
              <a:rPr sz="1250" b="0">
                <a:solidFill>
                  <a:srgbClr val="213047"/>
                </a:solidFill>
                <a:latin typeface="Aptos"/>
              </a:rPr>
              <a:t>Estimate how much of each cell type is present.</a:t>
            </a:r>
          </a:p>
        </p:txBody>
      </p:sp>
      <p:sp>
        <p:nvSpPr>
          <p:cNvPr id="14" name="TextBox 13"/>
          <p:cNvSpPr txBox="1"/>
          <p:nvPr/>
        </p:nvSpPr>
        <p:spPr>
          <a:xfrm>
            <a:off x="7763256" y="2898648"/>
            <a:ext cx="438912" cy="502920"/>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18A999"/>
                </a:solidFill>
                <a:latin typeface="Aptos"/>
              </a:rPr>
              <a:t>→</a:t>
            </a:r>
          </a:p>
        </p:txBody>
      </p:sp>
      <p:sp>
        <p:nvSpPr>
          <p:cNvPr id="15" name="Rounded Rectangle 14"/>
          <p:cNvSpPr/>
          <p:nvPr/>
        </p:nvSpPr>
        <p:spPr>
          <a:xfrm>
            <a:off x="8284464" y="2039112"/>
            <a:ext cx="3255264" cy="2468880"/>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97696" y="2258568"/>
            <a:ext cx="1828800" cy="292608"/>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BROAD IMPACT</a:t>
            </a:r>
          </a:p>
        </p:txBody>
      </p:sp>
      <p:sp>
        <p:nvSpPr>
          <p:cNvPr id="17" name="TextBox 16"/>
          <p:cNvSpPr txBox="1"/>
          <p:nvPr/>
        </p:nvSpPr>
        <p:spPr>
          <a:xfrm>
            <a:off x="8467344" y="2816352"/>
            <a:ext cx="2889504" cy="438912"/>
          </a:xfrm>
          <a:prstGeom prst="rect">
            <a:avLst/>
          </a:prstGeom>
          <a:noFill/>
        </p:spPr>
        <p:txBody>
          <a:bodyPr wrap="square" lIns="36576" rIns="36576" tIns="36576" bIns="36576" anchor="ctr">
            <a:spAutoFit/>
          </a:bodyPr>
          <a:lstStyle/>
          <a:p>
            <a:pPr algn="ctr">
              <a:spcBef>
                <a:spcPts val="0"/>
              </a:spcBef>
              <a:spcAft>
                <a:spcPts val="0"/>
              </a:spcAft>
            </a:pPr>
            <a:r>
              <a:rPr sz="2000" b="1">
                <a:solidFill>
                  <a:srgbClr val="13233B"/>
                </a:solidFill>
                <a:latin typeface="Aptos"/>
              </a:rPr>
              <a:t>Better conclusions</a:t>
            </a:r>
          </a:p>
        </p:txBody>
      </p:sp>
      <p:sp>
        <p:nvSpPr>
          <p:cNvPr id="18" name="TextBox 17"/>
          <p:cNvSpPr txBox="1"/>
          <p:nvPr/>
        </p:nvSpPr>
        <p:spPr>
          <a:xfrm>
            <a:off x="8540496" y="3410712"/>
            <a:ext cx="2743200" cy="676656"/>
          </a:xfrm>
          <a:prstGeom prst="rect">
            <a:avLst/>
          </a:prstGeom>
          <a:noFill/>
        </p:spPr>
        <p:txBody>
          <a:bodyPr wrap="square" lIns="36576" rIns="36576" tIns="36576" bIns="36576" anchor="ctr">
            <a:spAutoFit/>
          </a:bodyPr>
          <a:lstStyle/>
          <a:p>
            <a:pPr algn="ctr">
              <a:spcBef>
                <a:spcPts val="0"/>
              </a:spcBef>
              <a:spcAft>
                <a:spcPts val="0"/>
              </a:spcAft>
            </a:pPr>
            <a:r>
              <a:rPr sz="1250" b="0">
                <a:solidFill>
                  <a:srgbClr val="213047"/>
                </a:solidFill>
                <a:latin typeface="Aptos"/>
              </a:rPr>
              <a:t>More reliable tissue maps, comparisons, and biological interpretation.</a:t>
            </a:r>
          </a:p>
        </p:txBody>
      </p:sp>
      <p:sp>
        <p:nvSpPr>
          <p:cNvPr id="19" name="Rounded Rectangle 18"/>
          <p:cNvSpPr/>
          <p:nvPr/>
        </p:nvSpPr>
        <p:spPr>
          <a:xfrm>
            <a:off x="640080" y="4937760"/>
            <a:ext cx="10899648" cy="713232"/>
          </a:xfrm>
          <a:prstGeom prst="roundRect">
            <a:avLst/>
          </a:prstGeom>
          <a:solidFill>
            <a:srgbClr val="DDF4F1"/>
          </a:solidFill>
          <a:ln w="1778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56632"/>
            <a:ext cx="10442448" cy="457200"/>
          </a:xfrm>
          <a:prstGeom prst="rect">
            <a:avLst/>
          </a:prstGeom>
          <a:noFill/>
        </p:spPr>
        <p:txBody>
          <a:bodyPr wrap="square" lIns="36576" rIns="36576" tIns="36576" bIns="36576" anchor="ctr">
            <a:spAutoFit/>
          </a:bodyPr>
          <a:lstStyle/>
          <a:p>
            <a:pPr algn="ctr">
              <a:spcBef>
                <a:spcPts val="0"/>
              </a:spcBef>
              <a:spcAft>
                <a:spcPts val="0"/>
              </a:spcAft>
            </a:pPr>
            <a:r>
              <a:rPr sz="1600" b="1">
                <a:solidFill>
                  <a:srgbClr val="13233B"/>
                </a:solidFill>
                <a:latin typeface="Aptos"/>
              </a:rPr>
              <a:t>Improve a method used by many researchers  →  improve many downstream results</a:t>
            </a:r>
          </a:p>
        </p:txBody>
      </p:sp>
      <p:sp>
        <p:nvSpPr>
          <p:cNvPr id="21" name="TextBox 20"/>
          <p:cNvSpPr txBox="1"/>
          <p:nvPr/>
        </p:nvSpPr>
        <p:spPr>
          <a:xfrm>
            <a:off x="640080" y="5925312"/>
            <a:ext cx="10899648" cy="320040"/>
          </a:xfrm>
          <a:prstGeom prst="rect">
            <a:avLst/>
          </a:prstGeom>
          <a:noFill/>
        </p:spPr>
        <p:txBody>
          <a:bodyPr wrap="square" lIns="36576" rIns="36576" tIns="36576" bIns="36576" anchor="ctr">
            <a:spAutoFit/>
          </a:bodyPr>
          <a:lstStyle/>
          <a:p>
            <a:pPr algn="ctr">
              <a:spcBef>
                <a:spcPts val="0"/>
              </a:spcBef>
              <a:spcAft>
                <a:spcPts val="0"/>
              </a:spcAft>
            </a:pPr>
            <a:r>
              <a:rPr sz="1150" b="0">
                <a:solidFill>
                  <a:srgbClr val="52627A"/>
                </a:solidFill>
                <a:latin typeface="Aptos"/>
              </a:rPr>
              <a:t>ShapeMix asks whether fragment-length information can make this widely used step more accurate.</a:t>
            </a:r>
          </a:p>
        </p:txBody>
      </p:sp>
      <p:sp>
        <p:nvSpPr>
          <p:cNvPr id="22" name="Rectangle 21"/>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WHY THIS WORK IS NEW</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500" b="1">
                <a:solidFill>
                  <a:srgbClr val="13233B"/>
                </a:solidFill>
                <a:latin typeface="Aptos Display"/>
              </a:rPr>
              <a:t>ShapeMix uses an ATAC-specific signal that RNA methods miss</a:t>
            </a:r>
          </a:p>
        </p:txBody>
      </p:sp>
      <p:sp>
        <p:nvSpPr>
          <p:cNvPr id="4" name="TextBox 3"/>
          <p:cNvSpPr txBox="1"/>
          <p:nvPr/>
        </p:nvSpPr>
        <p:spPr>
          <a:xfrm>
            <a:off x="685800" y="1143000"/>
            <a:ext cx="10817352" cy="347472"/>
          </a:xfrm>
          <a:prstGeom prst="rect">
            <a:avLst/>
          </a:prstGeom>
          <a:noFill/>
        </p:spPr>
        <p:txBody>
          <a:bodyPr wrap="square" lIns="36576" rIns="36576" tIns="36576" bIns="36576" anchor="ctr">
            <a:spAutoFit/>
          </a:bodyPr>
          <a:lstStyle/>
          <a:p>
            <a:pPr algn="ctr">
              <a:spcBef>
                <a:spcPts val="0"/>
              </a:spcBef>
              <a:spcAft>
                <a:spcPts val="0"/>
              </a:spcAft>
            </a:pPr>
            <a:r>
              <a:rPr sz="1600" b="1">
                <a:solidFill>
                  <a:srgbClr val="52627A"/>
                </a:solidFill>
                <a:latin typeface="Aptos"/>
              </a:rPr>
              <a:t>Spatial ATAC deconvolution is still an open problem.</a:t>
            </a:r>
          </a:p>
        </p:txBody>
      </p:sp>
      <p:sp>
        <p:nvSpPr>
          <p:cNvPr id="5" name="Rounded Rectangle 4"/>
          <p:cNvSpPr/>
          <p:nvPr/>
        </p:nvSpPr>
        <p:spPr>
          <a:xfrm>
            <a:off x="640080" y="1664208"/>
            <a:ext cx="5285232" cy="3246120"/>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1874519"/>
            <a:ext cx="1993392" cy="28346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2025 STATE OF THE ART</a:t>
            </a:r>
          </a:p>
        </p:txBody>
      </p:sp>
      <p:sp>
        <p:nvSpPr>
          <p:cNvPr id="7" name="TextBox 6"/>
          <p:cNvSpPr txBox="1"/>
          <p:nvPr/>
        </p:nvSpPr>
        <p:spPr>
          <a:xfrm>
            <a:off x="896112" y="2331720"/>
            <a:ext cx="4736592" cy="384048"/>
          </a:xfrm>
          <a:prstGeom prst="rect">
            <a:avLst/>
          </a:prstGeom>
          <a:noFill/>
        </p:spPr>
        <p:txBody>
          <a:bodyPr wrap="square" lIns="36576" rIns="36576" tIns="36576" bIns="36576" anchor="t">
            <a:spAutoFit/>
          </a:bodyPr>
          <a:lstStyle/>
          <a:p>
            <a:pPr algn="l">
              <a:spcBef>
                <a:spcPts val="0"/>
              </a:spcBef>
              <a:spcAft>
                <a:spcPts val="0"/>
              </a:spcAft>
            </a:pPr>
            <a:r>
              <a:rPr sz="1900" b="1">
                <a:solidFill>
                  <a:srgbClr val="13233B"/>
                </a:solidFill>
                <a:latin typeface="Aptos"/>
              </a:rPr>
              <a:t>Borrow spatial-RNA methods</a:t>
            </a:r>
          </a:p>
        </p:txBody>
      </p:sp>
      <p:sp>
        <p:nvSpPr>
          <p:cNvPr id="8" name="TextBox 7"/>
          <p:cNvSpPr txBox="1"/>
          <p:nvPr/>
        </p:nvSpPr>
        <p:spPr>
          <a:xfrm>
            <a:off x="896112" y="2770632"/>
            <a:ext cx="4736592" cy="603504"/>
          </a:xfrm>
          <a:prstGeom prst="rect">
            <a:avLst/>
          </a:prstGeom>
          <a:noFill/>
        </p:spPr>
        <p:txBody>
          <a:bodyPr wrap="square" lIns="36576" rIns="36576" tIns="36576" bIns="36576" anchor="t">
            <a:spAutoFit/>
          </a:bodyPr>
          <a:lstStyle/>
          <a:p>
            <a:pPr algn="l">
              <a:spcBef>
                <a:spcPts val="0"/>
              </a:spcBef>
              <a:spcAft>
                <a:spcPts val="0"/>
              </a:spcAft>
            </a:pPr>
            <a:r>
              <a:rPr sz="1200" b="0">
                <a:solidFill>
                  <a:srgbClr val="213047"/>
                </a:solidFill>
                <a:latin typeface="Aptos"/>
              </a:rPr>
              <a:t>The benchmark applies methods designed for gene-expression data to an ATAC peak-count matrix.</a:t>
            </a:r>
          </a:p>
        </p:txBody>
      </p:sp>
      <p:sp>
        <p:nvSpPr>
          <p:cNvPr id="9" name="Rectangle 8"/>
          <p:cNvSpPr/>
          <p:nvPr/>
        </p:nvSpPr>
        <p:spPr>
          <a:xfrm>
            <a:off x="1234440" y="4178808"/>
            <a:ext cx="4069080" cy="13716"/>
          </a:xfrm>
          <a:prstGeom prst="rect">
            <a:avLst/>
          </a:prstGeom>
          <a:solidFill>
            <a:srgbClr val="D7E0E8"/>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481328" y="3721608"/>
            <a:ext cx="329184" cy="45720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4233672"/>
            <a:ext cx="475488" cy="201168"/>
          </a:xfrm>
          <a:prstGeom prst="rect">
            <a:avLst/>
          </a:prstGeom>
          <a:noFill/>
        </p:spPr>
        <p:txBody>
          <a:bodyPr wrap="square" lIns="36576" rIns="36576" tIns="36576" bIns="36576" anchor="ctr">
            <a:spAutoFit/>
          </a:bodyPr>
          <a:lstStyle/>
          <a:p>
            <a:pPr algn="ctr">
              <a:spcBef>
                <a:spcPts val="0"/>
              </a:spcBef>
              <a:spcAft>
                <a:spcPts val="0"/>
              </a:spcAft>
            </a:pPr>
            <a:r>
              <a:rPr sz="900" b="0">
                <a:solidFill>
                  <a:srgbClr val="52627A"/>
                </a:solidFill>
                <a:latin typeface="Aptos"/>
              </a:rPr>
              <a:t>P1</a:t>
            </a:r>
          </a:p>
        </p:txBody>
      </p:sp>
      <p:sp>
        <p:nvSpPr>
          <p:cNvPr id="12" name="Rounded Rectangle 11"/>
          <p:cNvSpPr/>
          <p:nvPr/>
        </p:nvSpPr>
        <p:spPr>
          <a:xfrm>
            <a:off x="2240280" y="3118104"/>
            <a:ext cx="329184" cy="106070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7128" y="4233672"/>
            <a:ext cx="475488" cy="201168"/>
          </a:xfrm>
          <a:prstGeom prst="rect">
            <a:avLst/>
          </a:prstGeom>
          <a:noFill/>
        </p:spPr>
        <p:txBody>
          <a:bodyPr wrap="square" lIns="36576" rIns="36576" tIns="36576" bIns="36576" anchor="ctr">
            <a:spAutoFit/>
          </a:bodyPr>
          <a:lstStyle/>
          <a:p>
            <a:pPr algn="ctr">
              <a:spcBef>
                <a:spcPts val="0"/>
              </a:spcBef>
              <a:spcAft>
                <a:spcPts val="0"/>
              </a:spcAft>
            </a:pPr>
            <a:r>
              <a:rPr sz="900" b="0">
                <a:solidFill>
                  <a:srgbClr val="52627A"/>
                </a:solidFill>
                <a:latin typeface="Aptos"/>
              </a:rPr>
              <a:t>P2</a:t>
            </a:r>
          </a:p>
        </p:txBody>
      </p:sp>
      <p:sp>
        <p:nvSpPr>
          <p:cNvPr id="14" name="Rounded Rectangle 13"/>
          <p:cNvSpPr/>
          <p:nvPr/>
        </p:nvSpPr>
        <p:spPr>
          <a:xfrm>
            <a:off x="2999232" y="3520440"/>
            <a:ext cx="329184" cy="65836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4233672"/>
            <a:ext cx="475488" cy="201168"/>
          </a:xfrm>
          <a:prstGeom prst="rect">
            <a:avLst/>
          </a:prstGeom>
          <a:noFill/>
        </p:spPr>
        <p:txBody>
          <a:bodyPr wrap="square" lIns="36576" rIns="36576" tIns="36576" bIns="36576" anchor="ctr">
            <a:spAutoFit/>
          </a:bodyPr>
          <a:lstStyle/>
          <a:p>
            <a:pPr algn="ctr">
              <a:spcBef>
                <a:spcPts val="0"/>
              </a:spcBef>
              <a:spcAft>
                <a:spcPts val="0"/>
              </a:spcAft>
            </a:pPr>
            <a:r>
              <a:rPr sz="900" b="0">
                <a:solidFill>
                  <a:srgbClr val="52627A"/>
                </a:solidFill>
                <a:latin typeface="Aptos"/>
              </a:rPr>
              <a:t>P3</a:t>
            </a:r>
          </a:p>
        </p:txBody>
      </p:sp>
      <p:sp>
        <p:nvSpPr>
          <p:cNvPr id="16" name="Rounded Rectangle 15"/>
          <p:cNvSpPr/>
          <p:nvPr/>
        </p:nvSpPr>
        <p:spPr>
          <a:xfrm>
            <a:off x="3758183" y="2880360"/>
            <a:ext cx="329184" cy="129844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85031" y="4233672"/>
            <a:ext cx="475488" cy="201168"/>
          </a:xfrm>
          <a:prstGeom prst="rect">
            <a:avLst/>
          </a:prstGeom>
          <a:noFill/>
        </p:spPr>
        <p:txBody>
          <a:bodyPr wrap="square" lIns="36576" rIns="36576" tIns="36576" bIns="36576" anchor="ctr">
            <a:spAutoFit/>
          </a:bodyPr>
          <a:lstStyle/>
          <a:p>
            <a:pPr algn="ctr">
              <a:spcBef>
                <a:spcPts val="0"/>
              </a:spcBef>
              <a:spcAft>
                <a:spcPts val="0"/>
              </a:spcAft>
            </a:pPr>
            <a:r>
              <a:rPr sz="900" b="0">
                <a:solidFill>
                  <a:srgbClr val="52627A"/>
                </a:solidFill>
                <a:latin typeface="Aptos"/>
              </a:rPr>
              <a:t>P4</a:t>
            </a:r>
          </a:p>
        </p:txBody>
      </p:sp>
      <p:sp>
        <p:nvSpPr>
          <p:cNvPr id="18" name="Rounded Rectangle 17"/>
          <p:cNvSpPr/>
          <p:nvPr/>
        </p:nvSpPr>
        <p:spPr>
          <a:xfrm>
            <a:off x="4517136" y="3346704"/>
            <a:ext cx="329184" cy="83210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43983" y="4233672"/>
            <a:ext cx="475488" cy="201168"/>
          </a:xfrm>
          <a:prstGeom prst="rect">
            <a:avLst/>
          </a:prstGeom>
          <a:noFill/>
        </p:spPr>
        <p:txBody>
          <a:bodyPr wrap="square" lIns="36576" rIns="36576" tIns="36576" bIns="36576" anchor="ctr">
            <a:spAutoFit/>
          </a:bodyPr>
          <a:lstStyle/>
          <a:p>
            <a:pPr algn="ctr">
              <a:spcBef>
                <a:spcPts val="0"/>
              </a:spcBef>
              <a:spcAft>
                <a:spcPts val="0"/>
              </a:spcAft>
            </a:pPr>
            <a:r>
              <a:rPr sz="900" b="0">
                <a:solidFill>
                  <a:srgbClr val="52627A"/>
                </a:solidFill>
                <a:latin typeface="Aptos"/>
              </a:rPr>
              <a:t>P5</a:t>
            </a:r>
          </a:p>
        </p:txBody>
      </p:sp>
      <p:sp>
        <p:nvSpPr>
          <p:cNvPr id="20" name="TextBox 19"/>
          <p:cNvSpPr txBox="1"/>
          <p:nvPr/>
        </p:nvSpPr>
        <p:spPr>
          <a:xfrm>
            <a:off x="896112" y="4407408"/>
            <a:ext cx="4736592" cy="310896"/>
          </a:xfrm>
          <a:prstGeom prst="rect">
            <a:avLst/>
          </a:prstGeom>
          <a:noFill/>
        </p:spPr>
        <p:txBody>
          <a:bodyPr wrap="square" lIns="36576" rIns="36576" tIns="36576" bIns="36576" anchor="ctr">
            <a:spAutoFit/>
          </a:bodyPr>
          <a:lstStyle/>
          <a:p>
            <a:pPr algn="ctr">
              <a:spcBef>
                <a:spcPts val="0"/>
              </a:spcBef>
              <a:spcAft>
                <a:spcPts val="0"/>
              </a:spcAft>
            </a:pPr>
            <a:r>
              <a:rPr sz="1150" b="1">
                <a:solidFill>
                  <a:srgbClr val="3B82F6"/>
                </a:solidFill>
                <a:latin typeface="Aptos"/>
              </a:rPr>
              <a:t>Peak totals only  →  fragment lengths are ignored</a:t>
            </a:r>
          </a:p>
        </p:txBody>
      </p:sp>
      <p:sp>
        <p:nvSpPr>
          <p:cNvPr id="21" name="Rounded Rectangle 20"/>
          <p:cNvSpPr/>
          <p:nvPr/>
        </p:nvSpPr>
        <p:spPr>
          <a:xfrm>
            <a:off x="6236208" y="1664208"/>
            <a:ext cx="5303520" cy="3246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1874519"/>
            <a:ext cx="1554480"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SHAPEMIX-ATAC</a:t>
            </a:r>
          </a:p>
        </p:txBody>
      </p:sp>
      <p:sp>
        <p:nvSpPr>
          <p:cNvPr id="23" name="TextBox 22"/>
          <p:cNvSpPr txBox="1"/>
          <p:nvPr/>
        </p:nvSpPr>
        <p:spPr>
          <a:xfrm>
            <a:off x="6492240" y="2331720"/>
            <a:ext cx="4754880" cy="384048"/>
          </a:xfrm>
          <a:prstGeom prst="rect">
            <a:avLst/>
          </a:prstGeom>
          <a:noFill/>
        </p:spPr>
        <p:txBody>
          <a:bodyPr wrap="square" lIns="36576" rIns="36576" tIns="36576" bIns="36576" anchor="t">
            <a:spAutoFit/>
          </a:bodyPr>
          <a:lstStyle/>
          <a:p>
            <a:pPr algn="l">
              <a:spcBef>
                <a:spcPts val="0"/>
              </a:spcBef>
              <a:spcAft>
                <a:spcPts val="0"/>
              </a:spcAft>
            </a:pPr>
            <a:r>
              <a:rPr sz="1900" b="1">
                <a:solidFill>
                  <a:srgbClr val="13233B"/>
                </a:solidFill>
                <a:latin typeface="Aptos"/>
              </a:rPr>
              <a:t>Keep an ATAC-specific signal</a:t>
            </a:r>
          </a:p>
        </p:txBody>
      </p:sp>
      <p:sp>
        <p:nvSpPr>
          <p:cNvPr id="24" name="TextBox 23"/>
          <p:cNvSpPr txBox="1"/>
          <p:nvPr/>
        </p:nvSpPr>
        <p:spPr>
          <a:xfrm>
            <a:off x="6492240" y="2675534"/>
            <a:ext cx="4754880" cy="438912"/>
          </a:xfrm>
          <a:prstGeom prst="rect">
            <a:avLst/>
          </a:prstGeom>
          <a:noFill/>
        </p:spPr>
        <p:txBody>
          <a:bodyPr wrap="square" lIns="36576" rIns="36576" tIns="36576" bIns="36576" anchor="t">
            <a:spAutoFit/>
          </a:bodyPr>
          <a:lstStyle/>
          <a:p>
            <a:pPr algn="l">
              <a:spcBef>
                <a:spcPts val="0"/>
              </a:spcBef>
              <a:spcAft>
                <a:spcPts val="0"/>
              </a:spcAft>
            </a:pPr>
            <a:r>
              <a:rPr sz="1200" b="0">
                <a:solidFill>
                  <a:srgbClr val="213047"/>
                </a:solidFill>
                <a:latin typeface="Aptos"/>
              </a:rPr>
              <a:t>DNA wrapping around nucleosomes creates informative fragment-size patterns:</a:t>
            </a:r>
          </a:p>
        </p:txBody>
      </p:sp>
      <p:sp>
        <p:nvSpPr>
          <p:cNvPr id="25" name="Rounded Rectangle 24"/>
          <p:cNvSpPr/>
          <p:nvPr/>
        </p:nvSpPr>
        <p:spPr>
          <a:xfrm>
            <a:off x="6547104" y="3260750"/>
            <a:ext cx="850392" cy="25603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SHORT</a:t>
            </a:r>
          </a:p>
        </p:txBody>
      </p:sp>
      <p:sp>
        <p:nvSpPr>
          <p:cNvPr id="26" name="Rectangle 25"/>
          <p:cNvSpPr/>
          <p:nvPr/>
        </p:nvSpPr>
        <p:spPr>
          <a:xfrm>
            <a:off x="7772400" y="3352190"/>
            <a:ext cx="749808" cy="411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735824" y="3292754"/>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485632" y="3292754"/>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22054" y="3251606"/>
            <a:ext cx="2039112" cy="320040"/>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open, nucleosome-free DNA</a:t>
            </a:r>
          </a:p>
        </p:txBody>
      </p:sp>
      <p:sp>
        <p:nvSpPr>
          <p:cNvPr id="30" name="Rounded Rectangle 29"/>
          <p:cNvSpPr/>
          <p:nvPr/>
        </p:nvSpPr>
        <p:spPr>
          <a:xfrm>
            <a:off x="6547104" y="3699662"/>
            <a:ext cx="850392" cy="25603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13233B"/>
                </a:solidFill>
                <a:latin typeface="Aptos"/>
              </a:rPr>
              <a:t>MIDDLE</a:t>
            </a:r>
          </a:p>
        </p:txBody>
      </p:sp>
      <p:sp>
        <p:nvSpPr>
          <p:cNvPr id="31" name="Rectangle 30"/>
          <p:cNvSpPr/>
          <p:nvPr/>
        </p:nvSpPr>
        <p:spPr>
          <a:xfrm>
            <a:off x="7644383" y="3791102"/>
            <a:ext cx="1170432" cy="4114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7808" y="3731666"/>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778240" y="3731666"/>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22054" y="3690518"/>
            <a:ext cx="2039112" cy="320040"/>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spans about one nucleosome</a:t>
            </a:r>
          </a:p>
        </p:txBody>
      </p:sp>
      <p:sp>
        <p:nvSpPr>
          <p:cNvPr id="37" name="Rounded Rectangle 36"/>
          <p:cNvSpPr/>
          <p:nvPr/>
        </p:nvSpPr>
        <p:spPr>
          <a:xfrm>
            <a:off x="6547104" y="4138574"/>
            <a:ext cx="850392" cy="25603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LONG</a:t>
            </a:r>
          </a:p>
        </p:txBody>
      </p:sp>
      <p:sp>
        <p:nvSpPr>
          <p:cNvPr id="38" name="Rectangle 37"/>
          <p:cNvSpPr/>
          <p:nvPr/>
        </p:nvSpPr>
        <p:spPr>
          <a:xfrm>
            <a:off x="7498079" y="4230014"/>
            <a:ext cx="1481328" cy="41148"/>
          </a:xfrm>
          <a:prstGeom prst="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461504" y="4170578"/>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942832" y="4170578"/>
            <a:ext cx="118872" cy="118872"/>
          </a:xfrm>
          <a:prstGeom prst="ellipse">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38513" y="4129430"/>
            <a:ext cx="2039112" cy="320040"/>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can span two nucleosomes</a:t>
            </a:r>
          </a:p>
        </p:txBody>
      </p:sp>
      <p:sp>
        <p:nvSpPr>
          <p:cNvPr id="46" name="Rounded Rectangle 45"/>
          <p:cNvSpPr/>
          <p:nvPr/>
        </p:nvSpPr>
        <p:spPr>
          <a:xfrm>
            <a:off x="640080" y="5230368"/>
            <a:ext cx="10899648" cy="874166"/>
          </a:xfrm>
          <a:prstGeom prst="roundRect">
            <a:avLst/>
          </a:prstGeom>
          <a:solidFill>
            <a:srgbClr val="FDE9E6"/>
          </a:solidFill>
          <a:ln w="1651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 y="5275173"/>
            <a:ext cx="10442448" cy="550468"/>
          </a:xfrm>
          <a:prstGeom prst="rect">
            <a:avLst/>
          </a:prstGeom>
          <a:noFill/>
        </p:spPr>
        <p:txBody>
          <a:bodyPr wrap="square" lIns="36576" rIns="36576" tIns="36576" bIns="36576" anchor="ctr">
            <a:spAutoFit/>
          </a:bodyPr>
          <a:lstStyle/>
          <a:p>
            <a:pPr algn="ctr">
              <a:spcBef>
                <a:spcPts val="0"/>
              </a:spcBef>
              <a:spcAft>
                <a:spcPts val="0"/>
              </a:spcAft>
            </a:pPr>
            <a:r>
              <a:rPr sz="1500" b="1">
                <a:solidFill>
                  <a:srgbClr val="13233B"/>
                </a:solidFill>
                <a:latin typeface="Aptos"/>
              </a:rPr>
              <a:t>NOVELTY: model the fragment-length composition inside each peak, not peak counts alone
Note: RNA measurements have no equivalent fragment-length feature.</a:t>
            </a:r>
          </a:p>
        </p:txBody>
      </p:sp>
      <p:sp>
        <p:nvSpPr>
          <p:cNvPr id="49" name="Rectangle 48"/>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74320"/>
            <a:ext cx="731520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RESEARCH QUESTION • HYPOTHESIS</a:t>
            </a:r>
          </a:p>
        </p:txBody>
      </p:sp>
      <p:sp>
        <p:nvSpPr>
          <p:cNvPr id="3" name="TextBox 2"/>
          <p:cNvSpPr txBox="1"/>
          <p:nvPr/>
        </p:nvSpPr>
        <p:spPr>
          <a:xfrm>
            <a:off x="594360" y="566928"/>
            <a:ext cx="7315200" cy="576072"/>
          </a:xfrm>
          <a:prstGeom prst="rect">
            <a:avLst/>
          </a:prstGeom>
          <a:noFill/>
        </p:spPr>
        <p:txBody>
          <a:bodyPr wrap="square" lIns="36576" rIns="36576" tIns="36576" bIns="36576" anchor="t">
            <a:spAutoFit/>
          </a:bodyPr>
          <a:lstStyle/>
          <a:p>
            <a:pPr algn="l">
              <a:spcBef>
                <a:spcPts val="0"/>
              </a:spcBef>
              <a:spcAft>
                <a:spcPts val="0"/>
              </a:spcAft>
            </a:pPr>
            <a:r>
              <a:rPr sz="2900" b="1">
                <a:solidFill>
                  <a:srgbClr val="13233B"/>
                </a:solidFill>
                <a:latin typeface="Aptos Display"/>
              </a:rPr>
              <a:t>Our hypothesis</a:t>
            </a:r>
          </a:p>
        </p:txBody>
      </p:sp>
      <p:sp>
        <p:nvSpPr>
          <p:cNvPr id="4" name="Rounded Rectangle 3"/>
          <p:cNvSpPr/>
          <p:nvPr/>
        </p:nvSpPr>
        <p:spPr>
          <a:xfrm>
            <a:off x="621792" y="1408176"/>
            <a:ext cx="10954512" cy="214884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82496"/>
            <a:ext cx="1243584"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50" b="1">
                <a:solidFill>
                  <a:srgbClr val="FFFFFF"/>
                </a:solidFill>
                <a:latin typeface="Aptos"/>
              </a:rPr>
              <a:t>PREDICTION</a:t>
            </a:r>
          </a:p>
        </p:txBody>
      </p:sp>
      <p:sp>
        <p:nvSpPr>
          <p:cNvPr id="6" name="TextBox 5"/>
          <p:cNvSpPr txBox="1"/>
          <p:nvPr/>
        </p:nvSpPr>
        <p:spPr>
          <a:xfrm>
            <a:off x="960120" y="2048256"/>
            <a:ext cx="10268712" cy="1042415"/>
          </a:xfrm>
          <a:prstGeom prst="rect">
            <a:avLst/>
          </a:prstGeom>
          <a:noFill/>
        </p:spPr>
        <p:txBody>
          <a:bodyPr wrap="square" lIns="36576" rIns="36576" tIns="36576" bIns="36576" anchor="ctr">
            <a:spAutoFit/>
          </a:bodyPr>
          <a:lstStyle/>
          <a:p>
            <a:pPr algn="ctr">
              <a:spcBef>
                <a:spcPts val="0"/>
              </a:spcBef>
              <a:spcAft>
                <a:spcPts val="0"/>
              </a:spcAft>
            </a:pPr>
            <a:r>
              <a:rPr sz="2300" b="1">
                <a:solidFill>
                  <a:srgbClr val="13233B"/>
                </a:solidFill>
                <a:latin typeface="Aptos"/>
              </a:rPr>
              <a:t>A Bayesian model using ATAC fragment-length signals will recover cell-type mixtures in spatial ATAC-seq spots more accurately than models using peak counts alone.</a:t>
            </a:r>
          </a:p>
        </p:txBody>
      </p:sp>
      <p:sp>
        <p:nvSpPr>
          <p:cNvPr id="7" name="Rounded Rectangle 6"/>
          <p:cNvSpPr/>
          <p:nvPr/>
        </p:nvSpPr>
        <p:spPr>
          <a:xfrm>
            <a:off x="621792" y="4087368"/>
            <a:ext cx="2980944" cy="120700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215384"/>
            <a:ext cx="1097280" cy="256032"/>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BASELINE</a:t>
            </a:r>
          </a:p>
        </p:txBody>
      </p:sp>
      <p:sp>
        <p:nvSpPr>
          <p:cNvPr id="9" name="TextBox 8"/>
          <p:cNvSpPr txBox="1"/>
          <p:nvPr/>
        </p:nvSpPr>
        <p:spPr>
          <a:xfrm>
            <a:off x="777240" y="4572000"/>
            <a:ext cx="2670048" cy="265176"/>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Peak counts</a:t>
            </a:r>
          </a:p>
        </p:txBody>
      </p:sp>
      <p:sp>
        <p:nvSpPr>
          <p:cNvPr id="10" name="TextBox 9"/>
          <p:cNvSpPr txBox="1"/>
          <p:nvPr/>
        </p:nvSpPr>
        <p:spPr>
          <a:xfrm>
            <a:off x="777240" y="4846320"/>
            <a:ext cx="2670048" cy="384048"/>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how many cut sites fall in each peak</a:t>
            </a:r>
          </a:p>
        </p:txBody>
      </p:sp>
      <p:sp>
        <p:nvSpPr>
          <p:cNvPr id="11" name="TextBox 10"/>
          <p:cNvSpPr txBox="1"/>
          <p:nvPr/>
        </p:nvSpPr>
        <p:spPr>
          <a:xfrm>
            <a:off x="3703320" y="4361688"/>
            <a:ext cx="502920" cy="53035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52627A"/>
                </a:solidFill>
                <a:latin typeface="Aptos"/>
              </a:rPr>
              <a:t>+</a:t>
            </a:r>
          </a:p>
        </p:txBody>
      </p:sp>
      <p:sp>
        <p:nvSpPr>
          <p:cNvPr id="12" name="Rounded Rectangle 11"/>
          <p:cNvSpPr/>
          <p:nvPr/>
        </p:nvSpPr>
        <p:spPr>
          <a:xfrm>
            <a:off x="4297680" y="4087368"/>
            <a:ext cx="2980944" cy="1207008"/>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53128" y="4215384"/>
            <a:ext cx="1097280" cy="256032"/>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ATAC SIGNAL</a:t>
            </a:r>
          </a:p>
        </p:txBody>
      </p:sp>
      <p:sp>
        <p:nvSpPr>
          <p:cNvPr id="14" name="TextBox 13"/>
          <p:cNvSpPr txBox="1"/>
          <p:nvPr/>
        </p:nvSpPr>
        <p:spPr>
          <a:xfrm>
            <a:off x="4453128" y="4572000"/>
            <a:ext cx="2670048" cy="265176"/>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Fragment lengths</a:t>
            </a:r>
          </a:p>
        </p:txBody>
      </p:sp>
      <p:sp>
        <p:nvSpPr>
          <p:cNvPr id="15" name="TextBox 14"/>
          <p:cNvSpPr txBox="1"/>
          <p:nvPr/>
        </p:nvSpPr>
        <p:spPr>
          <a:xfrm>
            <a:off x="4453128" y="4846320"/>
            <a:ext cx="2670048" cy="384048"/>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how those same fragments split by length</a:t>
            </a:r>
          </a:p>
        </p:txBody>
      </p:sp>
      <p:sp>
        <p:nvSpPr>
          <p:cNvPr id="16" name="Chevron 15"/>
          <p:cNvSpPr/>
          <p:nvPr/>
        </p:nvSpPr>
        <p:spPr>
          <a:xfrm>
            <a:off x="7434072" y="4407408"/>
            <a:ext cx="603504" cy="521207"/>
          </a:xfrm>
          <a:prstGeom prst="chevron">
            <a:avLst/>
          </a:prstGeom>
          <a:solidFill>
            <a:srgbClr val="F4B942"/>
          </a:solidFill>
          <a:ln>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56448" y="4087368"/>
            <a:ext cx="2980944" cy="120700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11896" y="4215384"/>
            <a:ext cx="1097280" cy="25603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900" b="1">
                <a:solidFill>
                  <a:srgbClr val="FFFFFF"/>
                </a:solidFill>
                <a:latin typeface="Aptos"/>
              </a:rPr>
              <a:t>EXPECTED RESULT</a:t>
            </a:r>
          </a:p>
        </p:txBody>
      </p:sp>
      <p:sp>
        <p:nvSpPr>
          <p:cNvPr id="19" name="TextBox 18"/>
          <p:cNvSpPr txBox="1"/>
          <p:nvPr/>
        </p:nvSpPr>
        <p:spPr>
          <a:xfrm>
            <a:off x="8311896" y="4572000"/>
            <a:ext cx="2670048" cy="265176"/>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Better deconvolution</a:t>
            </a:r>
          </a:p>
        </p:txBody>
      </p:sp>
      <p:sp>
        <p:nvSpPr>
          <p:cNvPr id="20" name="TextBox 19"/>
          <p:cNvSpPr txBox="1"/>
          <p:nvPr/>
        </p:nvSpPr>
        <p:spPr>
          <a:xfrm>
            <a:off x="8311896" y="4846320"/>
            <a:ext cx="2670048" cy="384048"/>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more accurate estimates of the cell-type mixture</a:t>
            </a:r>
          </a:p>
        </p:txBody>
      </p:sp>
      <p:sp>
        <p:nvSpPr>
          <p:cNvPr id="21" name="TextBox 20"/>
          <p:cNvSpPr txBox="1"/>
          <p:nvPr/>
        </p:nvSpPr>
        <p:spPr>
          <a:xfrm>
            <a:off x="731520" y="5715000"/>
            <a:ext cx="10716768" cy="347472"/>
          </a:xfrm>
          <a:prstGeom prst="rect">
            <a:avLst/>
          </a:prstGeom>
          <a:noFill/>
        </p:spPr>
        <p:txBody>
          <a:bodyPr wrap="square" lIns="36576" rIns="36576" tIns="36576" bIns="36576" anchor="ctr">
            <a:spAutoFit/>
          </a:bodyPr>
          <a:lstStyle/>
          <a:p>
            <a:pPr algn="ctr">
              <a:spcBef>
                <a:spcPts val="0"/>
              </a:spcBef>
              <a:spcAft>
                <a:spcPts val="0"/>
              </a:spcAft>
            </a:pPr>
            <a:r>
              <a:rPr sz="1200" b="1">
                <a:solidFill>
                  <a:srgbClr val="52627A"/>
                </a:solidFill>
                <a:latin typeface="Aptos"/>
              </a:rPr>
              <a:t>The comparison makes the hypothesis testable: fragment-length model vs. count-only model.</a:t>
            </a:r>
          </a:p>
        </p:txBody>
      </p:sp>
      <p:sp>
        <p:nvSpPr>
          <p:cNvPr id="22" name="Rectangle 21"/>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400" b="1">
                <a:solidFill>
                  <a:srgbClr val="13233B"/>
                </a:solidFill>
                <a:latin typeface="Aptos Display"/>
              </a:rPr>
              <a:t>Bayesian model to find the number of cells for each cell type</a:t>
            </a:r>
          </a:p>
        </p:txBody>
      </p:sp>
      <p:sp>
        <p:nvSpPr>
          <p:cNvPr id="4" name="TextBox 3"/>
          <p:cNvSpPr txBox="1"/>
          <p:nvPr/>
        </p:nvSpPr>
        <p:spPr>
          <a:xfrm>
            <a:off x="1828800" y="1099108"/>
            <a:ext cx="8503920" cy="308152"/>
          </a:xfrm>
          <a:prstGeom prst="rect">
            <a:avLst/>
          </a:prstGeom>
          <a:noFill/>
        </p:spPr>
        <p:txBody>
          <a:bodyPr wrap="square" anchor="ctr">
            <a:spAutoFit/>
          </a:bodyPr>
          <a:lstStyle/>
          <a:p>
            <a:pPr algn="l"/>
            <a:r>
              <a:rPr sz="1400" b="1">
                <a:solidFill>
                  <a:srgbClr val="13233B"/>
                </a:solidFill>
                <a:latin typeface="Aptos"/>
              </a:rPr>
              <a:t>z   </a:t>
            </a:r>
            <a:r>
              <a:rPr sz="1400">
                <a:solidFill>
                  <a:srgbClr val="52627A"/>
                </a:solidFill>
                <a:latin typeface="Aptos"/>
              </a:rPr>
              <a:t>number of cells for each cell type in the spot — what we want to find</a:t>
            </a:r>
          </a:p>
        </p:txBody>
      </p:sp>
      <p:sp>
        <p:nvSpPr>
          <p:cNvPr id="5" name="TextBox 4"/>
          <p:cNvSpPr txBox="1"/>
          <p:nvPr/>
        </p:nvSpPr>
        <p:spPr>
          <a:xfrm>
            <a:off x="1842516" y="1413662"/>
            <a:ext cx="8503920" cy="308152"/>
          </a:xfrm>
          <a:prstGeom prst="rect">
            <a:avLst/>
          </a:prstGeom>
          <a:noFill/>
        </p:spPr>
        <p:txBody>
          <a:bodyPr wrap="square" anchor="ctr">
            <a:spAutoFit/>
          </a:bodyPr>
          <a:lstStyle/>
          <a:p>
            <a:pPr algn="l"/>
            <a:r>
              <a:rPr sz="1400" b="1">
                <a:solidFill>
                  <a:srgbClr val="13233B"/>
                </a:solidFill>
                <a:latin typeface="Aptos"/>
              </a:rPr>
              <a:t>N   </a:t>
            </a:r>
            <a:r>
              <a:rPr sz="1400">
                <a:solidFill>
                  <a:srgbClr val="52627A"/>
                </a:solidFill>
                <a:latin typeface="Aptos"/>
              </a:rPr>
              <a:t>the cut-site counts actually observed at the peaks — what we see</a:t>
            </a:r>
          </a:p>
        </p:txBody>
      </p:sp>
      <p:sp>
        <p:nvSpPr>
          <p:cNvPr id="6" name="TextBox 5"/>
          <p:cNvSpPr txBox="1"/>
          <p:nvPr/>
        </p:nvSpPr>
        <p:spPr>
          <a:xfrm>
            <a:off x="2560320" y="2103120"/>
            <a:ext cx="2103120" cy="621792"/>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18A999"/>
                </a:solidFill>
                <a:latin typeface="Aptos"/>
              </a:rPr>
              <a:t>p(z | N)</a:t>
            </a:r>
          </a:p>
        </p:txBody>
      </p:sp>
      <p:sp>
        <p:nvSpPr>
          <p:cNvPr id="7" name="TextBox 6"/>
          <p:cNvSpPr txBox="1"/>
          <p:nvPr/>
        </p:nvSpPr>
        <p:spPr>
          <a:xfrm>
            <a:off x="2788920" y="2779776"/>
            <a:ext cx="1645920" cy="256032"/>
          </a:xfrm>
          <a:prstGeom prst="rect">
            <a:avLst/>
          </a:prstGeom>
          <a:noFill/>
        </p:spPr>
        <p:txBody>
          <a:bodyPr wrap="square" lIns="36576" rIns="36576" tIns="36576" bIns="36576" anchor="t">
            <a:spAutoFit/>
          </a:bodyPr>
          <a:lstStyle/>
          <a:p>
            <a:pPr algn="ctr">
              <a:spcBef>
                <a:spcPts val="0"/>
              </a:spcBef>
              <a:spcAft>
                <a:spcPts val="0"/>
              </a:spcAft>
            </a:pPr>
            <a:r>
              <a:rPr sz="1100" b="1">
                <a:solidFill>
                  <a:srgbClr val="18A999"/>
                </a:solidFill>
                <a:latin typeface="Aptos"/>
              </a:rPr>
              <a:t>posterior</a:t>
            </a:r>
          </a:p>
        </p:txBody>
      </p:sp>
      <p:sp>
        <p:nvSpPr>
          <p:cNvPr id="8" name="TextBox 7"/>
          <p:cNvSpPr txBox="1"/>
          <p:nvPr/>
        </p:nvSpPr>
        <p:spPr>
          <a:xfrm>
            <a:off x="4754880" y="2103120"/>
            <a:ext cx="457200" cy="621792"/>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13233B"/>
                </a:solidFill>
                <a:latin typeface="Aptos"/>
              </a:rPr>
              <a:t>∝</a:t>
            </a:r>
          </a:p>
        </p:txBody>
      </p:sp>
      <p:sp>
        <p:nvSpPr>
          <p:cNvPr id="9" name="TextBox 8"/>
          <p:cNvSpPr txBox="1"/>
          <p:nvPr/>
        </p:nvSpPr>
        <p:spPr>
          <a:xfrm>
            <a:off x="5303520" y="2103120"/>
            <a:ext cx="2103120" cy="621792"/>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B8860B"/>
                </a:solidFill>
                <a:latin typeface="Aptos"/>
              </a:rPr>
              <a:t>p(N | z)</a:t>
            </a:r>
          </a:p>
        </p:txBody>
      </p:sp>
      <p:sp>
        <p:nvSpPr>
          <p:cNvPr id="10" name="TextBox 9"/>
          <p:cNvSpPr txBox="1"/>
          <p:nvPr/>
        </p:nvSpPr>
        <p:spPr>
          <a:xfrm>
            <a:off x="5532120" y="2779776"/>
            <a:ext cx="1645920" cy="256032"/>
          </a:xfrm>
          <a:prstGeom prst="rect">
            <a:avLst/>
          </a:prstGeom>
          <a:noFill/>
        </p:spPr>
        <p:txBody>
          <a:bodyPr wrap="square" lIns="36576" rIns="36576" tIns="36576" bIns="36576" anchor="t">
            <a:spAutoFit/>
          </a:bodyPr>
          <a:lstStyle/>
          <a:p>
            <a:pPr algn="ctr">
              <a:spcBef>
                <a:spcPts val="0"/>
              </a:spcBef>
              <a:spcAft>
                <a:spcPts val="0"/>
              </a:spcAft>
            </a:pPr>
            <a:r>
              <a:rPr sz="1100" b="1">
                <a:solidFill>
                  <a:srgbClr val="B8860B"/>
                </a:solidFill>
                <a:latin typeface="Aptos"/>
              </a:rPr>
              <a:t>likelihood</a:t>
            </a:r>
          </a:p>
        </p:txBody>
      </p:sp>
      <p:sp>
        <p:nvSpPr>
          <p:cNvPr id="11" name="TextBox 10"/>
          <p:cNvSpPr txBox="1"/>
          <p:nvPr/>
        </p:nvSpPr>
        <p:spPr>
          <a:xfrm>
            <a:off x="7498079" y="2103120"/>
            <a:ext cx="457200" cy="621792"/>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13233B"/>
                </a:solidFill>
                <a:latin typeface="Aptos"/>
              </a:rPr>
              <a:t>×</a:t>
            </a:r>
          </a:p>
        </p:txBody>
      </p:sp>
      <p:sp>
        <p:nvSpPr>
          <p:cNvPr id="12" name="TextBox 11"/>
          <p:cNvSpPr txBox="1"/>
          <p:nvPr/>
        </p:nvSpPr>
        <p:spPr>
          <a:xfrm>
            <a:off x="8046720" y="2103120"/>
            <a:ext cx="1554480" cy="621792"/>
          </a:xfrm>
          <a:prstGeom prst="rect">
            <a:avLst/>
          </a:prstGeom>
          <a:noFill/>
        </p:spPr>
        <p:txBody>
          <a:bodyPr wrap="square" lIns="36576" rIns="36576" tIns="36576" bIns="36576" anchor="ctr">
            <a:spAutoFit/>
          </a:bodyPr>
          <a:lstStyle/>
          <a:p>
            <a:pPr algn="ctr">
              <a:spcBef>
                <a:spcPts val="0"/>
              </a:spcBef>
              <a:spcAft>
                <a:spcPts val="0"/>
              </a:spcAft>
            </a:pPr>
            <a:r>
              <a:rPr sz="3000" b="1">
                <a:solidFill>
                  <a:srgbClr val="8B5CF6"/>
                </a:solidFill>
                <a:latin typeface="Aptos"/>
              </a:rPr>
              <a:t>p(z)</a:t>
            </a:r>
          </a:p>
        </p:txBody>
      </p:sp>
      <p:sp>
        <p:nvSpPr>
          <p:cNvPr id="13" name="TextBox 12"/>
          <p:cNvSpPr txBox="1"/>
          <p:nvPr/>
        </p:nvSpPr>
        <p:spPr>
          <a:xfrm>
            <a:off x="8001000" y="2779776"/>
            <a:ext cx="1645920" cy="256032"/>
          </a:xfrm>
          <a:prstGeom prst="rect">
            <a:avLst/>
          </a:prstGeom>
          <a:noFill/>
        </p:spPr>
        <p:txBody>
          <a:bodyPr wrap="square" lIns="36576" rIns="36576" tIns="36576" bIns="36576" anchor="t">
            <a:spAutoFit/>
          </a:bodyPr>
          <a:lstStyle/>
          <a:p>
            <a:pPr algn="ctr">
              <a:spcBef>
                <a:spcPts val="0"/>
              </a:spcBef>
              <a:spcAft>
                <a:spcPts val="0"/>
              </a:spcAft>
            </a:pPr>
            <a:r>
              <a:rPr sz="1100" b="1">
                <a:solidFill>
                  <a:srgbClr val="8B5CF6"/>
                </a:solidFill>
                <a:latin typeface="Aptos"/>
              </a:rPr>
              <a:t>prior</a:t>
            </a:r>
          </a:p>
        </p:txBody>
      </p:sp>
      <p:cxnSp>
        <p:nvCxnSpPr>
          <p:cNvPr id="14" name="Connector 13"/>
          <p:cNvCxnSpPr/>
          <p:nvPr/>
        </p:nvCxnSpPr>
        <p:spPr>
          <a:xfrm flipH="1">
            <a:off x="2354580" y="3072384"/>
            <a:ext cx="1257300" cy="585216"/>
          </a:xfrm>
          <a:prstGeom prst="line">
            <a:avLst/>
          </a:prstGeom>
          <a:ln w="15240">
            <a:solidFill>
              <a:srgbClr val="18A99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40080" y="3657600"/>
            <a:ext cx="3429000" cy="105156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749039"/>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18A999"/>
                </a:solidFill>
                <a:latin typeface="Aptos"/>
              </a:rPr>
              <a:t>POSTERIOR</a:t>
            </a:r>
          </a:p>
        </p:txBody>
      </p:sp>
      <p:sp>
        <p:nvSpPr>
          <p:cNvPr id="17" name="TextBox 16"/>
          <p:cNvSpPr txBox="1"/>
          <p:nvPr/>
        </p:nvSpPr>
        <p:spPr>
          <a:xfrm>
            <a:off x="786384" y="4041648"/>
            <a:ext cx="3136392" cy="288950"/>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best supported z after seeing data N</a:t>
            </a:r>
          </a:p>
        </p:txBody>
      </p:sp>
      <p:cxnSp>
        <p:nvCxnSpPr>
          <p:cNvPr id="18" name="Connector 17"/>
          <p:cNvCxnSpPr/>
          <p:nvPr/>
        </p:nvCxnSpPr>
        <p:spPr>
          <a:xfrm flipH="1">
            <a:off x="6094476" y="3072384"/>
            <a:ext cx="260604" cy="585216"/>
          </a:xfrm>
          <a:prstGeom prst="line">
            <a:avLst/>
          </a:prstGeom>
          <a:ln w="15240">
            <a:solidFill>
              <a:srgbClr val="B8860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79976" y="3657600"/>
            <a:ext cx="3429000" cy="105156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3749039"/>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B8860B"/>
                </a:solidFill>
                <a:latin typeface="Aptos"/>
              </a:rPr>
              <a:t>LIKELIHOOD</a:t>
            </a:r>
          </a:p>
        </p:txBody>
      </p:sp>
      <p:sp>
        <p:nvSpPr>
          <p:cNvPr id="21" name="TextBox 20"/>
          <p:cNvSpPr txBox="1"/>
          <p:nvPr/>
        </p:nvSpPr>
        <p:spPr>
          <a:xfrm>
            <a:off x="4526280" y="4041648"/>
            <a:ext cx="3136392" cy="504748"/>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given z, what is the probability of seeing data N</a:t>
            </a:r>
          </a:p>
        </p:txBody>
      </p:sp>
      <p:cxnSp>
        <p:nvCxnSpPr>
          <p:cNvPr id="22" name="Connector 21"/>
          <p:cNvCxnSpPr/>
          <p:nvPr/>
        </p:nvCxnSpPr>
        <p:spPr>
          <a:xfrm>
            <a:off x="8823960" y="3072384"/>
            <a:ext cx="1010412" cy="585216"/>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119872" y="3657600"/>
            <a:ext cx="3429000" cy="1051560"/>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6176" y="3749039"/>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8B5CF6"/>
                </a:solidFill>
                <a:latin typeface="Aptos"/>
              </a:rPr>
              <a:t>PRIOR</a:t>
            </a:r>
          </a:p>
        </p:txBody>
      </p:sp>
      <p:sp>
        <p:nvSpPr>
          <p:cNvPr id="25" name="TextBox 24"/>
          <p:cNvSpPr txBox="1"/>
          <p:nvPr/>
        </p:nvSpPr>
        <p:spPr>
          <a:xfrm>
            <a:off x="8266176" y="4041648"/>
            <a:ext cx="3136392" cy="504748"/>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how plausible z is before seeing any data</a:t>
            </a:r>
          </a:p>
        </p:txBody>
      </p:sp>
      <p:sp>
        <p:nvSpPr>
          <p:cNvPr id="26" name="Rectangle 25"/>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400" b="1">
                <a:solidFill>
                  <a:srgbClr val="13233B"/>
                </a:solidFill>
                <a:latin typeface="Aptos Display"/>
              </a:rPr>
              <a:t>The prior: what is plausible before seeing any data</a:t>
            </a:r>
          </a:p>
        </p:txBody>
      </p:sp>
      <p:sp>
        <p:nvSpPr>
          <p:cNvPr id="4" name="Rounded Rectangle 3"/>
          <p:cNvSpPr/>
          <p:nvPr/>
        </p:nvSpPr>
        <p:spPr>
          <a:xfrm>
            <a:off x="640080" y="1325880"/>
            <a:ext cx="4343400" cy="33375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508760"/>
            <a:ext cx="141732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PRIOR  p(z)</a:t>
            </a:r>
          </a:p>
        </p:txBody>
      </p:sp>
      <p:sp>
        <p:nvSpPr>
          <p:cNvPr id="6" name="TextBox 5"/>
          <p:cNvSpPr txBox="1"/>
          <p:nvPr/>
        </p:nvSpPr>
        <p:spPr>
          <a:xfrm>
            <a:off x="868680" y="1965960"/>
            <a:ext cx="3931920" cy="384048"/>
          </a:xfrm>
          <a:prstGeom prst="rect">
            <a:avLst/>
          </a:prstGeom>
          <a:noFill/>
        </p:spPr>
        <p:txBody>
          <a:bodyPr wrap="square" lIns="36576" rIns="36576" tIns="36576" bIns="36576" anchor="t">
            <a:spAutoFit/>
          </a:bodyPr>
          <a:lstStyle/>
          <a:p>
            <a:pPr algn="l">
              <a:spcBef>
                <a:spcPts val="0"/>
              </a:spcBef>
              <a:spcAft>
                <a:spcPts val="0"/>
              </a:spcAft>
            </a:pPr>
            <a:r>
              <a:rPr sz="1900" b="1">
                <a:solidFill>
                  <a:srgbClr val="13233B"/>
                </a:solidFill>
                <a:latin typeface="Aptos"/>
              </a:rPr>
              <a:t>z ~ Gamma(shape = 2, rate = 1)</a:t>
            </a:r>
          </a:p>
        </p:txBody>
      </p:sp>
      <p:sp>
        <p:nvSpPr>
          <p:cNvPr id="7" name="TextBox 6"/>
          <p:cNvSpPr txBox="1"/>
          <p:nvPr/>
        </p:nvSpPr>
        <p:spPr>
          <a:xfrm>
            <a:off x="868680" y="2395728"/>
            <a:ext cx="3931920" cy="274320"/>
          </a:xfrm>
          <a:prstGeom prst="rect">
            <a:avLst/>
          </a:prstGeom>
          <a:noFill/>
        </p:spPr>
        <p:txBody>
          <a:bodyPr wrap="square" lIns="36576" rIns="36576" tIns="36576" bIns="36576" anchor="t">
            <a:spAutoFit/>
          </a:bodyPr>
          <a:lstStyle/>
          <a:p>
            <a:pPr algn="l">
              <a:spcBef>
                <a:spcPts val="0"/>
              </a:spcBef>
              <a:spcAft>
                <a:spcPts val="0"/>
              </a:spcAft>
            </a:pPr>
            <a:r>
              <a:rPr sz="1150" b="0">
                <a:solidFill>
                  <a:srgbClr val="52627A"/>
                </a:solidFill>
                <a:latin typeface="Aptos"/>
              </a:rPr>
              <a:t>the frozen version-1 prior, applied to every element of z</a:t>
            </a:r>
          </a:p>
        </p:txBody>
      </p:sp>
      <p:sp>
        <p:nvSpPr>
          <p:cNvPr id="8" name="Rounded Rectangle 7"/>
          <p:cNvSpPr/>
          <p:nvPr/>
        </p:nvSpPr>
        <p:spPr>
          <a:xfrm>
            <a:off x="868680"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52928"/>
            <a:ext cx="1170432" cy="310896"/>
          </a:xfrm>
          <a:prstGeom prst="rect">
            <a:avLst/>
          </a:prstGeom>
          <a:noFill/>
        </p:spPr>
        <p:txBody>
          <a:bodyPr wrap="square" lIns="36576" rIns="36576" tIns="36576" bIns="36576" anchor="t">
            <a:spAutoFit/>
          </a:bodyPr>
          <a:lstStyle/>
          <a:p>
            <a:pPr algn="ctr">
              <a:spcBef>
                <a:spcPts val="0"/>
              </a:spcBef>
              <a:spcAft>
                <a:spcPts val="0"/>
              </a:spcAft>
            </a:pPr>
            <a:r>
              <a:rPr sz="1700" b="1">
                <a:solidFill>
                  <a:srgbClr val="13233B"/>
                </a:solidFill>
                <a:latin typeface="Aptos"/>
              </a:rPr>
              <a:t>2</a:t>
            </a:r>
          </a:p>
        </p:txBody>
      </p:sp>
      <p:sp>
        <p:nvSpPr>
          <p:cNvPr id="10" name="TextBox 9"/>
          <p:cNvSpPr txBox="1"/>
          <p:nvPr/>
        </p:nvSpPr>
        <p:spPr>
          <a:xfrm>
            <a:off x="868680" y="3200400"/>
            <a:ext cx="1170432" cy="219456"/>
          </a:xfrm>
          <a:prstGeom prst="rect">
            <a:avLst/>
          </a:prstGeom>
          <a:noFill/>
        </p:spPr>
        <p:txBody>
          <a:bodyPr wrap="square" lIns="36576" rIns="36576" tIns="36576" bIns="36576" anchor="t">
            <a:spAutoFit/>
          </a:bodyPr>
          <a:lstStyle/>
          <a:p>
            <a:pPr algn="ctr">
              <a:spcBef>
                <a:spcPts val="0"/>
              </a:spcBef>
              <a:spcAft>
                <a:spcPts val="0"/>
              </a:spcAft>
            </a:pPr>
            <a:r>
              <a:rPr sz="1000" b="0">
                <a:solidFill>
                  <a:srgbClr val="52627A"/>
                </a:solidFill>
                <a:latin typeface="Aptos"/>
              </a:rPr>
              <a:t>mean</a:t>
            </a:r>
          </a:p>
        </p:txBody>
      </p:sp>
      <p:sp>
        <p:nvSpPr>
          <p:cNvPr id="11" name="Rounded Rectangle 10"/>
          <p:cNvSpPr/>
          <p:nvPr/>
        </p:nvSpPr>
        <p:spPr>
          <a:xfrm>
            <a:off x="2167128"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7128" y="2852928"/>
            <a:ext cx="1170432" cy="310896"/>
          </a:xfrm>
          <a:prstGeom prst="rect">
            <a:avLst/>
          </a:prstGeom>
          <a:noFill/>
        </p:spPr>
        <p:txBody>
          <a:bodyPr wrap="square" lIns="36576" rIns="36576" tIns="36576" bIns="36576" anchor="t">
            <a:spAutoFit/>
          </a:bodyPr>
          <a:lstStyle/>
          <a:p>
            <a:pPr algn="ctr">
              <a:spcBef>
                <a:spcPts val="0"/>
              </a:spcBef>
              <a:spcAft>
                <a:spcPts val="0"/>
              </a:spcAft>
            </a:pPr>
            <a:r>
              <a:rPr sz="1700" b="1">
                <a:solidFill>
                  <a:srgbClr val="13233B"/>
                </a:solidFill>
                <a:latin typeface="Aptos"/>
              </a:rPr>
              <a:t>2</a:t>
            </a:r>
          </a:p>
        </p:txBody>
      </p:sp>
      <p:sp>
        <p:nvSpPr>
          <p:cNvPr id="13" name="TextBox 12"/>
          <p:cNvSpPr txBox="1"/>
          <p:nvPr/>
        </p:nvSpPr>
        <p:spPr>
          <a:xfrm>
            <a:off x="2167128" y="3200400"/>
            <a:ext cx="1170432" cy="219456"/>
          </a:xfrm>
          <a:prstGeom prst="rect">
            <a:avLst/>
          </a:prstGeom>
          <a:noFill/>
        </p:spPr>
        <p:txBody>
          <a:bodyPr wrap="square" lIns="36576" rIns="36576" tIns="36576" bIns="36576" anchor="t">
            <a:spAutoFit/>
          </a:bodyPr>
          <a:lstStyle/>
          <a:p>
            <a:pPr algn="ctr">
              <a:spcBef>
                <a:spcPts val="0"/>
              </a:spcBef>
              <a:spcAft>
                <a:spcPts val="0"/>
              </a:spcAft>
            </a:pPr>
            <a:r>
              <a:rPr sz="1000" b="0">
                <a:solidFill>
                  <a:srgbClr val="52627A"/>
                </a:solidFill>
                <a:latin typeface="Aptos"/>
              </a:rPr>
              <a:t>variance</a:t>
            </a:r>
          </a:p>
        </p:txBody>
      </p:sp>
      <p:sp>
        <p:nvSpPr>
          <p:cNvPr id="14" name="Rounded Rectangle 13"/>
          <p:cNvSpPr/>
          <p:nvPr/>
        </p:nvSpPr>
        <p:spPr>
          <a:xfrm>
            <a:off x="3465576" y="2788920"/>
            <a:ext cx="1170432" cy="71323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5576" y="2852928"/>
            <a:ext cx="1170432" cy="310896"/>
          </a:xfrm>
          <a:prstGeom prst="rect">
            <a:avLst/>
          </a:prstGeom>
          <a:noFill/>
        </p:spPr>
        <p:txBody>
          <a:bodyPr wrap="square" lIns="36576" rIns="36576" tIns="36576" bIns="36576" anchor="t">
            <a:spAutoFit/>
          </a:bodyPr>
          <a:lstStyle/>
          <a:p>
            <a:pPr algn="ctr">
              <a:spcBef>
                <a:spcPts val="0"/>
              </a:spcBef>
              <a:spcAft>
                <a:spcPts val="0"/>
              </a:spcAft>
            </a:pPr>
            <a:r>
              <a:rPr sz="1700" b="1">
                <a:solidFill>
                  <a:srgbClr val="13233B"/>
                </a:solidFill>
                <a:latin typeface="Aptos"/>
              </a:rPr>
              <a:t>1</a:t>
            </a:r>
          </a:p>
        </p:txBody>
      </p:sp>
      <p:sp>
        <p:nvSpPr>
          <p:cNvPr id="16" name="TextBox 15"/>
          <p:cNvSpPr txBox="1"/>
          <p:nvPr/>
        </p:nvSpPr>
        <p:spPr>
          <a:xfrm>
            <a:off x="3465576" y="3200400"/>
            <a:ext cx="1170432" cy="219456"/>
          </a:xfrm>
          <a:prstGeom prst="rect">
            <a:avLst/>
          </a:prstGeom>
          <a:noFill/>
        </p:spPr>
        <p:txBody>
          <a:bodyPr wrap="square" lIns="36576" rIns="36576" tIns="36576" bIns="36576" anchor="t">
            <a:spAutoFit/>
          </a:bodyPr>
          <a:lstStyle/>
          <a:p>
            <a:pPr algn="ctr">
              <a:spcBef>
                <a:spcPts val="0"/>
              </a:spcBef>
              <a:spcAft>
                <a:spcPts val="0"/>
              </a:spcAft>
            </a:pPr>
            <a:r>
              <a:rPr sz="1000" b="0">
                <a:solidFill>
                  <a:srgbClr val="52627A"/>
                </a:solidFill>
                <a:latin typeface="Aptos"/>
              </a:rPr>
              <a:t>mode</a:t>
            </a:r>
          </a:p>
        </p:txBody>
      </p:sp>
      <p:sp>
        <p:nvSpPr>
          <p:cNvPr id="17" name="TextBox 16"/>
          <p:cNvSpPr txBox="1"/>
          <p:nvPr/>
        </p:nvSpPr>
        <p:spPr>
          <a:xfrm>
            <a:off x="868680" y="3703320"/>
            <a:ext cx="3931920" cy="502920"/>
          </a:xfrm>
          <a:prstGeom prst="rect">
            <a:avLst/>
          </a:prstGeom>
          <a:noFill/>
        </p:spPr>
        <p:txBody>
          <a:bodyPr wrap="square" lIns="36576" rIns="36576" tIns="36576" bIns="36576" anchor="t">
            <a:spAutoFit/>
          </a:bodyPr>
          <a:lstStyle/>
          <a:p>
            <a:pPr algn="l">
              <a:spcBef>
                <a:spcPts val="0"/>
              </a:spcBef>
              <a:spcAft>
                <a:spcPts val="0"/>
              </a:spcAft>
            </a:pPr>
            <a:r>
              <a:rPr sz="1150" b="0">
                <a:solidFill>
                  <a:srgbClr val="213047"/>
                </a:solidFill>
                <a:latin typeface="Aptos"/>
              </a:rPr>
              <a:t>Only positive values are allowed — a cell amount cannot be negative.</a:t>
            </a:r>
          </a:p>
        </p:txBody>
      </p:sp>
      <p:sp>
        <p:nvSpPr>
          <p:cNvPr id="18" name="Rounded Rectangle 17"/>
          <p:cNvSpPr/>
          <p:nvPr/>
        </p:nvSpPr>
        <p:spPr>
          <a:xfrm>
            <a:off x="5257800" y="1325880"/>
            <a:ext cx="6309360" cy="333756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5806440" y="1645920"/>
            <a:ext cx="0" cy="2496312"/>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06440" y="4142232"/>
            <a:ext cx="5440680" cy="0"/>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5820041" y="1996074"/>
            <a:ext cx="5427079" cy="2130499"/>
          </a:xfrm>
          <a:custGeom>
            <a:avLst/>
            <a:gdLst/>
            <a:ahLst/>
            <a:cxnLst/>
            <a:rect l="l" t="t" r="r" b="b"/>
            <a:pathLst>
              <a:path w="5427079" h="2130499">
                <a:moveTo>
                  <a:pt x="0" y="2031773"/>
                </a:moveTo>
                <a:lnTo>
                  <a:pt x="84798" y="1415665"/>
                </a:lnTo>
                <a:lnTo>
                  <a:pt x="169596" y="945578"/>
                </a:lnTo>
                <a:lnTo>
                  <a:pt x="254394" y="595744"/>
                </a:lnTo>
                <a:lnTo>
                  <a:pt x="339193" y="344428"/>
                </a:lnTo>
                <a:lnTo>
                  <a:pt x="423991" y="173341"/>
                </a:lnTo>
                <a:lnTo>
                  <a:pt x="508789" y="67126"/>
                </a:lnTo>
                <a:lnTo>
                  <a:pt x="593587" y="12924"/>
                </a:lnTo>
                <a:lnTo>
                  <a:pt x="678385" y="0"/>
                </a:lnTo>
                <a:lnTo>
                  <a:pt x="763183" y="19422"/>
                </a:lnTo>
                <a:lnTo>
                  <a:pt x="847981" y="63784"/>
                </a:lnTo>
                <a:lnTo>
                  <a:pt x="932779" y="126971"/>
                </a:lnTo>
                <a:lnTo>
                  <a:pt x="1017577" y="203959"/>
                </a:lnTo>
                <a:lnTo>
                  <a:pt x="1102375" y="290646"/>
                </a:lnTo>
                <a:lnTo>
                  <a:pt x="1187174" y="383699"/>
                </a:lnTo>
                <a:lnTo>
                  <a:pt x="1271972" y="480434"/>
                </a:lnTo>
                <a:lnTo>
                  <a:pt x="1356770" y="578709"/>
                </a:lnTo>
                <a:lnTo>
                  <a:pt x="1441568" y="676833"/>
                </a:lnTo>
                <a:lnTo>
                  <a:pt x="1526366" y="773493"/>
                </a:lnTo>
                <a:lnTo>
                  <a:pt x="1611164" y="867682"/>
                </a:lnTo>
                <a:lnTo>
                  <a:pt x="1695962" y="958651"/>
                </a:lnTo>
                <a:lnTo>
                  <a:pt x="1780760" y="1045861"/>
                </a:lnTo>
                <a:lnTo>
                  <a:pt x="1865558" y="1128944"/>
                </a:lnTo>
                <a:lnTo>
                  <a:pt x="1950356" y="1207667"/>
                </a:lnTo>
                <a:lnTo>
                  <a:pt x="2035155" y="1281913"/>
                </a:lnTo>
                <a:lnTo>
                  <a:pt x="2119953" y="1351648"/>
                </a:lnTo>
                <a:lnTo>
                  <a:pt x="2204751" y="1416910"/>
                </a:lnTo>
                <a:lnTo>
                  <a:pt x="2289549" y="1477790"/>
                </a:lnTo>
                <a:lnTo>
                  <a:pt x="2374347" y="1534417"/>
                </a:lnTo>
                <a:lnTo>
                  <a:pt x="2459145" y="1586953"/>
                </a:lnTo>
                <a:lnTo>
                  <a:pt x="2543943" y="1635578"/>
                </a:lnTo>
                <a:lnTo>
                  <a:pt x="2628741" y="1680488"/>
                </a:lnTo>
                <a:lnTo>
                  <a:pt x="2713539" y="1721885"/>
                </a:lnTo>
                <a:lnTo>
                  <a:pt x="2798337" y="1759975"/>
                </a:lnTo>
                <a:lnTo>
                  <a:pt x="2883136" y="1794966"/>
                </a:lnTo>
                <a:lnTo>
                  <a:pt x="2967934" y="1827059"/>
                </a:lnTo>
                <a:lnTo>
                  <a:pt x="3052732" y="1856455"/>
                </a:lnTo>
                <a:lnTo>
                  <a:pt x="3137530" y="1883343"/>
                </a:lnTo>
                <a:lnTo>
                  <a:pt x="3222328" y="1907909"/>
                </a:lnTo>
                <a:lnTo>
                  <a:pt x="3307126" y="1930327"/>
                </a:lnTo>
                <a:lnTo>
                  <a:pt x="3391924" y="1950763"/>
                </a:lnTo>
                <a:lnTo>
                  <a:pt x="3476722" y="1969373"/>
                </a:lnTo>
                <a:lnTo>
                  <a:pt x="3561520" y="1986306"/>
                </a:lnTo>
                <a:lnTo>
                  <a:pt x="3646318" y="2001698"/>
                </a:lnTo>
                <a:lnTo>
                  <a:pt x="3731117" y="2015678"/>
                </a:lnTo>
                <a:lnTo>
                  <a:pt x="3815915" y="2028365"/>
                </a:lnTo>
                <a:lnTo>
                  <a:pt x="3900713" y="2039871"/>
                </a:lnTo>
                <a:lnTo>
                  <a:pt x="3985511" y="2050298"/>
                </a:lnTo>
                <a:lnTo>
                  <a:pt x="4070309" y="2059741"/>
                </a:lnTo>
                <a:lnTo>
                  <a:pt x="4155107" y="2068287"/>
                </a:lnTo>
                <a:lnTo>
                  <a:pt x="4239905" y="2076018"/>
                </a:lnTo>
                <a:lnTo>
                  <a:pt x="4324703" y="2083006"/>
                </a:lnTo>
                <a:lnTo>
                  <a:pt x="4409501" y="2089319"/>
                </a:lnTo>
                <a:lnTo>
                  <a:pt x="4494299" y="2095020"/>
                </a:lnTo>
                <a:lnTo>
                  <a:pt x="4579098" y="2100166"/>
                </a:lnTo>
                <a:lnTo>
                  <a:pt x="4663896" y="2104807"/>
                </a:lnTo>
                <a:lnTo>
                  <a:pt x="4748694" y="2108993"/>
                </a:lnTo>
                <a:lnTo>
                  <a:pt x="4833492" y="2112766"/>
                </a:lnTo>
                <a:lnTo>
                  <a:pt x="4918290" y="2116164"/>
                </a:lnTo>
                <a:lnTo>
                  <a:pt x="5003088" y="2119225"/>
                </a:lnTo>
                <a:lnTo>
                  <a:pt x="5087886" y="2121980"/>
                </a:lnTo>
                <a:lnTo>
                  <a:pt x="5172684" y="2124460"/>
                </a:lnTo>
                <a:lnTo>
                  <a:pt x="5257482" y="2126690"/>
                </a:lnTo>
                <a:lnTo>
                  <a:pt x="5342280" y="2128696"/>
                </a:lnTo>
                <a:lnTo>
                  <a:pt x="5427079" y="2130499"/>
                </a:lnTo>
              </a:path>
            </a:pathLst>
          </a:custGeom>
          <a:noFill/>
          <a:ln w="3492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486525" y="1995750"/>
            <a:ext cx="0" cy="2146482"/>
          </a:xfrm>
          <a:prstGeom prst="line">
            <a:avLst/>
          </a:prstGeom>
          <a:ln w="19050">
            <a:solidFill>
              <a:srgbClr val="18A999"/>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559677" y="1739718"/>
            <a:ext cx="1097280" cy="219456"/>
          </a:xfrm>
          <a:prstGeom prst="rect">
            <a:avLst/>
          </a:prstGeom>
          <a:noFill/>
        </p:spPr>
        <p:txBody>
          <a:bodyPr wrap="square" lIns="36576" rIns="36576" tIns="36576" bIns="36576" anchor="t">
            <a:spAutoFit/>
          </a:bodyPr>
          <a:lstStyle/>
          <a:p>
            <a:pPr algn="l">
              <a:spcBef>
                <a:spcPts val="0"/>
              </a:spcBef>
              <a:spcAft>
                <a:spcPts val="0"/>
              </a:spcAft>
            </a:pPr>
            <a:r>
              <a:rPr sz="1100" b="1">
                <a:solidFill>
                  <a:srgbClr val="18A999"/>
                </a:solidFill>
                <a:latin typeface="Aptos"/>
              </a:rPr>
              <a:t>mode = 1</a:t>
            </a:r>
          </a:p>
        </p:txBody>
      </p:sp>
      <p:sp>
        <p:nvSpPr>
          <p:cNvPr id="24" name="TextBox 23"/>
          <p:cNvSpPr txBox="1"/>
          <p:nvPr/>
        </p:nvSpPr>
        <p:spPr>
          <a:xfrm>
            <a:off x="7574661" y="2858588"/>
            <a:ext cx="2011680" cy="237744"/>
          </a:xfrm>
          <a:prstGeom prst="rect">
            <a:avLst/>
          </a:prstGeom>
          <a:noFill/>
        </p:spPr>
        <p:txBody>
          <a:bodyPr wrap="square" lIns="36576" rIns="36576" tIns="36576" bIns="36576" anchor="t">
            <a:spAutoFit/>
          </a:bodyPr>
          <a:lstStyle/>
          <a:p>
            <a:pPr algn="l">
              <a:spcBef>
                <a:spcPts val="0"/>
              </a:spcBef>
              <a:spcAft>
                <a:spcPts val="0"/>
              </a:spcAft>
            </a:pPr>
            <a:r>
              <a:rPr sz="1050" b="0">
                <a:solidFill>
                  <a:srgbClr val="52627A"/>
                </a:solidFill>
                <a:latin typeface="Aptos"/>
              </a:rPr>
              <a:t>positive values only</a:t>
            </a:r>
          </a:p>
        </p:txBody>
      </p:sp>
      <p:sp>
        <p:nvSpPr>
          <p:cNvPr id="25" name="TextBox 24"/>
          <p:cNvSpPr txBox="1"/>
          <p:nvPr/>
        </p:nvSpPr>
        <p:spPr>
          <a:xfrm>
            <a:off x="5696712"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0">
                <a:solidFill>
                  <a:srgbClr val="52627A"/>
                </a:solidFill>
                <a:latin typeface="Aptos"/>
              </a:rPr>
              <a:t>0</a:t>
            </a:r>
          </a:p>
        </p:txBody>
      </p:sp>
      <p:sp>
        <p:nvSpPr>
          <p:cNvPr id="26" name="TextBox 25"/>
          <p:cNvSpPr txBox="1"/>
          <p:nvPr/>
        </p:nvSpPr>
        <p:spPr>
          <a:xfrm>
            <a:off x="7056882"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0">
                <a:solidFill>
                  <a:srgbClr val="52627A"/>
                </a:solidFill>
                <a:latin typeface="Aptos"/>
              </a:rPr>
              <a:t>2</a:t>
            </a:r>
          </a:p>
        </p:txBody>
      </p:sp>
      <p:sp>
        <p:nvSpPr>
          <p:cNvPr id="27" name="TextBox 26"/>
          <p:cNvSpPr txBox="1"/>
          <p:nvPr/>
        </p:nvSpPr>
        <p:spPr>
          <a:xfrm>
            <a:off x="8417052"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0">
                <a:solidFill>
                  <a:srgbClr val="52627A"/>
                </a:solidFill>
                <a:latin typeface="Aptos"/>
              </a:rPr>
              <a:t>4</a:t>
            </a:r>
          </a:p>
        </p:txBody>
      </p:sp>
      <p:sp>
        <p:nvSpPr>
          <p:cNvPr id="28" name="TextBox 27"/>
          <p:cNvSpPr txBox="1"/>
          <p:nvPr/>
        </p:nvSpPr>
        <p:spPr>
          <a:xfrm>
            <a:off x="9777222"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0">
                <a:solidFill>
                  <a:srgbClr val="52627A"/>
                </a:solidFill>
                <a:latin typeface="Aptos"/>
              </a:rPr>
              <a:t>6</a:t>
            </a:r>
          </a:p>
        </p:txBody>
      </p:sp>
      <p:sp>
        <p:nvSpPr>
          <p:cNvPr id="29" name="TextBox 28"/>
          <p:cNvSpPr txBox="1"/>
          <p:nvPr/>
        </p:nvSpPr>
        <p:spPr>
          <a:xfrm>
            <a:off x="11137392"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0">
                <a:solidFill>
                  <a:srgbClr val="52627A"/>
                </a:solidFill>
                <a:latin typeface="Aptos"/>
              </a:rPr>
              <a:t>8</a:t>
            </a:r>
          </a:p>
        </p:txBody>
      </p:sp>
      <p:sp>
        <p:nvSpPr>
          <p:cNvPr id="30" name="TextBox 29"/>
          <p:cNvSpPr txBox="1"/>
          <p:nvPr/>
        </p:nvSpPr>
        <p:spPr>
          <a:xfrm>
            <a:off x="6376797" y="4169664"/>
            <a:ext cx="219456" cy="182880"/>
          </a:xfrm>
          <a:prstGeom prst="rect">
            <a:avLst/>
          </a:prstGeom>
          <a:noFill/>
        </p:spPr>
        <p:txBody>
          <a:bodyPr wrap="square" lIns="36576" rIns="36576" tIns="36576" bIns="36576" anchor="t">
            <a:spAutoFit/>
          </a:bodyPr>
          <a:lstStyle/>
          <a:p>
            <a:pPr algn="ctr">
              <a:spcBef>
                <a:spcPts val="0"/>
              </a:spcBef>
              <a:spcAft>
                <a:spcPts val="0"/>
              </a:spcAft>
            </a:pPr>
            <a:r>
              <a:rPr sz="900" b="1">
                <a:solidFill>
                  <a:srgbClr val="18A999"/>
                </a:solidFill>
                <a:latin typeface="Aptos"/>
              </a:rPr>
              <a:t>1</a:t>
            </a:r>
          </a:p>
        </p:txBody>
      </p:sp>
      <p:sp>
        <p:nvSpPr>
          <p:cNvPr id="31" name="TextBox 30"/>
          <p:cNvSpPr txBox="1"/>
          <p:nvPr/>
        </p:nvSpPr>
        <p:spPr>
          <a:xfrm>
            <a:off x="7612379" y="4325112"/>
            <a:ext cx="1828800" cy="201168"/>
          </a:xfrm>
          <a:prstGeom prst="rect">
            <a:avLst/>
          </a:prstGeom>
          <a:noFill/>
        </p:spPr>
        <p:txBody>
          <a:bodyPr wrap="square" lIns="36576" rIns="36576" tIns="36576" bIns="36576" anchor="t">
            <a:spAutoFit/>
          </a:bodyPr>
          <a:lstStyle/>
          <a:p>
            <a:pPr algn="ctr">
              <a:spcBef>
                <a:spcPts val="0"/>
              </a:spcBef>
              <a:spcAft>
                <a:spcPts val="0"/>
              </a:spcAft>
            </a:pPr>
            <a:r>
              <a:rPr sz="1050" b="0">
                <a:solidFill>
                  <a:srgbClr val="52627A"/>
                </a:solidFill>
                <a:latin typeface="Aptos"/>
              </a:rPr>
              <a:t>possible amount z</a:t>
            </a:r>
          </a:p>
        </p:txBody>
      </p:sp>
      <p:sp>
        <p:nvSpPr>
          <p:cNvPr id="32" name="TextBox 31"/>
          <p:cNvSpPr txBox="1"/>
          <p:nvPr/>
        </p:nvSpPr>
        <p:spPr>
          <a:xfrm>
            <a:off x="5486400" y="1463040"/>
            <a:ext cx="1463040" cy="201168"/>
          </a:xfrm>
          <a:prstGeom prst="rect">
            <a:avLst/>
          </a:prstGeom>
          <a:noFill/>
        </p:spPr>
        <p:txBody>
          <a:bodyPr wrap="square" lIns="36576" rIns="36576" tIns="36576" bIns="36576" anchor="t">
            <a:spAutoFit/>
          </a:bodyPr>
          <a:lstStyle/>
          <a:p>
            <a:pPr algn="l">
              <a:spcBef>
                <a:spcPts val="0"/>
              </a:spcBef>
              <a:spcAft>
                <a:spcPts val="0"/>
              </a:spcAft>
            </a:pPr>
            <a:r>
              <a:rPr sz="1050" b="0">
                <a:solidFill>
                  <a:srgbClr val="52627A"/>
                </a:solidFill>
                <a:latin typeface="Aptos"/>
              </a:rPr>
              <a:t>prior density</a:t>
            </a:r>
          </a:p>
        </p:txBody>
      </p:sp>
      <p:sp>
        <p:nvSpPr>
          <p:cNvPr id="33" name="TextBox 32"/>
          <p:cNvSpPr txBox="1"/>
          <p:nvPr/>
        </p:nvSpPr>
        <p:spPr>
          <a:xfrm>
            <a:off x="649224" y="4846320"/>
            <a:ext cx="5486400" cy="274320"/>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How is the prior determined?</a:t>
            </a:r>
          </a:p>
        </p:txBody>
      </p:sp>
      <p:sp>
        <p:nvSpPr>
          <p:cNvPr id="34" name="TextBox 33"/>
          <p:cNvSpPr txBox="1"/>
          <p:nvPr/>
        </p:nvSpPr>
        <p:spPr>
          <a:xfrm>
            <a:off x="649224" y="5175504"/>
            <a:ext cx="10881360" cy="1280160"/>
          </a:xfrm>
          <a:prstGeom prst="rect">
            <a:avLst/>
          </a:prstGeom>
          <a:noFill/>
        </p:spPr>
        <p:txBody>
          <a:bodyPr wrap="square">
            <a:spAutoFit/>
          </a:bodyPr>
          <a:lstStyle/>
          <a:p>
            <a:pPr algn="l">
              <a:lnSpc>
                <a:spcPct val="105000"/>
              </a:lnSpc>
              <a:spcAft>
                <a:spcPts val="600"/>
              </a:spcAft>
            </a:pPr>
            <a:r>
              <a:rPr sz="1200" b="1">
                <a:solidFill>
                  <a:srgbClr val="8B5CF6"/>
                </a:solidFill>
                <a:latin typeface="Aptos"/>
              </a:rPr>
              <a:t>•  </a:t>
            </a:r>
            <a:r>
              <a:rPr sz="1200">
                <a:solidFill>
                  <a:srgbClr val="213047"/>
                </a:solidFill>
                <a:latin typeface="Aptos"/>
              </a:rPr>
              <a:t>Chosen ahead of time and frozen: the Gamma(2, 1) prior is fixed before any spot's data is analyzed (version-1 protocol).</a:t>
            </a:r>
          </a:p>
          <a:p>
            <a:pPr algn="l">
              <a:lnSpc>
                <a:spcPct val="105000"/>
              </a:lnSpc>
              <a:spcAft>
                <a:spcPts val="600"/>
              </a:spcAft>
            </a:pPr>
            <a:r>
              <a:rPr sz="1200" b="1">
                <a:solidFill>
                  <a:srgbClr val="8B5CF6"/>
                </a:solidFill>
                <a:latin typeface="Aptos"/>
              </a:rPr>
              <a:t>•  </a:t>
            </a:r>
            <a:r>
              <a:rPr sz="1200">
                <a:solidFill>
                  <a:srgbClr val="213047"/>
                </a:solidFill>
                <a:latin typeface="Aptos"/>
              </a:rPr>
              <a:t>Fair across cell types: every type gets the identical prior, so none starts with an advantage.</a:t>
            </a:r>
          </a:p>
          <a:p>
            <a:pPr algn="l">
              <a:lnSpc>
                <a:spcPct val="105000"/>
              </a:lnSpc>
              <a:spcAft>
                <a:spcPts val="600"/>
              </a:spcAft>
            </a:pPr>
            <a:r>
              <a:rPr sz="1200" b="1">
                <a:solidFill>
                  <a:srgbClr val="8B5CF6"/>
                </a:solidFill>
                <a:latin typeface="Aptos"/>
              </a:rPr>
              <a:t>•  </a:t>
            </a:r>
            <a:r>
              <a:rPr sz="1200">
                <a:solidFill>
                  <a:srgbClr val="213047"/>
                </a:solidFill>
                <a:latin typeface="Aptos"/>
              </a:rPr>
              <a:t>An assumption, not a measurement: it gently prefers moderate positive amounts, and other reasonable priors can be tested in sensitivity checks.</a:t>
            </a:r>
          </a:p>
        </p:txBody>
      </p:sp>
      <p:sp>
        <p:nvSpPr>
          <p:cNvPr id="35" name="Rounded Rectangle 34"/>
          <p:cNvSpPr/>
          <p:nvPr/>
        </p:nvSpPr>
        <p:spPr>
          <a:xfrm>
            <a:off x="621792" y="6519672"/>
            <a:ext cx="10945368" cy="10058"/>
          </a:xfrm>
          <a:prstGeom prst="round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BAYESIAN MODEL • WITHOUT LENGTH BINS</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400" b="1">
                <a:solidFill>
                  <a:srgbClr val="13233B"/>
                </a:solidFill>
                <a:latin typeface="Aptos Display"/>
              </a:rPr>
              <a:t>The likelihood: the probability of seeing N, given z</a:t>
            </a:r>
          </a:p>
        </p:txBody>
      </p:sp>
      <p:sp>
        <p:nvSpPr>
          <p:cNvPr id="4" name="TextBox 3"/>
          <p:cNvSpPr txBox="1"/>
          <p:nvPr/>
        </p:nvSpPr>
        <p:spPr>
          <a:xfrm>
            <a:off x="1828800" y="1099108"/>
            <a:ext cx="9052560" cy="308152"/>
          </a:xfrm>
          <a:prstGeom prst="rect">
            <a:avLst/>
          </a:prstGeom>
          <a:noFill/>
        </p:spPr>
        <p:txBody>
          <a:bodyPr wrap="square" anchor="ctr">
            <a:spAutoFit/>
          </a:bodyPr>
          <a:lstStyle/>
          <a:p>
            <a:pPr algn="l"/>
            <a:r>
              <a:rPr sz="1400" b="1">
                <a:solidFill>
                  <a:srgbClr val="13233B"/>
                </a:solidFill>
                <a:latin typeface="Aptos"/>
              </a:rPr>
              <a:t>R   </a:t>
            </a:r>
            <a:r>
              <a:rPr sz="1400">
                <a:solidFill>
                  <a:srgbClr val="52627A"/>
                </a:solidFill>
                <a:latin typeface="Aptos"/>
              </a:rPr>
              <a:t>reference peak rate — expected cut sites per cell of each type, learned from labeled reference cells</a:t>
            </a:r>
          </a:p>
        </p:txBody>
      </p:sp>
      <p:sp>
        <p:nvSpPr>
          <p:cNvPr id="5" name="TextBox 4"/>
          <p:cNvSpPr txBox="1"/>
          <p:nvPr/>
        </p:nvSpPr>
        <p:spPr>
          <a:xfrm>
            <a:off x="1842516" y="1413662"/>
            <a:ext cx="9052560" cy="308152"/>
          </a:xfrm>
          <a:prstGeom prst="rect">
            <a:avLst/>
          </a:prstGeom>
          <a:noFill/>
        </p:spPr>
        <p:txBody>
          <a:bodyPr wrap="square" anchor="ctr">
            <a:spAutoFit/>
          </a:bodyPr>
          <a:lstStyle/>
          <a:p>
            <a:pPr algn="l"/>
            <a:r>
              <a:rPr sz="1400" b="1">
                <a:solidFill>
                  <a:srgbClr val="13233B"/>
                </a:solidFill>
                <a:latin typeface="Aptos"/>
              </a:rPr>
              <a:t>n   </a:t>
            </a:r>
            <a:r>
              <a:rPr sz="1400">
                <a:solidFill>
                  <a:srgbClr val="52627A"/>
                </a:solidFill>
                <a:latin typeface="Aptos"/>
              </a:rPr>
              <a:t>predicted (mean) counts — what a candidate recipe z predicts: n = z · R</a:t>
            </a:r>
          </a:p>
        </p:txBody>
      </p:sp>
      <p:sp>
        <p:nvSpPr>
          <p:cNvPr id="6" name="Rounded Rectangle 5"/>
          <p:cNvSpPr/>
          <p:nvPr/>
        </p:nvSpPr>
        <p:spPr>
          <a:xfrm>
            <a:off x="640080" y="1920240"/>
            <a:ext cx="10908792" cy="160020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103120"/>
            <a:ext cx="2148840" cy="292608"/>
          </a:xfrm>
          <a:prstGeom prst="roundRect">
            <a:avLst/>
          </a:prstGeom>
          <a:solidFill>
            <a:srgbClr val="B8860B"/>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lIns="54864" rIns="54864" tIns="9144" bIns="9144"/>
          <a:lstStyle/>
          <a:p>
            <a:pPr algn="ctr"/>
            <a:r>
              <a:rPr sz="1100" b="1">
                <a:solidFill>
                  <a:srgbClr val="FFFFFF"/>
                </a:solidFill>
                <a:latin typeface="Aptos"/>
              </a:rPr>
              <a:t>LIKELIHOOD  p(N | z)</a:t>
            </a:r>
          </a:p>
        </p:txBody>
      </p:sp>
      <p:sp>
        <p:nvSpPr>
          <p:cNvPr id="8" name="TextBox 7"/>
          <p:cNvSpPr txBox="1"/>
          <p:nvPr/>
        </p:nvSpPr>
        <p:spPr>
          <a:xfrm>
            <a:off x="868680" y="2542032"/>
            <a:ext cx="10469880" cy="457200"/>
          </a:xfrm>
          <a:prstGeom prst="rect">
            <a:avLst/>
          </a:prstGeom>
          <a:noFill/>
        </p:spPr>
        <p:txBody>
          <a:bodyPr wrap="square" lIns="36576" rIns="36576" tIns="36576" bIns="36576" anchor="t">
            <a:spAutoFit/>
          </a:bodyPr>
          <a:lstStyle/>
          <a:p>
            <a:pPr algn="ctr">
              <a:spcBef>
                <a:spcPts val="0"/>
              </a:spcBef>
              <a:spcAft>
                <a:spcPts val="0"/>
              </a:spcAft>
            </a:pPr>
            <a:r>
              <a:rPr sz="2100" b="1">
                <a:solidFill>
                  <a:srgbClr val="13233B"/>
                </a:solidFill>
                <a:latin typeface="Aptos"/>
              </a:rPr>
              <a:t>N  ~  NegBinomial( mean n=z · R ,   inverse-dispersion = φref · Σ z )</a:t>
            </a:r>
          </a:p>
        </p:txBody>
      </p:sp>
      <p:sp>
        <p:nvSpPr>
          <p:cNvPr id="9" name="TextBox 8"/>
          <p:cNvSpPr txBox="1"/>
          <p:nvPr/>
        </p:nvSpPr>
        <p:spPr>
          <a:xfrm>
            <a:off x="868680" y="3072384"/>
            <a:ext cx="10469880" cy="292608"/>
          </a:xfrm>
          <a:prstGeom prst="rect">
            <a:avLst/>
          </a:prstGeom>
          <a:noFill/>
        </p:spPr>
        <p:txBody>
          <a:bodyPr wrap="square" lIns="36576" rIns="36576" tIns="36576" bIns="36576" anchor="t">
            <a:spAutoFit/>
          </a:bodyPr>
          <a:lstStyle/>
          <a:p>
            <a:pPr algn="ctr">
              <a:spcBef>
                <a:spcPts val="0"/>
              </a:spcBef>
              <a:spcAft>
                <a:spcPts val="0"/>
              </a:spcAft>
            </a:pPr>
            <a:r>
              <a:rPr sz="1250" b="0">
                <a:solidFill>
                  <a:srgbClr val="52627A"/>
                </a:solidFill>
                <a:latin typeface="Aptos"/>
              </a:rPr>
              <a:t>n = z · R is a dot product: each cell type's amount × its reference rate, added over the cell types</a:t>
            </a:r>
          </a:p>
        </p:txBody>
      </p:sp>
      <p:sp>
        <p:nvSpPr>
          <p:cNvPr id="10" name="TextBox 9"/>
          <p:cNvSpPr txBox="1"/>
          <p:nvPr/>
        </p:nvSpPr>
        <p:spPr>
          <a:xfrm>
            <a:off x="649224" y="3749039"/>
            <a:ext cx="5394960" cy="274320"/>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How to read the formula</a:t>
            </a:r>
          </a:p>
        </p:txBody>
      </p:sp>
      <p:sp>
        <p:nvSpPr>
          <p:cNvPr id="11" name="TextBox 10"/>
          <p:cNvSpPr txBox="1"/>
          <p:nvPr/>
        </p:nvSpPr>
        <p:spPr>
          <a:xfrm>
            <a:off x="649224" y="4078224"/>
            <a:ext cx="5349240" cy="2011680"/>
          </a:xfrm>
          <a:prstGeom prst="rect">
            <a:avLst/>
          </a:prstGeom>
          <a:noFill/>
        </p:spPr>
        <p:txBody>
          <a:bodyPr wrap="square">
            <a:spAutoFit/>
          </a:bodyPr>
          <a:lstStyle/>
          <a:p>
            <a:pPr algn="l">
              <a:lnSpc>
                <a:spcPct val="105000"/>
              </a:lnSpc>
              <a:spcAft>
                <a:spcPts val="600"/>
              </a:spcAft>
            </a:pPr>
            <a:r>
              <a:rPr sz="1200" b="1">
                <a:solidFill>
                  <a:srgbClr val="B8860B"/>
                </a:solidFill>
                <a:latin typeface="Aptos"/>
              </a:rPr>
              <a:t>•  </a:t>
            </a:r>
            <a:r>
              <a:rPr sz="1200">
                <a:solidFill>
                  <a:srgbClr val="213047"/>
                </a:solidFill>
                <a:latin typeface="Aptos"/>
              </a:rPr>
              <a:t>n is the prediction: the counts we would expect if the spot truly had recipe z.</a:t>
            </a:r>
          </a:p>
          <a:p>
            <a:pPr algn="l">
              <a:lnSpc>
                <a:spcPct val="105000"/>
              </a:lnSpc>
              <a:spcAft>
                <a:spcPts val="600"/>
              </a:spcAft>
            </a:pPr>
            <a:r>
              <a:rPr sz="1200" b="1">
                <a:solidFill>
                  <a:srgbClr val="B8860B"/>
                </a:solidFill>
                <a:latin typeface="Aptos"/>
              </a:rPr>
              <a:t>•  </a:t>
            </a:r>
            <a:r>
              <a:rPr sz="1200">
                <a:solidFill>
                  <a:srgbClr val="213047"/>
                </a:solidFill>
                <a:latin typeface="Aptos"/>
              </a:rPr>
              <a:t>N rarely equals n exactly — sequencing counts fluctuate around the prediction.</a:t>
            </a:r>
          </a:p>
          <a:p>
            <a:pPr algn="l">
              <a:lnSpc>
                <a:spcPct val="105000"/>
              </a:lnSpc>
              <a:spcAft>
                <a:spcPts val="600"/>
              </a:spcAft>
            </a:pPr>
            <a:r>
              <a:rPr sz="1200" b="1">
                <a:solidFill>
                  <a:srgbClr val="B8860B"/>
                </a:solidFill>
                <a:latin typeface="Aptos"/>
              </a:rPr>
              <a:t>•  </a:t>
            </a:r>
            <a:r>
              <a:rPr sz="1200">
                <a:solidFill>
                  <a:srgbClr val="213047"/>
                </a:solidFill>
                <a:latin typeface="Aptos"/>
              </a:rPr>
              <a:t>φref is a fixed constant estimated from reference cells; multiplied by Σ z, it sets how much spread is allowed.</a:t>
            </a:r>
          </a:p>
        </p:txBody>
      </p:sp>
      <p:sp>
        <p:nvSpPr>
          <p:cNvPr id="12" name="TextBox 11"/>
          <p:cNvSpPr txBox="1"/>
          <p:nvPr/>
        </p:nvSpPr>
        <p:spPr>
          <a:xfrm>
            <a:off x="6263640" y="3749039"/>
            <a:ext cx="5303520" cy="274320"/>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Why the negative binomial?</a:t>
            </a:r>
          </a:p>
        </p:txBody>
      </p:sp>
      <p:sp>
        <p:nvSpPr>
          <p:cNvPr id="13" name="TextBox 12"/>
          <p:cNvSpPr txBox="1"/>
          <p:nvPr/>
        </p:nvSpPr>
        <p:spPr>
          <a:xfrm>
            <a:off x="6263640" y="4078224"/>
            <a:ext cx="5303520" cy="2011680"/>
          </a:xfrm>
          <a:prstGeom prst="rect">
            <a:avLst/>
          </a:prstGeom>
          <a:noFill/>
        </p:spPr>
        <p:txBody>
          <a:bodyPr wrap="square">
            <a:spAutoFit/>
          </a:bodyPr>
          <a:lstStyle/>
          <a:p>
            <a:pPr algn="l">
              <a:lnSpc>
                <a:spcPct val="105000"/>
              </a:lnSpc>
              <a:spcAft>
                <a:spcPts val="600"/>
              </a:spcAft>
            </a:pPr>
            <a:r>
              <a:rPr sz="1200" b="1">
                <a:solidFill>
                  <a:srgbClr val="B8860B"/>
                </a:solidFill>
                <a:latin typeface="Aptos"/>
              </a:rPr>
              <a:t>•  </a:t>
            </a:r>
            <a:r>
              <a:rPr sz="1200">
                <a:solidFill>
                  <a:srgbClr val="213047"/>
                </a:solidFill>
                <a:latin typeface="Aptos"/>
              </a:rPr>
              <a:t>N is a count — a non-negative whole number — so it needs a count distribution.</a:t>
            </a:r>
          </a:p>
          <a:p>
            <a:pPr algn="l">
              <a:lnSpc>
                <a:spcPct val="105000"/>
              </a:lnSpc>
              <a:spcAft>
                <a:spcPts val="600"/>
              </a:spcAft>
            </a:pPr>
            <a:r>
              <a:rPr sz="1200" b="1">
                <a:solidFill>
                  <a:srgbClr val="B8860B"/>
                </a:solidFill>
                <a:latin typeface="Aptos"/>
              </a:rPr>
              <a:t>•  </a:t>
            </a:r>
            <a:r>
              <a:rPr sz="1200">
                <a:solidFill>
                  <a:srgbClr val="213047"/>
                </a:solidFill>
                <a:latin typeface="Aptos"/>
              </a:rPr>
              <a:t>A Poisson model forces the spread to equal the mean; real sequencing counts vary more than that (overdispersion).</a:t>
            </a:r>
          </a:p>
          <a:p>
            <a:pPr algn="l">
              <a:lnSpc>
                <a:spcPct val="105000"/>
              </a:lnSpc>
              <a:spcAft>
                <a:spcPts val="600"/>
              </a:spcAft>
            </a:pPr>
            <a:r>
              <a:rPr sz="1200" b="1">
                <a:solidFill>
                  <a:srgbClr val="B8860B"/>
                </a:solidFill>
                <a:latin typeface="Aptos"/>
              </a:rPr>
              <a:t>•  </a:t>
            </a:r>
            <a:r>
              <a:rPr sz="1200">
                <a:solidFill>
                  <a:srgbClr val="213047"/>
                </a:solidFill>
                <a:latin typeface="Aptos"/>
              </a:rPr>
              <a:t>The negative binomial adds a controllable extra-spread term — its variance is n + n² / (φref · Σ z) — so noisy real data fit honestly.</a:t>
            </a:r>
          </a:p>
        </p:txBody>
      </p:sp>
      <p:sp>
        <p:nvSpPr>
          <p:cNvPr id="14" name="Rounded Rectangle 13"/>
          <p:cNvSpPr/>
          <p:nvPr/>
        </p:nvSpPr>
        <p:spPr>
          <a:xfrm>
            <a:off x="621792" y="6519672"/>
            <a:ext cx="10945368" cy="10058"/>
          </a:xfrm>
          <a:prstGeom prst="round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SHAPEMIX •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Bayesian model for ShapeMix</a:t>
            </a:r>
          </a:p>
        </p:txBody>
      </p:sp>
      <p:sp>
        <p:nvSpPr>
          <p:cNvPr id="4" name="TextBox 3"/>
          <p:cNvSpPr txBox="1"/>
          <p:nvPr/>
        </p:nvSpPr>
        <p:spPr>
          <a:xfrm>
            <a:off x="1417320" y="1097280"/>
            <a:ext cx="1325880" cy="310896"/>
          </a:xfrm>
          <a:prstGeom prst="rect">
            <a:avLst/>
          </a:prstGeom>
          <a:noFill/>
        </p:spPr>
        <p:txBody>
          <a:bodyPr wrap="square" lIns="36576" rIns="36576" tIns="36576" bIns="36576" anchor="ctr">
            <a:spAutoFit/>
          </a:bodyPr>
          <a:lstStyle/>
          <a:p>
            <a:pPr algn="r">
              <a:spcBef>
                <a:spcPts val="0"/>
              </a:spcBef>
              <a:spcAft>
                <a:spcPts val="0"/>
              </a:spcAft>
            </a:pPr>
            <a:r>
              <a:rPr sz="1500" b="1">
                <a:solidFill>
                  <a:srgbClr val="13233B"/>
                </a:solidFill>
                <a:latin typeface="Aptos"/>
              </a:rPr>
              <a:t>R_LB</a:t>
            </a:r>
          </a:p>
        </p:txBody>
      </p:sp>
      <p:sp>
        <p:nvSpPr>
          <p:cNvPr id="5" name="TextBox 4"/>
          <p:cNvSpPr txBox="1"/>
          <p:nvPr/>
        </p:nvSpPr>
        <p:spPr>
          <a:xfrm>
            <a:off x="2926080" y="1097280"/>
            <a:ext cx="7818120" cy="310896"/>
          </a:xfrm>
          <a:prstGeom prst="rect">
            <a:avLst/>
          </a:prstGeom>
          <a:noFill/>
        </p:spPr>
        <p:txBody>
          <a:bodyPr wrap="square" lIns="36576" rIns="36576" tIns="36576" bIns="36576" anchor="ctr">
            <a:spAutoFit/>
          </a:bodyPr>
          <a:lstStyle/>
          <a:p>
            <a:pPr algn="l">
              <a:spcBef>
                <a:spcPts val="0"/>
              </a:spcBef>
              <a:spcAft>
                <a:spcPts val="0"/>
              </a:spcAft>
            </a:pPr>
            <a:r>
              <a:rPr sz="1400" b="0">
                <a:solidFill>
                  <a:srgbClr val="52627A"/>
                </a:solidFill>
                <a:latin typeface="Aptos"/>
              </a:rPr>
              <a:t>reference rates for the short, middle, and long fragment-length bins</a:t>
            </a:r>
          </a:p>
        </p:txBody>
      </p:sp>
      <p:sp>
        <p:nvSpPr>
          <p:cNvPr id="6" name="TextBox 5"/>
          <p:cNvSpPr txBox="1"/>
          <p:nvPr/>
        </p:nvSpPr>
        <p:spPr>
          <a:xfrm>
            <a:off x="1417320" y="1417320"/>
            <a:ext cx="1325880" cy="310896"/>
          </a:xfrm>
          <a:prstGeom prst="rect">
            <a:avLst/>
          </a:prstGeom>
          <a:noFill/>
        </p:spPr>
        <p:txBody>
          <a:bodyPr wrap="square" lIns="36576" rIns="36576" tIns="36576" bIns="36576" anchor="ctr">
            <a:spAutoFit/>
          </a:bodyPr>
          <a:lstStyle/>
          <a:p>
            <a:pPr algn="r">
              <a:spcBef>
                <a:spcPts val="0"/>
              </a:spcBef>
              <a:spcAft>
                <a:spcPts val="0"/>
              </a:spcAft>
            </a:pPr>
            <a:r>
              <a:rPr sz="1500" b="1">
                <a:solidFill>
                  <a:srgbClr val="13233B"/>
                </a:solidFill>
                <a:latin typeface="Aptos"/>
              </a:rPr>
              <a:t>n_lb</a:t>
            </a:r>
          </a:p>
        </p:txBody>
      </p:sp>
      <p:sp>
        <p:nvSpPr>
          <p:cNvPr id="7" name="TextBox 6"/>
          <p:cNvSpPr txBox="1"/>
          <p:nvPr/>
        </p:nvSpPr>
        <p:spPr>
          <a:xfrm>
            <a:off x="2926080" y="1417320"/>
            <a:ext cx="7818120" cy="310896"/>
          </a:xfrm>
          <a:prstGeom prst="rect">
            <a:avLst/>
          </a:prstGeom>
          <a:noFill/>
        </p:spPr>
        <p:txBody>
          <a:bodyPr wrap="square" lIns="36576" rIns="36576" tIns="36576" bIns="36576" anchor="ctr">
            <a:spAutoFit/>
          </a:bodyPr>
          <a:lstStyle/>
          <a:p>
            <a:pPr algn="l">
              <a:spcBef>
                <a:spcPts val="0"/>
              </a:spcBef>
              <a:spcAft>
                <a:spcPts val="0"/>
              </a:spcAft>
            </a:pPr>
            <a:r>
              <a:rPr sz="1400" b="0">
                <a:solidFill>
                  <a:srgbClr val="52627A"/>
                </a:solidFill>
                <a:latin typeface="Aptos"/>
              </a:rPr>
              <a:t>predicted mean counts in each fragment-length bin</a:t>
            </a:r>
          </a:p>
        </p:txBody>
      </p:sp>
      <p:sp>
        <p:nvSpPr>
          <p:cNvPr id="8" name="TextBox 7"/>
          <p:cNvSpPr txBox="1"/>
          <p:nvPr/>
        </p:nvSpPr>
        <p:spPr>
          <a:xfrm>
            <a:off x="1417320" y="1737360"/>
            <a:ext cx="1325880" cy="310896"/>
          </a:xfrm>
          <a:prstGeom prst="rect">
            <a:avLst/>
          </a:prstGeom>
          <a:noFill/>
        </p:spPr>
        <p:txBody>
          <a:bodyPr wrap="square" lIns="36576" rIns="36576" tIns="36576" bIns="36576" anchor="ctr">
            <a:spAutoFit/>
          </a:bodyPr>
          <a:lstStyle/>
          <a:p>
            <a:pPr algn="r">
              <a:spcBef>
                <a:spcPts val="0"/>
              </a:spcBef>
              <a:spcAft>
                <a:spcPts val="0"/>
              </a:spcAft>
            </a:pPr>
            <a:r>
              <a:rPr sz="1500" b="1">
                <a:solidFill>
                  <a:srgbClr val="13233B"/>
                </a:solidFill>
                <a:latin typeface="Aptos"/>
              </a:rPr>
              <a:t>N_LB</a:t>
            </a:r>
          </a:p>
        </p:txBody>
      </p:sp>
      <p:sp>
        <p:nvSpPr>
          <p:cNvPr id="9" name="TextBox 8"/>
          <p:cNvSpPr txBox="1"/>
          <p:nvPr/>
        </p:nvSpPr>
        <p:spPr>
          <a:xfrm>
            <a:off x="2926080" y="1737360"/>
            <a:ext cx="7818120" cy="310896"/>
          </a:xfrm>
          <a:prstGeom prst="rect">
            <a:avLst/>
          </a:prstGeom>
          <a:noFill/>
        </p:spPr>
        <p:txBody>
          <a:bodyPr wrap="square" lIns="36576" rIns="36576" tIns="36576" bIns="36576" anchor="ctr">
            <a:spAutoFit/>
          </a:bodyPr>
          <a:lstStyle/>
          <a:p>
            <a:pPr algn="l">
              <a:spcBef>
                <a:spcPts val="0"/>
              </a:spcBef>
              <a:spcAft>
                <a:spcPts val="0"/>
              </a:spcAft>
            </a:pPr>
            <a:r>
              <a:rPr sz="1400" b="0">
                <a:solidFill>
                  <a:srgbClr val="52627A"/>
                </a:solidFill>
                <a:latin typeface="Aptos"/>
              </a:rPr>
              <a:t>the cut-site counts actually observed in each fragment-length bin</a:t>
            </a:r>
          </a:p>
        </p:txBody>
      </p:sp>
      <p:sp>
        <p:nvSpPr>
          <p:cNvPr id="10" name="TextBox 9"/>
          <p:cNvSpPr txBox="1"/>
          <p:nvPr/>
        </p:nvSpPr>
        <p:spPr>
          <a:xfrm>
            <a:off x="1234440" y="2331720"/>
            <a:ext cx="2880360" cy="62179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18A999"/>
                </a:solidFill>
                <a:latin typeface="Aptos"/>
              </a:rPr>
              <a:t>p(z | N_LB, N)</a:t>
            </a:r>
          </a:p>
        </p:txBody>
      </p:sp>
      <p:sp>
        <p:nvSpPr>
          <p:cNvPr id="11" name="TextBox 10"/>
          <p:cNvSpPr txBox="1"/>
          <p:nvPr/>
        </p:nvSpPr>
        <p:spPr>
          <a:xfrm>
            <a:off x="1856232" y="2990088"/>
            <a:ext cx="1645920" cy="256032"/>
          </a:xfrm>
          <a:prstGeom prst="rect">
            <a:avLst/>
          </a:prstGeom>
          <a:noFill/>
        </p:spPr>
        <p:txBody>
          <a:bodyPr wrap="square" lIns="36576" rIns="36576" tIns="36576" bIns="36576" anchor="ctr">
            <a:spAutoFit/>
          </a:bodyPr>
          <a:lstStyle/>
          <a:p>
            <a:pPr algn="ctr">
              <a:spcBef>
                <a:spcPts val="0"/>
              </a:spcBef>
              <a:spcAft>
                <a:spcPts val="0"/>
              </a:spcAft>
            </a:pPr>
            <a:r>
              <a:rPr sz="1100" b="1">
                <a:solidFill>
                  <a:srgbClr val="18A999"/>
                </a:solidFill>
                <a:latin typeface="Aptos"/>
              </a:rPr>
              <a:t>posterior</a:t>
            </a:r>
          </a:p>
        </p:txBody>
      </p:sp>
      <p:sp>
        <p:nvSpPr>
          <p:cNvPr id="12" name="TextBox 11"/>
          <p:cNvSpPr txBox="1"/>
          <p:nvPr/>
        </p:nvSpPr>
        <p:spPr>
          <a:xfrm>
            <a:off x="4206240" y="2331720"/>
            <a:ext cx="457200" cy="62179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13233B"/>
                </a:solidFill>
                <a:latin typeface="Aptos"/>
              </a:rPr>
              <a:t>∝</a:t>
            </a:r>
          </a:p>
        </p:txBody>
      </p:sp>
      <p:sp>
        <p:nvSpPr>
          <p:cNvPr id="13" name="TextBox 12"/>
          <p:cNvSpPr txBox="1"/>
          <p:nvPr/>
        </p:nvSpPr>
        <p:spPr>
          <a:xfrm>
            <a:off x="4681728" y="2331720"/>
            <a:ext cx="3017520" cy="62179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B8860B"/>
                </a:solidFill>
                <a:latin typeface="Aptos"/>
              </a:rPr>
              <a:t>p(N_LB, N | z)</a:t>
            </a:r>
          </a:p>
        </p:txBody>
      </p:sp>
      <p:sp>
        <p:nvSpPr>
          <p:cNvPr id="14" name="TextBox 13"/>
          <p:cNvSpPr txBox="1"/>
          <p:nvPr/>
        </p:nvSpPr>
        <p:spPr>
          <a:xfrm>
            <a:off x="5367527" y="2990088"/>
            <a:ext cx="1645920" cy="256032"/>
          </a:xfrm>
          <a:prstGeom prst="rect">
            <a:avLst/>
          </a:prstGeom>
          <a:noFill/>
        </p:spPr>
        <p:txBody>
          <a:bodyPr wrap="square" lIns="36576" rIns="36576" tIns="36576" bIns="36576" anchor="ctr">
            <a:spAutoFit/>
          </a:bodyPr>
          <a:lstStyle/>
          <a:p>
            <a:pPr algn="ctr">
              <a:spcBef>
                <a:spcPts val="0"/>
              </a:spcBef>
              <a:spcAft>
                <a:spcPts val="0"/>
              </a:spcAft>
            </a:pPr>
            <a:r>
              <a:rPr sz="1100" b="1">
                <a:solidFill>
                  <a:srgbClr val="B8860B"/>
                </a:solidFill>
                <a:latin typeface="Aptos"/>
              </a:rPr>
              <a:t>likelihood</a:t>
            </a:r>
          </a:p>
        </p:txBody>
      </p:sp>
      <p:sp>
        <p:nvSpPr>
          <p:cNvPr id="15" name="TextBox 14"/>
          <p:cNvSpPr txBox="1"/>
          <p:nvPr/>
        </p:nvSpPr>
        <p:spPr>
          <a:xfrm>
            <a:off x="7726679" y="2331720"/>
            <a:ext cx="457200" cy="62179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13233B"/>
                </a:solidFill>
                <a:latin typeface="Aptos"/>
              </a:rPr>
              <a:t>×</a:t>
            </a:r>
          </a:p>
        </p:txBody>
      </p:sp>
      <p:sp>
        <p:nvSpPr>
          <p:cNvPr id="16" name="TextBox 15"/>
          <p:cNvSpPr txBox="1"/>
          <p:nvPr/>
        </p:nvSpPr>
        <p:spPr>
          <a:xfrm>
            <a:off x="8202168" y="2331720"/>
            <a:ext cx="1554480" cy="621792"/>
          </a:xfrm>
          <a:prstGeom prst="rect">
            <a:avLst/>
          </a:prstGeom>
          <a:noFill/>
        </p:spPr>
        <p:txBody>
          <a:bodyPr wrap="square" lIns="36576" rIns="36576" tIns="36576" bIns="36576" anchor="ctr">
            <a:spAutoFit/>
          </a:bodyPr>
          <a:lstStyle/>
          <a:p>
            <a:pPr algn="ctr">
              <a:spcBef>
                <a:spcPts val="0"/>
              </a:spcBef>
              <a:spcAft>
                <a:spcPts val="0"/>
              </a:spcAft>
            </a:pPr>
            <a:r>
              <a:rPr sz="2800" b="1">
                <a:solidFill>
                  <a:srgbClr val="8B5CF6"/>
                </a:solidFill>
                <a:latin typeface="Aptos"/>
              </a:rPr>
              <a:t>p(z)</a:t>
            </a:r>
          </a:p>
        </p:txBody>
      </p:sp>
      <p:sp>
        <p:nvSpPr>
          <p:cNvPr id="17" name="TextBox 16"/>
          <p:cNvSpPr txBox="1"/>
          <p:nvPr/>
        </p:nvSpPr>
        <p:spPr>
          <a:xfrm>
            <a:off x="8156448" y="2990088"/>
            <a:ext cx="1645920" cy="256032"/>
          </a:xfrm>
          <a:prstGeom prst="rect">
            <a:avLst/>
          </a:prstGeom>
          <a:noFill/>
        </p:spPr>
        <p:txBody>
          <a:bodyPr wrap="square" lIns="36576" rIns="36576" tIns="36576" bIns="36576" anchor="ctr">
            <a:spAutoFit/>
          </a:bodyPr>
          <a:lstStyle/>
          <a:p>
            <a:pPr algn="ctr">
              <a:spcBef>
                <a:spcPts val="0"/>
              </a:spcBef>
              <a:spcAft>
                <a:spcPts val="0"/>
              </a:spcAft>
            </a:pPr>
            <a:r>
              <a:rPr sz="1100" b="1">
                <a:solidFill>
                  <a:srgbClr val="8B5CF6"/>
                </a:solidFill>
                <a:latin typeface="Aptos"/>
              </a:rPr>
              <a:t>prior</a:t>
            </a:r>
          </a:p>
        </p:txBody>
      </p:sp>
      <p:cxnSp>
        <p:nvCxnSpPr>
          <p:cNvPr id="18" name="Connector 17"/>
          <p:cNvCxnSpPr/>
          <p:nvPr/>
        </p:nvCxnSpPr>
        <p:spPr>
          <a:xfrm flipH="1">
            <a:off x="2354580" y="3291840"/>
            <a:ext cx="324612" cy="457199"/>
          </a:xfrm>
          <a:prstGeom prst="line">
            <a:avLst/>
          </a:prstGeom>
          <a:ln w="15240">
            <a:solidFill>
              <a:srgbClr val="18A999"/>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0080" y="3749039"/>
            <a:ext cx="3429000" cy="11887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840480"/>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18A999"/>
                </a:solidFill>
                <a:latin typeface="Aptos"/>
              </a:rPr>
              <a:t>POSTERIOR</a:t>
            </a:r>
          </a:p>
        </p:txBody>
      </p:sp>
      <p:sp>
        <p:nvSpPr>
          <p:cNvPr id="21" name="TextBox 20"/>
          <p:cNvSpPr txBox="1"/>
          <p:nvPr/>
        </p:nvSpPr>
        <p:spPr>
          <a:xfrm>
            <a:off x="786384" y="4133087"/>
            <a:ext cx="3136392" cy="594360"/>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best supported z after seeing total counts N and length-bin counts N_LB</a:t>
            </a:r>
          </a:p>
        </p:txBody>
      </p:sp>
      <p:cxnSp>
        <p:nvCxnSpPr>
          <p:cNvPr id="22" name="Connector 21"/>
          <p:cNvCxnSpPr/>
          <p:nvPr/>
        </p:nvCxnSpPr>
        <p:spPr>
          <a:xfrm flipH="1">
            <a:off x="6094476" y="3291840"/>
            <a:ext cx="96012" cy="457199"/>
          </a:xfrm>
          <a:prstGeom prst="line">
            <a:avLst/>
          </a:prstGeom>
          <a:ln w="15240">
            <a:solidFill>
              <a:srgbClr val="B8860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9976" y="3749039"/>
            <a:ext cx="3429000" cy="1188720"/>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3840480"/>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B8860B"/>
                </a:solidFill>
                <a:latin typeface="Aptos"/>
              </a:rPr>
              <a:t>LIKELIHOOD</a:t>
            </a:r>
          </a:p>
        </p:txBody>
      </p:sp>
      <p:sp>
        <p:nvSpPr>
          <p:cNvPr id="25" name="TextBox 24"/>
          <p:cNvSpPr txBox="1"/>
          <p:nvPr/>
        </p:nvSpPr>
        <p:spPr>
          <a:xfrm>
            <a:off x="4526280" y="4133087"/>
            <a:ext cx="3136392" cy="594360"/>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given z, what is the probability of seeing data N_LB and N</a:t>
            </a:r>
          </a:p>
        </p:txBody>
      </p:sp>
      <p:cxnSp>
        <p:nvCxnSpPr>
          <p:cNvPr id="26" name="Connector 25"/>
          <p:cNvCxnSpPr/>
          <p:nvPr/>
        </p:nvCxnSpPr>
        <p:spPr>
          <a:xfrm>
            <a:off x="8979408" y="3291840"/>
            <a:ext cx="854964" cy="457199"/>
          </a:xfrm>
          <a:prstGeom prst="line">
            <a:avLst/>
          </a:prstGeom>
          <a:ln w="15240">
            <a:solidFill>
              <a:srgbClr val="8B5CF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119872" y="3749039"/>
            <a:ext cx="3429000" cy="1188720"/>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6" y="3840480"/>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8B5CF6"/>
                </a:solidFill>
                <a:latin typeface="Aptos"/>
              </a:rPr>
              <a:t>PRIOR</a:t>
            </a:r>
          </a:p>
        </p:txBody>
      </p:sp>
      <p:sp>
        <p:nvSpPr>
          <p:cNvPr id="29" name="TextBox 28"/>
          <p:cNvSpPr txBox="1"/>
          <p:nvPr/>
        </p:nvSpPr>
        <p:spPr>
          <a:xfrm>
            <a:off x="8266176" y="4133087"/>
            <a:ext cx="3136392" cy="594360"/>
          </a:xfrm>
          <a:prstGeom prst="rect">
            <a:avLst/>
          </a:prstGeom>
          <a:noFill/>
        </p:spPr>
        <p:txBody>
          <a:bodyPr wrap="square" lIns="36576" rIns="36576" tIns="36576" bIns="36576" anchor="t">
            <a:spAutoFit/>
          </a:bodyPr>
          <a:lstStyle/>
          <a:p>
            <a:pPr algn="l">
              <a:spcBef>
                <a:spcPts val="0"/>
              </a:spcBef>
              <a:spcAft>
                <a:spcPts val="0"/>
              </a:spcAft>
            </a:pPr>
            <a:r>
              <a:rPr sz="1400" b="0">
                <a:solidFill>
                  <a:srgbClr val="213047"/>
                </a:solidFill>
                <a:latin typeface="Aptos"/>
              </a:rPr>
              <a:t>how plausible z is before seeing any data</a:t>
            </a:r>
          </a:p>
        </p:txBody>
      </p:sp>
      <p:sp>
        <p:nvSpPr>
          <p:cNvPr id="30" name="Rectangle 29"/>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a:solidFill>
                  <a:srgbClr val="18A999"/>
                </a:solidFill>
                <a:latin typeface="Aptos"/>
              </a:rPr>
              <a:t>SHAPEMIX • BAYESIAN MODEL</a:t>
            </a:r>
          </a:p>
        </p:txBody>
      </p:sp>
      <p:sp>
        <p:nvSpPr>
          <p:cNvPr id="3" name="TextBox 2"/>
          <p:cNvSpPr txBox="1"/>
          <p:nvPr/>
        </p:nvSpPr>
        <p:spPr>
          <a:xfrm>
            <a:off x="594360" y="502920"/>
            <a:ext cx="10789920" cy="566928"/>
          </a:xfrm>
          <a:prstGeom prst="rect">
            <a:avLst/>
          </a:prstGeom>
          <a:noFill/>
        </p:spPr>
        <p:txBody>
          <a:bodyPr wrap="square" lIns="36576" rIns="36576" tIns="36576" bIns="36576" anchor="t">
            <a:spAutoFit/>
          </a:bodyPr>
          <a:lstStyle/>
          <a:p>
            <a:pPr algn="l">
              <a:spcBef>
                <a:spcPts val="0"/>
              </a:spcBef>
              <a:spcAft>
                <a:spcPts val="0"/>
              </a:spcAft>
            </a:pPr>
            <a:r>
              <a:rPr sz="2600" b="1">
                <a:solidFill>
                  <a:srgbClr val="13233B"/>
                </a:solidFill>
                <a:latin typeface="Aptos Display"/>
              </a:rPr>
              <a:t>ShapeMix adds a likelihood for the length-bin split</a:t>
            </a:r>
          </a:p>
        </p:txBody>
      </p:sp>
      <p:sp>
        <p:nvSpPr>
          <p:cNvPr id="4" name="TextBox 3"/>
          <p:cNvSpPr txBox="1"/>
          <p:nvPr/>
        </p:nvSpPr>
        <p:spPr>
          <a:xfrm>
            <a:off x="640080" y="1225296"/>
            <a:ext cx="2468880"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18A999"/>
                </a:solidFill>
                <a:latin typeface="Aptos"/>
              </a:rPr>
              <a:t>p(z | N_LB, N)</a:t>
            </a:r>
          </a:p>
        </p:txBody>
      </p:sp>
      <p:sp>
        <p:nvSpPr>
          <p:cNvPr id="5" name="TextBox 4"/>
          <p:cNvSpPr txBox="1"/>
          <p:nvPr/>
        </p:nvSpPr>
        <p:spPr>
          <a:xfrm>
            <a:off x="640080" y="1847088"/>
            <a:ext cx="2468880" cy="219456"/>
          </a:xfrm>
          <a:prstGeom prst="rect">
            <a:avLst/>
          </a:prstGeom>
          <a:noFill/>
        </p:spPr>
        <p:txBody>
          <a:bodyPr wrap="square" lIns="36576" rIns="36576" tIns="36576" bIns="36576" anchor="ctr">
            <a:spAutoFit/>
          </a:bodyPr>
          <a:lstStyle/>
          <a:p>
            <a:pPr algn="ctr">
              <a:spcBef>
                <a:spcPts val="0"/>
              </a:spcBef>
              <a:spcAft>
                <a:spcPts val="0"/>
              </a:spcAft>
            </a:pPr>
            <a:r>
              <a:rPr sz="1000" b="1">
                <a:solidFill>
                  <a:srgbClr val="18A999"/>
                </a:solidFill>
                <a:latin typeface="Aptos"/>
              </a:rPr>
              <a:t>posterior</a:t>
            </a:r>
          </a:p>
        </p:txBody>
      </p:sp>
      <p:sp>
        <p:nvSpPr>
          <p:cNvPr id="6" name="TextBox 5"/>
          <p:cNvSpPr txBox="1"/>
          <p:nvPr/>
        </p:nvSpPr>
        <p:spPr>
          <a:xfrm>
            <a:off x="3108960" y="1225296"/>
            <a:ext cx="420624"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13233B"/>
                </a:solidFill>
                <a:latin typeface="Aptos"/>
              </a:rPr>
              <a:t>∝</a:t>
            </a:r>
          </a:p>
        </p:txBody>
      </p:sp>
      <p:sp>
        <p:nvSpPr>
          <p:cNvPr id="7" name="TextBox 6"/>
          <p:cNvSpPr txBox="1"/>
          <p:nvPr/>
        </p:nvSpPr>
        <p:spPr>
          <a:xfrm>
            <a:off x="3529584" y="1225296"/>
            <a:ext cx="2487168"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F26B5B"/>
                </a:solidFill>
                <a:latin typeface="Aptos"/>
              </a:rPr>
              <a:t>p(N_LB | N,z)</a:t>
            </a:r>
          </a:p>
        </p:txBody>
      </p:sp>
      <p:sp>
        <p:nvSpPr>
          <p:cNvPr id="8" name="TextBox 7"/>
          <p:cNvSpPr txBox="1"/>
          <p:nvPr/>
        </p:nvSpPr>
        <p:spPr>
          <a:xfrm>
            <a:off x="3529584" y="1847088"/>
            <a:ext cx="2487168" cy="219456"/>
          </a:xfrm>
          <a:prstGeom prst="rect">
            <a:avLst/>
          </a:prstGeom>
          <a:noFill/>
        </p:spPr>
        <p:txBody>
          <a:bodyPr wrap="square" lIns="36576" rIns="36576" tIns="36576" bIns="36576" anchor="ctr">
            <a:spAutoFit/>
          </a:bodyPr>
          <a:lstStyle/>
          <a:p>
            <a:pPr algn="ctr">
              <a:spcBef>
                <a:spcPts val="0"/>
              </a:spcBef>
              <a:spcAft>
                <a:spcPts val="0"/>
              </a:spcAft>
            </a:pPr>
            <a:r>
              <a:rPr sz="1000" b="1">
                <a:solidFill>
                  <a:srgbClr val="F26B5B"/>
                </a:solidFill>
                <a:latin typeface="Aptos"/>
              </a:rPr>
              <a:t>length-bin likelihood</a:t>
            </a:r>
          </a:p>
        </p:txBody>
      </p:sp>
      <p:sp>
        <p:nvSpPr>
          <p:cNvPr id="9" name="TextBox 8"/>
          <p:cNvSpPr txBox="1"/>
          <p:nvPr/>
        </p:nvSpPr>
        <p:spPr>
          <a:xfrm>
            <a:off x="6016752" y="1225296"/>
            <a:ext cx="384048"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13233B"/>
                </a:solidFill>
                <a:latin typeface="Aptos"/>
              </a:rPr>
              <a:t>×</a:t>
            </a:r>
          </a:p>
        </p:txBody>
      </p:sp>
      <p:sp>
        <p:nvSpPr>
          <p:cNvPr id="10" name="TextBox 9"/>
          <p:cNvSpPr txBox="1"/>
          <p:nvPr/>
        </p:nvSpPr>
        <p:spPr>
          <a:xfrm>
            <a:off x="6400800" y="1225296"/>
            <a:ext cx="1737360"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B8860B"/>
                </a:solidFill>
                <a:latin typeface="Aptos"/>
              </a:rPr>
              <a:t>p(N | z)</a:t>
            </a:r>
          </a:p>
        </p:txBody>
      </p:sp>
      <p:sp>
        <p:nvSpPr>
          <p:cNvPr id="11" name="TextBox 10"/>
          <p:cNvSpPr txBox="1"/>
          <p:nvPr/>
        </p:nvSpPr>
        <p:spPr>
          <a:xfrm>
            <a:off x="6400800" y="1847088"/>
            <a:ext cx="1737360" cy="219456"/>
          </a:xfrm>
          <a:prstGeom prst="rect">
            <a:avLst/>
          </a:prstGeom>
          <a:noFill/>
        </p:spPr>
        <p:txBody>
          <a:bodyPr wrap="square" lIns="36576" rIns="36576" tIns="36576" bIns="36576" anchor="ctr">
            <a:spAutoFit/>
          </a:bodyPr>
          <a:lstStyle/>
          <a:p>
            <a:pPr algn="ctr">
              <a:spcBef>
                <a:spcPts val="0"/>
              </a:spcBef>
              <a:spcAft>
                <a:spcPts val="0"/>
              </a:spcAft>
            </a:pPr>
            <a:r>
              <a:rPr sz="1000" b="1">
                <a:solidFill>
                  <a:srgbClr val="B8860B"/>
                </a:solidFill>
                <a:latin typeface="Aptos"/>
              </a:rPr>
              <a:t>total-count likelihood</a:t>
            </a:r>
          </a:p>
        </p:txBody>
      </p:sp>
      <p:sp>
        <p:nvSpPr>
          <p:cNvPr id="12" name="TextBox 11"/>
          <p:cNvSpPr txBox="1"/>
          <p:nvPr/>
        </p:nvSpPr>
        <p:spPr>
          <a:xfrm>
            <a:off x="8138160" y="1225296"/>
            <a:ext cx="384048"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13233B"/>
                </a:solidFill>
                <a:latin typeface="Aptos"/>
              </a:rPr>
              <a:t>×</a:t>
            </a:r>
          </a:p>
        </p:txBody>
      </p:sp>
      <p:sp>
        <p:nvSpPr>
          <p:cNvPr id="13" name="TextBox 12"/>
          <p:cNvSpPr txBox="1"/>
          <p:nvPr/>
        </p:nvSpPr>
        <p:spPr>
          <a:xfrm>
            <a:off x="8522208" y="1225296"/>
            <a:ext cx="1417320" cy="603504"/>
          </a:xfrm>
          <a:prstGeom prst="rect">
            <a:avLst/>
          </a:prstGeom>
          <a:noFill/>
        </p:spPr>
        <p:txBody>
          <a:bodyPr wrap="square" lIns="36576" rIns="36576" tIns="36576" bIns="36576" anchor="ctr">
            <a:spAutoFit/>
          </a:bodyPr>
          <a:lstStyle/>
          <a:p>
            <a:pPr algn="ctr">
              <a:spcBef>
                <a:spcPts val="0"/>
              </a:spcBef>
              <a:spcAft>
                <a:spcPts val="0"/>
              </a:spcAft>
            </a:pPr>
            <a:r>
              <a:rPr sz="2400" b="1">
                <a:solidFill>
                  <a:srgbClr val="8B5CF6"/>
                </a:solidFill>
                <a:latin typeface="Aptos"/>
              </a:rPr>
              <a:t>p(z)</a:t>
            </a:r>
          </a:p>
        </p:txBody>
      </p:sp>
      <p:sp>
        <p:nvSpPr>
          <p:cNvPr id="14" name="TextBox 13"/>
          <p:cNvSpPr txBox="1"/>
          <p:nvPr/>
        </p:nvSpPr>
        <p:spPr>
          <a:xfrm>
            <a:off x="8522208" y="1847088"/>
            <a:ext cx="1417320" cy="219456"/>
          </a:xfrm>
          <a:prstGeom prst="rect">
            <a:avLst/>
          </a:prstGeom>
          <a:noFill/>
        </p:spPr>
        <p:txBody>
          <a:bodyPr wrap="square" lIns="36576" rIns="36576" tIns="36576" bIns="36576" anchor="ctr">
            <a:spAutoFit/>
          </a:bodyPr>
          <a:lstStyle/>
          <a:p>
            <a:pPr algn="ctr">
              <a:spcBef>
                <a:spcPts val="0"/>
              </a:spcBef>
              <a:spcAft>
                <a:spcPts val="0"/>
              </a:spcAft>
            </a:pPr>
            <a:r>
              <a:rPr sz="1000" b="1">
                <a:solidFill>
                  <a:srgbClr val="8B5CF6"/>
                </a:solidFill>
                <a:latin typeface="Aptos"/>
              </a:rPr>
              <a:t>prior</a:t>
            </a:r>
          </a:p>
        </p:txBody>
      </p:sp>
      <p:sp>
        <p:nvSpPr>
          <p:cNvPr id="15" name="Rounded Rectangle 14"/>
          <p:cNvSpPr/>
          <p:nvPr/>
        </p:nvSpPr>
        <p:spPr>
          <a:xfrm>
            <a:off x="640080" y="2404872"/>
            <a:ext cx="3429000" cy="1078992"/>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2496312"/>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18A999"/>
                </a:solidFill>
                <a:latin typeface="Aptos"/>
              </a:rPr>
              <a:t>POSTERIOR</a:t>
            </a:r>
          </a:p>
        </p:txBody>
      </p:sp>
      <p:sp>
        <p:nvSpPr>
          <p:cNvPr id="17" name="TextBox 16"/>
          <p:cNvSpPr txBox="1"/>
          <p:nvPr/>
        </p:nvSpPr>
        <p:spPr>
          <a:xfrm>
            <a:off x="786384" y="2788920"/>
            <a:ext cx="3136392" cy="512064"/>
          </a:xfrm>
          <a:prstGeom prst="rect">
            <a:avLst/>
          </a:prstGeom>
          <a:noFill/>
        </p:spPr>
        <p:txBody>
          <a:bodyPr wrap="square" lIns="36576" rIns="36576" tIns="36576" bIns="36576" anchor="t">
            <a:spAutoFit/>
          </a:bodyPr>
          <a:lstStyle/>
          <a:p>
            <a:pPr algn="l">
              <a:spcBef>
                <a:spcPts val="0"/>
              </a:spcBef>
              <a:spcAft>
                <a:spcPts val="0"/>
              </a:spcAft>
            </a:pPr>
            <a:r>
              <a:rPr sz="1250" b="0">
                <a:solidFill>
                  <a:srgbClr val="213047"/>
                </a:solidFill>
                <a:latin typeface="Aptos"/>
              </a:rPr>
              <a:t>best supported z after seeing both the total and length-bin data</a:t>
            </a:r>
          </a:p>
        </p:txBody>
      </p:sp>
      <p:sp>
        <p:nvSpPr>
          <p:cNvPr id="18" name="Rounded Rectangle 17"/>
          <p:cNvSpPr/>
          <p:nvPr/>
        </p:nvSpPr>
        <p:spPr>
          <a:xfrm>
            <a:off x="4379976" y="2404872"/>
            <a:ext cx="3429000" cy="1078992"/>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2496312"/>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B8860B"/>
                </a:solidFill>
                <a:latin typeface="Aptos"/>
              </a:rPr>
              <a:t>LIKELIHOOD</a:t>
            </a:r>
          </a:p>
        </p:txBody>
      </p:sp>
      <p:sp>
        <p:nvSpPr>
          <p:cNvPr id="20" name="TextBox 19"/>
          <p:cNvSpPr txBox="1"/>
          <p:nvPr/>
        </p:nvSpPr>
        <p:spPr>
          <a:xfrm>
            <a:off x="4526280" y="2788920"/>
            <a:ext cx="3136392" cy="512064"/>
          </a:xfrm>
          <a:prstGeom prst="rect">
            <a:avLst/>
          </a:prstGeom>
          <a:noFill/>
        </p:spPr>
        <p:txBody>
          <a:bodyPr wrap="square" lIns="36576" rIns="36576" tIns="36576" bIns="36576" anchor="t">
            <a:spAutoFit/>
          </a:bodyPr>
          <a:lstStyle/>
          <a:p>
            <a:pPr algn="l">
              <a:spcBef>
                <a:spcPts val="0"/>
              </a:spcBef>
              <a:spcAft>
                <a:spcPts val="0"/>
              </a:spcAft>
            </a:pPr>
            <a:r>
              <a:rPr sz="1250" b="0">
                <a:solidFill>
                  <a:srgbClr val="213047"/>
                </a:solidFill>
                <a:latin typeface="Aptos"/>
              </a:rPr>
              <a:t>two data-fit terms: length-bin split × total peak count</a:t>
            </a:r>
          </a:p>
        </p:txBody>
      </p:sp>
      <p:sp>
        <p:nvSpPr>
          <p:cNvPr id="21" name="Rounded Rectangle 20"/>
          <p:cNvSpPr/>
          <p:nvPr/>
        </p:nvSpPr>
        <p:spPr>
          <a:xfrm>
            <a:off x="8119872" y="2404872"/>
            <a:ext cx="3429000" cy="1078992"/>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6" y="2496312"/>
            <a:ext cx="3136392" cy="237744"/>
          </a:xfrm>
          <a:prstGeom prst="rect">
            <a:avLst/>
          </a:prstGeom>
          <a:noFill/>
        </p:spPr>
        <p:txBody>
          <a:bodyPr wrap="square" lIns="36576" rIns="36576" tIns="36576" bIns="36576" anchor="t">
            <a:spAutoFit/>
          </a:bodyPr>
          <a:lstStyle/>
          <a:p>
            <a:pPr algn="l">
              <a:spcBef>
                <a:spcPts val="0"/>
              </a:spcBef>
              <a:spcAft>
                <a:spcPts val="0"/>
              </a:spcAft>
            </a:pPr>
            <a:r>
              <a:rPr sz="1100" b="1">
                <a:solidFill>
                  <a:srgbClr val="8B5CF6"/>
                </a:solidFill>
                <a:latin typeface="Aptos"/>
              </a:rPr>
              <a:t>PRIOR</a:t>
            </a:r>
          </a:p>
        </p:txBody>
      </p:sp>
      <p:sp>
        <p:nvSpPr>
          <p:cNvPr id="23" name="TextBox 22"/>
          <p:cNvSpPr txBox="1"/>
          <p:nvPr/>
        </p:nvSpPr>
        <p:spPr>
          <a:xfrm>
            <a:off x="8266176" y="2788920"/>
            <a:ext cx="3136392" cy="512064"/>
          </a:xfrm>
          <a:prstGeom prst="rect">
            <a:avLst/>
          </a:prstGeom>
          <a:noFill/>
        </p:spPr>
        <p:txBody>
          <a:bodyPr wrap="square" lIns="36576" rIns="36576" tIns="36576" bIns="36576" anchor="t">
            <a:spAutoFit/>
          </a:bodyPr>
          <a:lstStyle/>
          <a:p>
            <a:pPr algn="l">
              <a:spcBef>
                <a:spcPts val="0"/>
              </a:spcBef>
              <a:spcAft>
                <a:spcPts val="0"/>
              </a:spcAft>
            </a:pPr>
            <a:r>
              <a:rPr sz="1250" b="0">
                <a:solidFill>
                  <a:srgbClr val="213047"/>
                </a:solidFill>
                <a:latin typeface="Aptos"/>
              </a:rPr>
              <a:t>how plausible z is before seeing any data</a:t>
            </a:r>
          </a:p>
        </p:txBody>
      </p:sp>
      <p:sp>
        <p:nvSpPr>
          <p:cNvPr id="24" name="TextBox 23"/>
          <p:cNvSpPr txBox="1"/>
          <p:nvPr/>
        </p:nvSpPr>
        <p:spPr>
          <a:xfrm>
            <a:off x="649224" y="3730752"/>
            <a:ext cx="7955279" cy="292608"/>
          </a:xfrm>
          <a:prstGeom prst="rect">
            <a:avLst/>
          </a:prstGeom>
          <a:noFill/>
        </p:spPr>
        <p:txBody>
          <a:bodyPr wrap="square" lIns="36576" rIns="36576" tIns="36576" bIns="36576" anchor="t">
            <a:spAutoFit/>
          </a:bodyPr>
          <a:lstStyle/>
          <a:p>
            <a:pPr algn="l">
              <a:spcBef>
                <a:spcPts val="0"/>
              </a:spcBef>
              <a:spcAft>
                <a:spcPts val="0"/>
              </a:spcAft>
            </a:pPr>
            <a:r>
              <a:rPr sz="1400" b="1">
                <a:solidFill>
                  <a:srgbClr val="13233B"/>
                </a:solidFill>
                <a:latin typeface="Aptos"/>
              </a:rPr>
              <a:t>The new length-bin term uses a multinomial distribution</a:t>
            </a:r>
          </a:p>
        </p:txBody>
      </p:sp>
      <p:sp>
        <p:nvSpPr>
          <p:cNvPr id="25" name="Rounded Rectangle 24"/>
          <p:cNvSpPr/>
          <p:nvPr/>
        </p:nvSpPr>
        <p:spPr>
          <a:xfrm>
            <a:off x="640080" y="4096512"/>
            <a:ext cx="10899648" cy="822960"/>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215384"/>
            <a:ext cx="10497312" cy="475488"/>
          </a:xfrm>
          <a:prstGeom prst="rect">
            <a:avLst/>
          </a:prstGeom>
          <a:noFill/>
        </p:spPr>
        <p:txBody>
          <a:bodyPr wrap="square" lIns="36576" rIns="36576" tIns="36576" bIns="36576" anchor="ctr">
            <a:spAutoFit/>
          </a:bodyPr>
          <a:lstStyle/>
          <a:p>
            <a:pPr algn="ctr">
              <a:spcBef>
                <a:spcPts val="0"/>
              </a:spcBef>
              <a:spcAft>
                <a:spcPts val="0"/>
              </a:spcAft>
            </a:pPr>
            <a:r>
              <a:rPr sz="1800" b="1">
                <a:solidFill>
                  <a:srgbClr val="13233B"/>
                </a:solidFill>
                <a:latin typeface="Aptos"/>
              </a:rPr>
              <a:t>N_LB | N,z  ~  Multinomial( N, n_lb / n )  =  Multinomial( N, z · R_LB / n )</a:t>
            </a:r>
          </a:p>
        </p:txBody>
      </p:sp>
      <p:sp>
        <p:nvSpPr>
          <p:cNvPr id="27" name="Rounded Rectangle 26"/>
          <p:cNvSpPr/>
          <p:nvPr/>
        </p:nvSpPr>
        <p:spPr>
          <a:xfrm>
            <a:off x="640080" y="5193792"/>
            <a:ext cx="3429000" cy="62179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312664"/>
            <a:ext cx="896112" cy="274320"/>
          </a:xfrm>
          <a:prstGeom prst="rect">
            <a:avLst/>
          </a:prstGeom>
          <a:noFill/>
        </p:spPr>
        <p:txBody>
          <a:bodyPr wrap="square" lIns="36576" rIns="36576" tIns="36576" bIns="36576" anchor="ctr">
            <a:spAutoFit/>
          </a:bodyPr>
          <a:lstStyle/>
          <a:p>
            <a:pPr algn="ctr">
              <a:spcBef>
                <a:spcPts val="0"/>
              </a:spcBef>
              <a:spcAft>
                <a:spcPts val="0"/>
              </a:spcAft>
            </a:pPr>
            <a:r>
              <a:rPr sz="1200" b="1">
                <a:solidFill>
                  <a:srgbClr val="3B82F6"/>
                </a:solidFill>
                <a:latin typeface="Aptos"/>
              </a:rPr>
              <a:t>N</a:t>
            </a:r>
          </a:p>
        </p:txBody>
      </p:sp>
      <p:sp>
        <p:nvSpPr>
          <p:cNvPr id="29" name="TextBox 28"/>
          <p:cNvSpPr txBox="1"/>
          <p:nvPr/>
        </p:nvSpPr>
        <p:spPr>
          <a:xfrm>
            <a:off x="1682495" y="5276088"/>
            <a:ext cx="2221992" cy="356616"/>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fixed total number of cut sites at the peak</a:t>
            </a:r>
          </a:p>
        </p:txBody>
      </p:sp>
      <p:sp>
        <p:nvSpPr>
          <p:cNvPr id="30" name="Rounded Rectangle 29"/>
          <p:cNvSpPr/>
          <p:nvPr/>
        </p:nvSpPr>
        <p:spPr>
          <a:xfrm>
            <a:off x="4379976" y="5193792"/>
            <a:ext cx="3429000" cy="621792"/>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07992" y="5312664"/>
            <a:ext cx="896112" cy="274320"/>
          </a:xfrm>
          <a:prstGeom prst="rect">
            <a:avLst/>
          </a:prstGeom>
          <a:noFill/>
        </p:spPr>
        <p:txBody>
          <a:bodyPr wrap="square" lIns="36576" rIns="36576" tIns="36576" bIns="36576" anchor="ctr">
            <a:spAutoFit/>
          </a:bodyPr>
          <a:lstStyle/>
          <a:p>
            <a:pPr algn="ctr">
              <a:spcBef>
                <a:spcPts val="0"/>
              </a:spcBef>
              <a:spcAft>
                <a:spcPts val="0"/>
              </a:spcAft>
            </a:pPr>
            <a:r>
              <a:rPr sz="1200" b="1">
                <a:solidFill>
                  <a:srgbClr val="18A999"/>
                </a:solidFill>
                <a:latin typeface="Aptos"/>
              </a:rPr>
              <a:t>n_lb / n</a:t>
            </a:r>
          </a:p>
        </p:txBody>
      </p:sp>
      <p:sp>
        <p:nvSpPr>
          <p:cNvPr id="32" name="TextBox 31"/>
          <p:cNvSpPr txBox="1"/>
          <p:nvPr/>
        </p:nvSpPr>
        <p:spPr>
          <a:xfrm>
            <a:off x="5422392" y="5276088"/>
            <a:ext cx="2221992" cy="356616"/>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predicted fractions across the length bins; they sum to 1</a:t>
            </a:r>
          </a:p>
        </p:txBody>
      </p:sp>
      <p:sp>
        <p:nvSpPr>
          <p:cNvPr id="33" name="Rounded Rectangle 32"/>
          <p:cNvSpPr/>
          <p:nvPr/>
        </p:nvSpPr>
        <p:spPr>
          <a:xfrm>
            <a:off x="8119872" y="5193792"/>
            <a:ext cx="3429000" cy="621792"/>
          </a:xfrm>
          <a:prstGeom prst="roundRect">
            <a:avLst/>
          </a:prstGeom>
          <a:solidFill>
            <a:srgbClr val="FFF3D6"/>
          </a:solidFill>
          <a:ln w="127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7888" y="5312664"/>
            <a:ext cx="896112" cy="274320"/>
          </a:xfrm>
          <a:prstGeom prst="rect">
            <a:avLst/>
          </a:prstGeom>
          <a:noFill/>
        </p:spPr>
        <p:txBody>
          <a:bodyPr wrap="square" lIns="36576" rIns="36576" tIns="36576" bIns="36576" anchor="ctr">
            <a:spAutoFit/>
          </a:bodyPr>
          <a:lstStyle/>
          <a:p>
            <a:pPr algn="ctr">
              <a:spcBef>
                <a:spcPts val="0"/>
              </a:spcBef>
              <a:spcAft>
                <a:spcPts val="0"/>
              </a:spcAft>
            </a:pPr>
            <a:r>
              <a:rPr sz="1200" b="1">
                <a:solidFill>
                  <a:srgbClr val="B8860B"/>
                </a:solidFill>
                <a:latin typeface="Aptos"/>
              </a:rPr>
              <a:t>N_LB</a:t>
            </a:r>
          </a:p>
        </p:txBody>
      </p:sp>
      <p:sp>
        <p:nvSpPr>
          <p:cNvPr id="35" name="TextBox 34"/>
          <p:cNvSpPr txBox="1"/>
          <p:nvPr/>
        </p:nvSpPr>
        <p:spPr>
          <a:xfrm>
            <a:off x="9162288" y="5276088"/>
            <a:ext cx="2221992" cy="356616"/>
          </a:xfrm>
          <a:prstGeom prst="rect">
            <a:avLst/>
          </a:prstGeom>
          <a:noFill/>
        </p:spPr>
        <p:txBody>
          <a:bodyPr wrap="square" lIns="36576" rIns="36576" tIns="36576" bIns="36576" anchor="ctr">
            <a:spAutoFit/>
          </a:bodyPr>
          <a:lstStyle/>
          <a:p>
            <a:pPr algn="l">
              <a:spcBef>
                <a:spcPts val="0"/>
              </a:spcBef>
              <a:spcAft>
                <a:spcPts val="0"/>
              </a:spcAft>
            </a:pPr>
            <a:r>
              <a:rPr sz="1050" b="0">
                <a:solidFill>
                  <a:srgbClr val="213047"/>
                </a:solidFill>
                <a:latin typeface="Aptos"/>
              </a:rPr>
              <a:t>observed bin counts; they sum to N</a:t>
            </a:r>
          </a:p>
        </p:txBody>
      </p:sp>
      <p:sp>
        <p:nvSpPr>
          <p:cNvPr id="36" name="TextBox 35"/>
          <p:cNvSpPr txBox="1"/>
          <p:nvPr/>
        </p:nvSpPr>
        <p:spPr>
          <a:xfrm>
            <a:off x="640080" y="5989320"/>
            <a:ext cx="10899648" cy="292608"/>
          </a:xfrm>
          <a:prstGeom prst="rect">
            <a:avLst/>
          </a:prstGeom>
          <a:noFill/>
        </p:spPr>
        <p:txBody>
          <a:bodyPr wrap="square" lIns="36576" rIns="36576" tIns="36576" bIns="36576" anchor="ctr">
            <a:spAutoFit/>
          </a:bodyPr>
          <a:lstStyle/>
          <a:p>
            <a:pPr algn="ctr">
              <a:spcBef>
                <a:spcPts val="0"/>
              </a:spcBef>
              <a:spcAft>
                <a:spcPts val="0"/>
              </a:spcAft>
            </a:pPr>
            <a:r>
              <a:rPr sz="1200" b="1">
                <a:solidFill>
                  <a:srgbClr val="52627A"/>
                </a:solidFill>
                <a:latin typeface="Aptos"/>
              </a:rPr>
              <a:t>Same cut sites, one extra question: how were the N counts split by fragment length?</a:t>
            </a:r>
          </a:p>
        </p:txBody>
      </p:sp>
      <p:sp>
        <p:nvSpPr>
          <p:cNvPr id="37" name="Rectangle 36"/>
          <p:cNvSpPr/>
          <p:nvPr/>
        </p:nvSpPr>
        <p:spPr>
          <a:xfrm>
            <a:off x="621792" y="6519672"/>
            <a:ext cx="10945368" cy="10058"/>
          </a:xfrm>
          <a:prstGeom prst="rect">
            <a:avLst/>
          </a:prstGeom>
          <a:solidFill>
            <a:srgbClr val="D7E0E8"/>
          </a:solidFill>
          <a:ln w="3175">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880006" y="2066543"/>
            <a:ext cx="0" cy="331013"/>
          </a:xfrm>
          <a:prstGeom prst="line">
            <a:avLst/>
          </a:prstGeom>
          <a:ln w="19050">
            <a:solidFill>
              <a:srgbClr val="18A999"/>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EVALUATION DESIGN</a:t>
            </a:r>
          </a:p>
        </p:txBody>
      </p:sp>
      <p:sp>
        <p:nvSpPr>
          <p:cNvPr id="3" name="TextBox 2"/>
          <p:cNvSpPr txBox="1"/>
          <p:nvPr/>
        </p:nvSpPr>
        <p:spPr>
          <a:xfrm>
            <a:off x="594360" y="502920"/>
            <a:ext cx="10789920" cy="489365"/>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Datasets in Three C</a:t>
            </a:r>
            <a:r>
              <a:rPr sz="2700" b="1" i="0">
                <a:solidFill>
                  <a:srgbClr val="13233B"/>
                </a:solidFill>
                <a:latin typeface="Aptos Display"/>
              </a:rPr>
              <a:t>ategories</a:t>
            </a:r>
          </a:p>
        </p:txBody>
      </p:sp>
      <p:sp>
        <p:nvSpPr>
          <p:cNvPr id="4" name="TextBox 3"/>
          <p:cNvSpPr txBox="1"/>
          <p:nvPr/>
        </p:nvSpPr>
        <p:spPr>
          <a:xfrm>
            <a:off x="640080" y="1060704"/>
            <a:ext cx="10881360" cy="310896"/>
          </a:xfrm>
          <a:prstGeom prst="rect">
            <a:avLst/>
          </a:prstGeom>
          <a:noFill/>
        </p:spPr>
        <p:txBody>
          <a:bodyPr wrap="square" lIns="36576" rIns="36576" tIns="36576" bIns="36576" anchor="t">
            <a:spAutoFit/>
          </a:bodyPr>
          <a:lstStyle/>
          <a:p>
            <a:pPr algn="ctr">
              <a:spcBef>
                <a:spcPts val="0"/>
              </a:spcBef>
              <a:spcAft>
                <a:spcPts val="0"/>
              </a:spcAft>
            </a:pPr>
            <a:r>
              <a:rPr sz="1550" b="0" i="0">
                <a:solidFill>
                  <a:srgbClr val="52627A"/>
                </a:solidFill>
                <a:latin typeface="Aptos"/>
              </a:rPr>
              <a:t>The categories differ in how the ATAC profile is created and what composition information is available.</a:t>
            </a:r>
          </a:p>
        </p:txBody>
      </p:sp>
      <p:graphicFrame>
        <p:nvGraphicFramePr>
          <p:cNvPr id="5" name="Table 4"/>
          <p:cNvGraphicFramePr>
            <a:graphicFrameLocks noGrp="1"/>
          </p:cNvGraphicFramePr>
          <p:nvPr/>
        </p:nvGraphicFramePr>
        <p:xfrm>
          <a:off x="640080" y="1536192"/>
          <a:ext cx="10899648" cy="4462272"/>
        </p:xfrm>
        <a:graphic>
          <a:graphicData uri="http://schemas.openxmlformats.org/drawingml/2006/table">
            <a:tbl>
              <a:tblPr firstRow="1" bandRow="1">
                <a:tableStyleId>{5C22544A-7EE6-4342-B048-85BDC9FD1C3A}</a:tableStyleId>
              </a:tblPr>
              <a:tblGrid>
                <a:gridCol w="1508760"/>
                <a:gridCol w="1737360"/>
                <a:gridCol w="2339502"/>
                <a:gridCol w="1643975"/>
                <a:gridCol w="3670051"/>
              </a:tblGrid>
              <a:tr h="475488">
                <a:tc>
                  <a:txBody>
                    <a:bodyPr wrap="square"/>
                    <a:lstStyle/>
                    <a:p>
                      <a:pPr algn="ctr">
                        <a:lnSpc>
                          <a:spcPct val="100000"/>
                        </a:lnSpc>
                        <a:spcBef>
                          <a:spcPts val="0"/>
                        </a:spcBef>
                        <a:spcAft>
                          <a:spcPts val="0"/>
                        </a:spcAft>
                      </a:pPr>
                      <a:r>
                        <a:rPr sz="1050" b="1">
                          <a:solidFill>
                            <a:srgbClr val="FFFFFF"/>
                          </a:solidFill>
                          <a:latin typeface="Aptos"/>
                        </a:rPr>
                        <a:t>CATEGORY</a:t>
                      </a:r>
                    </a:p>
                  </a:txBody>
                  <a:tcPr marL="109728" marR="91440" marT="73152" marB="54864" anchor="ctr">
                    <a:solidFill>
                      <a:srgbClr val="13233B"/>
                    </a:solidFill>
                  </a:tcPr>
                </a:tc>
                <a:tc>
                  <a:txBody>
                    <a:bodyPr wrap="square"/>
                    <a:lstStyle/>
                    <a:p>
                      <a:pPr algn="ctr">
                        <a:lnSpc>
                          <a:spcPct val="100000"/>
                        </a:lnSpc>
                        <a:spcBef>
                          <a:spcPts val="0"/>
                        </a:spcBef>
                        <a:spcAft>
                          <a:spcPts val="0"/>
                        </a:spcAft>
                      </a:pPr>
                      <a:r>
                        <a:rPr sz="1050" b="1">
                          <a:solidFill>
                            <a:srgbClr val="FFFFFF"/>
                          </a:solidFill>
                          <a:latin typeface="Aptos"/>
                        </a:rPr>
                        <a:t>DATASETS</a:t>
                      </a:r>
                    </a:p>
                  </a:txBody>
                  <a:tcPr marL="109728" marR="91440" marT="73152" marB="54864" anchor="ctr">
                    <a:solidFill>
                      <a:srgbClr val="13233B"/>
                    </a:solidFill>
                  </a:tcPr>
                </a:tc>
                <a:tc>
                  <a:txBody>
                    <a:bodyPr wrap="square"/>
                    <a:lstStyle/>
                    <a:p>
                      <a:pPr algn="ctr">
                        <a:lnSpc>
                          <a:spcPct val="100000"/>
                        </a:lnSpc>
                        <a:spcBef>
                          <a:spcPts val="0"/>
                        </a:spcBef>
                        <a:spcAft>
                          <a:spcPts val="0"/>
                        </a:spcAft>
                      </a:pPr>
                      <a:r>
                        <a:rPr sz="1050" b="1">
                          <a:solidFill>
                            <a:srgbClr val="FFFFFF"/>
                          </a:solidFill>
                          <a:latin typeface="Aptos"/>
                        </a:rPr>
                        <a:t>SPECIES AND TISSUE</a:t>
                      </a:r>
                    </a:p>
                  </a:txBody>
                  <a:tcPr marL="109728" marR="91440" marT="73152" marB="54864" anchor="ctr">
                    <a:solidFill>
                      <a:srgbClr val="13233B"/>
                    </a:solidFill>
                  </a:tcPr>
                </a:tc>
                <a:tc>
                  <a:txBody>
                    <a:bodyPr wrap="square"/>
                    <a:lstStyle/>
                    <a:p>
                      <a:pPr algn="ctr">
                        <a:lnSpc>
                          <a:spcPct val="100000"/>
                        </a:lnSpc>
                        <a:spcBef>
                          <a:spcPts val="0"/>
                        </a:spcBef>
                        <a:spcAft>
                          <a:spcPts val="0"/>
                        </a:spcAft>
                      </a:pPr>
                      <a:r>
                        <a:rPr sz="1050" b="1" dirty="0">
                          <a:solidFill>
                            <a:srgbClr val="FFFFFF"/>
                          </a:solidFill>
                          <a:latin typeface="Aptos"/>
                        </a:rPr>
                        <a:t>SPOT-LEVEL
</a:t>
                      </a:r>
                      <a:r>
                        <a:rPr sz="1050" b="1" dirty="0" lang="en-US">
                          <a:solidFill>
                            <a:srgbClr val="FFFFFF"/>
                          </a:solidFill>
                          <a:latin typeface="Aptos"/>
                        </a:rPr>
                        <a:t>SPATIAL </a:t>
                      </a:r>
                      <a:r>
                        <a:rPr sz="1050" b="1" dirty="0">
                          <a:solidFill>
                            <a:srgbClr val="FFFFFF"/>
                          </a:solidFill>
                          <a:latin typeface="Aptos"/>
                        </a:rPr>
                        <a:t>ATAC PROFILE</a:t>
                      </a:r>
                    </a:p>
                  </a:txBody>
                  <a:tcPr marL="109728" marR="91440" marT="73152" marB="54864" anchor="ctr">
                    <a:solidFill>
                      <a:srgbClr val="13233B"/>
                    </a:solidFill>
                  </a:tcPr>
                </a:tc>
                <a:tc>
                  <a:txBody>
                    <a:bodyPr wrap="square"/>
                    <a:lstStyle/>
                    <a:p>
                      <a:pPr algn="ctr">
                        <a:lnSpc>
                          <a:spcPct val="100000"/>
                        </a:lnSpc>
                        <a:spcBef>
                          <a:spcPts val="0"/>
                        </a:spcBef>
                        <a:spcAft>
                          <a:spcPts val="0"/>
                        </a:spcAft>
                      </a:pPr>
                      <a:r>
                        <a:rPr sz="1050" b="1">
                          <a:solidFill>
                            <a:srgbClr val="FFFFFF"/>
                          </a:solidFill>
                          <a:latin typeface="Aptos"/>
                        </a:rPr>
                        <a:t>COMPOSITION LABEL</a:t>
                      </a:r>
                    </a:p>
                  </a:txBody>
                  <a:tcPr marL="109728" marR="91440" marT="73152" marB="54864" anchor="ctr">
                    <a:solidFill>
                      <a:srgbClr val="13233B"/>
                    </a:solidFill>
                  </a:tcPr>
                </a:tc>
              </a:tr>
              <a:tr h="1078992">
                <a:tc>
                  <a:txBody>
                    <a:bodyPr wrap="square"/>
                    <a:lstStyle/>
                    <a:p>
                      <a:pPr algn="ctr">
                        <a:lnSpc>
                          <a:spcPct val="100000"/>
                        </a:lnSpc>
                        <a:spcBef>
                          <a:spcPts val="0"/>
                        </a:spcBef>
                        <a:spcAft>
                          <a:spcPts val="0"/>
                        </a:spcAft>
                      </a:pPr>
                      <a:r>
                        <a:rPr sz="1500" b="1" dirty="0" lang="en-US">
                          <a:solidFill>
                            <a:srgbClr val="FFFFFF"/>
                          </a:solidFill>
                          <a:latin typeface="Aptos"/>
                        </a:rPr>
                        <a:t>P</a:t>
                      </a:r>
                      <a:r>
                        <a:rPr sz="1500" b="1" dirty="0">
                          <a:solidFill>
                            <a:srgbClr val="FFFFFF"/>
                          </a:solidFill>
                          <a:latin typeface="Aptos"/>
                        </a:rPr>
                        <a:t>seudo-spots</a:t>
                      </a:r>
                    </a:p>
                  </a:txBody>
                  <a:tcPr marL="109728" marR="91440" marT="73152" marB="54864" anchor="ctr">
                    <a:solidFill>
                      <a:srgbClr val="3B82F6"/>
                    </a:solidFill>
                  </a:tcPr>
                </a:tc>
                <a:tc>
                  <a:txBody>
                    <a:bodyPr wrap="square"/>
                    <a:lstStyle/>
                    <a:p>
                      <a:pPr algn="l">
                        <a:lnSpc>
                          <a:spcPct val="100000"/>
                        </a:lnSpc>
                        <a:spcBef>
                          <a:spcPts val="0"/>
                        </a:spcBef>
                        <a:spcAft>
                          <a:spcPts val="0"/>
                        </a:spcAft>
                      </a:pPr>
                      <a:r>
                        <a:rPr sz="1300" b="1">
                          <a:solidFill>
                            <a:srgbClr val="213047"/>
                          </a:solidFill>
                          <a:latin typeface="Aptos"/>
                        </a:rPr>
                        <a:t>PBMC</a:t>
                      </a:r>
                    </a:p>
                    <a:p>
                      <a:pPr algn="l">
                        <a:lnSpc>
                          <a:spcPct val="100000"/>
                        </a:lnSpc>
                        <a:spcBef>
                          <a:spcPts val="0"/>
                        </a:spcBef>
                        <a:spcAft>
                          <a:spcPts val="0"/>
                        </a:spcAft>
                      </a:pPr>
                      <a:r>
                        <a:rPr sz="1300" b="1">
                          <a:solidFill>
                            <a:srgbClr val="213047"/>
                          </a:solidFill>
                          <a:latin typeface="Aptos"/>
                        </a:rPr>
                        <a:t>GSE194122 BMMC</a:t>
                      </a:r>
                    </a:p>
                  </a:txBody>
                  <a:tcPr marL="109728" marR="91440" marT="73152" marB="54864" anchor="ctr">
                    <a:solidFill>
                      <a:srgbClr val="E7F0FE"/>
                    </a:solidFill>
                  </a:tcPr>
                </a:tc>
                <a:tc>
                  <a:txBody>
                    <a:bodyPr wrap="square"/>
                    <a:lstStyle/>
                    <a:p>
                      <a:pPr algn="l">
                        <a:lnSpc>
                          <a:spcPct val="100000"/>
                        </a:lnSpc>
                        <a:spcBef>
                          <a:spcPts val="0"/>
                        </a:spcBef>
                        <a:spcAft>
                          <a:spcPts val="0"/>
                        </a:spcAft>
                      </a:pPr>
                      <a:r>
                        <a:rPr sz="1300" b="1" dirty="0" lang="en-US">
                          <a:solidFill>
                            <a:srgbClr val="213047"/>
                          </a:solidFill>
                          <a:latin typeface="Aptos"/>
                        </a:rPr>
                        <a:t>Human:</a:t>
                      </a:r>
                      <a:r>
                        <a:rPr sz="1300" b="0" dirty="0">
                          <a:solidFill>
                            <a:srgbClr val="213047"/>
                          </a:solidFill>
                          <a:latin typeface="Aptos"/>
                        </a:rPr>
                        <a:t> peripheral blood
</a:t>
                      </a:r>
                      <a:r>
                        <a:rPr sz="1300" b="1" dirty="0">
                          <a:solidFill>
                            <a:srgbClr val="213047"/>
                          </a:solidFill>
                          <a:latin typeface="Aptos"/>
                        </a:rPr>
                        <a:t>Human</a:t>
                      </a:r>
                      <a:r>
                        <a:rPr sz="1300" b="1" dirty="0" lang="en-US">
                          <a:solidFill>
                            <a:srgbClr val="213047"/>
                          </a:solidFill>
                          <a:latin typeface="Aptos"/>
                        </a:rPr>
                        <a:t>:</a:t>
                      </a:r>
                      <a:r>
                        <a:rPr sz="1300" b="0" dirty="0">
                          <a:solidFill>
                            <a:srgbClr val="213047"/>
                          </a:solidFill>
                          <a:latin typeface="Aptos"/>
                        </a:rPr>
                        <a:t> bone marrow</a:t>
                      </a:r>
                    </a:p>
                  </a:txBody>
                  <a:tcPr marL="109728" marR="91440" marT="73152" marB="54864" anchor="ctr">
                    <a:solidFill>
                      <a:srgbClr val="E7F0FE"/>
                    </a:solidFill>
                  </a:tcPr>
                </a:tc>
                <a:tc>
                  <a:txBody>
                    <a:bodyPr wrap="square"/>
                    <a:lstStyle/>
                    <a:p>
                      <a:pPr algn="l">
                        <a:lnSpc>
                          <a:spcPct val="100000"/>
                        </a:lnSpc>
                        <a:spcBef>
                          <a:spcPts val="0"/>
                        </a:spcBef>
                        <a:spcAft>
                          <a:spcPts val="0"/>
                        </a:spcAft>
                      </a:pPr>
                      <a:r>
                        <a:rPr sz="1250" b="0" dirty="0" lang="en-US">
                          <a:solidFill>
                            <a:srgbClr val="213047"/>
                          </a:solidFill>
                          <a:latin typeface="Aptos"/>
                        </a:rPr>
                        <a:t>Calculated profile based on composition</a:t>
                      </a:r>
                    </a:p>
                  </a:txBody>
                  <a:tcPr marL="109728" marR="91440" marT="73152" marB="54864" anchor="ctr">
                    <a:solidFill>
                      <a:srgbClr val="E7F0FE"/>
                    </a:solidFill>
                  </a:tcPr>
                </a:tc>
                <a:tc>
                  <a:txBody>
                    <a:bodyPr wrap="square"/>
                    <a:lstStyle/>
                    <a:p>
                      <a:pPr algn="l">
                        <a:lnSpc>
                          <a:spcPct val="100000"/>
                        </a:lnSpc>
                        <a:spcBef>
                          <a:spcPts val="0"/>
                        </a:spcBef>
                        <a:spcAft>
                          <a:spcPts val="0"/>
                        </a:spcAft>
                      </a:pPr>
                      <a:r>
                        <a:rPr sz="1250" b="0" dirty="0">
                          <a:solidFill>
                            <a:srgbClr val="213047"/>
                          </a:solidFill>
                          <a:latin typeface="Aptos"/>
                        </a:rPr>
                        <a:t>Exact </a:t>
                      </a:r>
                      <a:r>
                        <a:rPr sz="1250" b="0" dirty="0" lang="en-US">
                          <a:solidFill>
                            <a:srgbClr val="213047"/>
                          </a:solidFill>
                          <a:latin typeface="Aptos"/>
                        </a:rPr>
                        <a:t>composition</a:t>
                      </a:r>
                      <a:r>
                        <a:rPr sz="1250" b="0" dirty="0">
                          <a:solidFill>
                            <a:srgbClr val="213047"/>
                          </a:solidFill>
                          <a:latin typeface="Aptos"/>
                        </a:rPr>
                        <a:t> used to build each spot</a:t>
                      </a:r>
                    </a:p>
                  </a:txBody>
                  <a:tcPr marL="109728" marR="91440" marT="73152" marB="54864" anchor="ctr">
                    <a:solidFill>
                      <a:srgbClr val="E7F0FE"/>
                    </a:solidFill>
                  </a:tcPr>
                </a:tc>
              </a:tr>
              <a:tr h="1243584">
                <a:tc>
                  <a:txBody>
                    <a:bodyPr wrap="square"/>
                    <a:lstStyle/>
                    <a:p>
                      <a:pPr algn="ctr">
                        <a:lnSpc>
                          <a:spcPct val="100000"/>
                        </a:lnSpc>
                        <a:spcBef>
                          <a:spcPts val="0"/>
                        </a:spcBef>
                        <a:spcAft>
                          <a:spcPts val="0"/>
                        </a:spcAft>
                      </a:pPr>
                      <a:r>
                        <a:rPr sz="1500" b="1">
                          <a:solidFill>
                            <a:srgbClr val="13233B"/>
                          </a:solidFill>
                          <a:latin typeface="Aptos"/>
                        </a:rPr>
                        <a:t>Physical
dilutions</a:t>
                      </a:r>
                    </a:p>
                  </a:txBody>
                  <a:tcPr marL="109728" marR="91440" marT="73152" marB="54864" anchor="ctr">
                    <a:solidFill>
                      <a:srgbClr val="F4B942"/>
                    </a:solidFill>
                  </a:tcPr>
                </a:tc>
                <a:tc>
                  <a:txBody>
                    <a:bodyPr wrap="square"/>
                    <a:lstStyle/>
                    <a:p>
                      <a:pPr algn="l">
                        <a:lnSpc>
                          <a:spcPct val="100000"/>
                        </a:lnSpc>
                        <a:spcBef>
                          <a:spcPts val="0"/>
                        </a:spcBef>
                        <a:spcAft>
                          <a:spcPts val="0"/>
                        </a:spcAft>
                      </a:pPr>
                      <a:r>
                        <a:rPr sz="1300" b="1">
                          <a:solidFill>
                            <a:srgbClr val="213047"/>
                          </a:solidFill>
                          <a:latin typeface="Aptos"/>
                        </a:rPr>
                        <a:t>GSE129785
CD4-memory + CD8-naive
Monocytes + T cells</a:t>
                      </a:r>
                    </a:p>
                  </a:txBody>
                  <a:tcPr marL="109728" marR="91440" marT="73152" marB="54864" anchor="ctr">
                    <a:solidFill>
                      <a:srgbClr val="FFF3D6"/>
                    </a:solidFill>
                  </a:tcPr>
                </a:tc>
                <a:tc>
                  <a:txBody>
                    <a:bodyPr wrap="square"/>
                    <a:lstStyle/>
                    <a:p>
                      <a:pPr algn="l">
                        <a:lnSpc>
                          <a:spcPct val="100000"/>
                        </a:lnSpc>
                        <a:spcBef>
                          <a:spcPts val="0"/>
                        </a:spcBef>
                        <a:spcAft>
                          <a:spcPts val="0"/>
                        </a:spcAft>
                      </a:pPr>
                      <a:r>
                        <a:rPr sz="1300" b="1" dirty="0">
                          <a:solidFill>
                            <a:srgbClr val="213047"/>
                          </a:solidFill>
                          <a:latin typeface="Aptos"/>
                        </a:rPr>
                        <a:t>Human</a:t>
                      </a:r>
                      <a:r>
                        <a:rPr sz="1300" b="1" dirty="0" lang="en-US">
                          <a:solidFill>
                            <a:srgbClr val="213047"/>
                          </a:solidFill>
                          <a:latin typeface="Aptos"/>
                        </a:rPr>
                        <a:t>:</a:t>
                      </a:r>
                      <a:r>
                        <a:rPr sz="1300" b="0" dirty="0">
                          <a:solidFill>
                            <a:srgbClr val="213047"/>
                          </a:solidFill>
                          <a:latin typeface="Aptos"/>
                        </a:rPr>
                        <a:t> blood</a:t>
                      </a:r>
                      <a:r>
                        <a:rPr sz="1300" b="0" dirty="0" lang="en-US">
                          <a:solidFill>
                            <a:srgbClr val="213047"/>
                          </a:solidFill>
                          <a:latin typeface="Aptos"/>
                        </a:rPr>
                        <a:t> </a:t>
                      </a:r>
                      <a:r>
                        <a:rPr sz="1300" b="0" dirty="0">
                          <a:solidFill>
                            <a:srgbClr val="213047"/>
                          </a:solidFill>
                          <a:latin typeface="Aptos"/>
                        </a:rPr>
                        <a:t>immune cells</a:t>
                      </a:r>
                    </a:p>
                  </a:txBody>
                  <a:tcPr marL="109728" marR="91440" marT="73152" marB="54864" anchor="ctr">
                    <a:solidFill>
                      <a:srgbClr val="FFF3D6"/>
                    </a:solidFill>
                  </a:tcPr>
                </a:tc>
                <a:tc>
                  <a:txBody>
                    <a:bodyPr wrap="square"/>
                    <a:lstStyle/>
                    <a:p>
                      <a:pPr algn="l">
                        <a:lnSpc>
                          <a:spcPct val="100000"/>
                        </a:lnSpc>
                        <a:spcBef>
                          <a:spcPts val="0"/>
                        </a:spcBef>
                        <a:spcAft>
                          <a:spcPts val="0"/>
                        </a:spcAft>
                      </a:pPr>
                      <a:r>
                        <a:rPr sz="1250" b="0" dirty="0">
                          <a:solidFill>
                            <a:srgbClr val="213047"/>
                          </a:solidFill>
                          <a:latin typeface="Aptos"/>
                        </a:rPr>
                        <a:t>Measured </a:t>
                      </a:r>
                      <a:r>
                        <a:rPr sz="1250" b="0" dirty="0" lang="en-US">
                          <a:solidFill>
                            <a:srgbClr val="213047"/>
                          </a:solidFill>
                          <a:latin typeface="Aptos"/>
                        </a:rPr>
                        <a:t>real </a:t>
                      </a:r>
                      <a:r>
                        <a:rPr sz="1250" b="0" dirty="0">
                          <a:solidFill>
                            <a:srgbClr val="213047"/>
                          </a:solidFill>
                          <a:latin typeface="Aptos"/>
                        </a:rPr>
                        <a:t>profile</a:t>
                      </a:r>
                    </a:p>
                  </a:txBody>
                  <a:tcPr marL="109728" marR="91440" marT="73152" marB="54864" anchor="ctr">
                    <a:solidFill>
                      <a:srgbClr val="FFF3D6"/>
                    </a:solidFill>
                  </a:tcPr>
                </a:tc>
                <a:tc>
                  <a:txBody>
                    <a:bodyPr wrap="square"/>
                    <a:lstStyle/>
                    <a:p>
                      <a:pPr algn="l">
                        <a:lnSpc>
                          <a:spcPct val="100000"/>
                        </a:lnSpc>
                        <a:spcBef>
                          <a:spcPts val="0"/>
                        </a:spcBef>
                        <a:spcAft>
                          <a:spcPts val="0"/>
                        </a:spcAft>
                      </a:pPr>
                      <a:r>
                        <a:rPr sz="1250" b="0" dirty="0" lang="en-US">
                          <a:solidFill>
                            <a:srgbClr val="213047"/>
                          </a:solidFill>
                          <a:latin typeface="Aptos"/>
                        </a:rPr>
                        <a:t>Known real composition.</a:t>
                      </a:r>
                    </a:p>
                  </a:txBody>
                  <a:tcPr marL="109728" marR="91440" marT="73152" marB="54864" anchor="ctr">
                    <a:solidFill>
                      <a:srgbClr val="FFF3D6"/>
                    </a:solidFill>
                  </a:tcPr>
                </a:tc>
              </a:tr>
              <a:tr h="1664208">
                <a:tc>
                  <a:txBody>
                    <a:bodyPr wrap="square"/>
                    <a:lstStyle/>
                    <a:p>
                      <a:pPr algn="ctr">
                        <a:lnSpc>
                          <a:spcPct val="100000"/>
                        </a:lnSpc>
                        <a:spcBef>
                          <a:spcPts val="0"/>
                        </a:spcBef>
                        <a:spcAft>
                          <a:spcPts val="0"/>
                        </a:spcAft>
                      </a:pPr>
                      <a:r>
                        <a:rPr sz="1500" b="1">
                          <a:solidFill>
                            <a:srgbClr val="FFFFFF"/>
                          </a:solidFill>
                          <a:latin typeface="Aptos"/>
                        </a:rPr>
                        <a:t>Real spatial
tissue</a:t>
                      </a:r>
                    </a:p>
                  </a:txBody>
                  <a:tcPr marL="109728" marR="91440" marT="73152" marB="54864" anchor="ctr">
                    <a:solidFill>
                      <a:srgbClr val="18A999"/>
                    </a:solidFill>
                  </a:tcPr>
                </a:tc>
                <a:tc>
                  <a:txBody>
                    <a:bodyPr wrap="square"/>
                    <a:lstStyle/>
                    <a:p>
                      <a:pPr algn="l">
                        <a:lnSpc>
                          <a:spcPct val="100000"/>
                        </a:lnSpc>
                        <a:spcBef>
                          <a:spcPts val="0"/>
                        </a:spcBef>
                        <a:spcAft>
                          <a:spcPts val="0"/>
                        </a:spcAft>
                      </a:pPr>
                      <a:r>
                        <a:rPr sz="1300" b="1">
                          <a:solidFill>
                            <a:srgbClr val="213047"/>
                          </a:solidFill>
                          <a:latin typeface="Aptos"/>
                        </a:rPr>
                        <a:t>GSE205055
GSE263333</a:t>
                      </a:r>
                    </a:p>
                  </a:txBody>
                  <a:tcPr marL="109728" marR="91440" marT="73152" marB="54864" anchor="ctr">
                    <a:solidFill>
                      <a:srgbClr val="DDF4F1"/>
                    </a:solidFill>
                  </a:tcPr>
                </a:tc>
                <a:tc>
                  <a:txBody>
                    <a:bodyPr wrap="square"/>
                    <a:lstStyle/>
                    <a:p>
                      <a:pPr algn="l">
                        <a:lnSpc>
                          <a:spcPct val="100000"/>
                        </a:lnSpc>
                        <a:spcBef>
                          <a:spcPts val="0"/>
                        </a:spcBef>
                        <a:spcAft>
                          <a:spcPts val="0"/>
                        </a:spcAft>
                      </a:pPr>
                      <a:r>
                        <a:rPr sz="1300" b="1" dirty="0">
                          <a:solidFill>
                            <a:srgbClr val="213047"/>
                          </a:solidFill>
                          <a:latin typeface="Aptos"/>
                        </a:rPr>
                        <a:t>Mouse</a:t>
                      </a:r>
                      <a:r>
                        <a:rPr sz="1300" b="0" dirty="0">
                          <a:solidFill>
                            <a:srgbClr val="213047"/>
                          </a:solidFill>
                          <a:latin typeface="Aptos"/>
                        </a:rPr>
                        <a:t>: day-13 mouse embryos, brains from young mice 21–22 days after birth,</a:t>
                      </a:r>
                      <a:r>
                        <a:rPr sz="1400" dirty="0"/>
                        <a:t> </a:t>
                      </a:r>
                      <a:r>
                        <a:rPr sz="1300" b="0" dirty="0">
                          <a:solidFill>
                            <a:srgbClr val="213047"/>
                          </a:solidFill>
                          <a:latin typeface="Aptos"/>
                        </a:rPr>
                        <a:t>brains from 5-month-old mice with EAE
</a:t>
                      </a:r>
                      <a:r>
                        <a:rPr sz="1300" b="1" dirty="0">
                          <a:solidFill>
                            <a:srgbClr val="213047"/>
                          </a:solidFill>
                          <a:latin typeface="Aptos"/>
                        </a:rPr>
                        <a:t>Human</a:t>
                      </a:r>
                      <a:r>
                        <a:rPr sz="1300" b="0" dirty="0">
                          <a:solidFill>
                            <a:srgbClr val="213047"/>
                          </a:solidFill>
                          <a:latin typeface="Aptos"/>
                        </a:rPr>
                        <a:t>: adult hippocampus</a:t>
                      </a:r>
                    </a:p>
                  </a:txBody>
                  <a:tcPr marL="109728" marR="91440" marT="73152" marB="54864" anchor="ctr">
                    <a:solidFill>
                      <a:srgbClr val="DDF4F1"/>
                    </a:solidFill>
                  </a:tcPr>
                </a:tc>
                <a:tc>
                  <a:txBody>
                    <a:bodyPr wrap="square"/>
                    <a:lstStyle/>
                    <a:p>
                      <a:pPr algn="l">
                        <a:lnSpc>
                          <a:spcPct val="100000"/>
                        </a:lnSpc>
                        <a:spcBef>
                          <a:spcPts val="0"/>
                        </a:spcBef>
                        <a:spcAft>
                          <a:spcPts val="0"/>
                        </a:spcAft>
                      </a:pPr>
                      <a:r>
                        <a:rPr sz="1250" b="0" dirty="0">
                          <a:solidFill>
                            <a:srgbClr val="213047"/>
                          </a:solidFill>
                          <a:latin typeface="Aptos"/>
                        </a:rPr>
                        <a:t>Measured </a:t>
                      </a:r>
                      <a:r>
                        <a:rPr sz="1250" b="0" dirty="0" lang="en-US">
                          <a:solidFill>
                            <a:srgbClr val="213047"/>
                          </a:solidFill>
                          <a:latin typeface="Aptos"/>
                        </a:rPr>
                        <a:t>real profile</a:t>
                      </a:r>
                    </a:p>
                  </a:txBody>
                  <a:tcPr marL="109728" marR="91440" marT="73152" marB="54864" anchor="ctr">
                    <a:solidFill>
                      <a:srgbClr val="DDF4F1"/>
                    </a:solidFill>
                  </a:tcPr>
                </a:tc>
                <a:tc>
                  <a:txBody>
                    <a:bodyPr wrap="square"/>
                    <a:lstStyle/>
                    <a:p>
                      <a:pPr algn="l">
                        <a:lnSpc>
                          <a:spcPct val="100000"/>
                        </a:lnSpc>
                        <a:spcBef>
                          <a:spcPts val="0"/>
                        </a:spcBef>
                        <a:spcAft>
                          <a:spcPts val="0"/>
                        </a:spcAft>
                      </a:pPr>
                      <a:r>
                        <a:rPr sz="1250" b="0" dirty="0" lang="en-US">
                          <a:solidFill>
                            <a:srgbClr val="213047"/>
                          </a:solidFill>
                          <a:latin typeface="Aptos"/>
                        </a:rPr>
                        <a:t>C</a:t>
                      </a:r>
                      <a:r>
                        <a:rPr sz="1250" b="0" dirty="0">
                          <a:solidFill>
                            <a:srgbClr val="213047"/>
                          </a:solidFill>
                          <a:latin typeface="Aptos"/>
                        </a:rPr>
                        <a:t>omposition</a:t>
                      </a:r>
                      <a:r>
                        <a:rPr sz="1250" b="0" dirty="0" lang="en-US">
                          <a:solidFill>
                            <a:srgbClr val="213047"/>
                          </a:solidFill>
                          <a:latin typeface="Aptos"/>
                        </a:rPr>
                        <a:t> unknown</a:t>
                      </a:r>
                      <a:r>
                        <a:rPr sz="1250" b="0" dirty="0">
                          <a:solidFill>
                            <a:srgbClr val="213047"/>
                          </a:solidFill>
                          <a:latin typeface="Aptos"/>
                        </a:rPr>
                        <a:t>. Supporting evidence only.</a:t>
                      </a:r>
                    </a:p>
                  </a:txBody>
                  <a:tcPr marL="109728" marR="91440" marT="73152" marB="54864" anchor="ctr">
                    <a:solidFill>
                      <a:srgbClr val="DDF4F1"/>
                    </a:solidFill>
                  </a:tcPr>
                </a:tc>
              </a:tr>
            </a:tbl>
          </a:graphicData>
        </a:graphic>
      </p:graphicFrame>
      <p:cxnSp>
        <p:nvCxnSpPr>
          <p:cNvPr id="6" name="Connector 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4EC"/>
        </a:solidFill>
        <a:effectLst/>
      </p:bgPr>
    </p:bg>
    <p:spTree>
      <p:nvGrpSpPr>
        <p:cNvPr id="1" name=""/>
        <p:cNvGrpSpPr/>
        <p:nvPr/>
      </p:nvGrpSpPr>
      <p:grpSpPr/>
      <p:sp>
        <p:nvSpPr>
          <p:cNvPr id="2" name="TextBox 1"/>
          <p:cNvSpPr txBox="1"/>
          <p:nvPr/>
        </p:nvSpPr>
        <p:spPr>
          <a:xfrm>
            <a:off x="621792" y="256032"/>
            <a:ext cx="8046720" cy="256032"/>
          </a:xfrm>
          <a:prstGeom prst="rect">
            <a:avLst/>
          </a:prstGeom>
          <a:noFill/>
        </p:spPr>
        <p:txBody>
          <a:bodyPr wrap="square" lIns="36576" rIns="36576" tIns="36576" bIns="36576" anchor="t">
            <a:spAutoFit/>
          </a:bodyPr>
          <a:lstStyle/>
          <a:p>
            <a:pPr algn="l">
              <a:spcBef>
                <a:spcPts val="0"/>
              </a:spcBef>
              <a:spcAft>
                <a:spcPts val="0"/>
              </a:spcAft>
            </a:pPr>
            <a:r>
              <a:rPr sz="1050" b="1" i="0">
                <a:solidFill>
                  <a:srgbClr val="18A999"/>
                </a:solidFill>
                <a:latin typeface="Aptos"/>
              </a:rPr>
              <a:t>EVALUATION RESULTS</a:t>
            </a:r>
          </a:p>
        </p:txBody>
      </p:sp>
      <p:sp>
        <p:nvSpPr>
          <p:cNvPr id="3" name="TextBox 2"/>
          <p:cNvSpPr txBox="1"/>
          <p:nvPr/>
        </p:nvSpPr>
        <p:spPr>
          <a:xfrm>
            <a:off x="594360" y="502920"/>
            <a:ext cx="10789920" cy="489365"/>
          </a:xfrm>
          <a:prstGeom prst="rect">
            <a:avLst/>
          </a:prstGeom>
          <a:noFill/>
        </p:spPr>
        <p:txBody>
          <a:bodyPr wrap="square" lIns="36576" rIns="36576" tIns="36576" bIns="36576" anchor="t">
            <a:spAutoFit/>
          </a:bodyPr>
          <a:lstStyle/>
          <a:p>
            <a:pPr algn="l">
              <a:spcBef>
                <a:spcPts val="0"/>
              </a:spcBef>
              <a:spcAft>
                <a:spcPts val="0"/>
              </a:spcAft>
            </a:pPr>
            <a:r>
              <a:rPr sz="2700" b="1">
                <a:solidFill>
                  <a:srgbClr val="13233B"/>
                </a:solidFill>
                <a:latin typeface="Aptos Display"/>
              </a:rPr>
              <a:t>Compare Count-Only and </a:t>
            </a:r>
            <a:r>
              <a:rPr sz="2700" b="1">
                <a:solidFill>
                  <a:srgbClr val="13233B"/>
                </a:solidFill>
                <a:latin typeface="Aptos Display"/>
              </a:rPr>
              <a:t>ShapeMix</a:t>
            </a:r>
          </a:p>
        </p:txBody>
      </p:sp>
      <p:sp>
        <p:nvSpPr>
          <p:cNvPr id="4" name="TextBox 3"/>
          <p:cNvSpPr txBox="1"/>
          <p:nvPr/>
        </p:nvSpPr>
        <p:spPr>
          <a:xfrm>
            <a:off x="11137392" y="310896"/>
            <a:ext cx="411480" cy="237744"/>
          </a:xfrm>
          <a:prstGeom prst="rect">
            <a:avLst/>
          </a:prstGeom>
          <a:noFill/>
        </p:spPr>
        <p:txBody>
          <a:bodyPr wrap="square" lIns="36576" rIns="36576" tIns="36576" bIns="36576" anchor="t">
            <a:spAutoFit/>
          </a:bodyPr>
          <a:lstStyle/>
          <a:p>
            <a:pPr algn="r">
              <a:spcBef>
                <a:spcPts val="0"/>
              </a:spcBef>
              <a:spcAft>
                <a:spcPts val="0"/>
              </a:spcAft>
            </a:pPr>
            <a:r>
              <a:rPr sz="1000" b="1" i="0">
                <a:solidFill>
                  <a:srgbClr val="52627A"/>
                </a:solidFill>
                <a:latin typeface="Aptos"/>
              </a:rPr>
              <a:t>19</a:t>
            </a:r>
          </a:p>
        </p:txBody>
      </p:sp>
      <p:sp>
        <p:nvSpPr>
          <p:cNvPr id="5" name="TextBox 4"/>
          <p:cNvSpPr txBox="1"/>
          <p:nvPr/>
        </p:nvSpPr>
        <p:spPr>
          <a:xfrm>
            <a:off x="649224" y="1093583"/>
            <a:ext cx="10890504" cy="273921"/>
          </a:xfrm>
          <a:prstGeom prst="rect">
            <a:avLst/>
          </a:prstGeom>
          <a:noFill/>
        </p:spPr>
        <p:txBody>
          <a:bodyPr wrap="square" lIns="36576" rIns="36576" tIns="36576" bIns="36576">
            <a:spAutoFit/>
          </a:bodyPr>
          <a:lstStyle/>
          <a:p>
            <a:pPr algn="ctr"/>
            <a:r>
              <a:rPr sz="1300" b="1" i="0">
                <a:solidFill>
                  <a:srgbClr val="3B82F6"/>
                </a:solidFill>
                <a:latin typeface="Aptos"/>
              </a:rPr>
              <a:t>RMSE</a:t>
            </a:r>
            <a:r>
              <a:rPr sz="1300" b="1" i="0">
                <a:solidFill>
                  <a:srgbClr val="3B82F6"/>
                </a:solidFill>
                <a:latin typeface="Aptos"/>
              </a:rPr>
              <a:t>: </a:t>
            </a:r>
            <a:r>
              <a:rPr sz="1300" b="0" i="0">
                <a:solidFill>
                  <a:srgbClr val="52627A"/>
                </a:solidFill>
                <a:latin typeface="Aptos"/>
              </a:rPr>
              <a:t> </a:t>
            </a:r>
            <a:r>
              <a:rPr sz="1300">
                <a:solidFill>
                  <a:srgbClr val="52627A"/>
                </a:solidFill>
                <a:latin typeface="Aptos"/>
              </a:rPr>
              <a:t>R</a:t>
            </a:r>
            <a:r>
              <a:rPr sz="1300" b="0" i="0">
                <a:solidFill>
                  <a:srgbClr val="52627A"/>
                </a:solidFill>
                <a:latin typeface="Aptos"/>
              </a:rPr>
              <a:t>oot </a:t>
            </a:r>
            <a:r>
              <a:rPr sz="1300">
                <a:solidFill>
                  <a:srgbClr val="52627A"/>
                </a:solidFill>
                <a:latin typeface="Aptos"/>
              </a:rPr>
              <a:t>M</a:t>
            </a:r>
            <a:r>
              <a:rPr sz="1300" b="0" i="0">
                <a:solidFill>
                  <a:srgbClr val="52627A"/>
                </a:solidFill>
                <a:latin typeface="Aptos"/>
              </a:rPr>
              <a:t>ean </a:t>
            </a:r>
            <a:r>
              <a:rPr sz="1300">
                <a:solidFill>
                  <a:srgbClr val="52627A"/>
                </a:solidFill>
                <a:latin typeface="Aptos"/>
              </a:rPr>
              <a:t>S</a:t>
            </a:r>
            <a:r>
              <a:rPr sz="1300" b="0" i="0">
                <a:solidFill>
                  <a:srgbClr val="52627A"/>
                </a:solidFill>
                <a:latin typeface="Aptos"/>
              </a:rPr>
              <a:t>quare </a:t>
            </a:r>
            <a:r>
              <a:rPr sz="1300">
                <a:solidFill>
                  <a:srgbClr val="52627A"/>
                </a:solidFill>
                <a:latin typeface="Aptos"/>
              </a:rPr>
              <a:t>E</a:t>
            </a:r>
            <a:r>
              <a:rPr sz="1300" b="0" i="0">
                <a:solidFill>
                  <a:srgbClr val="52627A"/>
                </a:solidFill>
                <a:latin typeface="Aptos"/>
              </a:rPr>
              <a:t>rror</a:t>
            </a:r>
            <a:r>
              <a:rPr sz="1300" b="0" i="0">
                <a:solidFill>
                  <a:srgbClr val="52627A"/>
                </a:solidFill>
                <a:latin typeface="Aptos"/>
              </a:rPr>
              <a:t>     </a:t>
            </a:r>
            <a:r>
              <a:rPr sz="1300" b="1" i="0">
                <a:solidFill>
                  <a:srgbClr val="8B5CF6"/>
                </a:solidFill>
                <a:latin typeface="Aptos"/>
              </a:rPr>
              <a:t>JSD</a:t>
            </a:r>
            <a:r>
              <a:rPr sz="1300" b="1" i="0">
                <a:solidFill>
                  <a:srgbClr val="8B5CF6"/>
                </a:solidFill>
                <a:latin typeface="Aptos"/>
              </a:rPr>
              <a:t>:</a:t>
            </a:r>
            <a:r>
              <a:rPr sz="1300">
                <a:solidFill>
                  <a:srgbClr val="52627A"/>
                </a:solidFill>
                <a:latin typeface="Aptos"/>
              </a:rPr>
              <a:t> </a:t>
            </a:r>
            <a:r>
              <a:rPr sz="1300" b="0" i="0">
                <a:solidFill>
                  <a:srgbClr val="52627A"/>
                </a:solidFill>
                <a:latin typeface="Aptos"/>
              </a:rPr>
              <a:t> </a:t>
            </a:r>
            <a:r>
              <a:rPr sz="1300" b="0" i="0">
                <a:solidFill>
                  <a:srgbClr val="52627A"/>
                </a:solidFill>
                <a:latin typeface="Aptos"/>
              </a:rPr>
              <a:t>Jenson-Shannon Divergence</a:t>
            </a:r>
            <a:r>
              <a:rPr sz="1300" b="0" i="0">
                <a:solidFill>
                  <a:srgbClr val="52627A"/>
                </a:solidFill>
                <a:latin typeface="Aptos"/>
              </a:rPr>
              <a:t>    </a:t>
            </a:r>
            <a:r>
              <a:rPr sz="1300" b="1" i="0">
                <a:solidFill>
                  <a:srgbClr val="0C7F75"/>
                </a:solidFill>
                <a:latin typeface="Aptos"/>
              </a:rPr>
              <a:t>Lower is better.</a:t>
            </a:r>
          </a:p>
        </p:txBody>
      </p:sp>
      <p:graphicFrame>
        <p:nvGraphicFramePr>
          <p:cNvPr id="6" name="Chart 5"/>
          <p:cNvGraphicFramePr>
            <a:graphicFrameLocks noGrp="1"/>
          </p:cNvGraphicFramePr>
          <p:nvPr/>
        </p:nvGraphicFramePr>
        <p:xfrm>
          <a:off x="502920" y="1591056"/>
          <a:ext cx="5559552" cy="4370832"/>
        </p:xfrm>
        <a:graphic>
          <a:graphicData uri="http://schemas.openxmlformats.org/drawingml/2006/chart">
            <c:chart xmlns:c="http://schemas.openxmlformats.org/drawingml/2006/chart" r:id="rId2"/>
          </a:graphicData>
        </a:graphic>
      </p:graphicFrame>
      <p:graphicFrame>
        <p:nvGraphicFramePr>
          <p:cNvPr id="7" name="Chart 6"/>
          <p:cNvGraphicFramePr>
            <a:graphicFrameLocks noGrp="1"/>
          </p:cNvGraphicFramePr>
          <p:nvPr/>
        </p:nvGraphicFramePr>
        <p:xfrm>
          <a:off x="6144768" y="1591056"/>
          <a:ext cx="5559552" cy="4370832"/>
        </p:xfrm>
        <a:graphic>
          <a:graphicData uri="http://schemas.openxmlformats.org/drawingml/2006/chart">
            <c:chart xmlns:c="http://schemas.openxmlformats.org/drawingml/2006/chart" r:id="rId3"/>
          </a:graphicData>
        </a:graphic>
      </p:graphicFrame>
      <p:sp>
        <p:nvSpPr>
          <p:cNvPr id="8" name="TextBox 7"/>
          <p:cNvSpPr txBox="1"/>
          <p:nvPr/>
        </p:nvSpPr>
        <p:spPr>
          <a:xfrm>
            <a:off x="640080" y="6117336"/>
            <a:ext cx="10899648" cy="292608"/>
          </a:xfrm>
          <a:prstGeom prst="rect">
            <a:avLst/>
          </a:prstGeom>
          <a:noFill/>
        </p:spPr>
        <p:txBody>
          <a:bodyPr wrap="square" lIns="36576" rIns="36576" tIns="36576" bIns="36576">
            <a:spAutoFit/>
          </a:bodyPr>
          <a:lstStyle/>
          <a:p>
            <a:pPr algn="ctr"/>
            <a:r>
              <a:rPr sz="1000" b="1" i="0">
                <a:solidFill>
                  <a:srgbClr val="13233B"/>
                </a:solidFill>
                <a:latin typeface="Aptos"/>
              </a:rPr>
              <a:t>Natural:</a:t>
            </a:r>
            <a:r>
              <a:rPr sz="1000" b="0" i="0">
                <a:solidFill>
                  <a:srgbClr val="52627A"/>
                </a:solidFill>
                <a:latin typeface="Aptos"/>
              </a:rPr>
              <a:t> cell types are sampled using their observed frequencies.    </a:t>
            </a:r>
            <a:r>
              <a:rPr sz="1000" b="1" i="0">
                <a:solidFill>
                  <a:srgbClr val="13233B"/>
                </a:solidFill>
                <a:latin typeface="Aptos"/>
              </a:rPr>
              <a:t>Equal:</a:t>
            </a:r>
            <a:r>
              <a:rPr sz="1000" b="0" i="0">
                <a:solidFill>
                  <a:srgbClr val="52627A"/>
                </a:solidFill>
                <a:latin typeface="Aptos"/>
              </a:rPr>
              <a:t> every cell type is sampled with the same probability.    </a:t>
            </a:r>
            <a:r>
              <a:rPr sz="1000" b="0" i="1">
                <a:solidFill>
                  <a:srgbClr val="52627A"/>
                </a:solidFill>
                <a:latin typeface="Aptos"/>
              </a:rPr>
              <a:t>Each metric uses its own scale.</a:t>
            </a:r>
          </a:p>
        </p:txBody>
      </p:sp>
      <p:cxnSp>
        <p:nvCxnSpPr>
          <p:cNvPr id="9" name="Connector 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Introduction, Bayesian ShapeMix model, datasets, evaluation design, and results</dc:subject>
  <dc:creator>Andy Zhuang</dc:creator>
  <cp:keywords>ShapeMix, ATAC-seq, spatial deconvolution, Bayesian model, MAP inference, high school research</cp:keywords>
  <dc:description>Deck generated from the deconvATAC repository with finalized RMSE and JSD comparisons.</dc:description>
  <cp:lastModifiedBy>Steve Canny</cp:lastModifiedBy>
  <cp:revision>1</cp:revision>
  <dcterms:created xsi:type="dcterms:W3CDTF">2013-01-27T09:14:16Z</dcterms:created>
  <dcterms:modified xsi:type="dcterms:W3CDTF">2013-01-27T09:15:58Z</dcterms:modified>
  <cp:category/>
</cp:coreProperties>
</file>