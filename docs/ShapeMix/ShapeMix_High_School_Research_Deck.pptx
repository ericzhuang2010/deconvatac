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3"/>
  </p:normalViewPr>
  <p:slideViewPr>
    <p:cSldViewPr snapToGrid="0" snapToObjects="1">
      <p:cViewPr varScale="1">
        <p:scale>
          <a:sx n="143" d="100"/>
          <a:sy n="143" d="100"/>
        </p:scale>
        <p:origin x="248" y="3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9112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research question. Explain that this is a project overview: the biology, model idea, data, and test plan are ready to discuss, while results are intentionally not shown in this draft.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Students only need one idea here: accessible DNA is easier for the Tn5 enzyme to reach. ATAC-seq turns those accessible regions into measurable DNA fragments.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spatial spot is like a collection bucket placed over a tiny region of tissue. It keeps the location, but it may mix fragments from several cell types. The task is to estimate the ingredients of that mixture.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smoothie analogy literally: references tell us what each pure ingredient tends to look like; the model asks which combination best matches the mixed measurement. The output is a proportion for every cell type.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project’s central idea. Each panel shows 12 fragments, and this conceptual example assigns both Tn5 cut sites from every fragment to the same peak, for 24 cut sites total. Cell type A allocates those cuts 14 short, 6 middle, and 4 long; cell type B allocates them 4 short, 8 middle, and 12 long. Ordinary deconvolution keeps only the total. ShapeMix also records the parent-fragment length pattern. The biological labels for bins are useful approximations, not perfect one-to-one assignments.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the math verbal unless someone asks. ShapeMix learns reference fingerprints, reads a mixed spot, tries possible combinations, and chooses the mixture that best explains both the total counts and the length composition. MAP means choosing the most supported values after combining the data with a reasonable prior.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strongest part of the experimental design. If the models differ, it should be because ShapeMix saw fragment-length composition—not because it got different cells, peaks, or extra computing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PBMC means peripheral blood mononuclear cell. This dataset contains many related immune types, so it is a useful challenge. Simulated spots are essential because we know exactly which cells were mixed together. The one-donor limitation will be stated clearly.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each dataset has a different role. Simulations can provide exact composition truth. Physical dilutions provide planned mixing ratios. Real tissues need indirect checks using anatomy or other molecular measurements.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colored bars make the metrics intuitive: the model should reproduce the known recipe. RMSE looks at individual proportion errors; JSD compares the full mixture. Rare-cell F1 asks whether uncommon populations are detected without too many false alarms.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Science does not require the hypothesis to win. If ShapeMix ties or loses, that still tells us that this particular fragment representation did not justify its complexity under the tested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limitations do not invalidate a project; they define what can be concluded. The biggest limitation is that the first benchmark uses one donor, so it cannot establish broad biological generalization by itself.</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explicit with the audience: this is not a results talk. When results are ready, add the actual comparison, uncertainty, controls, and limitations rather than showing placeholder charts that could be mistaken for data.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returning to the one-sentence question. The project is not trying to prove that a more complicated model must win; it is testing whether a specific ATAC-native clue adds measurable value.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slide only if the audience asks about terms or sources. The main presentation can end on the previous slide.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Rounded Rectangle 1"/>
          <p:cNvSpPr/>
          <p:nvPr/>
        </p:nvSpPr>
        <p:spPr>
          <a:xfrm>
            <a:off x="658368" y="502920"/>
            <a:ext cx="2999232"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PROJECT OVERVIEW • RESULTS-FREE DRAFT</a:t>
            </a:r>
          </a:p>
        </p:txBody>
      </p:sp>
      <p:sp>
        <p:nvSpPr>
          <p:cNvPr id="3" name="TextBox 2"/>
          <p:cNvSpPr txBox="1"/>
          <p:nvPr/>
        </p:nvSpPr>
        <p:spPr>
          <a:xfrm>
            <a:off x="658368" y="1170432"/>
            <a:ext cx="6583680" cy="731520"/>
          </a:xfrm>
          <a:prstGeom prst="rect">
            <a:avLst/>
          </a:prstGeom>
          <a:noFill/>
        </p:spPr>
        <p:txBody>
          <a:bodyPr wrap="square" lIns="36576" tIns="36576" rIns="36576" bIns="36576" anchor="t">
            <a:spAutoFit/>
          </a:bodyPr>
          <a:lstStyle/>
          <a:p>
            <a:pPr algn="l">
              <a:spcBef>
                <a:spcPts val="0"/>
              </a:spcBef>
              <a:spcAft>
                <a:spcPts val="0"/>
              </a:spcAft>
            </a:pPr>
            <a:r>
              <a:rPr sz="4000" b="1" i="0">
                <a:solidFill>
                  <a:srgbClr val="FFFFFF"/>
                </a:solidFill>
                <a:latin typeface="Aptos Display"/>
              </a:rPr>
              <a:t>ShapeMix-ATAC</a:t>
            </a:r>
          </a:p>
        </p:txBody>
      </p:sp>
      <p:sp>
        <p:nvSpPr>
          <p:cNvPr id="4" name="TextBox 3"/>
          <p:cNvSpPr txBox="1"/>
          <p:nvPr/>
        </p:nvSpPr>
        <p:spPr>
          <a:xfrm>
            <a:off x="676656" y="1975104"/>
            <a:ext cx="5943600" cy="987552"/>
          </a:xfrm>
          <a:prstGeom prst="rect">
            <a:avLst/>
          </a:prstGeom>
          <a:noFill/>
        </p:spPr>
        <p:txBody>
          <a:bodyPr wrap="square" lIns="36576" tIns="36576" rIns="36576" bIns="36576" anchor="t">
            <a:spAutoFit/>
          </a:bodyPr>
          <a:lstStyle/>
          <a:p>
            <a:pPr algn="l">
              <a:spcBef>
                <a:spcPts val="0"/>
              </a:spcBef>
              <a:spcAft>
                <a:spcPts val="0"/>
              </a:spcAft>
            </a:pPr>
            <a:r>
              <a:rPr sz="2600" b="0" i="0">
                <a:solidFill>
                  <a:srgbClr val="D7E2EE"/>
                </a:solidFill>
                <a:latin typeface="Aptos Display"/>
              </a:rPr>
              <a:t>Can fragment shape help us unmix spatial chromatin data?</a:t>
            </a:r>
          </a:p>
        </p:txBody>
      </p:sp>
      <p:sp>
        <p:nvSpPr>
          <p:cNvPr id="5" name="TextBox 4"/>
          <p:cNvSpPr txBox="1"/>
          <p:nvPr/>
        </p:nvSpPr>
        <p:spPr>
          <a:xfrm>
            <a:off x="694944" y="5980176"/>
            <a:ext cx="5394960" cy="320040"/>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D7E2EE"/>
                </a:solidFill>
                <a:latin typeface="Aptos"/>
              </a:rPr>
              <a:t>Andy Zhuang  •  High School Science Research</a:t>
            </a:r>
          </a:p>
        </p:txBody>
      </p:sp>
      <p:sp>
        <p:nvSpPr>
          <p:cNvPr id="6" name="Oval 5"/>
          <p:cNvSpPr/>
          <p:nvPr/>
        </p:nvSpPr>
        <p:spPr>
          <a:xfrm>
            <a:off x="7818120" y="941832"/>
            <a:ext cx="3154680" cy="3154680"/>
          </a:xfrm>
          <a:prstGeom prst="ellipse">
            <a:avLst/>
          </a:prstGeom>
          <a:solidFill>
            <a:srgbClr val="1C3152"/>
          </a:solidFill>
          <a:ln w="381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247888" y="1417320"/>
            <a:ext cx="658368" cy="658368"/>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471733" y="1627997"/>
            <a:ext cx="197510" cy="197510"/>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217152" y="1197864"/>
            <a:ext cx="585216" cy="585216"/>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416125" y="1385133"/>
            <a:ext cx="175564" cy="17556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857232" y="1856231"/>
            <a:ext cx="749808" cy="749808"/>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112166" y="2096170"/>
            <a:ext cx="224942" cy="224942"/>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759952" y="2240280"/>
            <a:ext cx="841248" cy="841248"/>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045976" y="2509479"/>
            <a:ext cx="252374" cy="25237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183879" y="2788920"/>
            <a:ext cx="603504" cy="603504"/>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389071" y="2982041"/>
            <a:ext cx="181051" cy="181051"/>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692640" y="2898648"/>
            <a:ext cx="640080" cy="640080"/>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910267" y="3103473"/>
            <a:ext cx="192024" cy="19202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833104" y="3401568"/>
            <a:ext cx="566928" cy="566928"/>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9025859" y="3582984"/>
            <a:ext cx="170078" cy="170078"/>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28431" y="4242816"/>
            <a:ext cx="2743200" cy="320040"/>
          </a:xfrm>
          <a:prstGeom prst="rect">
            <a:avLst/>
          </a:prstGeom>
          <a:noFill/>
        </p:spPr>
        <p:txBody>
          <a:bodyPr wrap="square" lIns="36576" tIns="36576" rIns="36576" bIns="36576" anchor="t">
            <a:spAutoFit/>
          </a:bodyPr>
          <a:lstStyle/>
          <a:p>
            <a:pPr algn="ctr">
              <a:spcBef>
                <a:spcPts val="0"/>
              </a:spcBef>
              <a:spcAft>
                <a:spcPts val="0"/>
              </a:spcAft>
            </a:pPr>
            <a:r>
              <a:rPr sz="1400" b="1" i="0">
                <a:solidFill>
                  <a:srgbClr val="D7E2EE"/>
                </a:solidFill>
                <a:latin typeface="Aptos"/>
              </a:rPr>
              <a:t>mixed spatial spot</a:t>
            </a:r>
          </a:p>
        </p:txBody>
      </p:sp>
      <p:cxnSp>
        <p:nvCxnSpPr>
          <p:cNvPr id="22" name="Connector 21"/>
          <p:cNvCxnSpPr/>
          <p:nvPr/>
        </p:nvCxnSpPr>
        <p:spPr>
          <a:xfrm>
            <a:off x="7936992" y="4965192"/>
            <a:ext cx="5029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3699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991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77072" y="5221224"/>
            <a:ext cx="868679"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77072"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445751"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17152" y="4965192"/>
            <a:ext cx="384048"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21715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01200"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857232" y="5221224"/>
            <a:ext cx="1152144"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857232"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009376"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97312" y="4965192"/>
            <a:ext cx="64008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9731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13739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BIOLOGY BACKGROUND</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Chromatin controls which DNA instructions can be used</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02</a:t>
            </a:r>
          </a:p>
        </p:txBody>
      </p:sp>
      <p:sp>
        <p:nvSpPr>
          <p:cNvPr id="5" name="Rounded Rectangle 4"/>
          <p:cNvSpPr/>
          <p:nvPr/>
        </p:nvSpPr>
        <p:spPr>
          <a:xfrm>
            <a:off x="621792" y="1243584"/>
            <a:ext cx="3236976" cy="4553712"/>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572768"/>
            <a:ext cx="2697480" cy="475488"/>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Same DNA, different cells</a:t>
            </a:r>
          </a:p>
        </p:txBody>
      </p:sp>
      <p:sp>
        <p:nvSpPr>
          <p:cNvPr id="7" name="TextBox 6"/>
          <p:cNvSpPr txBox="1"/>
          <p:nvPr/>
        </p:nvSpPr>
        <p:spPr>
          <a:xfrm>
            <a:off x="896112" y="2267712"/>
            <a:ext cx="2670048" cy="2414016"/>
          </a:xfrm>
          <a:prstGeom prst="rect">
            <a:avLst/>
          </a:prstGeom>
          <a:noFill/>
        </p:spPr>
        <p:txBody>
          <a:bodyPr wrap="square" lIns="36576" tIns="18288" rIns="18288" bIns="18288">
            <a:spAutoFit/>
          </a:bodyPr>
          <a:lstStyle/>
          <a:p>
            <a:pPr algn="l">
              <a:lnSpc>
                <a:spcPct val="105000"/>
              </a:lnSpc>
              <a:spcAft>
                <a:spcPts val="800"/>
              </a:spcAft>
            </a:pPr>
            <a:r>
              <a:rPr sz="1750" b="1">
                <a:solidFill>
                  <a:srgbClr val="18A999"/>
                </a:solidFill>
                <a:latin typeface="Aptos"/>
              </a:rPr>
              <a:t>•  </a:t>
            </a:r>
            <a:r>
              <a:rPr sz="1750">
                <a:solidFill>
                  <a:srgbClr val="213047"/>
                </a:solidFill>
                <a:latin typeface="Aptos"/>
              </a:rPr>
              <a:t>Most cells contain nearly the same genome.</a:t>
            </a:r>
          </a:p>
          <a:p>
            <a:pPr algn="l">
              <a:lnSpc>
                <a:spcPct val="105000"/>
              </a:lnSpc>
              <a:spcAft>
                <a:spcPts val="800"/>
              </a:spcAft>
            </a:pPr>
            <a:r>
              <a:rPr sz="1750" b="1">
                <a:solidFill>
                  <a:srgbClr val="18A999"/>
                </a:solidFill>
                <a:latin typeface="Aptos"/>
              </a:rPr>
              <a:t>•  </a:t>
            </a:r>
            <a:r>
              <a:rPr sz="1750">
                <a:solidFill>
                  <a:srgbClr val="213047"/>
                </a:solidFill>
                <a:latin typeface="Aptos"/>
              </a:rPr>
              <a:t>Cell types differ in which DNA regions are open and active.</a:t>
            </a:r>
          </a:p>
          <a:p>
            <a:pPr algn="l">
              <a:lnSpc>
                <a:spcPct val="105000"/>
              </a:lnSpc>
              <a:spcAft>
                <a:spcPts val="800"/>
              </a:spcAft>
            </a:pPr>
            <a:r>
              <a:rPr sz="1750" b="1">
                <a:solidFill>
                  <a:srgbClr val="18A999"/>
                </a:solidFill>
                <a:latin typeface="Aptos"/>
              </a:rPr>
              <a:t>•  </a:t>
            </a:r>
            <a:r>
              <a:rPr sz="1750">
                <a:solidFill>
                  <a:srgbClr val="213047"/>
                </a:solidFill>
                <a:latin typeface="Aptos"/>
              </a:rPr>
              <a:t>Those open regions help reveal cell identity and state.</a:t>
            </a:r>
          </a:p>
        </p:txBody>
      </p:sp>
      <p:sp>
        <p:nvSpPr>
          <p:cNvPr id="8" name="Rounded Rectangle 7"/>
          <p:cNvSpPr/>
          <p:nvPr/>
        </p:nvSpPr>
        <p:spPr>
          <a:xfrm>
            <a:off x="969264" y="5084064"/>
            <a:ext cx="2514600" cy="38404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CHROMATIN = DNA + PACKAGING</a:t>
            </a:r>
          </a:p>
        </p:txBody>
      </p:sp>
      <p:sp>
        <p:nvSpPr>
          <p:cNvPr id="9" name="TextBox 8"/>
          <p:cNvSpPr txBox="1"/>
          <p:nvPr/>
        </p:nvSpPr>
        <p:spPr>
          <a:xfrm>
            <a:off x="4416552" y="1335024"/>
            <a:ext cx="2468880" cy="274320"/>
          </a:xfrm>
          <a:prstGeom prst="rect">
            <a:avLst/>
          </a:prstGeom>
          <a:noFill/>
        </p:spPr>
        <p:txBody>
          <a:bodyPr wrap="square" lIns="36576" tIns="36576" rIns="36576" bIns="36576" anchor="t">
            <a:spAutoFit/>
          </a:bodyPr>
          <a:lstStyle/>
          <a:p>
            <a:pPr algn="ctr">
              <a:spcBef>
                <a:spcPts val="0"/>
              </a:spcBef>
              <a:spcAft>
                <a:spcPts val="0"/>
              </a:spcAft>
            </a:pPr>
            <a:r>
              <a:rPr sz="1300" b="1" i="0">
                <a:solidFill>
                  <a:srgbClr val="52627A"/>
                </a:solidFill>
                <a:latin typeface="Aptos"/>
              </a:rPr>
              <a:t>CLOSED</a:t>
            </a:r>
          </a:p>
        </p:txBody>
      </p:sp>
      <p:sp>
        <p:nvSpPr>
          <p:cNvPr id="10" name="TextBox 9"/>
          <p:cNvSpPr txBox="1"/>
          <p:nvPr/>
        </p:nvSpPr>
        <p:spPr>
          <a:xfrm>
            <a:off x="8375904" y="1335024"/>
            <a:ext cx="2468880" cy="274320"/>
          </a:xfrm>
          <a:prstGeom prst="rect">
            <a:avLst/>
          </a:prstGeom>
          <a:noFill/>
        </p:spPr>
        <p:txBody>
          <a:bodyPr wrap="square" lIns="36576" tIns="36576" rIns="36576" bIns="36576" anchor="t">
            <a:spAutoFit/>
          </a:bodyPr>
          <a:lstStyle/>
          <a:p>
            <a:pPr algn="ctr">
              <a:spcBef>
                <a:spcPts val="0"/>
              </a:spcBef>
              <a:spcAft>
                <a:spcPts val="0"/>
              </a:spcAft>
            </a:pPr>
            <a:r>
              <a:rPr sz="1300" b="1" i="0">
                <a:solidFill>
                  <a:srgbClr val="0C7F75"/>
                </a:solidFill>
                <a:latin typeface="Aptos"/>
              </a:rPr>
              <a:t>OPEN</a:t>
            </a:r>
          </a:p>
        </p:txBody>
      </p:sp>
      <p:sp>
        <p:nvSpPr>
          <p:cNvPr id="11" name="Rounded Rectangle 10"/>
          <p:cNvSpPr/>
          <p:nvPr/>
        </p:nvSpPr>
        <p:spPr>
          <a:xfrm>
            <a:off x="4151376" y="1673352"/>
            <a:ext cx="3044952" cy="3154680"/>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074152" y="1673352"/>
            <a:ext cx="3044952" cy="3154680"/>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471416" y="2240280"/>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074920" y="2368296"/>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678424" y="2240280"/>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281927" y="2368296"/>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471416" y="2898648"/>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5074920" y="3026664"/>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678424" y="2898648"/>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4407408" y="2468880"/>
            <a:ext cx="2468880" cy="932688"/>
          </a:xfrm>
          <a:prstGeom prst="line">
            <a:avLst/>
          </a:prstGeom>
          <a:ln w="381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407408" y="2468880"/>
            <a:ext cx="2468880" cy="932688"/>
          </a:xfrm>
          <a:prstGeom prst="line">
            <a:avLst/>
          </a:prstGeom>
          <a:ln w="381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394192" y="2176272"/>
            <a:ext cx="2395728" cy="1133856"/>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558784" y="306324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26880" y="269748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076688" y="2340864"/>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570464" y="210312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217152" y="3566160"/>
            <a:ext cx="713232" cy="347472"/>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200" b="1">
                <a:solidFill>
                  <a:srgbClr val="FFFFFF"/>
                </a:solidFill>
                <a:latin typeface="Aptos"/>
              </a:rPr>
              <a:t>Tn5</a:t>
            </a:r>
          </a:p>
        </p:txBody>
      </p:sp>
      <p:cxnSp>
        <p:nvCxnSpPr>
          <p:cNvPr id="28" name="Connector 27"/>
          <p:cNvCxnSpPr/>
          <p:nvPr/>
        </p:nvCxnSpPr>
        <p:spPr>
          <a:xfrm flipH="1" flipV="1">
            <a:off x="9162288" y="3200400"/>
            <a:ext cx="146304" cy="374904"/>
          </a:xfrm>
          <a:prstGeom prst="line">
            <a:avLst/>
          </a:prstGeom>
          <a:ln w="2286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29800" y="2862072"/>
            <a:ext cx="118872" cy="713232"/>
          </a:xfrm>
          <a:prstGeom prst="line">
            <a:avLst/>
          </a:prstGeom>
          <a:ln w="22860">
            <a:solidFill>
              <a:srgbClr val="F26B5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608576" y="5129784"/>
            <a:ext cx="6236208" cy="53035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13233B"/>
                </a:solidFill>
                <a:latin typeface="Aptos"/>
              </a:rPr>
              <a:t>ATAC-seq uses Tn5 to cut and tag accessible DNA.</a:t>
            </a:r>
          </a:p>
        </p:txBody>
      </p:sp>
      <p:cxnSp>
        <p:nvCxnSpPr>
          <p:cNvPr id="31" name="Connector 30"/>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 Buenrostro et al., Nature Methods (2013). Diagram is conceptual.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THE PROBLEM</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One spatial spot can contain several cell types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03</a:t>
            </a:r>
          </a:p>
        </p:txBody>
      </p:sp>
      <p:sp>
        <p:nvSpPr>
          <p:cNvPr id="5" name="TextBox 4"/>
          <p:cNvSpPr txBox="1"/>
          <p:nvPr/>
        </p:nvSpPr>
        <p:spPr>
          <a:xfrm>
            <a:off x="640080" y="1078992"/>
            <a:ext cx="10698480" cy="438912"/>
          </a:xfrm>
          <a:prstGeom prst="rect">
            <a:avLst/>
          </a:prstGeom>
          <a:noFill/>
        </p:spPr>
        <p:txBody>
          <a:bodyPr wrap="square" lIns="36576" tIns="36576" rIns="36576" bIns="36576" anchor="t">
            <a:spAutoFit/>
          </a:bodyPr>
          <a:lstStyle/>
          <a:p>
            <a:pPr algn="l">
              <a:spcBef>
                <a:spcPts val="0"/>
              </a:spcBef>
              <a:spcAft>
                <a:spcPts val="0"/>
              </a:spcAft>
            </a:pPr>
            <a:r>
              <a:rPr sz="1900" b="0" i="0">
                <a:solidFill>
                  <a:srgbClr val="52627A"/>
                </a:solidFill>
                <a:latin typeface="Aptos"/>
              </a:rPr>
              <a:t>A spatial assay preserves location—but each spot may collect fragments from multiple nearby nuclei.</a:t>
            </a:r>
          </a:p>
        </p:txBody>
      </p:sp>
      <p:sp>
        <p:nvSpPr>
          <p:cNvPr id="6" name="Rounded Rectangle 5"/>
          <p:cNvSpPr/>
          <p:nvPr/>
        </p:nvSpPr>
        <p:spPr>
          <a:xfrm>
            <a:off x="658368" y="1700784"/>
            <a:ext cx="4663440" cy="415137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01952"/>
            <a:ext cx="2011680" cy="320040"/>
          </a:xfrm>
          <a:prstGeom prst="rect">
            <a:avLst/>
          </a:prstGeom>
          <a:noFill/>
        </p:spPr>
        <p:txBody>
          <a:bodyPr wrap="square" lIns="36576" tIns="36576" rIns="36576" bIns="36576" anchor="t">
            <a:spAutoFit/>
          </a:bodyPr>
          <a:lstStyle/>
          <a:p>
            <a:pPr algn="l">
              <a:spcBef>
                <a:spcPts val="0"/>
              </a:spcBef>
              <a:spcAft>
                <a:spcPts val="0"/>
              </a:spcAft>
            </a:pPr>
            <a:r>
              <a:rPr sz="1800" b="1" i="0">
                <a:solidFill>
                  <a:srgbClr val="13233B"/>
                </a:solidFill>
                <a:latin typeface="Aptos"/>
              </a:rPr>
              <a:t>Tissue section</a:t>
            </a:r>
          </a:p>
        </p:txBody>
      </p:sp>
      <p:sp>
        <p:nvSpPr>
          <p:cNvPr id="8" name="Oval 7"/>
          <p:cNvSpPr/>
          <p:nvPr/>
        </p:nvSpPr>
        <p:spPr>
          <a:xfrm>
            <a:off x="987552" y="2487168"/>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837944" y="2487168"/>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688336" y="2487168"/>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538728" y="2487168"/>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87552" y="3200400"/>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837944" y="3200400"/>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688336" y="3200400"/>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578608" y="3090672"/>
            <a:ext cx="749808" cy="749808"/>
          </a:xfrm>
          <a:prstGeom prst="ellipse">
            <a:avLst/>
          </a:prstGeom>
          <a:noFill/>
          <a:ln w="381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538728" y="3200400"/>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87552" y="3913632"/>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837944" y="3913632"/>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688336" y="3913632"/>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3538728" y="3913632"/>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87552" y="4626864"/>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837944" y="4626864"/>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688336" y="4626864"/>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538728" y="4626864"/>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 y="5422392"/>
            <a:ext cx="3493008"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each circle = one measured spot</a:t>
            </a:r>
          </a:p>
        </p:txBody>
      </p:sp>
      <p:sp>
        <p:nvSpPr>
          <p:cNvPr id="26" name="Right Arrow 25"/>
          <p:cNvSpPr/>
          <p:nvPr/>
        </p:nvSpPr>
        <p:spPr>
          <a:xfrm>
            <a:off x="5440680" y="3054096"/>
            <a:ext cx="1005840" cy="658368"/>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647688" y="1700784"/>
            <a:ext cx="4901184" cy="415137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986016" y="1901952"/>
            <a:ext cx="3566160" cy="320040"/>
          </a:xfrm>
          <a:prstGeom prst="rect">
            <a:avLst/>
          </a:prstGeom>
          <a:noFill/>
        </p:spPr>
        <p:txBody>
          <a:bodyPr wrap="square" lIns="36576" tIns="36576" rIns="36576" bIns="36576" anchor="t">
            <a:spAutoFit/>
          </a:bodyPr>
          <a:lstStyle/>
          <a:p>
            <a:pPr algn="l">
              <a:spcBef>
                <a:spcPts val="0"/>
              </a:spcBef>
              <a:spcAft>
                <a:spcPts val="0"/>
              </a:spcAft>
            </a:pPr>
            <a:r>
              <a:rPr sz="1800" b="1" i="0">
                <a:solidFill>
                  <a:srgbClr val="FFFFFF"/>
                </a:solidFill>
                <a:latin typeface="Aptos"/>
              </a:rPr>
              <a:t>Zoom into one spot</a:t>
            </a:r>
          </a:p>
        </p:txBody>
      </p:sp>
      <p:sp>
        <p:nvSpPr>
          <p:cNvPr id="29" name="Oval 28"/>
          <p:cNvSpPr/>
          <p:nvPr/>
        </p:nvSpPr>
        <p:spPr>
          <a:xfrm>
            <a:off x="7077456" y="2596896"/>
            <a:ext cx="950976" cy="950976"/>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400787" y="2910718"/>
            <a:ext cx="256763" cy="256763"/>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8010144" y="2980944"/>
            <a:ext cx="841248" cy="841248"/>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8296168" y="3258555"/>
            <a:ext cx="227136" cy="227136"/>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750808" y="2468880"/>
            <a:ext cx="1024128" cy="1024128"/>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099011" y="2806842"/>
            <a:ext cx="276514" cy="27651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10928" y="3108960"/>
            <a:ext cx="804672" cy="80467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9984516" y="3374501"/>
            <a:ext cx="217261" cy="217261"/>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387584" y="2459736"/>
            <a:ext cx="749808" cy="749808"/>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10642518" y="2707172"/>
            <a:ext cx="202448" cy="202448"/>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7040880" y="4297680"/>
            <a:ext cx="402336" cy="0"/>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040880"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443216"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36408" y="4572000"/>
            <a:ext cx="658368"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836408"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494776"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31936" y="4297680"/>
            <a:ext cx="850392"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631936"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482328"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427464" y="4572000"/>
            <a:ext cx="512064"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427464"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939528"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222992" y="4297680"/>
            <a:ext cx="731520" cy="0"/>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222992"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954512"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022592" y="5074920"/>
            <a:ext cx="4096512" cy="365760"/>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All fragments arrive mixed together</a:t>
            </a:r>
          </a:p>
        </p:txBody>
      </p:sp>
      <p:sp>
        <p:nvSpPr>
          <p:cNvPr id="55" name="Rounded Rectangle 54"/>
          <p:cNvSpPr/>
          <p:nvPr/>
        </p:nvSpPr>
        <p:spPr>
          <a:xfrm>
            <a:off x="7022592" y="5486400"/>
            <a:ext cx="4078224"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100" b="1">
                <a:solidFill>
                  <a:srgbClr val="FFFFFF"/>
                </a:solidFill>
                <a:latin typeface="Aptos"/>
              </a:rPr>
              <a:t>WHO IS IN THE SPOT—and in what proportions?</a:t>
            </a:r>
          </a:p>
        </p:txBody>
      </p:sp>
      <p:cxnSp>
        <p:nvCxnSpPr>
          <p:cNvPr id="56" name="Connector 5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 Deng et al., Nature (2022). Spot drawing is conceptual.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CORE TASK</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Deconvolution works like identifying ingredients in a smoothie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04</a:t>
            </a:r>
          </a:p>
        </p:txBody>
      </p:sp>
      <p:sp>
        <p:nvSpPr>
          <p:cNvPr id="5" name="TextBox 4"/>
          <p:cNvSpPr txBox="1"/>
          <p:nvPr/>
        </p:nvSpPr>
        <p:spPr>
          <a:xfrm>
            <a:off x="649224" y="1069848"/>
            <a:ext cx="10881360" cy="420624"/>
          </a:xfrm>
          <a:prstGeom prst="rect">
            <a:avLst/>
          </a:prstGeom>
          <a:noFill/>
        </p:spPr>
        <p:txBody>
          <a:bodyPr wrap="square" lIns="36576" tIns="36576" rIns="36576" bIns="36576" anchor="t">
            <a:spAutoFit/>
          </a:bodyPr>
          <a:lstStyle/>
          <a:p>
            <a:pPr algn="ctr">
              <a:spcBef>
                <a:spcPts val="0"/>
              </a:spcBef>
              <a:spcAft>
                <a:spcPts val="0"/>
              </a:spcAft>
            </a:pPr>
            <a:r>
              <a:rPr sz="2000" b="0" i="0">
                <a:solidFill>
                  <a:srgbClr val="52627A"/>
                </a:solidFill>
                <a:latin typeface="Aptos"/>
              </a:rPr>
              <a:t>Known reference fingerprints + an unknown mixture → estimated cell-type proportions</a:t>
            </a:r>
          </a:p>
        </p:txBody>
      </p:sp>
      <p:sp>
        <p:nvSpPr>
          <p:cNvPr id="6" name="Rounded Rectangle 5"/>
          <p:cNvSpPr/>
          <p:nvPr/>
        </p:nvSpPr>
        <p:spPr>
          <a:xfrm>
            <a:off x="694944" y="1755648"/>
            <a:ext cx="2816352" cy="93268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05256" y="1938528"/>
            <a:ext cx="530352" cy="530352"/>
          </a:xfrm>
          <a:prstGeom prst="ellipse">
            <a:avLst/>
          </a:prstGeom>
          <a:solidFill>
            <a:srgbClr val="3B82F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72768" y="1911095"/>
            <a:ext cx="1335024" cy="27432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B cell</a:t>
            </a:r>
          </a:p>
        </p:txBody>
      </p:sp>
      <p:sp>
        <p:nvSpPr>
          <p:cNvPr id="9" name="Rectangle 8"/>
          <p:cNvSpPr/>
          <p:nvPr/>
        </p:nvSpPr>
        <p:spPr>
          <a:xfrm>
            <a:off x="1600200" y="2066543"/>
            <a:ext cx="219456" cy="25603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993392" y="2194560"/>
            <a:ext cx="219456" cy="12801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386584" y="2258568"/>
            <a:ext cx="219456" cy="6400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98064" y="2377440"/>
            <a:ext cx="530352" cy="164592"/>
          </a:xfrm>
          <a:prstGeom prst="rect">
            <a:avLst/>
          </a:prstGeom>
          <a:noFill/>
        </p:spPr>
        <p:txBody>
          <a:bodyPr wrap="square" lIns="36576" tIns="36576" rIns="36576" bIns="36576" anchor="t">
            <a:spAutoFit/>
          </a:bodyPr>
          <a:lstStyle/>
          <a:p>
            <a:pPr algn="r">
              <a:spcBef>
                <a:spcPts val="0"/>
              </a:spcBef>
              <a:spcAft>
                <a:spcPts val="0"/>
              </a:spcAft>
            </a:pPr>
            <a:r>
              <a:rPr sz="900" b="0" i="0">
                <a:solidFill>
                  <a:srgbClr val="52627A"/>
                </a:solidFill>
                <a:latin typeface="Aptos"/>
              </a:rPr>
              <a:t>reference</a:t>
            </a:r>
          </a:p>
        </p:txBody>
      </p:sp>
      <p:sp>
        <p:nvSpPr>
          <p:cNvPr id="13" name="Rounded Rectangle 12"/>
          <p:cNvSpPr/>
          <p:nvPr/>
        </p:nvSpPr>
        <p:spPr>
          <a:xfrm>
            <a:off x="694944" y="2962656"/>
            <a:ext cx="2816352" cy="93268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05256" y="3145536"/>
            <a:ext cx="530352" cy="530352"/>
          </a:xfrm>
          <a:prstGeom prst="ellipse">
            <a:avLst/>
          </a:prstGeom>
          <a:solidFill>
            <a:srgbClr val="18A99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72768" y="3118104"/>
            <a:ext cx="1335024" cy="27432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T cell</a:t>
            </a:r>
          </a:p>
        </p:txBody>
      </p:sp>
      <p:sp>
        <p:nvSpPr>
          <p:cNvPr id="16" name="Rectangle 15"/>
          <p:cNvSpPr/>
          <p:nvPr/>
        </p:nvSpPr>
        <p:spPr>
          <a:xfrm>
            <a:off x="1600200" y="3465576"/>
            <a:ext cx="219456" cy="6400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993392" y="3273552"/>
            <a:ext cx="219456" cy="25603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386584" y="3401568"/>
            <a:ext cx="219456" cy="12801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798064" y="3584448"/>
            <a:ext cx="530352" cy="164592"/>
          </a:xfrm>
          <a:prstGeom prst="rect">
            <a:avLst/>
          </a:prstGeom>
          <a:noFill/>
        </p:spPr>
        <p:txBody>
          <a:bodyPr wrap="square" lIns="36576" tIns="36576" rIns="36576" bIns="36576" anchor="t">
            <a:spAutoFit/>
          </a:bodyPr>
          <a:lstStyle/>
          <a:p>
            <a:pPr algn="r">
              <a:spcBef>
                <a:spcPts val="0"/>
              </a:spcBef>
              <a:spcAft>
                <a:spcPts val="0"/>
              </a:spcAft>
            </a:pPr>
            <a:r>
              <a:rPr sz="900" b="0" i="0">
                <a:solidFill>
                  <a:srgbClr val="52627A"/>
                </a:solidFill>
                <a:latin typeface="Aptos"/>
              </a:rPr>
              <a:t>reference</a:t>
            </a:r>
          </a:p>
        </p:txBody>
      </p:sp>
      <p:sp>
        <p:nvSpPr>
          <p:cNvPr id="20" name="Rounded Rectangle 19"/>
          <p:cNvSpPr/>
          <p:nvPr/>
        </p:nvSpPr>
        <p:spPr>
          <a:xfrm>
            <a:off x="694944" y="4169664"/>
            <a:ext cx="2816352" cy="932688"/>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05256" y="4352544"/>
            <a:ext cx="530352" cy="530352"/>
          </a:xfrm>
          <a:prstGeom prst="ellipse">
            <a:avLst/>
          </a:prstGeom>
          <a:solidFill>
            <a:srgbClr val="F26B5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572768" y="4325112"/>
            <a:ext cx="1335024" cy="27432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Monocyte</a:t>
            </a:r>
          </a:p>
        </p:txBody>
      </p:sp>
      <p:sp>
        <p:nvSpPr>
          <p:cNvPr id="23" name="Rectangle 22"/>
          <p:cNvSpPr/>
          <p:nvPr/>
        </p:nvSpPr>
        <p:spPr>
          <a:xfrm>
            <a:off x="1600200" y="4672584"/>
            <a:ext cx="219456" cy="6400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993392" y="4608576"/>
            <a:ext cx="219456" cy="12801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386584" y="4480560"/>
            <a:ext cx="219456" cy="25603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98064" y="4791456"/>
            <a:ext cx="530352" cy="164592"/>
          </a:xfrm>
          <a:prstGeom prst="rect">
            <a:avLst/>
          </a:prstGeom>
          <a:noFill/>
        </p:spPr>
        <p:txBody>
          <a:bodyPr wrap="square" lIns="36576" tIns="36576" rIns="36576" bIns="36576" anchor="t">
            <a:spAutoFit/>
          </a:bodyPr>
          <a:lstStyle/>
          <a:p>
            <a:pPr algn="r">
              <a:spcBef>
                <a:spcPts val="0"/>
              </a:spcBef>
              <a:spcAft>
                <a:spcPts val="0"/>
              </a:spcAft>
            </a:pPr>
            <a:r>
              <a:rPr sz="900" b="0" i="0">
                <a:solidFill>
                  <a:srgbClr val="52627A"/>
                </a:solidFill>
                <a:latin typeface="Aptos"/>
              </a:rPr>
              <a:t>reference</a:t>
            </a:r>
          </a:p>
        </p:txBody>
      </p:sp>
      <p:sp>
        <p:nvSpPr>
          <p:cNvPr id="27" name="TextBox 26"/>
          <p:cNvSpPr txBox="1"/>
          <p:nvPr/>
        </p:nvSpPr>
        <p:spPr>
          <a:xfrm>
            <a:off x="1225296" y="5632704"/>
            <a:ext cx="1691640" cy="246888"/>
          </a:xfrm>
          <a:prstGeom prst="rect">
            <a:avLst/>
          </a:prstGeom>
          <a:noFill/>
        </p:spPr>
        <p:txBody>
          <a:bodyPr wrap="square" lIns="36576" tIns="36576" rIns="36576" bIns="36576" anchor="t">
            <a:spAutoFit/>
          </a:bodyPr>
          <a:lstStyle/>
          <a:p>
            <a:pPr algn="ctr">
              <a:spcBef>
                <a:spcPts val="0"/>
              </a:spcBef>
              <a:spcAft>
                <a:spcPts val="0"/>
              </a:spcAft>
            </a:pPr>
            <a:r>
              <a:rPr sz="1300" b="1" i="0">
                <a:solidFill>
                  <a:srgbClr val="52627A"/>
                </a:solidFill>
                <a:latin typeface="Aptos"/>
              </a:rPr>
              <a:t>reference library</a:t>
            </a:r>
          </a:p>
        </p:txBody>
      </p:sp>
      <p:sp>
        <p:nvSpPr>
          <p:cNvPr id="28" name="TextBox 27"/>
          <p:cNvSpPr txBox="1"/>
          <p:nvPr/>
        </p:nvSpPr>
        <p:spPr>
          <a:xfrm>
            <a:off x="3803904" y="3191256"/>
            <a:ext cx="475488" cy="566928"/>
          </a:xfrm>
          <a:prstGeom prst="rect">
            <a:avLst/>
          </a:prstGeom>
          <a:noFill/>
        </p:spPr>
        <p:txBody>
          <a:bodyPr wrap="square" lIns="36576" tIns="36576" rIns="36576" bIns="36576" anchor="t">
            <a:spAutoFit/>
          </a:bodyPr>
          <a:lstStyle/>
          <a:p>
            <a:pPr algn="ctr">
              <a:spcBef>
                <a:spcPts val="0"/>
              </a:spcBef>
              <a:spcAft>
                <a:spcPts val="0"/>
              </a:spcAft>
            </a:pPr>
            <a:r>
              <a:rPr sz="3500" b="1" i="0">
                <a:solidFill>
                  <a:srgbClr val="18A999"/>
                </a:solidFill>
                <a:latin typeface="Aptos"/>
              </a:rPr>
              <a:t>+</a:t>
            </a:r>
          </a:p>
        </p:txBody>
      </p:sp>
      <p:sp>
        <p:nvSpPr>
          <p:cNvPr id="29" name="Trapezoid 28"/>
          <p:cNvSpPr/>
          <p:nvPr/>
        </p:nvSpPr>
        <p:spPr>
          <a:xfrm>
            <a:off x="4498848" y="2057400"/>
            <a:ext cx="2029968" cy="2980944"/>
          </a:xfrm>
          <a:prstGeom prst="trapezoid">
            <a:avLst/>
          </a:prstGeom>
          <a:solidFill>
            <a:srgbClr val="FFFFFF"/>
          </a:solidFill>
          <a:ln w="254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727448" y="3191256"/>
            <a:ext cx="1572768" cy="1600200"/>
          </a:xfrm>
          <a:prstGeom prst="rect">
            <a:avLst/>
          </a:prstGeom>
          <a:solidFill>
            <a:srgbClr val="EEE8FF"/>
          </a:solidFill>
          <a:ln w="12700">
            <a:solidFill>
              <a:srgbClr val="EEE8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828032" y="3456432"/>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5248656" y="3456432"/>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5669280" y="3456432"/>
            <a:ext cx="256032" cy="256032"/>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28032" y="3822191"/>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5248656" y="3822191"/>
            <a:ext cx="256032" cy="256032"/>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5669280" y="3822191"/>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828032" y="4187952"/>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248656" y="4187952"/>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34840" y="5248656"/>
            <a:ext cx="2185416" cy="283464"/>
          </a:xfrm>
          <a:prstGeom prst="rect">
            <a:avLst/>
          </a:prstGeom>
          <a:noFill/>
        </p:spPr>
        <p:txBody>
          <a:bodyPr wrap="square" lIns="36576" tIns="36576" rIns="36576" bIns="36576" anchor="t">
            <a:spAutoFit/>
          </a:bodyPr>
          <a:lstStyle/>
          <a:p>
            <a:pPr algn="ctr">
              <a:spcBef>
                <a:spcPts val="0"/>
              </a:spcBef>
              <a:spcAft>
                <a:spcPts val="0"/>
              </a:spcAft>
            </a:pPr>
            <a:r>
              <a:rPr sz="1400" b="1" i="0">
                <a:solidFill>
                  <a:srgbClr val="13233B"/>
                </a:solidFill>
                <a:latin typeface="Aptos"/>
              </a:rPr>
              <a:t>unknown mixed spot</a:t>
            </a:r>
          </a:p>
        </p:txBody>
      </p:sp>
      <p:sp>
        <p:nvSpPr>
          <p:cNvPr id="40" name="Right Arrow 39"/>
          <p:cNvSpPr/>
          <p:nvPr/>
        </p:nvSpPr>
        <p:spPr>
          <a:xfrm>
            <a:off x="6830568" y="2944368"/>
            <a:ext cx="1051560" cy="640080"/>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6931152" y="3767328"/>
            <a:ext cx="841248"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MODEL</a:t>
            </a:r>
          </a:p>
        </p:txBody>
      </p:sp>
      <p:sp>
        <p:nvSpPr>
          <p:cNvPr id="42" name="Rounded Rectangle 41"/>
          <p:cNvSpPr/>
          <p:nvPr/>
        </p:nvSpPr>
        <p:spPr>
          <a:xfrm>
            <a:off x="8147304" y="1920240"/>
            <a:ext cx="3429000" cy="3310128"/>
          </a:xfrm>
          <a:prstGeom prst="roundRect">
            <a:avLst/>
          </a:prstGeom>
          <a:solidFill>
            <a:srgbClr val="FFFFFF"/>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30768" y="2194560"/>
            <a:ext cx="2852928" cy="338328"/>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13233B"/>
                </a:solidFill>
                <a:latin typeface="Aptos"/>
              </a:rPr>
              <a:t>Estimated recipe</a:t>
            </a:r>
          </a:p>
        </p:txBody>
      </p:sp>
      <p:sp>
        <p:nvSpPr>
          <p:cNvPr id="44" name="Rectangle 43"/>
          <p:cNvSpPr/>
          <p:nvPr/>
        </p:nvSpPr>
        <p:spPr>
          <a:xfrm>
            <a:off x="8558784" y="2788920"/>
            <a:ext cx="1280160" cy="56692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58784" y="2798063"/>
            <a:ext cx="1280160"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46" name="Rectangle 45"/>
          <p:cNvSpPr/>
          <p:nvPr/>
        </p:nvSpPr>
        <p:spPr>
          <a:xfrm>
            <a:off x="9838944" y="2788920"/>
            <a:ext cx="768096" cy="56692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838944" y="2798063"/>
            <a:ext cx="768096"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48" name="Rectangle 47"/>
          <p:cNvSpPr/>
          <p:nvPr/>
        </p:nvSpPr>
        <p:spPr>
          <a:xfrm>
            <a:off x="10607040" y="2788920"/>
            <a:ext cx="512064" cy="56692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607040" y="2798063"/>
            <a:ext cx="512064"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50" name="Rectangle 49"/>
          <p:cNvSpPr/>
          <p:nvPr/>
        </p:nvSpPr>
        <p:spPr>
          <a:xfrm>
            <a:off x="8558784" y="2788920"/>
            <a:ext cx="2560320" cy="56692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8549640" y="3675887"/>
            <a:ext cx="182880" cy="182880"/>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833104" y="3621024"/>
            <a:ext cx="1408176" cy="256032"/>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213047"/>
                </a:solidFill>
                <a:latin typeface="Aptos"/>
              </a:rPr>
              <a:t>B cell</a:t>
            </a:r>
          </a:p>
        </p:txBody>
      </p:sp>
      <p:sp>
        <p:nvSpPr>
          <p:cNvPr id="53" name="TextBox 52"/>
          <p:cNvSpPr txBox="1"/>
          <p:nvPr/>
        </p:nvSpPr>
        <p:spPr>
          <a:xfrm>
            <a:off x="10469880" y="3621024"/>
            <a:ext cx="530352" cy="256032"/>
          </a:xfrm>
          <a:prstGeom prst="rect">
            <a:avLst/>
          </a:prstGeom>
          <a:noFill/>
        </p:spPr>
        <p:txBody>
          <a:bodyPr wrap="square" lIns="36576" tIns="36576" rIns="36576" bIns="36576" anchor="t">
            <a:spAutoFit/>
          </a:bodyPr>
          <a:lstStyle/>
          <a:p>
            <a:pPr algn="r">
              <a:spcBef>
                <a:spcPts val="0"/>
              </a:spcBef>
              <a:spcAft>
                <a:spcPts val="0"/>
              </a:spcAft>
            </a:pPr>
            <a:r>
              <a:rPr sz="1400" b="1" i="0">
                <a:solidFill>
                  <a:srgbClr val="13233B"/>
                </a:solidFill>
                <a:latin typeface="Aptos"/>
              </a:rPr>
              <a:t>50%</a:t>
            </a:r>
          </a:p>
        </p:txBody>
      </p:sp>
      <p:sp>
        <p:nvSpPr>
          <p:cNvPr id="54" name="Oval 53"/>
          <p:cNvSpPr/>
          <p:nvPr/>
        </p:nvSpPr>
        <p:spPr>
          <a:xfrm>
            <a:off x="8549640" y="4087368"/>
            <a:ext cx="182880" cy="182880"/>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833104" y="4032504"/>
            <a:ext cx="1408176" cy="256032"/>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213047"/>
                </a:solidFill>
                <a:latin typeface="Aptos"/>
              </a:rPr>
              <a:t>T cell</a:t>
            </a:r>
          </a:p>
        </p:txBody>
      </p:sp>
      <p:sp>
        <p:nvSpPr>
          <p:cNvPr id="56" name="TextBox 55"/>
          <p:cNvSpPr txBox="1"/>
          <p:nvPr/>
        </p:nvSpPr>
        <p:spPr>
          <a:xfrm>
            <a:off x="10469880" y="4032504"/>
            <a:ext cx="530352" cy="256032"/>
          </a:xfrm>
          <a:prstGeom prst="rect">
            <a:avLst/>
          </a:prstGeom>
          <a:noFill/>
        </p:spPr>
        <p:txBody>
          <a:bodyPr wrap="square" lIns="36576" tIns="36576" rIns="36576" bIns="36576" anchor="t">
            <a:spAutoFit/>
          </a:bodyPr>
          <a:lstStyle/>
          <a:p>
            <a:pPr algn="r">
              <a:spcBef>
                <a:spcPts val="0"/>
              </a:spcBef>
              <a:spcAft>
                <a:spcPts val="0"/>
              </a:spcAft>
            </a:pPr>
            <a:r>
              <a:rPr sz="1400" b="1" i="0">
                <a:solidFill>
                  <a:srgbClr val="13233B"/>
                </a:solidFill>
                <a:latin typeface="Aptos"/>
              </a:rPr>
              <a:t>30%</a:t>
            </a:r>
          </a:p>
        </p:txBody>
      </p:sp>
      <p:sp>
        <p:nvSpPr>
          <p:cNvPr id="57" name="Oval 56"/>
          <p:cNvSpPr/>
          <p:nvPr/>
        </p:nvSpPr>
        <p:spPr>
          <a:xfrm>
            <a:off x="8549640" y="4498848"/>
            <a:ext cx="182880" cy="182880"/>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8833104" y="4443984"/>
            <a:ext cx="1408176" cy="256032"/>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213047"/>
                </a:solidFill>
                <a:latin typeface="Aptos"/>
              </a:rPr>
              <a:t>Monocyte</a:t>
            </a:r>
          </a:p>
        </p:txBody>
      </p:sp>
      <p:sp>
        <p:nvSpPr>
          <p:cNvPr id="59" name="TextBox 58"/>
          <p:cNvSpPr txBox="1"/>
          <p:nvPr/>
        </p:nvSpPr>
        <p:spPr>
          <a:xfrm>
            <a:off x="10469880" y="4443984"/>
            <a:ext cx="530352" cy="256032"/>
          </a:xfrm>
          <a:prstGeom prst="rect">
            <a:avLst/>
          </a:prstGeom>
          <a:noFill/>
        </p:spPr>
        <p:txBody>
          <a:bodyPr wrap="square" lIns="36576" tIns="36576" rIns="36576" bIns="36576" anchor="t">
            <a:spAutoFit/>
          </a:bodyPr>
          <a:lstStyle/>
          <a:p>
            <a:pPr algn="r">
              <a:spcBef>
                <a:spcPts val="0"/>
              </a:spcBef>
              <a:spcAft>
                <a:spcPts val="0"/>
              </a:spcAft>
            </a:pPr>
            <a:r>
              <a:rPr sz="1400" b="1" i="0">
                <a:solidFill>
                  <a:srgbClr val="13233B"/>
                </a:solidFill>
                <a:latin typeface="Aptos"/>
              </a:rPr>
              <a:t>20%</a:t>
            </a:r>
          </a:p>
        </p:txBody>
      </p:sp>
      <p:cxnSp>
        <p:nvCxnSpPr>
          <p:cNvPr id="60" name="Connector 5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Background: Ouologuem et al., Bioinformatics (2025). Values shown are a teaching example, not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THE NEW IDEA</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ShapeMix keeps an extra clue: fragment length</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05</a:t>
            </a:r>
          </a:p>
        </p:txBody>
      </p:sp>
      <p:sp>
        <p:nvSpPr>
          <p:cNvPr id="5" name="TextBox 4"/>
          <p:cNvSpPr txBox="1"/>
          <p:nvPr/>
        </p:nvSpPr>
        <p:spPr>
          <a:xfrm>
            <a:off x="649224" y="1060704"/>
            <a:ext cx="10881360" cy="420624"/>
          </a:xfrm>
          <a:prstGeom prst="rect">
            <a:avLst/>
          </a:prstGeom>
          <a:noFill/>
        </p:spPr>
        <p:txBody>
          <a:bodyPr wrap="square" lIns="36576" tIns="36576" rIns="36576" bIns="36576">
            <a:spAutoFit/>
          </a:bodyPr>
          <a:lstStyle/>
          <a:p>
            <a:pPr algn="ctr"/>
            <a:r>
              <a:rPr sz="2000" b="1" i="0">
                <a:solidFill>
                  <a:srgbClr val="13233B"/>
                </a:solidFill>
                <a:latin typeface="Aptos"/>
              </a:rPr>
              <a:t>Two samples can have the same peak total</a:t>
            </a:r>
            <a:r>
              <a:rPr sz="2000" b="0" i="0">
                <a:solidFill>
                  <a:srgbClr val="52627A"/>
                </a:solidFill>
                <a:latin typeface="Aptos"/>
              </a:rPr>
              <a:t> but different fragment-length patterns.</a:t>
            </a:r>
          </a:p>
        </p:txBody>
      </p:sp>
      <p:sp>
        <p:nvSpPr>
          <p:cNvPr id="6" name="Rounded Rectangle 5"/>
          <p:cNvSpPr/>
          <p:nvPr/>
        </p:nvSpPr>
        <p:spPr>
          <a:xfrm>
            <a:off x="694944" y="1664208"/>
            <a:ext cx="5285232" cy="305409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2688" y="1892807"/>
            <a:ext cx="1828800" cy="310896"/>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Cell type A</a:t>
            </a:r>
          </a:p>
        </p:txBody>
      </p:sp>
      <p:sp>
        <p:nvSpPr>
          <p:cNvPr id="8" name="Rounded Rectangle 7"/>
          <p:cNvSpPr/>
          <p:nvPr/>
        </p:nvSpPr>
        <p:spPr>
          <a:xfrm>
            <a:off x="3465576" y="1856231"/>
            <a:ext cx="201168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24 cut sites in this peak</a:t>
            </a:r>
          </a:p>
        </p:txBody>
      </p:sp>
      <p:cxnSp>
        <p:nvCxnSpPr>
          <p:cNvPr id="9" name="Connector 8"/>
          <p:cNvCxnSpPr/>
          <p:nvPr/>
        </p:nvCxnSpPr>
        <p:spPr>
          <a:xfrm>
            <a:off x="1325880"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2588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60020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75688"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7568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5000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25496"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82549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9981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575304"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57530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84962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325112" y="2660904"/>
            <a:ext cx="274319"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32511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599431"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074919"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074919"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49239"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25880" y="330098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2588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60020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984248" y="330098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98424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4144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734056" y="330098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73405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9125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83864" y="330098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8386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94106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142232"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14223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8231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892040"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89204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53212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78992" y="4087368"/>
            <a:ext cx="2613660" cy="34747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3692652" y="4087368"/>
            <a:ext cx="1120140" cy="34747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812792" y="4087368"/>
            <a:ext cx="746760" cy="34747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078992" y="4087368"/>
            <a:ext cx="4480560" cy="347472"/>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199632" y="1664208"/>
            <a:ext cx="5285232" cy="305409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37376" y="1892807"/>
            <a:ext cx="1828800" cy="310896"/>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Cell type B</a:t>
            </a:r>
          </a:p>
        </p:txBody>
      </p:sp>
      <p:sp>
        <p:nvSpPr>
          <p:cNvPr id="51" name="Rounded Rectangle 50"/>
          <p:cNvSpPr/>
          <p:nvPr/>
        </p:nvSpPr>
        <p:spPr>
          <a:xfrm>
            <a:off x="8970264" y="1856231"/>
            <a:ext cx="201168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24 cut sites in this peak</a:t>
            </a:r>
          </a:p>
        </p:txBody>
      </p:sp>
      <p:cxnSp>
        <p:nvCxnSpPr>
          <p:cNvPr id="52" name="Connector 51"/>
          <p:cNvCxnSpPr/>
          <p:nvPr/>
        </p:nvCxnSpPr>
        <p:spPr>
          <a:xfrm>
            <a:off x="6830568"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83056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10488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580375" y="2660904"/>
            <a:ext cx="274321"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580375"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85469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238744"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23874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69594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988552"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98855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44575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738360"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73836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19556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0488167"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0488167"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0945367"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647688"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64768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28776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397496" y="3300984"/>
            <a:ext cx="640079"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39749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037575"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147304"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14730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78738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897112"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89711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53719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646920"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64692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28700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396728" y="3300984"/>
            <a:ext cx="640079"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39672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036807"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sp>
        <p:nvSpPr>
          <p:cNvPr id="88" name="Rectangle 87"/>
          <p:cNvSpPr/>
          <p:nvPr/>
        </p:nvSpPr>
        <p:spPr>
          <a:xfrm>
            <a:off x="6583680" y="4087368"/>
            <a:ext cx="746760" cy="34747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7330440" y="4087368"/>
            <a:ext cx="1493520" cy="34747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8823960" y="4087368"/>
            <a:ext cx="2240280" cy="34747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6583680" y="4087368"/>
            <a:ext cx="4480560" cy="347472"/>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1554480" y="4937760"/>
            <a:ext cx="4297680" cy="34747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52627A"/>
                </a:solidFill>
                <a:latin typeface="Aptos"/>
              </a:rPr>
              <a:t>Count-only model sees: 24 = 24</a:t>
            </a:r>
          </a:p>
        </p:txBody>
      </p:sp>
      <p:sp>
        <p:nvSpPr>
          <p:cNvPr id="93" name="TextBox 92"/>
          <p:cNvSpPr txBox="1"/>
          <p:nvPr/>
        </p:nvSpPr>
        <p:spPr>
          <a:xfrm>
            <a:off x="6099048" y="4937760"/>
            <a:ext cx="5230368" cy="34747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0C7F75"/>
                </a:solidFill>
                <a:latin typeface="Aptos"/>
              </a:rPr>
              <a:t>ShapeMix also sees: the color pattern differs</a:t>
            </a:r>
          </a:p>
        </p:txBody>
      </p:sp>
      <p:sp>
        <p:nvSpPr>
          <p:cNvPr id="94" name="Rounded Rectangle 93"/>
          <p:cNvSpPr/>
          <p:nvPr/>
        </p:nvSpPr>
        <p:spPr>
          <a:xfrm>
            <a:off x="941832" y="5486400"/>
            <a:ext cx="3401568" cy="694944"/>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1051560" y="5669280"/>
            <a:ext cx="841248" cy="28346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SHORT</a:t>
            </a:r>
          </a:p>
        </p:txBody>
      </p:sp>
      <p:sp>
        <p:nvSpPr>
          <p:cNvPr id="96" name="TextBox 95"/>
          <p:cNvSpPr txBox="1"/>
          <p:nvPr/>
        </p:nvSpPr>
        <p:spPr>
          <a:xfrm>
            <a:off x="2020824" y="5559552"/>
            <a:ext cx="2139696" cy="201168"/>
          </a:xfrm>
          <a:prstGeom prst="rect">
            <a:avLst/>
          </a:prstGeom>
          <a:noFill/>
        </p:spPr>
        <p:txBody>
          <a:bodyPr wrap="square" lIns="36576" tIns="36576" rIns="36576" bIns="36576" anchor="t">
            <a:spAutoFit/>
          </a:bodyPr>
          <a:lstStyle/>
          <a:p>
            <a:pPr algn="l">
              <a:spcBef>
                <a:spcPts val="0"/>
              </a:spcBef>
              <a:spcAft>
                <a:spcPts val="0"/>
              </a:spcAft>
            </a:pPr>
            <a:r>
              <a:rPr sz="1250" b="1" i="0">
                <a:solidFill>
                  <a:srgbClr val="13233B"/>
                </a:solidFill>
                <a:latin typeface="Aptos"/>
              </a:rPr>
              <a:t>&lt; 100 bp</a:t>
            </a:r>
          </a:p>
        </p:txBody>
      </p:sp>
      <p:sp>
        <p:nvSpPr>
          <p:cNvPr id="97" name="TextBox 96"/>
          <p:cNvSpPr txBox="1"/>
          <p:nvPr/>
        </p:nvSpPr>
        <p:spPr>
          <a:xfrm>
            <a:off x="2020824" y="5852160"/>
            <a:ext cx="2139696" cy="173736"/>
          </a:xfrm>
          <a:prstGeom prst="rect">
            <a:avLst/>
          </a:prstGeom>
          <a:noFill/>
        </p:spPr>
        <p:txBody>
          <a:bodyPr wrap="square" lIns="36576" tIns="36576" rIns="36576" bIns="36576" anchor="t">
            <a:spAutoFit/>
          </a:bodyPr>
          <a:lstStyle/>
          <a:p>
            <a:pPr algn="l">
              <a:spcBef>
                <a:spcPts val="0"/>
              </a:spcBef>
              <a:spcAft>
                <a:spcPts val="0"/>
              </a:spcAft>
            </a:pPr>
            <a:r>
              <a:rPr sz="950" b="0" i="0">
                <a:solidFill>
                  <a:srgbClr val="52627A"/>
                </a:solidFill>
                <a:latin typeface="Aptos"/>
              </a:rPr>
              <a:t>often nucleosome-free</a:t>
            </a:r>
          </a:p>
        </p:txBody>
      </p:sp>
      <p:sp>
        <p:nvSpPr>
          <p:cNvPr id="98" name="Rounded Rectangle 97"/>
          <p:cNvSpPr/>
          <p:nvPr/>
        </p:nvSpPr>
        <p:spPr>
          <a:xfrm>
            <a:off x="4645152" y="5486400"/>
            <a:ext cx="3401568" cy="694944"/>
          </a:xfrm>
          <a:prstGeom prst="roundRect">
            <a:avLst/>
          </a:prstGeom>
          <a:solidFill>
            <a:srgbClr val="FFFFFF"/>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Rounded Rectangle 98"/>
          <p:cNvSpPr/>
          <p:nvPr/>
        </p:nvSpPr>
        <p:spPr>
          <a:xfrm>
            <a:off x="4754880" y="5669280"/>
            <a:ext cx="841248" cy="283464"/>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MIDDLE</a:t>
            </a:r>
          </a:p>
        </p:txBody>
      </p:sp>
      <p:sp>
        <p:nvSpPr>
          <p:cNvPr id="100" name="TextBox 99"/>
          <p:cNvSpPr txBox="1"/>
          <p:nvPr/>
        </p:nvSpPr>
        <p:spPr>
          <a:xfrm>
            <a:off x="5724144" y="5559552"/>
            <a:ext cx="2139696" cy="201168"/>
          </a:xfrm>
          <a:prstGeom prst="rect">
            <a:avLst/>
          </a:prstGeom>
          <a:noFill/>
        </p:spPr>
        <p:txBody>
          <a:bodyPr wrap="square" lIns="36576" tIns="36576" rIns="36576" bIns="36576" anchor="t">
            <a:spAutoFit/>
          </a:bodyPr>
          <a:lstStyle/>
          <a:p>
            <a:pPr algn="l">
              <a:spcBef>
                <a:spcPts val="0"/>
              </a:spcBef>
              <a:spcAft>
                <a:spcPts val="0"/>
              </a:spcAft>
            </a:pPr>
            <a:r>
              <a:rPr sz="1250" b="1" i="0">
                <a:solidFill>
                  <a:srgbClr val="13233B"/>
                </a:solidFill>
                <a:latin typeface="Aptos"/>
              </a:rPr>
              <a:t>100–249 bp</a:t>
            </a:r>
          </a:p>
        </p:txBody>
      </p:sp>
      <p:sp>
        <p:nvSpPr>
          <p:cNvPr id="101" name="TextBox 100"/>
          <p:cNvSpPr txBox="1"/>
          <p:nvPr/>
        </p:nvSpPr>
        <p:spPr>
          <a:xfrm>
            <a:off x="5724144" y="5852160"/>
            <a:ext cx="2139696" cy="173736"/>
          </a:xfrm>
          <a:prstGeom prst="rect">
            <a:avLst/>
          </a:prstGeom>
          <a:noFill/>
        </p:spPr>
        <p:txBody>
          <a:bodyPr wrap="square" lIns="36576" tIns="36576" rIns="36576" bIns="36576" anchor="t">
            <a:spAutoFit/>
          </a:bodyPr>
          <a:lstStyle/>
          <a:p>
            <a:pPr algn="l">
              <a:spcBef>
                <a:spcPts val="0"/>
              </a:spcBef>
              <a:spcAft>
                <a:spcPts val="0"/>
              </a:spcAft>
            </a:pPr>
            <a:r>
              <a:rPr sz="950" b="0" i="0">
                <a:solidFill>
                  <a:srgbClr val="52627A"/>
                </a:solidFill>
                <a:latin typeface="Aptos"/>
              </a:rPr>
              <a:t>mononucleosome-like</a:t>
            </a:r>
          </a:p>
        </p:txBody>
      </p:sp>
      <p:sp>
        <p:nvSpPr>
          <p:cNvPr id="102" name="Rounded Rectangle 101"/>
          <p:cNvSpPr/>
          <p:nvPr/>
        </p:nvSpPr>
        <p:spPr>
          <a:xfrm>
            <a:off x="8348471" y="5486400"/>
            <a:ext cx="3401568" cy="694944"/>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Rounded Rectangle 102"/>
          <p:cNvSpPr/>
          <p:nvPr/>
        </p:nvSpPr>
        <p:spPr>
          <a:xfrm>
            <a:off x="8458199" y="5669280"/>
            <a:ext cx="841248" cy="283464"/>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LONG</a:t>
            </a:r>
          </a:p>
        </p:txBody>
      </p:sp>
      <p:sp>
        <p:nvSpPr>
          <p:cNvPr id="104" name="TextBox 103"/>
          <p:cNvSpPr txBox="1"/>
          <p:nvPr/>
        </p:nvSpPr>
        <p:spPr>
          <a:xfrm>
            <a:off x="9427463" y="5559552"/>
            <a:ext cx="2139696" cy="201168"/>
          </a:xfrm>
          <a:prstGeom prst="rect">
            <a:avLst/>
          </a:prstGeom>
          <a:noFill/>
        </p:spPr>
        <p:txBody>
          <a:bodyPr wrap="square" lIns="36576" tIns="36576" rIns="36576" bIns="36576" anchor="t">
            <a:spAutoFit/>
          </a:bodyPr>
          <a:lstStyle/>
          <a:p>
            <a:pPr algn="l">
              <a:spcBef>
                <a:spcPts val="0"/>
              </a:spcBef>
              <a:spcAft>
                <a:spcPts val="0"/>
              </a:spcAft>
            </a:pPr>
            <a:r>
              <a:rPr sz="1250" b="1" i="0">
                <a:solidFill>
                  <a:srgbClr val="13233B"/>
                </a:solidFill>
                <a:latin typeface="Aptos"/>
              </a:rPr>
              <a:t>≥ 250 bp</a:t>
            </a:r>
          </a:p>
        </p:txBody>
      </p:sp>
      <p:sp>
        <p:nvSpPr>
          <p:cNvPr id="105" name="TextBox 104"/>
          <p:cNvSpPr txBox="1"/>
          <p:nvPr/>
        </p:nvSpPr>
        <p:spPr>
          <a:xfrm>
            <a:off x="9427463" y="5852160"/>
            <a:ext cx="2139696" cy="173736"/>
          </a:xfrm>
          <a:prstGeom prst="rect">
            <a:avLst/>
          </a:prstGeom>
          <a:noFill/>
        </p:spPr>
        <p:txBody>
          <a:bodyPr wrap="square" lIns="36576" tIns="36576" rIns="36576" bIns="36576" anchor="t">
            <a:spAutoFit/>
          </a:bodyPr>
          <a:lstStyle/>
          <a:p>
            <a:pPr algn="l">
              <a:spcBef>
                <a:spcPts val="0"/>
              </a:spcBef>
              <a:spcAft>
                <a:spcPts val="0"/>
              </a:spcAft>
            </a:pPr>
            <a:r>
              <a:rPr sz="950" b="0" i="0">
                <a:solidFill>
                  <a:srgbClr val="52627A"/>
                </a:solidFill>
                <a:latin typeface="Aptos"/>
              </a:rPr>
              <a:t>longer protected fragments</a:t>
            </a:r>
          </a:p>
        </p:txBody>
      </p:sp>
      <p:cxnSp>
        <p:nvCxnSpPr>
          <p:cNvPr id="106" name="Connector 10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Sources: Buenrostro et al. (2013); Martens et al., Nature Methods (2024). Diagram is conceptual.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ALGORITHM OVERVIEW</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FFFFFF"/>
                </a:solidFill>
                <a:latin typeface="Aptos Display"/>
              </a:rPr>
              <a:t>How ShapeMix works—four steps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D7E2EE"/>
                </a:solidFill>
                <a:latin typeface="Aptos"/>
              </a:rPr>
              <a:t>06</a:t>
            </a:r>
          </a:p>
        </p:txBody>
      </p:sp>
      <p:sp>
        <p:nvSpPr>
          <p:cNvPr id="5" name="Rounded Rectangle 4"/>
          <p:cNvSpPr/>
          <p:nvPr/>
        </p:nvSpPr>
        <p:spPr>
          <a:xfrm>
            <a:off x="612648" y="1371600"/>
            <a:ext cx="2578608" cy="4096512"/>
          </a:xfrm>
          <a:prstGeom prst="roundRect">
            <a:avLst/>
          </a:prstGeom>
          <a:solidFill>
            <a:srgbClr val="1C3152"/>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95528" y="1581912"/>
            <a:ext cx="530352" cy="530352"/>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1</a:t>
            </a:r>
          </a:p>
        </p:txBody>
      </p:sp>
      <p:sp>
        <p:nvSpPr>
          <p:cNvPr id="8" name="Oval 7"/>
          <p:cNvSpPr/>
          <p:nvPr/>
        </p:nvSpPr>
        <p:spPr>
          <a:xfrm>
            <a:off x="996696" y="2414016"/>
            <a:ext cx="420624" cy="420624"/>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78408" y="2971800"/>
            <a:ext cx="64008" cy="23774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9848" y="2880360"/>
            <a:ext cx="64008" cy="32918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61288" y="2788920"/>
            <a:ext cx="64008" cy="42062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591056" y="2414016"/>
            <a:ext cx="420624" cy="420624"/>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572768" y="2971800"/>
            <a:ext cx="64008" cy="23774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664208" y="2880360"/>
            <a:ext cx="64008" cy="32918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755648" y="2788920"/>
            <a:ext cx="64008" cy="42062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2185416" y="2414016"/>
            <a:ext cx="420624" cy="420624"/>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167128" y="2971800"/>
            <a:ext cx="64008" cy="23774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258568" y="2880360"/>
            <a:ext cx="64008" cy="32918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350008" y="2788920"/>
            <a:ext cx="64008" cy="42062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Build references</a:t>
            </a:r>
          </a:p>
        </p:txBody>
      </p:sp>
      <p:sp>
        <p:nvSpPr>
          <p:cNvPr id="21" name="TextBox 20"/>
          <p:cNvSpPr txBox="1"/>
          <p:nvPr/>
        </p:nvSpPr>
        <p:spPr>
          <a:xfrm>
            <a:off x="868680"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Use labeled single cells to learn each cell type’s peak counts and length pattern.</a:t>
            </a:r>
          </a:p>
        </p:txBody>
      </p:sp>
      <p:sp>
        <p:nvSpPr>
          <p:cNvPr id="22" name="Chevron 21"/>
          <p:cNvSpPr/>
          <p:nvPr/>
        </p:nvSpPr>
        <p:spPr>
          <a:xfrm>
            <a:off x="3209544" y="3154680"/>
            <a:ext cx="310896" cy="530352"/>
          </a:xfrm>
          <a:prstGeom prst="chevron">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3502152" y="1371600"/>
            <a:ext cx="2578608" cy="4096512"/>
          </a:xfrm>
          <a:prstGeom prst="roundRect">
            <a:avLst/>
          </a:prstGeom>
          <a:solidFill>
            <a:srgbClr val="1C315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685032" y="1581912"/>
            <a:ext cx="530352" cy="530352"/>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85032"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2</a:t>
            </a:r>
          </a:p>
        </p:txBody>
      </p:sp>
      <p:cxnSp>
        <p:nvCxnSpPr>
          <p:cNvPr id="26" name="Connector 25"/>
          <p:cNvCxnSpPr/>
          <p:nvPr/>
        </p:nvCxnSpPr>
        <p:spPr>
          <a:xfrm>
            <a:off x="3913632" y="2761488"/>
            <a:ext cx="329184"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913632"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24281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489704" y="3081528"/>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489704" y="302666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8072" y="302666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65776" y="2761488"/>
            <a:ext cx="96012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577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2589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730752"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Read a mixed spot</a:t>
            </a:r>
          </a:p>
        </p:txBody>
      </p:sp>
      <p:sp>
        <p:nvSpPr>
          <p:cNvPr id="36" name="TextBox 35"/>
          <p:cNvSpPr txBox="1"/>
          <p:nvPr/>
        </p:nvSpPr>
        <p:spPr>
          <a:xfrm>
            <a:off x="3758184"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Count cut sites in each peak and sort them into three length bins.</a:t>
            </a:r>
          </a:p>
        </p:txBody>
      </p:sp>
      <p:sp>
        <p:nvSpPr>
          <p:cNvPr id="37" name="Chevron 36"/>
          <p:cNvSpPr/>
          <p:nvPr/>
        </p:nvSpPr>
        <p:spPr>
          <a:xfrm>
            <a:off x="6099048" y="3154680"/>
            <a:ext cx="310896" cy="530352"/>
          </a:xfrm>
          <a:prstGeom prst="chevron">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391656" y="1371600"/>
            <a:ext cx="2578608" cy="4096512"/>
          </a:xfrm>
          <a:prstGeom prst="roundRect">
            <a:avLst/>
          </a:prstGeom>
          <a:solidFill>
            <a:srgbClr val="1C3152"/>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574536" y="1581912"/>
            <a:ext cx="530352" cy="530352"/>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3</a:t>
            </a:r>
          </a:p>
        </p:txBody>
      </p:sp>
      <p:sp>
        <p:nvSpPr>
          <p:cNvPr id="41" name="Rectangle 40"/>
          <p:cNvSpPr/>
          <p:nvPr/>
        </p:nvSpPr>
        <p:spPr>
          <a:xfrm>
            <a:off x="6803136" y="2596896"/>
            <a:ext cx="764032" cy="38404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567168" y="2596896"/>
            <a:ext cx="573023" cy="38404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140192" y="2596896"/>
            <a:ext cx="382016" cy="38404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803136" y="2596896"/>
            <a:ext cx="1719072" cy="384048"/>
          </a:xfrm>
          <a:prstGeom prst="rect">
            <a:avLst/>
          </a:prstGeom>
          <a:no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42632" y="3099816"/>
            <a:ext cx="640080" cy="502920"/>
          </a:xfrm>
          <a:prstGeom prst="rect">
            <a:avLst/>
          </a:prstGeom>
          <a:noFill/>
        </p:spPr>
        <p:txBody>
          <a:bodyPr wrap="square" lIns="36576" tIns="36576" rIns="36576" bIns="36576" anchor="t">
            <a:spAutoFit/>
          </a:bodyPr>
          <a:lstStyle/>
          <a:p>
            <a:pPr algn="ctr">
              <a:spcBef>
                <a:spcPts val="0"/>
              </a:spcBef>
              <a:spcAft>
                <a:spcPts val="0"/>
              </a:spcAft>
            </a:pPr>
            <a:r>
              <a:rPr sz="2700" b="1" i="0">
                <a:solidFill>
                  <a:srgbClr val="F4B942"/>
                </a:solidFill>
                <a:latin typeface="Aptos"/>
              </a:rPr>
              <a:t>↻</a:t>
            </a:r>
          </a:p>
        </p:txBody>
      </p:sp>
      <p:sp>
        <p:nvSpPr>
          <p:cNvPr id="46" name="TextBox 45"/>
          <p:cNvSpPr txBox="1"/>
          <p:nvPr/>
        </p:nvSpPr>
        <p:spPr>
          <a:xfrm>
            <a:off x="6620256"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Try mixtures</a:t>
            </a:r>
          </a:p>
        </p:txBody>
      </p:sp>
      <p:sp>
        <p:nvSpPr>
          <p:cNvPr id="47" name="TextBox 46"/>
          <p:cNvSpPr txBox="1"/>
          <p:nvPr/>
        </p:nvSpPr>
        <p:spPr>
          <a:xfrm>
            <a:off x="6647688"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Combine reference fingerprints in different proportions and score the fit.</a:t>
            </a:r>
          </a:p>
        </p:txBody>
      </p:sp>
      <p:sp>
        <p:nvSpPr>
          <p:cNvPr id="48" name="Chevron 47"/>
          <p:cNvSpPr/>
          <p:nvPr/>
        </p:nvSpPr>
        <p:spPr>
          <a:xfrm>
            <a:off x="8988552" y="3154680"/>
            <a:ext cx="310896" cy="530352"/>
          </a:xfrm>
          <a:prstGeom prst="chevron">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9281160" y="1371600"/>
            <a:ext cx="2578608" cy="4096512"/>
          </a:xfrm>
          <a:prstGeom prst="roundRect">
            <a:avLst/>
          </a:prstGeom>
          <a:solidFill>
            <a:srgbClr val="1C3152"/>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9464040" y="1581912"/>
            <a:ext cx="530352" cy="530352"/>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464040"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4</a:t>
            </a:r>
          </a:p>
        </p:txBody>
      </p:sp>
      <p:sp>
        <p:nvSpPr>
          <p:cNvPr id="52" name="Rectangle 51"/>
          <p:cNvSpPr/>
          <p:nvPr/>
        </p:nvSpPr>
        <p:spPr>
          <a:xfrm>
            <a:off x="9692640" y="2596896"/>
            <a:ext cx="859535" cy="49377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692640" y="2606039"/>
            <a:ext cx="859535" cy="475488"/>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54" name="Rectangle 53"/>
          <p:cNvSpPr/>
          <p:nvPr/>
        </p:nvSpPr>
        <p:spPr>
          <a:xfrm>
            <a:off x="10552176" y="2596896"/>
            <a:ext cx="515721" cy="49377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552176" y="2606039"/>
            <a:ext cx="515721" cy="475488"/>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56" name="Rectangle 55"/>
          <p:cNvSpPr/>
          <p:nvPr/>
        </p:nvSpPr>
        <p:spPr>
          <a:xfrm>
            <a:off x="11067897" y="2596896"/>
            <a:ext cx="343814" cy="49377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9692640" y="2596896"/>
            <a:ext cx="1719072" cy="493776"/>
          </a:xfrm>
          <a:prstGeom prst="rect">
            <a:avLst/>
          </a:prstGeom>
          <a:no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9509760" y="3505558"/>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dirty="0">
                <a:solidFill>
                  <a:srgbClr val="FFFFFF"/>
                </a:solidFill>
                <a:latin typeface="Aptos"/>
              </a:rPr>
              <a:t>Report proportions</a:t>
            </a:r>
          </a:p>
        </p:txBody>
      </p:sp>
      <p:sp>
        <p:nvSpPr>
          <p:cNvPr id="59" name="TextBox 58"/>
          <p:cNvSpPr txBox="1"/>
          <p:nvPr/>
        </p:nvSpPr>
        <p:spPr>
          <a:xfrm>
            <a:off x="9537192"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Choose the most supported mixture and normalize it to percentages.</a:t>
            </a:r>
          </a:p>
        </p:txBody>
      </p:sp>
      <p:sp>
        <p:nvSpPr>
          <p:cNvPr id="60" name="Rounded Rectangle 59"/>
          <p:cNvSpPr/>
          <p:nvPr/>
        </p:nvSpPr>
        <p:spPr>
          <a:xfrm>
            <a:off x="3182112" y="5815584"/>
            <a:ext cx="5833872" cy="384048"/>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200" b="1">
                <a:solidFill>
                  <a:srgbClr val="FFFFFF"/>
                </a:solidFill>
                <a:latin typeface="Aptos"/>
              </a:rPr>
              <a:t>Under the hood: count fit + shape fit + a sensible abundance prior</a:t>
            </a:r>
          </a:p>
        </p:txBody>
      </p:sp>
      <p:cxnSp>
        <p:nvCxnSpPr>
          <p:cNvPr id="61" name="Connector 60"/>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Technical version: negative-binomial peak totals + conditional multinomial length bins; fitted by MAP.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EXPERIMENTAL DESIGN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A matched experiment isolates the value of fragment length</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07</a:t>
            </a:r>
          </a:p>
        </p:txBody>
      </p:sp>
      <p:sp>
        <p:nvSpPr>
          <p:cNvPr id="5" name="TextBox 4"/>
          <p:cNvSpPr txBox="1"/>
          <p:nvPr/>
        </p:nvSpPr>
        <p:spPr>
          <a:xfrm>
            <a:off x="658368" y="1060704"/>
            <a:ext cx="10835640" cy="384048"/>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The two models see the same data and use the same settings. Only one ingredient changes.</a:t>
            </a:r>
          </a:p>
        </p:txBody>
      </p:sp>
      <p:sp>
        <p:nvSpPr>
          <p:cNvPr id="6" name="Rounded Rectangle 5"/>
          <p:cNvSpPr/>
          <p:nvPr/>
        </p:nvSpPr>
        <p:spPr>
          <a:xfrm>
            <a:off x="658368" y="1618488"/>
            <a:ext cx="2880360" cy="4169663"/>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56231"/>
            <a:ext cx="2377440" cy="310896"/>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1  Split labeled cells</a:t>
            </a:r>
          </a:p>
        </p:txBody>
      </p:sp>
      <p:sp>
        <p:nvSpPr>
          <p:cNvPr id="8" name="Rectangle 7"/>
          <p:cNvSpPr/>
          <p:nvPr/>
        </p:nvSpPr>
        <p:spPr>
          <a:xfrm>
            <a:off x="950976" y="2459736"/>
            <a:ext cx="1600200" cy="47548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468879"/>
            <a:ext cx="1600200" cy="45720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70%</a:t>
            </a:r>
          </a:p>
        </p:txBody>
      </p:sp>
      <p:sp>
        <p:nvSpPr>
          <p:cNvPr id="10" name="Rectangle 9"/>
          <p:cNvSpPr/>
          <p:nvPr/>
        </p:nvSpPr>
        <p:spPr>
          <a:xfrm>
            <a:off x="2551176" y="2459736"/>
            <a:ext cx="685800" cy="475488"/>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51176" y="2468879"/>
            <a:ext cx="685800" cy="45720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12" name="Rectangle 11"/>
          <p:cNvSpPr/>
          <p:nvPr/>
        </p:nvSpPr>
        <p:spPr>
          <a:xfrm>
            <a:off x="950976" y="2459736"/>
            <a:ext cx="2286000" cy="47548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1832" y="3090672"/>
            <a:ext cx="1188720" cy="219456"/>
          </a:xfrm>
          <a:prstGeom prst="rect">
            <a:avLst/>
          </a:prstGeom>
          <a:noFill/>
        </p:spPr>
        <p:txBody>
          <a:bodyPr wrap="square" lIns="36576" tIns="36576" rIns="36576" bIns="36576" anchor="t">
            <a:spAutoFit/>
          </a:bodyPr>
          <a:lstStyle/>
          <a:p>
            <a:pPr algn="l">
              <a:spcBef>
                <a:spcPts val="0"/>
              </a:spcBef>
              <a:spcAft>
                <a:spcPts val="0"/>
              </a:spcAft>
            </a:pPr>
            <a:r>
              <a:rPr sz="1300" b="1" i="0">
                <a:solidFill>
                  <a:srgbClr val="3B82F6"/>
                </a:solidFill>
                <a:latin typeface="Aptos"/>
              </a:rPr>
              <a:t>Reference pool</a:t>
            </a:r>
          </a:p>
        </p:txBody>
      </p:sp>
      <p:sp>
        <p:nvSpPr>
          <p:cNvPr id="14" name="TextBox 13"/>
          <p:cNvSpPr txBox="1"/>
          <p:nvPr/>
        </p:nvSpPr>
        <p:spPr>
          <a:xfrm>
            <a:off x="1984248" y="3090672"/>
            <a:ext cx="1298448" cy="219456"/>
          </a:xfrm>
          <a:prstGeom prst="rect">
            <a:avLst/>
          </a:prstGeom>
          <a:noFill/>
        </p:spPr>
        <p:txBody>
          <a:bodyPr wrap="square" lIns="36576" tIns="36576" rIns="36576" bIns="36576" anchor="t">
            <a:spAutoFit/>
          </a:bodyPr>
          <a:lstStyle/>
          <a:p>
            <a:pPr algn="r">
              <a:spcBef>
                <a:spcPts val="0"/>
              </a:spcBef>
              <a:spcAft>
                <a:spcPts val="0"/>
              </a:spcAft>
            </a:pPr>
            <a:r>
              <a:rPr sz="1300" b="1" i="0">
                <a:solidFill>
                  <a:srgbClr val="52627A"/>
                </a:solidFill>
                <a:latin typeface="Aptos"/>
              </a:rPr>
              <a:t>Held-out test pool</a:t>
            </a:r>
          </a:p>
        </p:txBody>
      </p:sp>
      <p:sp>
        <p:nvSpPr>
          <p:cNvPr id="15" name="TextBox 14"/>
          <p:cNvSpPr txBox="1"/>
          <p:nvPr/>
        </p:nvSpPr>
        <p:spPr>
          <a:xfrm>
            <a:off x="914400" y="3703320"/>
            <a:ext cx="2331720" cy="1517904"/>
          </a:xfrm>
          <a:prstGeom prst="rect">
            <a:avLst/>
          </a:prstGeom>
          <a:noFill/>
        </p:spPr>
        <p:txBody>
          <a:bodyPr wrap="square" lIns="36576" tIns="18288" rIns="18288" bIns="18288">
            <a:spAutoFit/>
          </a:bodyPr>
          <a:lstStyle/>
          <a:p>
            <a:pPr algn="l">
              <a:lnSpc>
                <a:spcPct val="105000"/>
              </a:lnSpc>
              <a:spcAft>
                <a:spcPts val="800"/>
              </a:spcAft>
            </a:pPr>
            <a:r>
              <a:rPr sz="1450" b="1">
                <a:solidFill>
                  <a:srgbClr val="3B82F6"/>
                </a:solidFill>
                <a:latin typeface="Aptos"/>
              </a:rPr>
              <a:t>•  </a:t>
            </a:r>
            <a:r>
              <a:rPr sz="1450">
                <a:solidFill>
                  <a:srgbClr val="213047"/>
                </a:solidFill>
                <a:latin typeface="Aptos"/>
              </a:rPr>
              <a:t>Learn fingerprints from 70%</a:t>
            </a:r>
          </a:p>
          <a:p>
            <a:pPr algn="l">
              <a:lnSpc>
                <a:spcPct val="105000"/>
              </a:lnSpc>
              <a:spcAft>
                <a:spcPts val="800"/>
              </a:spcAft>
            </a:pPr>
            <a:r>
              <a:rPr sz="1450" b="1">
                <a:solidFill>
                  <a:srgbClr val="3B82F6"/>
                </a:solidFill>
                <a:latin typeface="Aptos"/>
              </a:rPr>
              <a:t>•  </a:t>
            </a:r>
            <a:r>
              <a:rPr sz="1450">
                <a:solidFill>
                  <a:srgbClr val="213047"/>
                </a:solidFill>
                <a:latin typeface="Aptos"/>
              </a:rPr>
              <a:t>Make pseudo-spots from the other 30%</a:t>
            </a:r>
          </a:p>
          <a:p>
            <a:pPr algn="l">
              <a:lnSpc>
                <a:spcPct val="105000"/>
              </a:lnSpc>
              <a:spcAft>
                <a:spcPts val="800"/>
              </a:spcAft>
            </a:pPr>
            <a:r>
              <a:rPr sz="1450" b="1">
                <a:solidFill>
                  <a:srgbClr val="3B82F6"/>
                </a:solidFill>
                <a:latin typeface="Aptos"/>
              </a:rPr>
              <a:t>•  </a:t>
            </a:r>
            <a:r>
              <a:rPr sz="1450">
                <a:solidFill>
                  <a:srgbClr val="213047"/>
                </a:solidFill>
                <a:latin typeface="Aptos"/>
              </a:rPr>
              <a:t>Never reuse the same cell on both sides</a:t>
            </a:r>
          </a:p>
        </p:txBody>
      </p:sp>
      <p:sp>
        <p:nvSpPr>
          <p:cNvPr id="16" name="Rounded Rectangle 15"/>
          <p:cNvSpPr/>
          <p:nvPr/>
        </p:nvSpPr>
        <p:spPr>
          <a:xfrm>
            <a:off x="3822191" y="1618488"/>
            <a:ext cx="3429000" cy="4169663"/>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05656" y="1856231"/>
            <a:ext cx="2862072" cy="310896"/>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13233B"/>
                </a:solidFill>
                <a:latin typeface="Aptos"/>
              </a:rPr>
              <a:t>2A  Count-only</a:t>
            </a:r>
          </a:p>
        </p:txBody>
      </p:sp>
      <p:sp>
        <p:nvSpPr>
          <p:cNvPr id="18" name="TextBox 17"/>
          <p:cNvSpPr txBox="1"/>
          <p:nvPr/>
        </p:nvSpPr>
        <p:spPr>
          <a:xfrm>
            <a:off x="4096512" y="2331720"/>
            <a:ext cx="2880360" cy="310896"/>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3B82F6"/>
                </a:solidFill>
                <a:latin typeface="Aptos"/>
              </a:rPr>
              <a:t>Uses peak totals</a:t>
            </a:r>
          </a:p>
        </p:txBody>
      </p:sp>
      <p:sp>
        <p:nvSpPr>
          <p:cNvPr id="19" name="Rectangle 18"/>
          <p:cNvSpPr/>
          <p:nvPr/>
        </p:nvSpPr>
        <p:spPr>
          <a:xfrm>
            <a:off x="4389120" y="3630168"/>
            <a:ext cx="274320" cy="53035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846320" y="3154679"/>
            <a:ext cx="274320" cy="100584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303520" y="3447287"/>
            <a:ext cx="274320" cy="71323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760720" y="2898648"/>
            <a:ext cx="274320" cy="126187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17920" y="3319272"/>
            <a:ext cx="274320" cy="84124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10912" y="4462272"/>
            <a:ext cx="1042415" cy="384048"/>
          </a:xfrm>
          <a:prstGeom prst="rect">
            <a:avLst/>
          </a:prstGeom>
          <a:noFill/>
        </p:spPr>
        <p:txBody>
          <a:bodyPr wrap="square" lIns="36576" tIns="36576" rIns="36576" bIns="36576" anchor="t">
            <a:spAutoFit/>
          </a:bodyPr>
          <a:lstStyle/>
          <a:p>
            <a:pPr algn="ctr">
              <a:spcBef>
                <a:spcPts val="0"/>
              </a:spcBef>
              <a:spcAft>
                <a:spcPts val="0"/>
              </a:spcAft>
            </a:pPr>
            <a:r>
              <a:rPr sz="2500" b="1" i="0">
                <a:solidFill>
                  <a:srgbClr val="13233B"/>
                </a:solidFill>
                <a:latin typeface="Aptos"/>
              </a:rPr>
              <a:t>Nₛₚ</a:t>
            </a:r>
          </a:p>
        </p:txBody>
      </p:sp>
      <p:sp>
        <p:nvSpPr>
          <p:cNvPr id="25" name="Rounded Rectangle 24"/>
          <p:cNvSpPr/>
          <p:nvPr/>
        </p:nvSpPr>
        <p:spPr>
          <a:xfrm>
            <a:off x="4855464" y="5084064"/>
            <a:ext cx="1335024" cy="329184"/>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BASELINE</a:t>
            </a:r>
          </a:p>
        </p:txBody>
      </p:sp>
      <p:sp>
        <p:nvSpPr>
          <p:cNvPr id="26" name="Rounded Rectangle 25"/>
          <p:cNvSpPr/>
          <p:nvPr/>
        </p:nvSpPr>
        <p:spPr>
          <a:xfrm>
            <a:off x="7534656" y="1618488"/>
            <a:ext cx="4005072" cy="4169663"/>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54696" y="1856231"/>
            <a:ext cx="3364992" cy="310896"/>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13233B"/>
                </a:solidFill>
                <a:latin typeface="Aptos"/>
              </a:rPr>
              <a:t>2B  ShapeMix</a:t>
            </a:r>
          </a:p>
        </p:txBody>
      </p:sp>
      <p:sp>
        <p:nvSpPr>
          <p:cNvPr id="28" name="TextBox 27"/>
          <p:cNvSpPr txBox="1"/>
          <p:nvPr/>
        </p:nvSpPr>
        <p:spPr>
          <a:xfrm>
            <a:off x="7827264" y="2331720"/>
            <a:ext cx="3419856" cy="310896"/>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0C7F75"/>
                </a:solidFill>
                <a:latin typeface="Aptos"/>
              </a:rPr>
              <a:t>Same totals + length composition</a:t>
            </a:r>
          </a:p>
        </p:txBody>
      </p:sp>
      <p:sp>
        <p:nvSpPr>
          <p:cNvPr id="29" name="Rectangle 28"/>
          <p:cNvSpPr/>
          <p:nvPr/>
        </p:nvSpPr>
        <p:spPr>
          <a:xfrm>
            <a:off x="8193024" y="3044952"/>
            <a:ext cx="1325880" cy="49377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9518904" y="3044952"/>
            <a:ext cx="795527" cy="493776"/>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0314432" y="3044952"/>
            <a:ext cx="530352" cy="49377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193024" y="3044952"/>
            <a:ext cx="2651760" cy="493776"/>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025128" y="3822191"/>
            <a:ext cx="1024128" cy="384048"/>
          </a:xfrm>
          <a:prstGeom prst="rect">
            <a:avLst/>
          </a:prstGeom>
          <a:noFill/>
        </p:spPr>
        <p:txBody>
          <a:bodyPr wrap="square" lIns="36576" tIns="36576" rIns="36576" bIns="36576" anchor="t">
            <a:spAutoFit/>
          </a:bodyPr>
          <a:lstStyle/>
          <a:p>
            <a:pPr algn="ctr">
              <a:spcBef>
                <a:spcPts val="0"/>
              </a:spcBef>
              <a:spcAft>
                <a:spcPts val="0"/>
              </a:spcAft>
            </a:pPr>
            <a:r>
              <a:rPr sz="2500" b="1" i="0">
                <a:solidFill>
                  <a:srgbClr val="13233B"/>
                </a:solidFill>
                <a:latin typeface="Aptos"/>
              </a:rPr>
              <a:t>Yₛₚᵦ</a:t>
            </a:r>
          </a:p>
        </p:txBody>
      </p:sp>
      <p:sp>
        <p:nvSpPr>
          <p:cNvPr id="34" name="Rounded Rectangle 33"/>
          <p:cNvSpPr/>
          <p:nvPr/>
        </p:nvSpPr>
        <p:spPr>
          <a:xfrm>
            <a:off x="8586216" y="5084064"/>
            <a:ext cx="1993392" cy="32918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ONLY EXTRA TERM: SHAPE</a:t>
            </a:r>
          </a:p>
        </p:txBody>
      </p:sp>
      <p:sp>
        <p:nvSpPr>
          <p:cNvPr id="35" name="Rounded Rectangle 34"/>
          <p:cNvSpPr/>
          <p:nvPr/>
        </p:nvSpPr>
        <p:spPr>
          <a:xfrm>
            <a:off x="2843784" y="5998464"/>
            <a:ext cx="6528816"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100" b="1">
                <a:solidFill>
                  <a:srgbClr val="FFFFFF"/>
                </a:solidFill>
                <a:latin typeface="Aptos"/>
              </a:rPr>
              <a:t>Same cells • peaks • seeds • prior • optimizer • compute budget</a:t>
            </a:r>
          </a:p>
        </p:txBody>
      </p:sp>
      <p:cxnSp>
        <p:nvCxnSpPr>
          <p:cNvPr id="36" name="Connector 3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Design source: ShapeMix benchmark protocol and project proposal in this repository.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DATASET PLAN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Primary dataset: human blood immune cells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08</a:t>
            </a:r>
          </a:p>
        </p:txBody>
      </p:sp>
      <p:sp>
        <p:nvSpPr>
          <p:cNvPr id="5" name="TextBox 4"/>
          <p:cNvSpPr txBox="1"/>
          <p:nvPr/>
        </p:nvSpPr>
        <p:spPr>
          <a:xfrm>
            <a:off x="658368" y="1042415"/>
            <a:ext cx="10835640" cy="402336"/>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A public 10x Genomics PBMC Multiome dataset provides paired RNA labels and raw ATAC fragments.</a:t>
            </a:r>
          </a:p>
        </p:txBody>
      </p:sp>
      <p:sp>
        <p:nvSpPr>
          <p:cNvPr id="6" name="Rounded Rectangle 5"/>
          <p:cNvSpPr/>
          <p:nvPr/>
        </p:nvSpPr>
        <p:spPr>
          <a:xfrm>
            <a:off x="713232" y="1673352"/>
            <a:ext cx="3456432" cy="111556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14400" y="1947672"/>
            <a:ext cx="512064" cy="512064"/>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 y="1847088"/>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PBMCs</a:t>
            </a:r>
          </a:p>
        </p:txBody>
      </p:sp>
      <p:sp>
        <p:nvSpPr>
          <p:cNvPr id="9" name="TextBox 8"/>
          <p:cNvSpPr txBox="1"/>
          <p:nvPr/>
        </p:nvSpPr>
        <p:spPr>
          <a:xfrm>
            <a:off x="1600200" y="2276856"/>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blood immune cells</a:t>
            </a:r>
          </a:p>
        </p:txBody>
      </p:sp>
      <p:sp>
        <p:nvSpPr>
          <p:cNvPr id="10" name="Rounded Rectangle 9"/>
          <p:cNvSpPr/>
          <p:nvPr/>
        </p:nvSpPr>
        <p:spPr>
          <a:xfrm>
            <a:off x="4517136" y="1673352"/>
            <a:ext cx="3456432" cy="1115568"/>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718304" y="1947672"/>
            <a:ext cx="512064" cy="512064"/>
          </a:xfrm>
          <a:prstGeom prst="ellipse">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04104" y="1847088"/>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 donor</a:t>
            </a:r>
          </a:p>
        </p:txBody>
      </p:sp>
      <p:sp>
        <p:nvSpPr>
          <p:cNvPr id="13" name="TextBox 12"/>
          <p:cNvSpPr txBox="1"/>
          <p:nvPr/>
        </p:nvSpPr>
        <p:spPr>
          <a:xfrm>
            <a:off x="5404104" y="2276856"/>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conditional first test</a:t>
            </a:r>
          </a:p>
        </p:txBody>
      </p:sp>
      <p:sp>
        <p:nvSpPr>
          <p:cNvPr id="14" name="Rounded Rectangle 13"/>
          <p:cNvSpPr/>
          <p:nvPr/>
        </p:nvSpPr>
        <p:spPr>
          <a:xfrm>
            <a:off x="8321040" y="1673352"/>
            <a:ext cx="3456432" cy="1115568"/>
          </a:xfrm>
          <a:prstGeom prst="roundRect">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522208" y="1947672"/>
            <a:ext cx="512064" cy="512064"/>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08008" y="1847088"/>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16 types</a:t>
            </a:r>
          </a:p>
        </p:txBody>
      </p:sp>
      <p:sp>
        <p:nvSpPr>
          <p:cNvPr id="17" name="TextBox 16"/>
          <p:cNvSpPr txBox="1"/>
          <p:nvPr/>
        </p:nvSpPr>
        <p:spPr>
          <a:xfrm>
            <a:off x="9208008" y="2276856"/>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including rare types</a:t>
            </a:r>
          </a:p>
        </p:txBody>
      </p:sp>
      <p:sp>
        <p:nvSpPr>
          <p:cNvPr id="18" name="Rounded Rectangle 17"/>
          <p:cNvSpPr/>
          <p:nvPr/>
        </p:nvSpPr>
        <p:spPr>
          <a:xfrm>
            <a:off x="713232" y="3072384"/>
            <a:ext cx="3456432" cy="111556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14400" y="3346704"/>
            <a:ext cx="512064" cy="512064"/>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00200" y="3246120"/>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5,000 peaks</a:t>
            </a:r>
          </a:p>
        </p:txBody>
      </p:sp>
      <p:sp>
        <p:nvSpPr>
          <p:cNvPr id="21" name="TextBox 20"/>
          <p:cNvSpPr txBox="1"/>
          <p:nvPr/>
        </p:nvSpPr>
        <p:spPr>
          <a:xfrm>
            <a:off x="1600200" y="3675888"/>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selected from reference cells</a:t>
            </a:r>
          </a:p>
        </p:txBody>
      </p:sp>
      <p:sp>
        <p:nvSpPr>
          <p:cNvPr id="22" name="Rounded Rectangle 21"/>
          <p:cNvSpPr/>
          <p:nvPr/>
        </p:nvSpPr>
        <p:spPr>
          <a:xfrm>
            <a:off x="4517136" y="3072384"/>
            <a:ext cx="3456432" cy="1115568"/>
          </a:xfrm>
          <a:prstGeom prst="roundRect">
            <a:avLst/>
          </a:prstGeom>
          <a:solidFill>
            <a:srgbClr val="FFFFFF"/>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718304" y="3346704"/>
            <a:ext cx="512064" cy="512064"/>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04104" y="3246120"/>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1,024 spots</a:t>
            </a:r>
          </a:p>
        </p:txBody>
      </p:sp>
      <p:sp>
        <p:nvSpPr>
          <p:cNvPr id="25" name="TextBox 24"/>
          <p:cNvSpPr txBox="1"/>
          <p:nvPr/>
        </p:nvSpPr>
        <p:spPr>
          <a:xfrm>
            <a:off x="5404104" y="3675888"/>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32 × 32 simulated grid</a:t>
            </a:r>
          </a:p>
        </p:txBody>
      </p:sp>
      <p:sp>
        <p:nvSpPr>
          <p:cNvPr id="26" name="Rounded Rectangle 25"/>
          <p:cNvSpPr/>
          <p:nvPr/>
        </p:nvSpPr>
        <p:spPr>
          <a:xfrm>
            <a:off x="8321040" y="3072384"/>
            <a:ext cx="3456432" cy="1115568"/>
          </a:xfrm>
          <a:prstGeom prst="roundRect">
            <a:avLst/>
          </a:prstGeom>
          <a:solidFill>
            <a:srgbClr val="FFFFFF"/>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22208" y="3346704"/>
            <a:ext cx="512064" cy="512064"/>
          </a:xfrm>
          <a:prstGeom prst="ellipse">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08008" y="3246120"/>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~10 cells</a:t>
            </a:r>
          </a:p>
        </p:txBody>
      </p:sp>
      <p:sp>
        <p:nvSpPr>
          <p:cNvPr id="29" name="TextBox 28"/>
          <p:cNvSpPr txBox="1"/>
          <p:nvPr/>
        </p:nvSpPr>
        <p:spPr>
          <a:xfrm>
            <a:off x="9208008" y="3675888"/>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average per pseudo-spot</a:t>
            </a:r>
          </a:p>
        </p:txBody>
      </p:sp>
      <p:sp>
        <p:nvSpPr>
          <p:cNvPr id="30" name="Rounded Rectangle 29"/>
          <p:cNvSpPr/>
          <p:nvPr/>
        </p:nvSpPr>
        <p:spPr>
          <a:xfrm>
            <a:off x="722376" y="4681728"/>
            <a:ext cx="10744200" cy="128016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4984" y="4965192"/>
            <a:ext cx="2779776" cy="329184"/>
          </a:xfrm>
          <a:prstGeom prst="rect">
            <a:avLst/>
          </a:prstGeom>
          <a:noFill/>
        </p:spPr>
        <p:txBody>
          <a:bodyPr wrap="square" lIns="36576" tIns="36576" rIns="36576" bIns="36576" anchor="t">
            <a:spAutoFit/>
          </a:bodyPr>
          <a:lstStyle/>
          <a:p>
            <a:pPr algn="l">
              <a:spcBef>
                <a:spcPts val="0"/>
              </a:spcBef>
              <a:spcAft>
                <a:spcPts val="0"/>
              </a:spcAft>
            </a:pPr>
            <a:r>
              <a:rPr sz="2100" b="1" i="0">
                <a:solidFill>
                  <a:srgbClr val="FFFFFF"/>
                </a:solidFill>
                <a:latin typeface="Aptos"/>
              </a:rPr>
              <a:t>Why simulate spatial spots?</a:t>
            </a:r>
          </a:p>
        </p:txBody>
      </p:sp>
      <p:sp>
        <p:nvSpPr>
          <p:cNvPr id="32" name="TextBox 31"/>
          <p:cNvSpPr txBox="1"/>
          <p:nvPr/>
        </p:nvSpPr>
        <p:spPr>
          <a:xfrm>
            <a:off x="3904487" y="4919472"/>
            <a:ext cx="7132320" cy="621792"/>
          </a:xfrm>
          <a:prstGeom prst="rect">
            <a:avLst/>
          </a:prstGeom>
          <a:noFill/>
        </p:spPr>
        <p:txBody>
          <a:bodyPr wrap="square" lIns="36576" tIns="36576" rIns="36576" bIns="36576" anchor="t">
            <a:spAutoFit/>
          </a:bodyPr>
          <a:lstStyle/>
          <a:p>
            <a:pPr algn="l">
              <a:spcBef>
                <a:spcPts val="0"/>
              </a:spcBef>
              <a:spcAft>
                <a:spcPts val="0"/>
              </a:spcAft>
            </a:pPr>
            <a:r>
              <a:rPr sz="1800" b="0" i="0">
                <a:solidFill>
                  <a:srgbClr val="D7E2EE"/>
                </a:solidFill>
                <a:latin typeface="Aptos"/>
              </a:rPr>
              <a:t>Because the source cells are labeled, every pseudo-spot has an exact ingredient list. That gives a fair answer key.</a:t>
            </a:r>
          </a:p>
        </p:txBody>
      </p:sp>
      <p:sp>
        <p:nvSpPr>
          <p:cNvPr id="33" name="Rounded Rectangle 32"/>
          <p:cNvSpPr/>
          <p:nvPr/>
        </p:nvSpPr>
        <p:spPr>
          <a:xfrm>
            <a:off x="9025128" y="5504688"/>
            <a:ext cx="1682496"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KNOWN GROUND TRUTH</a:t>
            </a:r>
          </a:p>
        </p:txBody>
      </p:sp>
      <p:cxnSp>
        <p:nvCxnSpPr>
          <p:cNvPr id="34" name="Connector 33"/>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 10x Genomics PBMC from a healthy donor, granulocytes removed, 10k, Cell Ranger ARC 2.0.0.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VALIDATION ROADMAP</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Broader datasets test whether the idea generalizes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09</a:t>
            </a:r>
          </a:p>
        </p:txBody>
      </p:sp>
      <p:sp>
        <p:nvSpPr>
          <p:cNvPr id="5" name="TextBox 4"/>
          <p:cNvSpPr txBox="1"/>
          <p:nvPr/>
        </p:nvSpPr>
        <p:spPr>
          <a:xfrm>
            <a:off x="658368" y="1033271"/>
            <a:ext cx="10826496" cy="384048"/>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Different datasets answer different questions; not all provide exact ground truth.</a:t>
            </a:r>
          </a:p>
        </p:txBody>
      </p:sp>
      <p:sp>
        <p:nvSpPr>
          <p:cNvPr id="6" name="Rounded Rectangle 5"/>
          <p:cNvSpPr/>
          <p:nvPr/>
        </p:nvSpPr>
        <p:spPr>
          <a:xfrm>
            <a:off x="749808" y="1581912"/>
            <a:ext cx="1975104"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DATASET</a:t>
            </a:r>
          </a:p>
        </p:txBody>
      </p:sp>
      <p:sp>
        <p:nvSpPr>
          <p:cNvPr id="7" name="Rounded Rectangle 6"/>
          <p:cNvSpPr/>
          <p:nvPr/>
        </p:nvSpPr>
        <p:spPr>
          <a:xfrm>
            <a:off x="2761488" y="1581912"/>
            <a:ext cx="466344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WHAT IT ADDS</a:t>
            </a:r>
          </a:p>
        </p:txBody>
      </p:sp>
      <p:sp>
        <p:nvSpPr>
          <p:cNvPr id="8" name="Rounded Rectangle 7"/>
          <p:cNvSpPr/>
          <p:nvPr/>
        </p:nvSpPr>
        <p:spPr>
          <a:xfrm>
            <a:off x="7507224" y="1581912"/>
            <a:ext cx="3867912"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HOW WE CHECK IT</a:t>
            </a:r>
          </a:p>
        </p:txBody>
      </p:sp>
      <p:sp>
        <p:nvSpPr>
          <p:cNvPr id="9" name="Rounded Rectangle 8"/>
          <p:cNvSpPr/>
          <p:nvPr/>
        </p:nvSpPr>
        <p:spPr>
          <a:xfrm>
            <a:off x="713232" y="2093976"/>
            <a:ext cx="10771632" cy="658368"/>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240280"/>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Main PBMC</a:t>
            </a:r>
          </a:p>
        </p:txBody>
      </p:sp>
      <p:sp>
        <p:nvSpPr>
          <p:cNvPr id="11" name="TextBox 10"/>
          <p:cNvSpPr txBox="1"/>
          <p:nvPr/>
        </p:nvSpPr>
        <p:spPr>
          <a:xfrm>
            <a:off x="2862072" y="2212848"/>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Matched reference/test cells</a:t>
            </a:r>
          </a:p>
        </p:txBody>
      </p:sp>
      <p:sp>
        <p:nvSpPr>
          <p:cNvPr id="12" name="TextBox 11"/>
          <p:cNvSpPr txBox="1"/>
          <p:nvPr/>
        </p:nvSpPr>
        <p:spPr>
          <a:xfrm>
            <a:off x="7598664" y="2212848"/>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Exact pseudo-spot recipe</a:t>
            </a:r>
          </a:p>
        </p:txBody>
      </p:sp>
      <p:sp>
        <p:nvSpPr>
          <p:cNvPr id="13" name="Rounded Rectangle 12"/>
          <p:cNvSpPr/>
          <p:nvPr/>
        </p:nvSpPr>
        <p:spPr>
          <a:xfrm>
            <a:off x="713232" y="2926080"/>
            <a:ext cx="10771632" cy="658368"/>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3072384"/>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GSE129785</a:t>
            </a:r>
          </a:p>
        </p:txBody>
      </p:sp>
      <p:sp>
        <p:nvSpPr>
          <p:cNvPr id="15" name="TextBox 14"/>
          <p:cNvSpPr txBox="1"/>
          <p:nvPr/>
        </p:nvSpPr>
        <p:spPr>
          <a:xfrm>
            <a:off x="2862072" y="3044952"/>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Immune dilution series + sorted cells</a:t>
            </a:r>
          </a:p>
        </p:txBody>
      </p:sp>
      <p:sp>
        <p:nvSpPr>
          <p:cNvPr id="16" name="TextBox 15"/>
          <p:cNvSpPr txBox="1"/>
          <p:nvPr/>
        </p:nvSpPr>
        <p:spPr>
          <a:xfrm>
            <a:off x="7598664" y="3044952"/>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Nominal ratios or new pseudo-spots</a:t>
            </a:r>
          </a:p>
        </p:txBody>
      </p:sp>
      <p:sp>
        <p:nvSpPr>
          <p:cNvPr id="17" name="Rounded Rectangle 16"/>
          <p:cNvSpPr/>
          <p:nvPr/>
        </p:nvSpPr>
        <p:spPr>
          <a:xfrm>
            <a:off x="713232" y="3758184"/>
            <a:ext cx="10771632" cy="658368"/>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3904488"/>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GSE194122</a:t>
            </a:r>
          </a:p>
        </p:txBody>
      </p:sp>
      <p:sp>
        <p:nvSpPr>
          <p:cNvPr id="19" name="TextBox 18"/>
          <p:cNvSpPr txBox="1"/>
          <p:nvPr/>
        </p:nvSpPr>
        <p:spPr>
          <a:xfrm>
            <a:off x="2862072" y="3877056"/>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Multiple bone-marrow donors and sites</a:t>
            </a:r>
          </a:p>
        </p:txBody>
      </p:sp>
      <p:sp>
        <p:nvSpPr>
          <p:cNvPr id="20" name="TextBox 19"/>
          <p:cNvSpPr txBox="1"/>
          <p:nvPr/>
        </p:nvSpPr>
        <p:spPr>
          <a:xfrm>
            <a:off x="7598664" y="3877056"/>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Hold out one donor at a time</a:t>
            </a:r>
          </a:p>
        </p:txBody>
      </p:sp>
      <p:sp>
        <p:nvSpPr>
          <p:cNvPr id="21" name="Rounded Rectangle 20"/>
          <p:cNvSpPr/>
          <p:nvPr/>
        </p:nvSpPr>
        <p:spPr>
          <a:xfrm>
            <a:off x="713232" y="4590288"/>
            <a:ext cx="10771632" cy="658368"/>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4736592"/>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GSE205055 / 263333</a:t>
            </a:r>
          </a:p>
        </p:txBody>
      </p:sp>
      <p:sp>
        <p:nvSpPr>
          <p:cNvPr id="23" name="TextBox 22"/>
          <p:cNvSpPr txBox="1"/>
          <p:nvPr/>
        </p:nvSpPr>
        <p:spPr>
          <a:xfrm>
            <a:off x="2862072" y="4709159"/>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Real spatial tissues and multi-omics</a:t>
            </a:r>
          </a:p>
        </p:txBody>
      </p:sp>
      <p:sp>
        <p:nvSpPr>
          <p:cNvPr id="24" name="TextBox 23"/>
          <p:cNvSpPr txBox="1"/>
          <p:nvPr/>
        </p:nvSpPr>
        <p:spPr>
          <a:xfrm>
            <a:off x="7598664" y="4709159"/>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Anatomy, RNA, protein, or markers</a:t>
            </a:r>
          </a:p>
        </p:txBody>
      </p:sp>
      <p:sp>
        <p:nvSpPr>
          <p:cNvPr id="25" name="Rounded Rectangle 24"/>
          <p:cNvSpPr/>
          <p:nvPr/>
        </p:nvSpPr>
        <p:spPr>
          <a:xfrm>
            <a:off x="731520" y="5532120"/>
            <a:ext cx="10735056" cy="58521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50976" y="5660136"/>
            <a:ext cx="10259568" cy="292608"/>
          </a:xfrm>
          <a:prstGeom prst="rect">
            <a:avLst/>
          </a:prstGeom>
          <a:noFill/>
        </p:spPr>
        <p:txBody>
          <a:bodyPr wrap="square" lIns="36576" tIns="36576" rIns="36576" bIns="36576">
            <a:spAutoFit/>
          </a:bodyPr>
          <a:lstStyle/>
          <a:p>
            <a:pPr algn="ctr"/>
            <a:r>
              <a:rPr sz="1500" b="1" i="0">
                <a:solidFill>
                  <a:srgbClr val="F26B5B"/>
                </a:solidFill>
                <a:latin typeface="Aptos"/>
              </a:rPr>
              <a:t>Key rule: </a:t>
            </a:r>
            <a:r>
              <a:rPr sz="1500" b="0" i="0">
                <a:solidFill>
                  <a:srgbClr val="13233B"/>
                </a:solidFill>
                <a:latin typeface="Aptos"/>
              </a:rPr>
              <a:t>real spatial tissue usually has no exact answer key, so supporting evidence is validation—not perfect truth.</a:t>
            </a:r>
          </a:p>
        </p:txBody>
      </p:sp>
      <p:cxnSp>
        <p:nvCxnSpPr>
          <p:cNvPr id="27" name="Connector 26"/>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Sources: NCBI GEO accessions GSE129785, GSE194122, GSE205055, and GSE263333.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EVALUATION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Success means estimates are close to the known recipe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10</a:t>
            </a:r>
          </a:p>
        </p:txBody>
      </p:sp>
      <p:sp>
        <p:nvSpPr>
          <p:cNvPr id="5" name="Rounded Rectangle 4"/>
          <p:cNvSpPr/>
          <p:nvPr/>
        </p:nvSpPr>
        <p:spPr>
          <a:xfrm>
            <a:off x="4398264" y="1097280"/>
            <a:ext cx="3383280" cy="35661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TEACHING EXAMPLE — NOT RESULTS</a:t>
            </a:r>
          </a:p>
        </p:txBody>
      </p:sp>
      <p:sp>
        <p:nvSpPr>
          <p:cNvPr id="6" name="Rounded Rectangle 5"/>
          <p:cNvSpPr/>
          <p:nvPr/>
        </p:nvSpPr>
        <p:spPr>
          <a:xfrm>
            <a:off x="722376" y="1719072"/>
            <a:ext cx="5650992" cy="4315968"/>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1984248"/>
            <a:ext cx="5029200" cy="347472"/>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13233B"/>
                </a:solidFill>
                <a:latin typeface="Aptos"/>
              </a:rPr>
              <a:t>Compare truth with prediction</a:t>
            </a:r>
          </a:p>
        </p:txBody>
      </p:sp>
      <p:sp>
        <p:nvSpPr>
          <p:cNvPr id="8" name="TextBox 7"/>
          <p:cNvSpPr txBox="1"/>
          <p:nvPr/>
        </p:nvSpPr>
        <p:spPr>
          <a:xfrm>
            <a:off x="1014984" y="2734056"/>
            <a:ext cx="932688" cy="256032"/>
          </a:xfrm>
          <a:prstGeom prst="rect">
            <a:avLst/>
          </a:prstGeom>
          <a:noFill/>
        </p:spPr>
        <p:txBody>
          <a:bodyPr wrap="square" lIns="36576" tIns="36576" rIns="36576" bIns="36576" anchor="t">
            <a:spAutoFit/>
          </a:bodyPr>
          <a:lstStyle/>
          <a:p>
            <a:pPr algn="l">
              <a:spcBef>
                <a:spcPts val="0"/>
              </a:spcBef>
              <a:spcAft>
                <a:spcPts val="0"/>
              </a:spcAft>
            </a:pPr>
            <a:r>
              <a:rPr sz="1500" b="1" i="0">
                <a:solidFill>
                  <a:srgbClr val="13233B"/>
                </a:solidFill>
                <a:latin typeface="Aptos"/>
              </a:rPr>
              <a:t>Truth</a:t>
            </a:r>
          </a:p>
        </p:txBody>
      </p:sp>
      <p:sp>
        <p:nvSpPr>
          <p:cNvPr id="9" name="Rectangle 8"/>
          <p:cNvSpPr/>
          <p:nvPr/>
        </p:nvSpPr>
        <p:spPr>
          <a:xfrm>
            <a:off x="2029968" y="2660904"/>
            <a:ext cx="1792224"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29968" y="2670048"/>
            <a:ext cx="1792224"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11" name="Rectangle 10"/>
          <p:cNvSpPr/>
          <p:nvPr/>
        </p:nvSpPr>
        <p:spPr>
          <a:xfrm>
            <a:off x="3822191" y="2660904"/>
            <a:ext cx="1075334"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22191" y="2670048"/>
            <a:ext cx="1075334"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13" name="Rectangle 12"/>
          <p:cNvSpPr/>
          <p:nvPr/>
        </p:nvSpPr>
        <p:spPr>
          <a:xfrm>
            <a:off x="4897526" y="2660904"/>
            <a:ext cx="716889"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97526" y="2670048"/>
            <a:ext cx="716889"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15" name="Rectangle 14"/>
          <p:cNvSpPr/>
          <p:nvPr/>
        </p:nvSpPr>
        <p:spPr>
          <a:xfrm>
            <a:off x="2029968" y="2660904"/>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3593592"/>
            <a:ext cx="932688" cy="256032"/>
          </a:xfrm>
          <a:prstGeom prst="rect">
            <a:avLst/>
          </a:prstGeom>
          <a:noFill/>
        </p:spPr>
        <p:txBody>
          <a:bodyPr wrap="square" lIns="36576" tIns="36576" rIns="36576" bIns="36576" anchor="t">
            <a:spAutoFit/>
          </a:bodyPr>
          <a:lstStyle/>
          <a:p>
            <a:pPr algn="l">
              <a:spcBef>
                <a:spcPts val="0"/>
              </a:spcBef>
              <a:spcAft>
                <a:spcPts val="0"/>
              </a:spcAft>
            </a:pPr>
            <a:r>
              <a:rPr sz="1500" b="1" i="0">
                <a:solidFill>
                  <a:srgbClr val="13233B"/>
                </a:solidFill>
                <a:latin typeface="Aptos"/>
              </a:rPr>
              <a:t>Model A</a:t>
            </a:r>
          </a:p>
        </p:txBody>
      </p:sp>
      <p:sp>
        <p:nvSpPr>
          <p:cNvPr id="17" name="Rectangle 16"/>
          <p:cNvSpPr/>
          <p:nvPr/>
        </p:nvSpPr>
        <p:spPr>
          <a:xfrm>
            <a:off x="2029968" y="3520440"/>
            <a:ext cx="1648846"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29968" y="3529584"/>
            <a:ext cx="1648846"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46%</a:t>
            </a:r>
          </a:p>
        </p:txBody>
      </p:sp>
      <p:sp>
        <p:nvSpPr>
          <p:cNvPr id="19" name="Rectangle 18"/>
          <p:cNvSpPr/>
          <p:nvPr/>
        </p:nvSpPr>
        <p:spPr>
          <a:xfrm>
            <a:off x="3678814" y="3520440"/>
            <a:ext cx="1218712"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78814" y="3529584"/>
            <a:ext cx="1218712"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34%</a:t>
            </a:r>
          </a:p>
        </p:txBody>
      </p:sp>
      <p:sp>
        <p:nvSpPr>
          <p:cNvPr id="21" name="Rectangle 20"/>
          <p:cNvSpPr/>
          <p:nvPr/>
        </p:nvSpPr>
        <p:spPr>
          <a:xfrm>
            <a:off x="4897526" y="3520440"/>
            <a:ext cx="716889"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97526" y="3529584"/>
            <a:ext cx="716889"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23" name="Rectangle 22"/>
          <p:cNvSpPr/>
          <p:nvPr/>
        </p:nvSpPr>
        <p:spPr>
          <a:xfrm>
            <a:off x="2029968" y="3520440"/>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650992" y="3566160"/>
            <a:ext cx="566928"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closer</a:t>
            </a:r>
          </a:p>
        </p:txBody>
      </p:sp>
      <p:sp>
        <p:nvSpPr>
          <p:cNvPr id="25" name="TextBox 24"/>
          <p:cNvSpPr txBox="1"/>
          <p:nvPr/>
        </p:nvSpPr>
        <p:spPr>
          <a:xfrm>
            <a:off x="1014984" y="4453128"/>
            <a:ext cx="932688" cy="256032"/>
          </a:xfrm>
          <a:prstGeom prst="rect">
            <a:avLst/>
          </a:prstGeom>
          <a:noFill/>
        </p:spPr>
        <p:txBody>
          <a:bodyPr wrap="square" lIns="36576" tIns="36576" rIns="36576" bIns="36576" anchor="t">
            <a:spAutoFit/>
          </a:bodyPr>
          <a:lstStyle/>
          <a:p>
            <a:pPr algn="l">
              <a:spcBef>
                <a:spcPts val="0"/>
              </a:spcBef>
              <a:spcAft>
                <a:spcPts val="0"/>
              </a:spcAft>
            </a:pPr>
            <a:r>
              <a:rPr sz="1500" b="1" i="0">
                <a:solidFill>
                  <a:srgbClr val="13233B"/>
                </a:solidFill>
                <a:latin typeface="Aptos"/>
              </a:rPr>
              <a:t>Model B</a:t>
            </a:r>
          </a:p>
        </p:txBody>
      </p:sp>
      <p:sp>
        <p:nvSpPr>
          <p:cNvPr id="26" name="Rectangle 25"/>
          <p:cNvSpPr/>
          <p:nvPr/>
        </p:nvSpPr>
        <p:spPr>
          <a:xfrm>
            <a:off x="2029968" y="4379976"/>
            <a:ext cx="1003645"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029968" y="4389120"/>
            <a:ext cx="1003645"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28%</a:t>
            </a:r>
          </a:p>
        </p:txBody>
      </p:sp>
      <p:sp>
        <p:nvSpPr>
          <p:cNvPr id="28" name="Rectangle 27"/>
          <p:cNvSpPr/>
          <p:nvPr/>
        </p:nvSpPr>
        <p:spPr>
          <a:xfrm>
            <a:off x="3033613" y="4379976"/>
            <a:ext cx="1505468"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033613" y="4389120"/>
            <a:ext cx="1505468"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42%</a:t>
            </a:r>
          </a:p>
        </p:txBody>
      </p:sp>
      <p:sp>
        <p:nvSpPr>
          <p:cNvPr id="30" name="Rectangle 29"/>
          <p:cNvSpPr/>
          <p:nvPr/>
        </p:nvSpPr>
        <p:spPr>
          <a:xfrm>
            <a:off x="4539081" y="4379976"/>
            <a:ext cx="1075334"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39081" y="4389120"/>
            <a:ext cx="1075334"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32" name="Rectangle 31"/>
          <p:cNvSpPr/>
          <p:nvPr/>
        </p:nvSpPr>
        <p:spPr>
          <a:xfrm>
            <a:off x="2029968" y="4379976"/>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5650992" y="4425696"/>
            <a:ext cx="566928"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farther</a:t>
            </a:r>
          </a:p>
        </p:txBody>
      </p:sp>
      <p:sp>
        <p:nvSpPr>
          <p:cNvPr id="34" name="Oval 33"/>
          <p:cNvSpPr/>
          <p:nvPr/>
        </p:nvSpPr>
        <p:spPr>
          <a:xfrm>
            <a:off x="1581912" y="5349240"/>
            <a:ext cx="173736" cy="173736"/>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810512" y="5294376"/>
            <a:ext cx="1005840" cy="2286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52627A"/>
                </a:solidFill>
                <a:latin typeface="Aptos"/>
              </a:rPr>
              <a:t>B cell</a:t>
            </a:r>
          </a:p>
        </p:txBody>
      </p:sp>
      <p:sp>
        <p:nvSpPr>
          <p:cNvPr id="36" name="Oval 35"/>
          <p:cNvSpPr/>
          <p:nvPr/>
        </p:nvSpPr>
        <p:spPr>
          <a:xfrm>
            <a:off x="2999232" y="5349240"/>
            <a:ext cx="173736" cy="173736"/>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27832" y="5294376"/>
            <a:ext cx="1005840" cy="2286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52627A"/>
                </a:solidFill>
                <a:latin typeface="Aptos"/>
              </a:rPr>
              <a:t>T cell</a:t>
            </a:r>
          </a:p>
        </p:txBody>
      </p:sp>
      <p:sp>
        <p:nvSpPr>
          <p:cNvPr id="38" name="Oval 37"/>
          <p:cNvSpPr/>
          <p:nvPr/>
        </p:nvSpPr>
        <p:spPr>
          <a:xfrm>
            <a:off x="4416552" y="5349240"/>
            <a:ext cx="173736" cy="173736"/>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45152" y="5294376"/>
            <a:ext cx="1005840" cy="2286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52627A"/>
                </a:solidFill>
                <a:latin typeface="Aptos"/>
              </a:rPr>
              <a:t>Monocyte</a:t>
            </a:r>
          </a:p>
        </p:txBody>
      </p:sp>
      <p:sp>
        <p:nvSpPr>
          <p:cNvPr id="40" name="Rounded Rectangle 39"/>
          <p:cNvSpPr/>
          <p:nvPr/>
        </p:nvSpPr>
        <p:spPr>
          <a:xfrm>
            <a:off x="6711696" y="1719072"/>
            <a:ext cx="4754880" cy="886968"/>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6958584" y="1883664"/>
            <a:ext cx="1078992"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RMSE</a:t>
            </a:r>
          </a:p>
        </p:txBody>
      </p:sp>
      <p:sp>
        <p:nvSpPr>
          <p:cNvPr id="42" name="TextBox 41"/>
          <p:cNvSpPr txBox="1"/>
          <p:nvPr/>
        </p:nvSpPr>
        <p:spPr>
          <a:xfrm>
            <a:off x="8247888" y="1828800"/>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average size of the proportion errors</a:t>
            </a:r>
          </a:p>
        </p:txBody>
      </p:sp>
      <p:sp>
        <p:nvSpPr>
          <p:cNvPr id="43" name="TextBox 42"/>
          <p:cNvSpPr txBox="1"/>
          <p:nvPr/>
        </p:nvSpPr>
        <p:spPr>
          <a:xfrm>
            <a:off x="8257031" y="2258568"/>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3B82F6"/>
                </a:solidFill>
                <a:latin typeface="Aptos"/>
              </a:rPr>
              <a:t>LOWER is better</a:t>
            </a:r>
          </a:p>
        </p:txBody>
      </p:sp>
      <p:sp>
        <p:nvSpPr>
          <p:cNvPr id="44" name="Rounded Rectangle 43"/>
          <p:cNvSpPr/>
          <p:nvPr/>
        </p:nvSpPr>
        <p:spPr>
          <a:xfrm>
            <a:off x="6711696" y="2798063"/>
            <a:ext cx="4754880" cy="886968"/>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6958584" y="2962656"/>
            <a:ext cx="1078992"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JSD</a:t>
            </a:r>
          </a:p>
        </p:txBody>
      </p:sp>
      <p:sp>
        <p:nvSpPr>
          <p:cNvPr id="46" name="TextBox 45"/>
          <p:cNvSpPr txBox="1"/>
          <p:nvPr/>
        </p:nvSpPr>
        <p:spPr>
          <a:xfrm>
            <a:off x="8247888" y="2907791"/>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how different the full mixtures are</a:t>
            </a:r>
          </a:p>
        </p:txBody>
      </p:sp>
      <p:sp>
        <p:nvSpPr>
          <p:cNvPr id="47" name="TextBox 46"/>
          <p:cNvSpPr txBox="1"/>
          <p:nvPr/>
        </p:nvSpPr>
        <p:spPr>
          <a:xfrm>
            <a:off x="8257031" y="3337559"/>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8B5CF6"/>
                </a:solidFill>
                <a:latin typeface="Aptos"/>
              </a:rPr>
              <a:t>LOWER is better</a:t>
            </a:r>
          </a:p>
        </p:txBody>
      </p:sp>
      <p:sp>
        <p:nvSpPr>
          <p:cNvPr id="48" name="Rounded Rectangle 47"/>
          <p:cNvSpPr/>
          <p:nvPr/>
        </p:nvSpPr>
        <p:spPr>
          <a:xfrm>
            <a:off x="6711696" y="3877056"/>
            <a:ext cx="4754880" cy="886968"/>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958584" y="4041648"/>
            <a:ext cx="1078992"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Rare-cell F1</a:t>
            </a:r>
          </a:p>
        </p:txBody>
      </p:sp>
      <p:sp>
        <p:nvSpPr>
          <p:cNvPr id="50" name="TextBox 49"/>
          <p:cNvSpPr txBox="1"/>
          <p:nvPr/>
        </p:nvSpPr>
        <p:spPr>
          <a:xfrm>
            <a:off x="8247888" y="3986784"/>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balance of finding rare cells without false alarms</a:t>
            </a:r>
          </a:p>
        </p:txBody>
      </p:sp>
      <p:sp>
        <p:nvSpPr>
          <p:cNvPr id="51" name="TextBox 50"/>
          <p:cNvSpPr txBox="1"/>
          <p:nvPr/>
        </p:nvSpPr>
        <p:spPr>
          <a:xfrm>
            <a:off x="8257031" y="4416552"/>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HIGHER is better</a:t>
            </a:r>
          </a:p>
        </p:txBody>
      </p:sp>
      <p:sp>
        <p:nvSpPr>
          <p:cNvPr id="52" name="Rounded Rectangle 51"/>
          <p:cNvSpPr/>
          <p:nvPr/>
        </p:nvSpPr>
        <p:spPr>
          <a:xfrm>
            <a:off x="6711696" y="4956048"/>
            <a:ext cx="4754880" cy="886968"/>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6958584" y="5120640"/>
            <a:ext cx="1078992"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Runtime</a:t>
            </a:r>
          </a:p>
        </p:txBody>
      </p:sp>
      <p:sp>
        <p:nvSpPr>
          <p:cNvPr id="54" name="TextBox 53"/>
          <p:cNvSpPr txBox="1"/>
          <p:nvPr/>
        </p:nvSpPr>
        <p:spPr>
          <a:xfrm>
            <a:off x="8247888" y="5065776"/>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extra computing cost for the added information</a:t>
            </a:r>
          </a:p>
        </p:txBody>
      </p:sp>
      <p:sp>
        <p:nvSpPr>
          <p:cNvPr id="55" name="TextBox 54"/>
          <p:cNvSpPr txBox="1"/>
          <p:nvPr/>
        </p:nvSpPr>
        <p:spPr>
          <a:xfrm>
            <a:off x="8257031" y="5495544"/>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LESS is better</a:t>
            </a:r>
          </a:p>
        </p:txBody>
      </p:sp>
      <p:cxnSp>
        <p:nvCxnSpPr>
          <p:cNvPr id="56" name="Connector 5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Primary planned endpoints: RMSE and base-2 Jensen–Shannon divergence (JSD).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INTERPRETING THE STUDY</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FFFFFF"/>
                </a:solidFill>
                <a:latin typeface="Aptos Display"/>
              </a:rPr>
              <a:t>Every possible outcome teaches us something</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D7E2EE"/>
                </a:solidFill>
                <a:latin typeface="Aptos"/>
              </a:rPr>
              <a:t>11</a:t>
            </a:r>
          </a:p>
        </p:txBody>
      </p:sp>
      <p:sp>
        <p:nvSpPr>
          <p:cNvPr id="5" name="Rounded Rectangle 4"/>
          <p:cNvSpPr/>
          <p:nvPr/>
        </p:nvSpPr>
        <p:spPr>
          <a:xfrm>
            <a:off x="667512" y="1435608"/>
            <a:ext cx="3456432" cy="4270248"/>
          </a:xfrm>
          <a:prstGeom prst="roundRect">
            <a:avLst/>
          </a:prstGeom>
          <a:solidFill>
            <a:srgbClr val="1C3152"/>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47672" y="1764792"/>
            <a:ext cx="896112" cy="896112"/>
          </a:xfrm>
          <a:prstGeom prst="ellipse">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47672" y="1773936"/>
            <a:ext cx="896112" cy="731520"/>
          </a:xfrm>
          <a:prstGeom prst="rect">
            <a:avLst/>
          </a:prstGeom>
          <a:noFill/>
        </p:spPr>
        <p:txBody>
          <a:bodyPr wrap="square" lIns="36576" tIns="36576" rIns="36576" bIns="36576" anchor="ctr">
            <a:spAutoFit/>
          </a:bodyPr>
          <a:lstStyle/>
          <a:p>
            <a:pPr algn="ctr">
              <a:spcBef>
                <a:spcPts val="0"/>
              </a:spcBef>
              <a:spcAft>
                <a:spcPts val="0"/>
              </a:spcAft>
            </a:pPr>
            <a:r>
              <a:rPr sz="3400" b="1" i="0">
                <a:solidFill>
                  <a:srgbClr val="FFFFFF"/>
                </a:solidFill>
                <a:latin typeface="Aptos"/>
              </a:rPr>
              <a:t>↓</a:t>
            </a:r>
          </a:p>
        </p:txBody>
      </p:sp>
      <p:sp>
        <p:nvSpPr>
          <p:cNvPr id="8" name="TextBox 7"/>
          <p:cNvSpPr txBox="1"/>
          <p:nvPr/>
        </p:nvSpPr>
        <p:spPr>
          <a:xfrm>
            <a:off x="969264" y="2852928"/>
            <a:ext cx="283464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FFFFFF"/>
                </a:solidFill>
                <a:latin typeface="Aptos"/>
              </a:rPr>
              <a:t>SHAPE HELPS</a:t>
            </a:r>
          </a:p>
        </p:txBody>
      </p:sp>
      <p:sp>
        <p:nvSpPr>
          <p:cNvPr id="9" name="Rounded Rectangle 8"/>
          <p:cNvSpPr/>
          <p:nvPr/>
        </p:nvSpPr>
        <p:spPr>
          <a:xfrm>
            <a:off x="1636776" y="3383280"/>
            <a:ext cx="1517904"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LOWER ERROR</a:t>
            </a:r>
          </a:p>
        </p:txBody>
      </p:sp>
      <p:sp>
        <p:nvSpPr>
          <p:cNvPr id="10" name="TextBox 9"/>
          <p:cNvSpPr txBox="1"/>
          <p:nvPr/>
        </p:nvSpPr>
        <p:spPr>
          <a:xfrm>
            <a:off x="1051560" y="4014215"/>
            <a:ext cx="2688336" cy="1005840"/>
          </a:xfrm>
          <a:prstGeom prst="rect">
            <a:avLst/>
          </a:prstGeom>
          <a:noFill/>
        </p:spPr>
        <p:txBody>
          <a:bodyPr wrap="square" lIns="36576" tIns="36576" rIns="36576" bIns="36576" anchor="t">
            <a:spAutoFit/>
          </a:bodyPr>
          <a:lstStyle/>
          <a:p>
            <a:pPr algn="ctr">
              <a:spcBef>
                <a:spcPts val="0"/>
              </a:spcBef>
              <a:spcAft>
                <a:spcPts val="0"/>
              </a:spcAft>
            </a:pPr>
            <a:r>
              <a:rPr sz="1550" b="0" i="0">
                <a:solidFill>
                  <a:srgbClr val="D7E2EE"/>
                </a:solidFill>
                <a:latin typeface="Aptos"/>
              </a:rPr>
              <a:t>Fragment length adds cell-type information beyond peak totals.</a:t>
            </a:r>
          </a:p>
        </p:txBody>
      </p:sp>
      <p:sp>
        <p:nvSpPr>
          <p:cNvPr id="11" name="Rounded Rectangle 10"/>
          <p:cNvSpPr/>
          <p:nvPr/>
        </p:nvSpPr>
        <p:spPr>
          <a:xfrm>
            <a:off x="4480560" y="1435608"/>
            <a:ext cx="3456432" cy="4270248"/>
          </a:xfrm>
          <a:prstGeom prst="roundRect">
            <a:avLst/>
          </a:prstGeom>
          <a:solidFill>
            <a:srgbClr val="1C315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760720" y="1764792"/>
            <a:ext cx="896112" cy="896112"/>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0" y="1773936"/>
            <a:ext cx="896112" cy="731520"/>
          </a:xfrm>
          <a:prstGeom prst="rect">
            <a:avLst/>
          </a:prstGeom>
          <a:noFill/>
        </p:spPr>
        <p:txBody>
          <a:bodyPr wrap="square" lIns="36576" tIns="36576" rIns="36576" bIns="36576" anchor="ctr">
            <a:spAutoFit/>
          </a:bodyPr>
          <a:lstStyle/>
          <a:p>
            <a:pPr algn="ctr">
              <a:spcBef>
                <a:spcPts val="0"/>
              </a:spcBef>
              <a:spcAft>
                <a:spcPts val="0"/>
              </a:spcAft>
            </a:pPr>
            <a:r>
              <a:rPr sz="3400" b="1" i="0">
                <a:solidFill>
                  <a:srgbClr val="FFFFFF"/>
                </a:solidFill>
                <a:latin typeface="Aptos"/>
              </a:rPr>
              <a:t>≈</a:t>
            </a:r>
          </a:p>
        </p:txBody>
      </p:sp>
      <p:sp>
        <p:nvSpPr>
          <p:cNvPr id="14" name="TextBox 13"/>
          <p:cNvSpPr txBox="1"/>
          <p:nvPr/>
        </p:nvSpPr>
        <p:spPr>
          <a:xfrm>
            <a:off x="4782312" y="2852928"/>
            <a:ext cx="283464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FFFFFF"/>
                </a:solidFill>
                <a:latin typeface="Aptos"/>
              </a:rPr>
              <a:t>ABOUT THE SAME</a:t>
            </a:r>
          </a:p>
        </p:txBody>
      </p:sp>
      <p:sp>
        <p:nvSpPr>
          <p:cNvPr id="15" name="Rounded Rectangle 14"/>
          <p:cNvSpPr/>
          <p:nvPr/>
        </p:nvSpPr>
        <p:spPr>
          <a:xfrm>
            <a:off x="5449824" y="3383280"/>
            <a:ext cx="1517904"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SIMILAR ERROR</a:t>
            </a:r>
          </a:p>
        </p:txBody>
      </p:sp>
      <p:sp>
        <p:nvSpPr>
          <p:cNvPr id="16" name="TextBox 15"/>
          <p:cNvSpPr txBox="1"/>
          <p:nvPr/>
        </p:nvSpPr>
        <p:spPr>
          <a:xfrm>
            <a:off x="4864608" y="4014215"/>
            <a:ext cx="2688336" cy="1005840"/>
          </a:xfrm>
          <a:prstGeom prst="rect">
            <a:avLst/>
          </a:prstGeom>
          <a:noFill/>
        </p:spPr>
        <p:txBody>
          <a:bodyPr wrap="square" lIns="36576" tIns="36576" rIns="36576" bIns="36576" anchor="t">
            <a:spAutoFit/>
          </a:bodyPr>
          <a:lstStyle/>
          <a:p>
            <a:pPr algn="ctr">
              <a:spcBef>
                <a:spcPts val="0"/>
              </a:spcBef>
              <a:spcAft>
                <a:spcPts val="0"/>
              </a:spcAft>
            </a:pPr>
            <a:r>
              <a:rPr sz="1550" b="0" i="0">
                <a:solidFill>
                  <a:srgbClr val="D7E2EE"/>
                </a:solidFill>
                <a:latin typeface="Aptos"/>
              </a:rPr>
              <a:t>The extra clue may be too weak or redundant in this setting.</a:t>
            </a:r>
          </a:p>
        </p:txBody>
      </p:sp>
      <p:sp>
        <p:nvSpPr>
          <p:cNvPr id="17" name="Rounded Rectangle 16"/>
          <p:cNvSpPr/>
          <p:nvPr/>
        </p:nvSpPr>
        <p:spPr>
          <a:xfrm>
            <a:off x="8293608" y="1435608"/>
            <a:ext cx="3456432" cy="4270248"/>
          </a:xfrm>
          <a:prstGeom prst="roundRect">
            <a:avLst/>
          </a:prstGeom>
          <a:solidFill>
            <a:srgbClr val="1C3152"/>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573768" y="1764792"/>
            <a:ext cx="896112" cy="896112"/>
          </a:xfrm>
          <a:prstGeom prst="ellipse">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73768" y="1773936"/>
            <a:ext cx="896112" cy="731520"/>
          </a:xfrm>
          <a:prstGeom prst="rect">
            <a:avLst/>
          </a:prstGeom>
          <a:noFill/>
        </p:spPr>
        <p:txBody>
          <a:bodyPr wrap="square" lIns="36576" tIns="36576" rIns="36576" bIns="36576" anchor="ctr">
            <a:spAutoFit/>
          </a:bodyPr>
          <a:lstStyle/>
          <a:p>
            <a:pPr algn="ctr">
              <a:spcBef>
                <a:spcPts val="0"/>
              </a:spcBef>
              <a:spcAft>
                <a:spcPts val="0"/>
              </a:spcAft>
            </a:pPr>
            <a:r>
              <a:rPr sz="3400" b="1" i="0">
                <a:solidFill>
                  <a:srgbClr val="FFFFFF"/>
                </a:solidFill>
                <a:latin typeface="Aptos"/>
              </a:rPr>
              <a:t>↑</a:t>
            </a:r>
          </a:p>
        </p:txBody>
      </p:sp>
      <p:sp>
        <p:nvSpPr>
          <p:cNvPr id="20" name="TextBox 19"/>
          <p:cNvSpPr txBox="1"/>
          <p:nvPr/>
        </p:nvSpPr>
        <p:spPr>
          <a:xfrm>
            <a:off x="8595360" y="2852928"/>
            <a:ext cx="283464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FFFFFF"/>
                </a:solidFill>
                <a:latin typeface="Aptos"/>
              </a:rPr>
              <a:t>SHAPE HURTS</a:t>
            </a:r>
          </a:p>
        </p:txBody>
      </p:sp>
      <p:sp>
        <p:nvSpPr>
          <p:cNvPr id="21" name="Rounded Rectangle 20"/>
          <p:cNvSpPr/>
          <p:nvPr/>
        </p:nvSpPr>
        <p:spPr>
          <a:xfrm>
            <a:off x="9262872" y="3383280"/>
            <a:ext cx="1517904"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HIGHER ERROR</a:t>
            </a:r>
          </a:p>
        </p:txBody>
      </p:sp>
      <p:sp>
        <p:nvSpPr>
          <p:cNvPr id="22" name="TextBox 21"/>
          <p:cNvSpPr txBox="1"/>
          <p:nvPr/>
        </p:nvSpPr>
        <p:spPr>
          <a:xfrm>
            <a:off x="8677656" y="4014215"/>
            <a:ext cx="2688336" cy="1005840"/>
          </a:xfrm>
          <a:prstGeom prst="rect">
            <a:avLst/>
          </a:prstGeom>
          <a:noFill/>
        </p:spPr>
        <p:txBody>
          <a:bodyPr wrap="square" lIns="36576" tIns="36576" rIns="36576" bIns="36576" anchor="t">
            <a:spAutoFit/>
          </a:bodyPr>
          <a:lstStyle/>
          <a:p>
            <a:pPr algn="ctr">
              <a:spcBef>
                <a:spcPts val="0"/>
              </a:spcBef>
              <a:spcAft>
                <a:spcPts val="0"/>
              </a:spcAft>
            </a:pPr>
            <a:r>
              <a:rPr sz="1550" b="0" i="0">
                <a:solidFill>
                  <a:srgbClr val="D7E2EE"/>
                </a:solidFill>
                <a:latin typeface="Aptos"/>
              </a:rPr>
              <a:t>Noise, sparsity, or reference mismatch may outweigh the added detail.</a:t>
            </a:r>
          </a:p>
        </p:txBody>
      </p:sp>
      <p:sp>
        <p:nvSpPr>
          <p:cNvPr id="23" name="TextBox 22"/>
          <p:cNvSpPr txBox="1"/>
          <p:nvPr/>
        </p:nvSpPr>
        <p:spPr>
          <a:xfrm>
            <a:off x="1316736" y="6016752"/>
            <a:ext cx="9537192" cy="310896"/>
          </a:xfrm>
          <a:prstGeom prst="rect">
            <a:avLst/>
          </a:prstGeom>
          <a:noFill/>
        </p:spPr>
        <p:txBody>
          <a:bodyPr wrap="square" lIns="36576" tIns="36576" rIns="36576" bIns="36576" anchor="t">
            <a:spAutoFit/>
          </a:bodyPr>
          <a:lstStyle/>
          <a:p>
            <a:pPr algn="ctr">
              <a:spcBef>
                <a:spcPts val="0"/>
              </a:spcBef>
              <a:spcAft>
                <a:spcPts val="0"/>
              </a:spcAft>
            </a:pPr>
            <a:r>
              <a:rPr sz="1800" b="1" i="0">
                <a:solidFill>
                  <a:srgbClr val="FFFFFF"/>
                </a:solidFill>
                <a:latin typeface="Aptos"/>
              </a:rPr>
              <a:t>A negative result is still a real result: it sets a boundary on when added complexity is useful.</a:t>
            </a:r>
          </a:p>
        </p:txBody>
      </p:sp>
      <p:cxnSp>
        <p:nvCxnSpPr>
          <p:cNvPr id="24" name="Connector 23"/>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Outcome cards describe interpretations only; they do not report study results.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SCIENTIFIC CAUTION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Known risks—and how the design handles them</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12</a:t>
            </a:r>
          </a:p>
        </p:txBody>
      </p:sp>
      <p:sp>
        <p:nvSpPr>
          <p:cNvPr id="5" name="Rounded Rectangle 4"/>
          <p:cNvSpPr/>
          <p:nvPr/>
        </p:nvSpPr>
        <p:spPr>
          <a:xfrm>
            <a:off x="713232" y="1399032"/>
            <a:ext cx="5230368" cy="1883664"/>
          </a:xfrm>
          <a:prstGeom prst="roundRect">
            <a:avLst/>
          </a:prstGeom>
          <a:solidFill>
            <a:srgbClr val="F4F7FA"/>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41832" y="1627632"/>
            <a:ext cx="676656" cy="301752"/>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7" name="TextBox 6"/>
          <p:cNvSpPr txBox="1"/>
          <p:nvPr/>
        </p:nvSpPr>
        <p:spPr>
          <a:xfrm>
            <a:off x="1783080" y="1563624"/>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Sparse shape counts</a:t>
            </a:r>
          </a:p>
        </p:txBody>
      </p:sp>
      <p:cxnSp>
        <p:nvCxnSpPr>
          <p:cNvPr id="8" name="Connector 7"/>
          <p:cNvCxnSpPr/>
          <p:nvPr/>
        </p:nvCxnSpPr>
        <p:spPr>
          <a:xfrm>
            <a:off x="960120" y="2112264"/>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 y="2340864"/>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10" name="TextBox 9"/>
          <p:cNvSpPr txBox="1"/>
          <p:nvPr/>
        </p:nvSpPr>
        <p:spPr>
          <a:xfrm>
            <a:off x="2084832" y="2276856"/>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Use only three broad length bins and well-covered peaks.</a:t>
            </a:r>
          </a:p>
        </p:txBody>
      </p:sp>
      <p:sp>
        <p:nvSpPr>
          <p:cNvPr id="11" name="Rounded Rectangle 10"/>
          <p:cNvSpPr/>
          <p:nvPr/>
        </p:nvSpPr>
        <p:spPr>
          <a:xfrm>
            <a:off x="6272784" y="1399032"/>
            <a:ext cx="5230368" cy="1883664"/>
          </a:xfrm>
          <a:prstGeom prst="roundRect">
            <a:avLst/>
          </a:prstGeom>
          <a:solidFill>
            <a:srgbClr val="F4F7FA"/>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501384" y="1627632"/>
            <a:ext cx="676656" cy="301752"/>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13" name="TextBox 12"/>
          <p:cNvSpPr txBox="1"/>
          <p:nvPr/>
        </p:nvSpPr>
        <p:spPr>
          <a:xfrm>
            <a:off x="7342632" y="1563624"/>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One main donor</a:t>
            </a:r>
          </a:p>
        </p:txBody>
      </p:sp>
      <p:cxnSp>
        <p:nvCxnSpPr>
          <p:cNvPr id="14" name="Connector 13"/>
          <p:cNvCxnSpPr/>
          <p:nvPr/>
        </p:nvCxnSpPr>
        <p:spPr>
          <a:xfrm>
            <a:off x="6519672" y="2112264"/>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501384" y="2340864"/>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16" name="TextBox 15"/>
          <p:cNvSpPr txBox="1"/>
          <p:nvPr/>
        </p:nvSpPr>
        <p:spPr>
          <a:xfrm>
            <a:off x="7644383" y="2276856"/>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Limit claims; add multi-donor data before generalizing.</a:t>
            </a:r>
          </a:p>
        </p:txBody>
      </p:sp>
      <p:sp>
        <p:nvSpPr>
          <p:cNvPr id="17" name="Rounded Rectangle 16"/>
          <p:cNvSpPr/>
          <p:nvPr/>
        </p:nvSpPr>
        <p:spPr>
          <a:xfrm>
            <a:off x="713232" y="3648456"/>
            <a:ext cx="5230368" cy="1883664"/>
          </a:xfrm>
          <a:prstGeom prst="roundRect">
            <a:avLst/>
          </a:prstGeom>
          <a:solidFill>
            <a:srgbClr val="F4F7F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41832" y="3877056"/>
            <a:ext cx="676656" cy="301752"/>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19" name="TextBox 18"/>
          <p:cNvSpPr txBox="1"/>
          <p:nvPr/>
        </p:nvSpPr>
        <p:spPr>
          <a:xfrm>
            <a:off x="1783080" y="3813048"/>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Reference ≠ spatial assay</a:t>
            </a:r>
          </a:p>
        </p:txBody>
      </p:sp>
      <p:cxnSp>
        <p:nvCxnSpPr>
          <p:cNvPr id="20" name="Connector 19"/>
          <p:cNvCxnSpPr/>
          <p:nvPr/>
        </p:nvCxnSpPr>
        <p:spPr>
          <a:xfrm>
            <a:off x="960120" y="4361688"/>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41832" y="4590288"/>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22" name="TextBox 21"/>
          <p:cNvSpPr txBox="1"/>
          <p:nvPr/>
        </p:nvSpPr>
        <p:spPr>
          <a:xfrm>
            <a:off x="2084832" y="4526280"/>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Audit protocol differences and treat real tissue as qualitative validation.</a:t>
            </a:r>
          </a:p>
        </p:txBody>
      </p:sp>
      <p:sp>
        <p:nvSpPr>
          <p:cNvPr id="23" name="Rounded Rectangle 22"/>
          <p:cNvSpPr/>
          <p:nvPr/>
        </p:nvSpPr>
        <p:spPr>
          <a:xfrm>
            <a:off x="6272784" y="3648456"/>
            <a:ext cx="5230368" cy="1883664"/>
          </a:xfrm>
          <a:prstGeom prst="roundRect">
            <a:avLst/>
          </a:prstGeom>
          <a:solidFill>
            <a:srgbClr val="F4F7FA"/>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501384" y="3877056"/>
            <a:ext cx="676656" cy="30175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25" name="TextBox 24"/>
          <p:cNvSpPr txBox="1"/>
          <p:nvPr/>
        </p:nvSpPr>
        <p:spPr>
          <a:xfrm>
            <a:off x="7342632" y="3813048"/>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More complexity can overfit</a:t>
            </a:r>
          </a:p>
        </p:txBody>
      </p:sp>
      <p:cxnSp>
        <p:nvCxnSpPr>
          <p:cNvPr id="26" name="Connector 25"/>
          <p:cNvCxnSpPr/>
          <p:nvPr/>
        </p:nvCxnSpPr>
        <p:spPr>
          <a:xfrm>
            <a:off x="6519672" y="4361688"/>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01384" y="4590288"/>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28" name="TextBox 27"/>
          <p:cNvSpPr txBox="1"/>
          <p:nvPr/>
        </p:nvSpPr>
        <p:spPr>
          <a:xfrm>
            <a:off x="7644383" y="4526280"/>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Use held-out cells and an exactly matched count-only baseline.</a:t>
            </a:r>
          </a:p>
        </p:txBody>
      </p:sp>
      <p:sp>
        <p:nvSpPr>
          <p:cNvPr id="29" name="Rounded Rectangle 28"/>
          <p:cNvSpPr/>
          <p:nvPr/>
        </p:nvSpPr>
        <p:spPr>
          <a:xfrm>
            <a:off x="3931920" y="6044184"/>
            <a:ext cx="4325112" cy="36576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150" b="1">
                <a:solidFill>
                  <a:srgbClr val="FFFFFF"/>
                </a:solidFill>
                <a:latin typeface="Aptos"/>
              </a:rPr>
              <a:t>Claims will match the strength of the evidence</a:t>
            </a:r>
          </a:p>
        </p:txBody>
      </p:sp>
      <p:cxnSp>
        <p:nvCxnSpPr>
          <p:cNvPr id="30" name="Connector 2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These limitations are part of the planned interpretation, not after-the-fact excuses.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PROJECT STATUS</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This draft intentionally stops before the results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13</a:t>
            </a:r>
          </a:p>
        </p:txBody>
      </p:sp>
      <p:sp>
        <p:nvSpPr>
          <p:cNvPr id="5" name="Rounded Rectangle 4"/>
          <p:cNvSpPr/>
          <p:nvPr/>
        </p:nvSpPr>
        <p:spPr>
          <a:xfrm>
            <a:off x="694944" y="1344168"/>
            <a:ext cx="10789920" cy="987552"/>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510908"/>
            <a:ext cx="2468880" cy="384048"/>
          </a:xfrm>
          <a:prstGeom prst="rect">
            <a:avLst/>
          </a:prstGeom>
          <a:noFill/>
        </p:spPr>
        <p:txBody>
          <a:bodyPr wrap="square" lIns="36576" tIns="36576" rIns="36576" bIns="36576" anchor="t">
            <a:spAutoFit/>
          </a:bodyPr>
          <a:lstStyle/>
          <a:p>
            <a:pPr algn="l">
              <a:spcBef>
                <a:spcPts val="0"/>
              </a:spcBef>
              <a:spcAft>
                <a:spcPts val="0"/>
              </a:spcAft>
            </a:pPr>
            <a:r>
              <a:rPr sz="2300" b="1" i="0" dirty="0">
                <a:solidFill>
                  <a:srgbClr val="F4B942"/>
                </a:solidFill>
                <a:latin typeface="Aptos"/>
              </a:rPr>
              <a:t>RESULTS PENDING</a:t>
            </a:r>
          </a:p>
        </p:txBody>
      </p:sp>
      <p:sp>
        <p:nvSpPr>
          <p:cNvPr id="7" name="TextBox 6"/>
          <p:cNvSpPr txBox="1"/>
          <p:nvPr/>
        </p:nvSpPr>
        <p:spPr>
          <a:xfrm>
            <a:off x="3593592" y="1627632"/>
            <a:ext cx="7214616" cy="347472"/>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FFFFFF"/>
                </a:solidFill>
                <a:latin typeface="Aptos"/>
              </a:rPr>
              <a:t>No performance claim is made in this slide deck.</a:t>
            </a:r>
          </a:p>
        </p:txBody>
      </p:sp>
      <p:cxnSp>
        <p:nvCxnSpPr>
          <p:cNvPr id="8" name="Connector 7"/>
          <p:cNvCxnSpPr/>
          <p:nvPr/>
        </p:nvCxnSpPr>
        <p:spPr>
          <a:xfrm>
            <a:off x="1298448" y="3666744"/>
            <a:ext cx="9537192" cy="0"/>
          </a:xfrm>
          <a:prstGeom prst="line">
            <a:avLst/>
          </a:prstGeom>
          <a:ln w="63500">
            <a:solidFill>
              <a:srgbClr val="D7E0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987552" y="3319272"/>
            <a:ext cx="694944" cy="694944"/>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1</a:t>
            </a:r>
          </a:p>
        </p:txBody>
      </p:sp>
      <p:sp>
        <p:nvSpPr>
          <p:cNvPr id="11" name="TextBox 10"/>
          <p:cNvSpPr txBox="1"/>
          <p:nvPr/>
        </p:nvSpPr>
        <p:spPr>
          <a:xfrm>
            <a:off x="630936"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Prepare data</a:t>
            </a:r>
          </a:p>
        </p:txBody>
      </p:sp>
      <p:sp>
        <p:nvSpPr>
          <p:cNvPr id="12" name="TextBox 11"/>
          <p:cNvSpPr txBox="1"/>
          <p:nvPr/>
        </p:nvSpPr>
        <p:spPr>
          <a:xfrm>
            <a:off x="585216"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fragments, labels, splits</a:t>
            </a:r>
          </a:p>
        </p:txBody>
      </p:sp>
      <p:sp>
        <p:nvSpPr>
          <p:cNvPr id="13" name="Oval 12"/>
          <p:cNvSpPr/>
          <p:nvPr/>
        </p:nvSpPr>
        <p:spPr>
          <a:xfrm>
            <a:off x="3200400" y="3319272"/>
            <a:ext cx="694944" cy="694944"/>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0"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2</a:t>
            </a:r>
          </a:p>
        </p:txBody>
      </p:sp>
      <p:sp>
        <p:nvSpPr>
          <p:cNvPr id="15" name="TextBox 14"/>
          <p:cNvSpPr txBox="1"/>
          <p:nvPr/>
        </p:nvSpPr>
        <p:spPr>
          <a:xfrm>
            <a:off x="2843784"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Build fingerprints</a:t>
            </a:r>
          </a:p>
        </p:txBody>
      </p:sp>
      <p:sp>
        <p:nvSpPr>
          <p:cNvPr id="16" name="TextBox 15"/>
          <p:cNvSpPr txBox="1"/>
          <p:nvPr/>
        </p:nvSpPr>
        <p:spPr>
          <a:xfrm>
            <a:off x="2798064"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counts + length profiles</a:t>
            </a:r>
          </a:p>
        </p:txBody>
      </p:sp>
      <p:sp>
        <p:nvSpPr>
          <p:cNvPr id="17" name="Oval 16"/>
          <p:cNvSpPr/>
          <p:nvPr/>
        </p:nvSpPr>
        <p:spPr>
          <a:xfrm>
            <a:off x="5413248" y="3319272"/>
            <a:ext cx="694944" cy="694944"/>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13248"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3</a:t>
            </a:r>
          </a:p>
        </p:txBody>
      </p:sp>
      <p:sp>
        <p:nvSpPr>
          <p:cNvPr id="19" name="TextBox 18"/>
          <p:cNvSpPr txBox="1"/>
          <p:nvPr/>
        </p:nvSpPr>
        <p:spPr>
          <a:xfrm>
            <a:off x="5056632"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Run matched test</a:t>
            </a:r>
          </a:p>
        </p:txBody>
      </p:sp>
      <p:sp>
        <p:nvSpPr>
          <p:cNvPr id="20" name="TextBox 19"/>
          <p:cNvSpPr txBox="1"/>
          <p:nvPr/>
        </p:nvSpPr>
        <p:spPr>
          <a:xfrm>
            <a:off x="5010912"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count-only vs ShapeMix</a:t>
            </a:r>
          </a:p>
        </p:txBody>
      </p:sp>
      <p:sp>
        <p:nvSpPr>
          <p:cNvPr id="21" name="Oval 20"/>
          <p:cNvSpPr/>
          <p:nvPr/>
        </p:nvSpPr>
        <p:spPr>
          <a:xfrm>
            <a:off x="7626096" y="3319272"/>
            <a:ext cx="694944" cy="694944"/>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26096"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4</a:t>
            </a:r>
          </a:p>
        </p:txBody>
      </p:sp>
      <p:sp>
        <p:nvSpPr>
          <p:cNvPr id="23" name="TextBox 22"/>
          <p:cNvSpPr txBox="1"/>
          <p:nvPr/>
        </p:nvSpPr>
        <p:spPr>
          <a:xfrm>
            <a:off x="7269480"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Check controls</a:t>
            </a:r>
          </a:p>
        </p:txBody>
      </p:sp>
      <p:sp>
        <p:nvSpPr>
          <p:cNvPr id="24" name="TextBox 23"/>
          <p:cNvSpPr txBox="1"/>
          <p:nvPr/>
        </p:nvSpPr>
        <p:spPr>
          <a:xfrm>
            <a:off x="7223759"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fairness + diagnostics</a:t>
            </a:r>
          </a:p>
        </p:txBody>
      </p:sp>
      <p:sp>
        <p:nvSpPr>
          <p:cNvPr id="25" name="Oval 24"/>
          <p:cNvSpPr/>
          <p:nvPr/>
        </p:nvSpPr>
        <p:spPr>
          <a:xfrm>
            <a:off x="9838944" y="3319272"/>
            <a:ext cx="694944" cy="694944"/>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38944"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5</a:t>
            </a:r>
          </a:p>
        </p:txBody>
      </p:sp>
      <p:sp>
        <p:nvSpPr>
          <p:cNvPr id="27" name="TextBox 26"/>
          <p:cNvSpPr txBox="1"/>
          <p:nvPr/>
        </p:nvSpPr>
        <p:spPr>
          <a:xfrm>
            <a:off x="9482328"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Add result slides</a:t>
            </a:r>
          </a:p>
        </p:txBody>
      </p:sp>
      <p:sp>
        <p:nvSpPr>
          <p:cNvPr id="28" name="TextBox 27"/>
          <p:cNvSpPr txBox="1"/>
          <p:nvPr/>
        </p:nvSpPr>
        <p:spPr>
          <a:xfrm>
            <a:off x="9436608"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metrics + limitations</a:t>
            </a:r>
          </a:p>
        </p:txBody>
      </p:sp>
      <p:sp>
        <p:nvSpPr>
          <p:cNvPr id="29" name="TextBox 28"/>
          <p:cNvSpPr txBox="1"/>
          <p:nvPr/>
        </p:nvSpPr>
        <p:spPr>
          <a:xfrm>
            <a:off x="1170432" y="5696712"/>
            <a:ext cx="9857232" cy="43891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0C7F75"/>
                </a:solidFill>
                <a:latin typeface="Aptos"/>
              </a:rPr>
              <a:t>Planned update: replace this slide with observed results, uncertainty, controls, and an honest interpretation.</a:t>
            </a:r>
          </a:p>
        </p:txBody>
      </p:sp>
      <p:cxnSp>
        <p:nvCxnSpPr>
          <p:cNvPr id="30" name="Connector 2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Status language follows the requested results-free presentation scope.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Rounded Rectangle 1"/>
          <p:cNvSpPr/>
          <p:nvPr/>
        </p:nvSpPr>
        <p:spPr>
          <a:xfrm>
            <a:off x="676656" y="512064"/>
            <a:ext cx="1755648"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TAKE-HOME MESSAGE</a:t>
            </a:r>
          </a:p>
        </p:txBody>
      </p:sp>
      <p:sp>
        <p:nvSpPr>
          <p:cNvPr id="3" name="TextBox 2"/>
          <p:cNvSpPr txBox="1"/>
          <p:nvPr/>
        </p:nvSpPr>
        <p:spPr>
          <a:xfrm>
            <a:off x="676656" y="1097280"/>
            <a:ext cx="7882127" cy="585216"/>
          </a:xfrm>
          <a:prstGeom prst="rect">
            <a:avLst/>
          </a:prstGeom>
          <a:noFill/>
        </p:spPr>
        <p:txBody>
          <a:bodyPr wrap="square" lIns="36576" tIns="36576" rIns="36576" bIns="36576" anchor="t">
            <a:spAutoFit/>
          </a:bodyPr>
          <a:lstStyle/>
          <a:p>
            <a:pPr algn="l">
              <a:spcBef>
                <a:spcPts val="0"/>
              </a:spcBef>
              <a:spcAft>
                <a:spcPts val="0"/>
              </a:spcAft>
            </a:pPr>
            <a:r>
              <a:rPr sz="3300" b="1" i="0">
                <a:solidFill>
                  <a:srgbClr val="FFFFFF"/>
                </a:solidFill>
                <a:latin typeface="Aptos Display"/>
              </a:rPr>
              <a:t>ShapeMix asks a simple, testable question</a:t>
            </a:r>
          </a:p>
        </p:txBody>
      </p:sp>
      <p:sp>
        <p:nvSpPr>
          <p:cNvPr id="4" name="TextBox 3"/>
          <p:cNvSpPr txBox="1"/>
          <p:nvPr/>
        </p:nvSpPr>
        <p:spPr>
          <a:xfrm>
            <a:off x="694944" y="1874519"/>
            <a:ext cx="7607808" cy="1024128"/>
          </a:xfrm>
          <a:prstGeom prst="rect">
            <a:avLst/>
          </a:prstGeom>
          <a:noFill/>
        </p:spPr>
        <p:txBody>
          <a:bodyPr wrap="square" lIns="36576" tIns="36576" rIns="36576" bIns="36576" anchor="t">
            <a:spAutoFit/>
          </a:bodyPr>
          <a:lstStyle/>
          <a:p>
            <a:pPr algn="l">
              <a:spcBef>
                <a:spcPts val="0"/>
              </a:spcBef>
              <a:spcAft>
                <a:spcPts val="0"/>
              </a:spcAft>
            </a:pPr>
            <a:r>
              <a:rPr sz="2500" b="0" i="0">
                <a:solidFill>
                  <a:srgbClr val="D7E2EE"/>
                </a:solidFill>
                <a:latin typeface="Aptos Display"/>
              </a:rPr>
              <a:t>Does fragment-length composition help identify the cell types inside a mixed spatial ATAC spot?</a:t>
            </a:r>
          </a:p>
        </p:txBody>
      </p:sp>
      <p:sp>
        <p:nvSpPr>
          <p:cNvPr id="5" name="Rounded Rectangle 4"/>
          <p:cNvSpPr/>
          <p:nvPr/>
        </p:nvSpPr>
        <p:spPr>
          <a:xfrm>
            <a:off x="713232" y="3227832"/>
            <a:ext cx="566928" cy="35661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01</a:t>
            </a:r>
          </a:p>
        </p:txBody>
      </p:sp>
      <p:sp>
        <p:nvSpPr>
          <p:cNvPr id="6" name="TextBox 5"/>
          <p:cNvSpPr txBox="1"/>
          <p:nvPr/>
        </p:nvSpPr>
        <p:spPr>
          <a:xfrm>
            <a:off x="1527048" y="3200400"/>
            <a:ext cx="7269480" cy="457200"/>
          </a:xfrm>
          <a:prstGeom prst="rect">
            <a:avLst/>
          </a:prstGeom>
          <a:noFill/>
        </p:spPr>
        <p:txBody>
          <a:bodyPr wrap="square" lIns="36576" tIns="36576" rIns="36576" bIns="36576" anchor="t">
            <a:spAutoFit/>
          </a:bodyPr>
          <a:lstStyle/>
          <a:p>
            <a:pPr algn="l">
              <a:spcBef>
                <a:spcPts val="0"/>
              </a:spcBef>
              <a:spcAft>
                <a:spcPts val="0"/>
              </a:spcAft>
            </a:pPr>
            <a:r>
              <a:rPr sz="1750" b="1" i="0">
                <a:solidFill>
                  <a:srgbClr val="FFFFFF"/>
                </a:solidFill>
                <a:latin typeface="Aptos"/>
              </a:rPr>
              <a:t>ATAC fragments contain more than a peak count.</a:t>
            </a:r>
          </a:p>
        </p:txBody>
      </p:sp>
      <p:sp>
        <p:nvSpPr>
          <p:cNvPr id="7" name="Rounded Rectangle 6"/>
          <p:cNvSpPr/>
          <p:nvPr/>
        </p:nvSpPr>
        <p:spPr>
          <a:xfrm>
            <a:off x="713232" y="3977639"/>
            <a:ext cx="566928" cy="35661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02</a:t>
            </a:r>
          </a:p>
        </p:txBody>
      </p:sp>
      <p:sp>
        <p:nvSpPr>
          <p:cNvPr id="8" name="TextBox 7"/>
          <p:cNvSpPr txBox="1"/>
          <p:nvPr/>
        </p:nvSpPr>
        <p:spPr>
          <a:xfrm>
            <a:off x="1527048" y="3950207"/>
            <a:ext cx="7269480" cy="457200"/>
          </a:xfrm>
          <a:prstGeom prst="rect">
            <a:avLst/>
          </a:prstGeom>
          <a:noFill/>
        </p:spPr>
        <p:txBody>
          <a:bodyPr wrap="square" lIns="36576" tIns="36576" rIns="36576" bIns="36576" anchor="t">
            <a:spAutoFit/>
          </a:bodyPr>
          <a:lstStyle/>
          <a:p>
            <a:pPr algn="l">
              <a:spcBef>
                <a:spcPts val="0"/>
              </a:spcBef>
              <a:spcAft>
                <a:spcPts val="0"/>
              </a:spcAft>
            </a:pPr>
            <a:r>
              <a:rPr sz="1750" b="1" i="0">
                <a:solidFill>
                  <a:srgbClr val="FFFFFF"/>
                </a:solidFill>
                <a:latin typeface="Aptos"/>
              </a:rPr>
              <a:t>ShapeMix adds length composition to a reference-guided mixture model.</a:t>
            </a:r>
          </a:p>
        </p:txBody>
      </p:sp>
      <p:sp>
        <p:nvSpPr>
          <p:cNvPr id="9" name="Rounded Rectangle 8"/>
          <p:cNvSpPr/>
          <p:nvPr/>
        </p:nvSpPr>
        <p:spPr>
          <a:xfrm>
            <a:off x="713232" y="4727448"/>
            <a:ext cx="566928" cy="35661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03</a:t>
            </a:r>
          </a:p>
        </p:txBody>
      </p:sp>
      <p:sp>
        <p:nvSpPr>
          <p:cNvPr id="10" name="TextBox 9"/>
          <p:cNvSpPr txBox="1"/>
          <p:nvPr/>
        </p:nvSpPr>
        <p:spPr>
          <a:xfrm>
            <a:off x="1527048" y="4700016"/>
            <a:ext cx="7269480" cy="457200"/>
          </a:xfrm>
          <a:prstGeom prst="rect">
            <a:avLst/>
          </a:prstGeom>
          <a:noFill/>
        </p:spPr>
        <p:txBody>
          <a:bodyPr wrap="square" lIns="36576" tIns="36576" rIns="36576" bIns="36576" anchor="t">
            <a:spAutoFit/>
          </a:bodyPr>
          <a:lstStyle/>
          <a:p>
            <a:pPr algn="l">
              <a:spcBef>
                <a:spcPts val="0"/>
              </a:spcBef>
              <a:spcAft>
                <a:spcPts val="0"/>
              </a:spcAft>
            </a:pPr>
            <a:r>
              <a:rPr sz="1750" b="1" i="0">
                <a:solidFill>
                  <a:srgbClr val="FFFFFF"/>
                </a:solidFill>
                <a:latin typeface="Aptos"/>
              </a:rPr>
              <a:t>A matched, held-out test will decide whether that extra clue earns its complexity.</a:t>
            </a:r>
          </a:p>
        </p:txBody>
      </p:sp>
      <p:sp>
        <p:nvSpPr>
          <p:cNvPr id="11" name="Oval 10"/>
          <p:cNvSpPr/>
          <p:nvPr/>
        </p:nvSpPr>
        <p:spPr>
          <a:xfrm>
            <a:off x="9235440" y="1143000"/>
            <a:ext cx="2194560" cy="2194560"/>
          </a:xfrm>
          <a:prstGeom prst="ellipse">
            <a:avLst/>
          </a:prstGeom>
          <a:solidFill>
            <a:srgbClr val="1C3152"/>
          </a:solidFill>
          <a:ln w="381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35440" y="1161288"/>
            <a:ext cx="2194560" cy="1755648"/>
          </a:xfrm>
          <a:prstGeom prst="rect">
            <a:avLst/>
          </a:prstGeom>
          <a:noFill/>
        </p:spPr>
        <p:txBody>
          <a:bodyPr wrap="square" lIns="36576" tIns="36576" rIns="36576" bIns="36576" anchor="ctr">
            <a:spAutoFit/>
          </a:bodyPr>
          <a:lstStyle/>
          <a:p>
            <a:pPr algn="ctr">
              <a:spcBef>
                <a:spcPts val="0"/>
              </a:spcBef>
              <a:spcAft>
                <a:spcPts val="0"/>
              </a:spcAft>
            </a:pPr>
            <a:r>
              <a:rPr sz="7000" b="1" i="0">
                <a:solidFill>
                  <a:srgbClr val="F4B942"/>
                </a:solidFill>
                <a:latin typeface="Aptos"/>
              </a:rPr>
              <a:t>?</a:t>
            </a:r>
          </a:p>
        </p:txBody>
      </p:sp>
      <p:sp>
        <p:nvSpPr>
          <p:cNvPr id="13" name="TextBox 12"/>
          <p:cNvSpPr txBox="1"/>
          <p:nvPr/>
        </p:nvSpPr>
        <p:spPr>
          <a:xfrm>
            <a:off x="9015984" y="3767328"/>
            <a:ext cx="2651760" cy="493776"/>
          </a:xfrm>
          <a:prstGeom prst="rect">
            <a:avLst/>
          </a:prstGeom>
          <a:noFill/>
        </p:spPr>
        <p:txBody>
          <a:bodyPr wrap="square" lIns="36576" tIns="36576" rIns="36576" bIns="36576" anchor="t">
            <a:spAutoFit/>
          </a:bodyPr>
          <a:lstStyle/>
          <a:p>
            <a:pPr algn="ctr">
              <a:spcBef>
                <a:spcPts val="0"/>
              </a:spcBef>
              <a:spcAft>
                <a:spcPts val="0"/>
              </a:spcAft>
            </a:pPr>
            <a:r>
              <a:rPr sz="2700" b="1" i="0">
                <a:solidFill>
                  <a:srgbClr val="FFFFFF"/>
                </a:solidFill>
                <a:latin typeface="Aptos"/>
              </a:rPr>
              <a:t>Questions?</a:t>
            </a:r>
          </a:p>
        </p:txBody>
      </p:sp>
      <p:sp>
        <p:nvSpPr>
          <p:cNvPr id="14" name="TextBox 13"/>
          <p:cNvSpPr txBox="1"/>
          <p:nvPr/>
        </p:nvSpPr>
        <p:spPr>
          <a:xfrm>
            <a:off x="9015984" y="4325112"/>
            <a:ext cx="2651760" cy="256032"/>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D7E2EE"/>
                </a:solidFill>
                <a:latin typeface="Aptos"/>
              </a:rPr>
              <a:t>shape • mixture • evidence</a:t>
            </a:r>
          </a:p>
        </p:txBody>
      </p:sp>
      <p:cxnSp>
        <p:nvCxnSpPr>
          <p:cNvPr id="15" name="Connector 14"/>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ShapeMix-ATAC project overview • Andy Zhuang • High School Science Research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APPENDIX</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References and quick glossary</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15</a:t>
            </a:r>
          </a:p>
        </p:txBody>
      </p:sp>
      <p:sp>
        <p:nvSpPr>
          <p:cNvPr id="5" name="TextBox 4"/>
          <p:cNvSpPr txBox="1"/>
          <p:nvPr/>
        </p:nvSpPr>
        <p:spPr>
          <a:xfrm>
            <a:off x="704088" y="1133856"/>
            <a:ext cx="5349240" cy="347472"/>
          </a:xfrm>
          <a:prstGeom prst="rect">
            <a:avLst/>
          </a:prstGeom>
          <a:noFill/>
        </p:spPr>
        <p:txBody>
          <a:bodyPr wrap="square" lIns="36576" tIns="36576" rIns="36576" bIns="36576" anchor="t">
            <a:spAutoFit/>
          </a:bodyPr>
          <a:lstStyle/>
          <a:p>
            <a:pPr algn="l">
              <a:spcBef>
                <a:spcPts val="0"/>
              </a:spcBef>
              <a:spcAft>
                <a:spcPts val="0"/>
              </a:spcAft>
            </a:pPr>
            <a:r>
              <a:rPr sz="2100" b="1" i="0">
                <a:solidFill>
                  <a:srgbClr val="13233B"/>
                </a:solidFill>
                <a:latin typeface="Aptos"/>
              </a:rPr>
              <a:t>Selected references</a:t>
            </a:r>
          </a:p>
        </p:txBody>
      </p:sp>
      <p:sp>
        <p:nvSpPr>
          <p:cNvPr id="6" name="TextBox 5"/>
          <p:cNvSpPr txBox="1"/>
          <p:nvPr/>
        </p:nvSpPr>
        <p:spPr>
          <a:xfrm>
            <a:off x="740664" y="1627632"/>
            <a:ext cx="5248656" cy="4370832"/>
          </a:xfrm>
          <a:prstGeom prst="rect">
            <a:avLst/>
          </a:prstGeom>
          <a:noFill/>
        </p:spPr>
        <p:txBody>
          <a:bodyPr wrap="square" lIns="36576" tIns="18288" rIns="18288" bIns="18288">
            <a:spAutoFit/>
          </a:bodyPr>
          <a:lstStyle/>
          <a:p>
            <a:pPr algn="l">
              <a:lnSpc>
                <a:spcPct val="105000"/>
              </a:lnSpc>
              <a:spcAft>
                <a:spcPts val="800"/>
              </a:spcAft>
            </a:pPr>
            <a:r>
              <a:rPr sz="1280" b="1">
                <a:solidFill>
                  <a:srgbClr val="18A999"/>
                </a:solidFill>
                <a:latin typeface="Aptos"/>
              </a:rPr>
              <a:t>•  </a:t>
            </a:r>
            <a:r>
              <a:rPr sz="1280">
                <a:solidFill>
                  <a:srgbClr val="213047"/>
                </a:solidFill>
                <a:latin typeface="Aptos"/>
              </a:rPr>
              <a:t>Buenrostro JD et al. (2013). ATAC-seq and open chromatin. Nature Methods 10:1213–1218.</a:t>
            </a:r>
          </a:p>
          <a:p>
            <a:pPr algn="l">
              <a:lnSpc>
                <a:spcPct val="105000"/>
              </a:lnSpc>
              <a:spcAft>
                <a:spcPts val="800"/>
              </a:spcAft>
            </a:pPr>
            <a:r>
              <a:rPr sz="1280" b="1">
                <a:solidFill>
                  <a:srgbClr val="18A999"/>
                </a:solidFill>
                <a:latin typeface="Aptos"/>
              </a:rPr>
              <a:t>•  </a:t>
            </a:r>
            <a:r>
              <a:rPr sz="1280">
                <a:solidFill>
                  <a:srgbClr val="213047"/>
                </a:solidFill>
                <a:latin typeface="Aptos"/>
              </a:rPr>
              <a:t>Deng Y et al. (2022). Spatial profiling of chromatin accessibility. Nature 609:375–383.</a:t>
            </a:r>
          </a:p>
          <a:p>
            <a:pPr algn="l">
              <a:lnSpc>
                <a:spcPct val="105000"/>
              </a:lnSpc>
              <a:spcAft>
                <a:spcPts val="800"/>
              </a:spcAft>
            </a:pPr>
            <a:r>
              <a:rPr sz="1280" b="1">
                <a:solidFill>
                  <a:srgbClr val="18A999"/>
                </a:solidFill>
                <a:latin typeface="Aptos"/>
              </a:rPr>
              <a:t>•  </a:t>
            </a:r>
            <a:r>
              <a:rPr sz="1280">
                <a:solidFill>
                  <a:srgbClr val="213047"/>
                </a:solidFill>
                <a:latin typeface="Aptos"/>
              </a:rPr>
              <a:t>Ouologuem S et al. (2025). Deconvolution methods for spatial chromatin accessibility. Bioinformatics 41:i314–i322.</a:t>
            </a:r>
          </a:p>
          <a:p>
            <a:pPr algn="l">
              <a:lnSpc>
                <a:spcPct val="105000"/>
              </a:lnSpc>
              <a:spcAft>
                <a:spcPts val="800"/>
              </a:spcAft>
            </a:pPr>
            <a:r>
              <a:rPr sz="1280" b="1">
                <a:solidFill>
                  <a:srgbClr val="18A999"/>
                </a:solidFill>
                <a:latin typeface="Aptos"/>
              </a:rPr>
              <a:t>•  </a:t>
            </a:r>
            <a:r>
              <a:rPr sz="1280">
                <a:solidFill>
                  <a:srgbClr val="213047"/>
                </a:solidFill>
                <a:latin typeface="Aptos"/>
              </a:rPr>
              <a:t>Martens LD et al. (2024). Modeling fragment counts in scATAC-seq. Nature Methods 21:28–31.</a:t>
            </a:r>
          </a:p>
          <a:p>
            <a:pPr algn="l">
              <a:lnSpc>
                <a:spcPct val="105000"/>
              </a:lnSpc>
              <a:spcAft>
                <a:spcPts val="800"/>
              </a:spcAft>
            </a:pPr>
            <a:r>
              <a:rPr sz="1280" b="1">
                <a:solidFill>
                  <a:srgbClr val="18A999"/>
                </a:solidFill>
                <a:latin typeface="Aptos"/>
              </a:rPr>
              <a:t>•  </a:t>
            </a:r>
            <a:r>
              <a:rPr sz="1280">
                <a:solidFill>
                  <a:srgbClr val="213047"/>
                </a:solidFill>
                <a:latin typeface="Aptos"/>
              </a:rPr>
              <a:t>10x Genomics. PBMC healthy donor, granulocytes removed, 10k Epi Multiome dataset.</a:t>
            </a:r>
          </a:p>
          <a:p>
            <a:pPr algn="l">
              <a:lnSpc>
                <a:spcPct val="105000"/>
              </a:lnSpc>
              <a:spcAft>
                <a:spcPts val="800"/>
              </a:spcAft>
            </a:pPr>
            <a:r>
              <a:rPr sz="1280" b="1">
                <a:solidFill>
                  <a:srgbClr val="18A999"/>
                </a:solidFill>
                <a:latin typeface="Aptos"/>
              </a:rPr>
              <a:t>•  </a:t>
            </a:r>
            <a:r>
              <a:rPr sz="1280">
                <a:solidFill>
                  <a:srgbClr val="213047"/>
                </a:solidFill>
                <a:latin typeface="Aptos"/>
              </a:rPr>
              <a:t>NCBI GEO: GSE129785, GSE194122, GSE205055, and GSE263333.</a:t>
            </a:r>
          </a:p>
        </p:txBody>
      </p:sp>
      <p:sp>
        <p:nvSpPr>
          <p:cNvPr id="7" name="TextBox 6"/>
          <p:cNvSpPr txBox="1"/>
          <p:nvPr/>
        </p:nvSpPr>
        <p:spPr>
          <a:xfrm>
            <a:off x="6391656" y="1133856"/>
            <a:ext cx="5074920" cy="347472"/>
          </a:xfrm>
          <a:prstGeom prst="rect">
            <a:avLst/>
          </a:prstGeom>
          <a:noFill/>
        </p:spPr>
        <p:txBody>
          <a:bodyPr wrap="square" lIns="36576" tIns="36576" rIns="36576" bIns="36576" anchor="t">
            <a:spAutoFit/>
          </a:bodyPr>
          <a:lstStyle/>
          <a:p>
            <a:pPr algn="l">
              <a:spcBef>
                <a:spcPts val="0"/>
              </a:spcBef>
              <a:spcAft>
                <a:spcPts val="0"/>
              </a:spcAft>
            </a:pPr>
            <a:r>
              <a:rPr sz="2100" b="1" i="0">
                <a:solidFill>
                  <a:srgbClr val="13233B"/>
                </a:solidFill>
                <a:latin typeface="Aptos"/>
              </a:rPr>
              <a:t>Quick glossary</a:t>
            </a:r>
          </a:p>
        </p:txBody>
      </p:sp>
      <p:sp>
        <p:nvSpPr>
          <p:cNvPr id="8" name="Rounded Rectangle 7"/>
          <p:cNvSpPr/>
          <p:nvPr/>
        </p:nvSpPr>
        <p:spPr>
          <a:xfrm>
            <a:off x="6428232" y="1627632"/>
            <a:ext cx="1316736"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ATAC-seq</a:t>
            </a:r>
          </a:p>
        </p:txBody>
      </p:sp>
      <p:sp>
        <p:nvSpPr>
          <p:cNvPr id="9" name="TextBox 8"/>
          <p:cNvSpPr txBox="1"/>
          <p:nvPr/>
        </p:nvSpPr>
        <p:spPr>
          <a:xfrm>
            <a:off x="7973568" y="1618488"/>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measures accessible DNA</a:t>
            </a:r>
          </a:p>
        </p:txBody>
      </p:sp>
      <p:sp>
        <p:nvSpPr>
          <p:cNvPr id="10" name="Rounded Rectangle 9"/>
          <p:cNvSpPr/>
          <p:nvPr/>
        </p:nvSpPr>
        <p:spPr>
          <a:xfrm>
            <a:off x="6428232" y="2240280"/>
            <a:ext cx="1316736"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Peak</a:t>
            </a:r>
          </a:p>
        </p:txBody>
      </p:sp>
      <p:sp>
        <p:nvSpPr>
          <p:cNvPr id="11" name="TextBox 10"/>
          <p:cNvSpPr txBox="1"/>
          <p:nvPr/>
        </p:nvSpPr>
        <p:spPr>
          <a:xfrm>
            <a:off x="7973568" y="2231136"/>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a genomic region with many ATAC cuts</a:t>
            </a:r>
          </a:p>
        </p:txBody>
      </p:sp>
      <p:sp>
        <p:nvSpPr>
          <p:cNvPr id="12" name="Rounded Rectangle 11"/>
          <p:cNvSpPr/>
          <p:nvPr/>
        </p:nvSpPr>
        <p:spPr>
          <a:xfrm>
            <a:off x="6428232" y="2852928"/>
            <a:ext cx="1316736"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Fragment</a:t>
            </a:r>
          </a:p>
        </p:txBody>
      </p:sp>
      <p:sp>
        <p:nvSpPr>
          <p:cNvPr id="13" name="TextBox 12"/>
          <p:cNvSpPr txBox="1"/>
          <p:nvPr/>
        </p:nvSpPr>
        <p:spPr>
          <a:xfrm>
            <a:off x="7973568" y="2843784"/>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DNA piece between two Tn5 cut sites</a:t>
            </a:r>
          </a:p>
        </p:txBody>
      </p:sp>
      <p:sp>
        <p:nvSpPr>
          <p:cNvPr id="14" name="Rounded Rectangle 13"/>
          <p:cNvSpPr/>
          <p:nvPr/>
        </p:nvSpPr>
        <p:spPr>
          <a:xfrm>
            <a:off x="6428232" y="3465576"/>
            <a:ext cx="1316736"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Deconvolution</a:t>
            </a:r>
          </a:p>
        </p:txBody>
      </p:sp>
      <p:sp>
        <p:nvSpPr>
          <p:cNvPr id="15" name="TextBox 14"/>
          <p:cNvSpPr txBox="1"/>
          <p:nvPr/>
        </p:nvSpPr>
        <p:spPr>
          <a:xfrm>
            <a:off x="7973568" y="3456432"/>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estimating ingredients of a mixture</a:t>
            </a:r>
          </a:p>
        </p:txBody>
      </p:sp>
      <p:sp>
        <p:nvSpPr>
          <p:cNvPr id="16" name="Rounded Rectangle 15"/>
          <p:cNvSpPr/>
          <p:nvPr/>
        </p:nvSpPr>
        <p:spPr>
          <a:xfrm>
            <a:off x="6428232" y="4078224"/>
            <a:ext cx="1316736"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Reference</a:t>
            </a:r>
          </a:p>
        </p:txBody>
      </p:sp>
      <p:sp>
        <p:nvSpPr>
          <p:cNvPr id="17" name="TextBox 16"/>
          <p:cNvSpPr txBox="1"/>
          <p:nvPr/>
        </p:nvSpPr>
        <p:spPr>
          <a:xfrm>
            <a:off x="7973568" y="4069080"/>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fingerprint learned from labeled cells</a:t>
            </a:r>
          </a:p>
        </p:txBody>
      </p:sp>
      <p:sp>
        <p:nvSpPr>
          <p:cNvPr id="18" name="Rounded Rectangle 17"/>
          <p:cNvSpPr/>
          <p:nvPr/>
        </p:nvSpPr>
        <p:spPr>
          <a:xfrm>
            <a:off x="6428232" y="4690872"/>
            <a:ext cx="1316736"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Pseudo-spot</a:t>
            </a:r>
          </a:p>
        </p:txBody>
      </p:sp>
      <p:sp>
        <p:nvSpPr>
          <p:cNvPr id="19" name="TextBox 18"/>
          <p:cNvSpPr txBox="1"/>
          <p:nvPr/>
        </p:nvSpPr>
        <p:spPr>
          <a:xfrm>
            <a:off x="7973568" y="4681728"/>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simulated spot with a known recipe</a:t>
            </a:r>
          </a:p>
        </p:txBody>
      </p:sp>
      <p:sp>
        <p:nvSpPr>
          <p:cNvPr id="20" name="Rounded Rectangle 19"/>
          <p:cNvSpPr/>
          <p:nvPr/>
        </p:nvSpPr>
        <p:spPr>
          <a:xfrm>
            <a:off x="6428232" y="5303520"/>
            <a:ext cx="1316736"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MAP</a:t>
            </a:r>
          </a:p>
        </p:txBody>
      </p:sp>
      <p:sp>
        <p:nvSpPr>
          <p:cNvPr id="21" name="TextBox 20"/>
          <p:cNvSpPr txBox="1"/>
          <p:nvPr/>
        </p:nvSpPr>
        <p:spPr>
          <a:xfrm>
            <a:off x="7973568" y="5294376"/>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most supported parameter values under model + prior</a:t>
            </a:r>
          </a:p>
        </p:txBody>
      </p:sp>
      <p:sp>
        <p:nvSpPr>
          <p:cNvPr id="22" name="Rounded Rectangle 21"/>
          <p:cNvSpPr/>
          <p:nvPr/>
        </p:nvSpPr>
        <p:spPr>
          <a:xfrm>
            <a:off x="6364224" y="6007608"/>
            <a:ext cx="5111496" cy="365760"/>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10528" y="6080760"/>
            <a:ext cx="4800600" cy="182880"/>
          </a:xfrm>
          <a:prstGeom prst="rect">
            <a:avLst/>
          </a:prstGeom>
          <a:noFill/>
        </p:spPr>
        <p:txBody>
          <a:bodyPr wrap="square" lIns="36576" tIns="36576" rIns="36576" bIns="36576" anchor="t">
            <a:spAutoFit/>
          </a:bodyPr>
          <a:lstStyle/>
          <a:p>
            <a:pPr algn="ctr">
              <a:spcBef>
                <a:spcPts val="0"/>
              </a:spcBef>
              <a:spcAft>
                <a:spcPts val="0"/>
              </a:spcAft>
            </a:pPr>
            <a:r>
              <a:rPr sz="1050" b="0" i="0">
                <a:solidFill>
                  <a:srgbClr val="52627A"/>
                </a:solidFill>
                <a:latin typeface="Aptos"/>
              </a:rPr>
              <a:t>Full project sources are documented in docs/ShapeMix and docs/research_class.</a:t>
            </a:r>
          </a:p>
        </p:txBody>
      </p:sp>
      <p:cxnSp>
        <p:nvCxnSpPr>
          <p:cNvPr id="24" name="Connector 23"/>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Links and full citations appear in the repository proposal and ShapeMix documentation.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2085</Words>
  <Application>Microsoft Macintosh PowerPoint</Application>
  <PresentationFormat>Widescreen</PresentationFormat>
  <Paragraphs>306</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ShapeMix-ATAC: High School Science Research Deck</dc:title>
  <dc:subject>Results-free introduction, algorithm, datasets, and evaluation plan</dc:subject>
  <dc:creator>Andy Zhuang</dc:creator>
  <cp:keywords>ShapeMix, ATAC-seq, spatial deconvolution, high school research</cp:keywords>
  <dc:description>Draft deck generated from the deconvATAC repository; no study results included.</dc:description>
  <cp:lastModifiedBy>Richard Zhuang</cp:lastModifiedBy>
  <cp:revision>3</cp:revision>
  <dcterms:created xsi:type="dcterms:W3CDTF">2013-01-27T09:14:16Z</dcterms:created>
  <dcterms:modified xsi:type="dcterms:W3CDTF">2026-08-25T01:54:39Z</dcterms:modified>
  <cp:category/>
</cp:coreProperties>
</file>