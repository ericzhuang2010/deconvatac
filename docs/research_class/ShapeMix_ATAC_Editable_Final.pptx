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1675"/>
  <p:notesSz cx="6858000" cy="12191675"/>
  <p:embeddedFontLst>
    <p:embeddedFont>
      <p:font typeface="Play"/>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lay-bold.fntdata"/><Relationship Id="rId16" Type="http://schemas.openxmlformats.org/officeDocument/2006/relationships/font" Target="fonts/Play-regular.fntdata"/><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t>Most cells contain the same DNA, but different types of cells express different regions of it. This is why different types of cells, including cancer cells, can behave so differently. This is also important to the study of many diseases, where researchers try to determine the differences in DNA expression within the disease cells.</a:t>
            </a:r>
            <a:endParaRPr/>
          </a:p>
        </p:txBody>
      </p:sp>
      <p:sp>
        <p:nvSpPr>
          <p:cNvPr id="164" name="Google Shape;16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a3ac4eff9_5_0: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t>ATAC-seq is a widely used technology used to identify open and closed regions. This method uses transposon enzymes to cut at special regions, building a profile of cuts (or peaks) that counts the number of cuts made to each region to identify open and closed regions. These profiles are often represented as bar graphs, where the x-axis is the region and the y-axis is the number of cuts made by the enzyme in that region.</a:t>
            </a:r>
            <a:endParaRPr sz="1100"/>
          </a:p>
          <a:p>
            <a:pPr indent="0" lvl="0" marL="0" rtl="0" algn="l">
              <a:lnSpc>
                <a:spcPct val="115000"/>
              </a:lnSpc>
              <a:spcBef>
                <a:spcPts val="0"/>
              </a:spcBef>
              <a:spcAft>
                <a:spcPts val="0"/>
              </a:spcAft>
              <a:buClr>
                <a:schemeClr val="dk1"/>
              </a:buClr>
              <a:buSzPts val="1100"/>
              <a:buFont typeface="Arial"/>
              <a:buNone/>
            </a:pPr>
            <a:r>
              <a:rPr lang="en-US" sz="1100"/>
              <a:t>For most cell types, the approximate cut profile is usually already known and given ahead of time.</a:t>
            </a:r>
            <a:endParaRPr sz="1100"/>
          </a:p>
          <a:p>
            <a:pPr indent="0" lvl="0" marL="0" rtl="0" algn="l">
              <a:spcBef>
                <a:spcPts val="0"/>
              </a:spcBef>
              <a:spcAft>
                <a:spcPts val="0"/>
              </a:spcAft>
              <a:buNone/>
            </a:pPr>
            <a:r>
              <a:t/>
            </a:r>
            <a:endParaRPr/>
          </a:p>
        </p:txBody>
      </p:sp>
      <p:sp>
        <p:nvSpPr>
          <p:cNvPr id="211" name="Google Shape;211;g3fa3ac4eff9_5_0:notes"/>
          <p:cNvSpPr/>
          <p:nvPr>
            <p:ph idx="2" type="sldImg"/>
          </p:nvPr>
        </p:nvSpPr>
        <p:spPr>
          <a:xfrm>
            <a:off x="1143225" y="914376"/>
            <a:ext cx="4572225"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fa3ac4eff9_13_0: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t>If we tie ATAC cut profiles to location information, this allows us to see exactly where different types of cells are developing and how a cell’s surorundings can affect its behavior. Spatial ATAC-seq is a method for measuring these cut profiles across multiple cells. It is a recent technology developed in 2022, and in the past few years, it has already been put to use in studying brain development, cancer, Alzheimer’s disease, and other important medical questions of today.</a:t>
            </a:r>
            <a:endParaRPr/>
          </a:p>
        </p:txBody>
      </p:sp>
      <p:sp>
        <p:nvSpPr>
          <p:cNvPr id="240" name="Google Shape;240;g3fa3ac4eff9_13_0:notes"/>
          <p:cNvSpPr/>
          <p:nvPr>
            <p:ph idx="2" type="sldImg"/>
          </p:nvPr>
        </p:nvSpPr>
        <p:spPr>
          <a:xfrm>
            <a:off x="1143225" y="914376"/>
            <a:ext cx="4572225"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a3ac4eff9_1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3fa3ac4eff9_19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3fa3ac4eff9_19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a3ac4eff9_50_75: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fa3ac4eff9_50_75:notes"/>
          <p:cNvSpPr/>
          <p:nvPr>
            <p:ph idx="2" type="sldImg"/>
          </p:nvPr>
        </p:nvSpPr>
        <p:spPr>
          <a:xfrm>
            <a:off x="1143281" y="914376"/>
            <a:ext cx="4572112"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fa3ac4eff9_67_0:notes"/>
          <p:cNvSpPr/>
          <p:nvPr>
            <p:ph idx="2" type="sldImg"/>
          </p:nvPr>
        </p:nvSpPr>
        <p:spPr>
          <a:xfrm>
            <a:off x="685873" y="1142970"/>
            <a:ext cx="5486254" cy="308601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g3fa3ac4eff9_67_0:notes"/>
          <p:cNvSpPr txBox="1"/>
          <p:nvPr>
            <p:ph idx="1" type="body"/>
          </p:nvPr>
        </p:nvSpPr>
        <p:spPr>
          <a:xfrm>
            <a:off x="685800" y="4400433"/>
            <a:ext cx="5486400" cy="36003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fa3ac4eff9_67_0:notes"/>
          <p:cNvSpPr txBox="1"/>
          <p:nvPr>
            <p:ph idx="12" type="sldNum"/>
          </p:nvPr>
        </p:nvSpPr>
        <p:spPr>
          <a:xfrm>
            <a:off x="3884613" y="8684981"/>
            <a:ext cx="2971800" cy="4587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fa3ac4eff9_79_0: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g3fa3ac4eff9_79_0:notes"/>
          <p:cNvSpPr/>
          <p:nvPr>
            <p:ph idx="2" type="sldImg"/>
          </p:nvPr>
        </p:nvSpPr>
        <p:spPr>
          <a:xfrm>
            <a:off x="1143225" y="914376"/>
            <a:ext cx="4572225"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fa3ac4eff9_62_0: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3fa3ac4eff9_62_0:notes"/>
          <p:cNvSpPr/>
          <p:nvPr>
            <p:ph idx="2" type="sldImg"/>
          </p:nvPr>
        </p:nvSpPr>
        <p:spPr>
          <a:xfrm>
            <a:off x="1143225" y="914376"/>
            <a:ext cx="4572225"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fa3ac4eff9_36_0:notes"/>
          <p:cNvSpPr txBox="1"/>
          <p:nvPr>
            <p:ph idx="1" type="body"/>
          </p:nvPr>
        </p:nvSpPr>
        <p:spPr>
          <a:xfrm>
            <a:off x="685800" y="5791046"/>
            <a:ext cx="5486400" cy="5486254"/>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g3fa3ac4eff9_36_0:notes"/>
          <p:cNvSpPr/>
          <p:nvPr>
            <p:ph idx="2" type="sldImg"/>
          </p:nvPr>
        </p:nvSpPr>
        <p:spPr>
          <a:xfrm>
            <a:off x="1143225" y="914376"/>
            <a:ext cx="4572225" cy="457187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6" name="Google Shape;3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2" name="Google Shape;42;p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3" name="Google Shape;43;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3" name="Google Shape;63;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4" name="Google Shape;6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1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2"/>
          <p:cNvSpPr/>
          <p:nvPr>
            <p:ph idx="2" type="pic"/>
          </p:nvPr>
        </p:nvSpPr>
        <p:spPr>
          <a:xfrm>
            <a:off x="1792288" y="612775"/>
            <a:ext cx="5486400" cy="4114800"/>
          </a:xfrm>
          <a:prstGeom prst="rect">
            <a:avLst/>
          </a:prstGeom>
          <a:noFill/>
          <a:ln>
            <a:noFill/>
          </a:ln>
        </p:spPr>
      </p:sp>
      <p:sp>
        <p:nvSpPr>
          <p:cNvPr id="70" name="Google Shape;70;p1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1" name="Google Shape;7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1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3" name="Google Shape;83;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
        <p:nvSpPr>
          <p:cNvPr id="93" name="Google Shape;93;p16"/>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6"/>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6"/>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 name="Shape 96"/>
        <p:cNvGrpSpPr/>
        <p:nvPr/>
      </p:nvGrpSpPr>
      <p:grpSpPr>
        <a:xfrm>
          <a:off x="0" y="0"/>
          <a:ext cx="0" cy="0"/>
          <a:chOff x="0" y="0"/>
          <a:chExt cx="0" cy="0"/>
        </a:xfrm>
      </p:grpSpPr>
      <p:sp>
        <p:nvSpPr>
          <p:cNvPr id="97" name="Google Shape;97;p17"/>
          <p:cNvSpPr txBox="1"/>
          <p:nvPr>
            <p:ph type="ctrTitle"/>
          </p:nvPr>
        </p:nvSpPr>
        <p:spPr>
          <a:xfrm>
            <a:off x="685783" y="2130425"/>
            <a:ext cx="7772209"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7"/>
          <p:cNvSpPr txBox="1"/>
          <p:nvPr>
            <p:ph idx="1" type="subTitle"/>
          </p:nvPr>
        </p:nvSpPr>
        <p:spPr>
          <a:xfrm>
            <a:off x="1371566" y="3886200"/>
            <a:ext cx="6400642"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9" name="Google Shape;99;p17"/>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7"/>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7"/>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18"/>
          <p:cNvSpPr txBox="1"/>
          <p:nvPr>
            <p:ph type="title"/>
          </p:nvPr>
        </p:nvSpPr>
        <p:spPr>
          <a:xfrm>
            <a:off x="457189" y="274638"/>
            <a:ext cx="8229397"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8"/>
          <p:cNvSpPr txBox="1"/>
          <p:nvPr>
            <p:ph idx="1" type="body"/>
          </p:nvPr>
        </p:nvSpPr>
        <p:spPr>
          <a:xfrm>
            <a:off x="457189" y="1600200"/>
            <a:ext cx="8229397"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5" name="Google Shape;105;p18"/>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8"/>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8"/>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19"/>
          <p:cNvSpPr txBox="1"/>
          <p:nvPr>
            <p:ph type="title"/>
          </p:nvPr>
        </p:nvSpPr>
        <p:spPr>
          <a:xfrm>
            <a:off x="722295" y="4406900"/>
            <a:ext cx="7772209"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19"/>
          <p:cNvSpPr txBox="1"/>
          <p:nvPr>
            <p:ph idx="1" type="body"/>
          </p:nvPr>
        </p:nvSpPr>
        <p:spPr>
          <a:xfrm>
            <a:off x="722295" y="2906713"/>
            <a:ext cx="7772209"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11" name="Google Shape;111;p19"/>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9"/>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9"/>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4" name="Shape 114"/>
        <p:cNvGrpSpPr/>
        <p:nvPr/>
      </p:nvGrpSpPr>
      <p:grpSpPr>
        <a:xfrm>
          <a:off x="0" y="0"/>
          <a:ext cx="0" cy="0"/>
          <a:chOff x="0" y="0"/>
          <a:chExt cx="0" cy="0"/>
        </a:xfrm>
      </p:grpSpPr>
      <p:sp>
        <p:nvSpPr>
          <p:cNvPr id="115" name="Google Shape;115;p20"/>
          <p:cNvSpPr txBox="1"/>
          <p:nvPr>
            <p:ph type="title"/>
          </p:nvPr>
        </p:nvSpPr>
        <p:spPr>
          <a:xfrm>
            <a:off x="457189" y="274638"/>
            <a:ext cx="8229397"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20"/>
          <p:cNvSpPr txBox="1"/>
          <p:nvPr>
            <p:ph idx="1" type="body"/>
          </p:nvPr>
        </p:nvSpPr>
        <p:spPr>
          <a:xfrm>
            <a:off x="457189" y="1600200"/>
            <a:ext cx="4038501"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7" name="Google Shape;117;p20"/>
          <p:cNvSpPr txBox="1"/>
          <p:nvPr>
            <p:ph idx="2" type="body"/>
          </p:nvPr>
        </p:nvSpPr>
        <p:spPr>
          <a:xfrm>
            <a:off x="4648086" y="1600200"/>
            <a:ext cx="4038501"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8" name="Google Shape;118;p20"/>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20"/>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0"/>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1" name="Shape 121"/>
        <p:cNvGrpSpPr/>
        <p:nvPr/>
      </p:nvGrpSpPr>
      <p:grpSpPr>
        <a:xfrm>
          <a:off x="0" y="0"/>
          <a:ext cx="0" cy="0"/>
          <a:chOff x="0" y="0"/>
          <a:chExt cx="0" cy="0"/>
        </a:xfrm>
      </p:grpSpPr>
      <p:sp>
        <p:nvSpPr>
          <p:cNvPr id="122" name="Google Shape;122;p21"/>
          <p:cNvSpPr txBox="1"/>
          <p:nvPr>
            <p:ph type="title"/>
          </p:nvPr>
        </p:nvSpPr>
        <p:spPr>
          <a:xfrm>
            <a:off x="457189" y="274638"/>
            <a:ext cx="8229397"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21"/>
          <p:cNvSpPr txBox="1"/>
          <p:nvPr>
            <p:ph idx="1" type="body"/>
          </p:nvPr>
        </p:nvSpPr>
        <p:spPr>
          <a:xfrm>
            <a:off x="457189" y="1535113"/>
            <a:ext cx="4040089"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4" name="Google Shape;124;p21"/>
          <p:cNvSpPr txBox="1"/>
          <p:nvPr>
            <p:ph idx="2" type="body"/>
          </p:nvPr>
        </p:nvSpPr>
        <p:spPr>
          <a:xfrm>
            <a:off x="457189" y="2174875"/>
            <a:ext cx="4040089"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5" name="Google Shape;125;p21"/>
          <p:cNvSpPr txBox="1"/>
          <p:nvPr>
            <p:ph idx="3" type="body"/>
          </p:nvPr>
        </p:nvSpPr>
        <p:spPr>
          <a:xfrm>
            <a:off x="4644911" y="1535113"/>
            <a:ext cx="4041676"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6" name="Google Shape;126;p21"/>
          <p:cNvSpPr txBox="1"/>
          <p:nvPr>
            <p:ph idx="4" type="body"/>
          </p:nvPr>
        </p:nvSpPr>
        <p:spPr>
          <a:xfrm>
            <a:off x="4644911" y="2174875"/>
            <a:ext cx="4041676"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7" name="Google Shape;127;p21"/>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21"/>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1"/>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22"/>
          <p:cNvSpPr txBox="1"/>
          <p:nvPr>
            <p:ph type="title"/>
          </p:nvPr>
        </p:nvSpPr>
        <p:spPr>
          <a:xfrm>
            <a:off x="457189" y="274638"/>
            <a:ext cx="8229397"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22"/>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2"/>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2"/>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23"/>
          <p:cNvSpPr txBox="1"/>
          <p:nvPr>
            <p:ph type="title"/>
          </p:nvPr>
        </p:nvSpPr>
        <p:spPr>
          <a:xfrm>
            <a:off x="457189" y="273050"/>
            <a:ext cx="3008239"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3"/>
          <p:cNvSpPr txBox="1"/>
          <p:nvPr>
            <p:ph idx="1" type="body"/>
          </p:nvPr>
        </p:nvSpPr>
        <p:spPr>
          <a:xfrm>
            <a:off x="3574962" y="273050"/>
            <a:ext cx="5111624"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8" name="Google Shape;138;p23"/>
          <p:cNvSpPr txBox="1"/>
          <p:nvPr>
            <p:ph idx="2" type="body"/>
          </p:nvPr>
        </p:nvSpPr>
        <p:spPr>
          <a:xfrm>
            <a:off x="457189" y="1435100"/>
            <a:ext cx="3008239"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9" name="Google Shape;139;p23"/>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3"/>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3"/>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2" name="Shape 142"/>
        <p:cNvGrpSpPr/>
        <p:nvPr/>
      </p:nvGrpSpPr>
      <p:grpSpPr>
        <a:xfrm>
          <a:off x="0" y="0"/>
          <a:ext cx="0" cy="0"/>
          <a:chOff x="0" y="0"/>
          <a:chExt cx="0" cy="0"/>
        </a:xfrm>
      </p:grpSpPr>
      <p:sp>
        <p:nvSpPr>
          <p:cNvPr id="143" name="Google Shape;143;p24"/>
          <p:cNvSpPr txBox="1"/>
          <p:nvPr>
            <p:ph type="title"/>
          </p:nvPr>
        </p:nvSpPr>
        <p:spPr>
          <a:xfrm>
            <a:off x="1792244" y="4800600"/>
            <a:ext cx="5486265"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24"/>
          <p:cNvSpPr/>
          <p:nvPr>
            <p:ph idx="2" type="pic"/>
          </p:nvPr>
        </p:nvSpPr>
        <p:spPr>
          <a:xfrm>
            <a:off x="1792244" y="612775"/>
            <a:ext cx="5486265" cy="4114800"/>
          </a:xfrm>
          <a:prstGeom prst="rect">
            <a:avLst/>
          </a:prstGeom>
          <a:noFill/>
          <a:ln>
            <a:noFill/>
          </a:ln>
        </p:spPr>
      </p:sp>
      <p:sp>
        <p:nvSpPr>
          <p:cNvPr id="145" name="Google Shape;145;p24"/>
          <p:cNvSpPr txBox="1"/>
          <p:nvPr>
            <p:ph idx="1" type="body"/>
          </p:nvPr>
        </p:nvSpPr>
        <p:spPr>
          <a:xfrm>
            <a:off x="1792244" y="5367338"/>
            <a:ext cx="5486265"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6" name="Google Shape;146;p24"/>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4"/>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4"/>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9" name="Shape 149"/>
        <p:cNvGrpSpPr/>
        <p:nvPr/>
      </p:nvGrpSpPr>
      <p:grpSpPr>
        <a:xfrm>
          <a:off x="0" y="0"/>
          <a:ext cx="0" cy="0"/>
          <a:chOff x="0" y="0"/>
          <a:chExt cx="0" cy="0"/>
        </a:xfrm>
      </p:grpSpPr>
      <p:sp>
        <p:nvSpPr>
          <p:cNvPr id="150" name="Google Shape;150;p25"/>
          <p:cNvSpPr txBox="1"/>
          <p:nvPr>
            <p:ph type="title"/>
          </p:nvPr>
        </p:nvSpPr>
        <p:spPr>
          <a:xfrm>
            <a:off x="457189" y="274638"/>
            <a:ext cx="8229397"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5"/>
          <p:cNvSpPr txBox="1"/>
          <p:nvPr>
            <p:ph idx="1" type="body"/>
          </p:nvPr>
        </p:nvSpPr>
        <p:spPr>
          <a:xfrm rot="5400000">
            <a:off x="2308906" y="-251517"/>
            <a:ext cx="4525963" cy="8229397"/>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p25"/>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5"/>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5"/>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26"/>
          <p:cNvSpPr txBox="1"/>
          <p:nvPr>
            <p:ph type="title"/>
          </p:nvPr>
        </p:nvSpPr>
        <p:spPr>
          <a:xfrm rot="5400000">
            <a:off x="4732149" y="2171726"/>
            <a:ext cx="5851525" cy="205734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26"/>
          <p:cNvSpPr txBox="1"/>
          <p:nvPr>
            <p:ph idx="1" type="body"/>
          </p:nvPr>
        </p:nvSpPr>
        <p:spPr>
          <a:xfrm rot="5400000">
            <a:off x="541252" y="190575"/>
            <a:ext cx="5851525" cy="601965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8" name="Google Shape;158;p26"/>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26"/>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26"/>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 name="Google Shape;14;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p15"/>
          <p:cNvSpPr txBox="1"/>
          <p:nvPr>
            <p:ph type="title"/>
          </p:nvPr>
        </p:nvSpPr>
        <p:spPr>
          <a:xfrm>
            <a:off x="457189" y="274638"/>
            <a:ext cx="8229397"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8" name="Google Shape;88;p15"/>
          <p:cNvSpPr txBox="1"/>
          <p:nvPr>
            <p:ph idx="1" type="body"/>
          </p:nvPr>
        </p:nvSpPr>
        <p:spPr>
          <a:xfrm>
            <a:off x="457189" y="1600200"/>
            <a:ext cx="8229397"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9" name="Google Shape;89;p15"/>
          <p:cNvSpPr txBox="1"/>
          <p:nvPr>
            <p:ph idx="10" type="dt"/>
          </p:nvPr>
        </p:nvSpPr>
        <p:spPr>
          <a:xfrm>
            <a:off x="457189" y="6356350"/>
            <a:ext cx="21335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0" name="Google Shape;90;p15"/>
          <p:cNvSpPr txBox="1"/>
          <p:nvPr>
            <p:ph idx="11" type="ftr"/>
          </p:nvPr>
        </p:nvSpPr>
        <p:spPr>
          <a:xfrm>
            <a:off x="3124123" y="6356350"/>
            <a:ext cx="2895529"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1" name="Google Shape;91;p15"/>
          <p:cNvSpPr txBox="1"/>
          <p:nvPr>
            <p:ph idx="12" type="sldNum"/>
          </p:nvPr>
        </p:nvSpPr>
        <p:spPr>
          <a:xfrm>
            <a:off x="6553039" y="6356350"/>
            <a:ext cx="213354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3.png"/><Relationship Id="rId9"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7.png"/><Relationship Id="rId8"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239"/>
        </a:solidFill>
      </p:bgPr>
    </p:bg>
    <p:spTree>
      <p:nvGrpSpPr>
        <p:cNvPr id="165" name="Shape 165"/>
        <p:cNvGrpSpPr/>
        <p:nvPr/>
      </p:nvGrpSpPr>
      <p:grpSpPr>
        <a:xfrm>
          <a:off x="0" y="0"/>
          <a:ext cx="0" cy="0"/>
          <a:chOff x="0" y="0"/>
          <a:chExt cx="0" cy="0"/>
        </a:xfrm>
      </p:grpSpPr>
      <p:sp>
        <p:nvSpPr>
          <p:cNvPr id="166" name="Google Shape;166;p27"/>
          <p:cNvSpPr/>
          <p:nvPr/>
        </p:nvSpPr>
        <p:spPr>
          <a:xfrm>
            <a:off x="566928" y="566928"/>
            <a:ext cx="2926080" cy="475488"/>
          </a:xfrm>
          <a:prstGeom prst="roundRect">
            <a:avLst>
              <a:gd fmla="val 19231" name="adj"/>
            </a:avLst>
          </a:prstGeom>
          <a:solidFill>
            <a:srgbClr val="20B2A6"/>
          </a:solidFill>
          <a:ln cap="flat" cmpd="sng" w="15225">
            <a:solidFill>
              <a:srgbClr val="20B2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7"/>
          <p:cNvSpPr/>
          <p:nvPr/>
        </p:nvSpPr>
        <p:spPr>
          <a:xfrm>
            <a:off x="1051560" y="713232"/>
            <a:ext cx="1965960" cy="20116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PROJECT OVERVIEW</a:t>
            </a:r>
            <a:endParaRPr b="0" i="0" sz="1200" u="none" cap="none" strike="noStrike">
              <a:solidFill>
                <a:schemeClr val="dk1"/>
              </a:solidFill>
              <a:latin typeface="Arial"/>
              <a:ea typeface="Arial"/>
              <a:cs typeface="Arial"/>
              <a:sym typeface="Arial"/>
            </a:endParaRPr>
          </a:p>
        </p:txBody>
      </p:sp>
      <p:sp>
        <p:nvSpPr>
          <p:cNvPr id="168" name="Google Shape;168;p27"/>
          <p:cNvSpPr/>
          <p:nvPr/>
        </p:nvSpPr>
        <p:spPr>
          <a:xfrm>
            <a:off x="594360" y="1508760"/>
            <a:ext cx="6217920" cy="6858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FFFFFF"/>
              </a:buClr>
              <a:buSzPts val="4200"/>
              <a:buFont typeface="Play"/>
              <a:buNone/>
            </a:pPr>
            <a:r>
              <a:rPr b="1" i="0" lang="en-US" sz="4200" u="none" cap="none" strike="noStrike">
                <a:solidFill>
                  <a:srgbClr val="FFFFFF"/>
                </a:solidFill>
                <a:latin typeface="Play"/>
                <a:ea typeface="Play"/>
                <a:cs typeface="Play"/>
                <a:sym typeface="Play"/>
              </a:rPr>
              <a:t>ShapeMix-ATAC</a:t>
            </a:r>
            <a:endParaRPr b="0" i="0" sz="4200" u="none" cap="none" strike="noStrike">
              <a:solidFill>
                <a:schemeClr val="dk1"/>
              </a:solidFill>
              <a:latin typeface="Arial"/>
              <a:ea typeface="Arial"/>
              <a:cs typeface="Arial"/>
              <a:sym typeface="Arial"/>
            </a:endParaRPr>
          </a:p>
        </p:txBody>
      </p:sp>
      <p:sp>
        <p:nvSpPr>
          <p:cNvPr id="169" name="Google Shape;169;p27"/>
          <p:cNvSpPr/>
          <p:nvPr/>
        </p:nvSpPr>
        <p:spPr>
          <a:xfrm>
            <a:off x="612648" y="2404872"/>
            <a:ext cx="6217920" cy="6858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A Fragment-Shape-Aware Bayesian Model</a:t>
            </a:r>
            <a:endParaRPr b="0" i="0" sz="24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for Spatial ATAC-seq Deconvolution</a:t>
            </a:r>
            <a:endParaRPr b="0" i="0" sz="2400" u="none" cap="none" strike="noStrike">
              <a:solidFill>
                <a:schemeClr val="dk1"/>
              </a:solidFill>
              <a:latin typeface="Arial"/>
              <a:ea typeface="Arial"/>
              <a:cs typeface="Arial"/>
              <a:sym typeface="Arial"/>
            </a:endParaRPr>
          </a:p>
        </p:txBody>
      </p:sp>
      <p:sp>
        <p:nvSpPr>
          <p:cNvPr id="170" name="Google Shape;170;p27"/>
          <p:cNvSpPr/>
          <p:nvPr/>
        </p:nvSpPr>
        <p:spPr>
          <a:xfrm>
            <a:off x="621792" y="3886200"/>
            <a:ext cx="5486400" cy="64008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E7EEF8"/>
              </a:buClr>
              <a:buSzPts val="2700"/>
              <a:buFont typeface="Arial"/>
              <a:buNone/>
            </a:pPr>
            <a:r>
              <a:rPr b="0" i="0" lang="en-US" sz="2700" u="none" cap="none" strike="noStrike">
                <a:solidFill>
                  <a:srgbClr val="E7EEF8"/>
                </a:solidFill>
                <a:latin typeface="Arial"/>
                <a:ea typeface="Arial"/>
                <a:cs typeface="Arial"/>
                <a:sym typeface="Arial"/>
              </a:rPr>
              <a:t>Can fragment shape help us unmix</a:t>
            </a:r>
            <a:endParaRPr b="0" i="0" sz="27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E7EEF8"/>
              </a:buClr>
              <a:buSzPts val="2700"/>
              <a:buFont typeface="Arial"/>
              <a:buNone/>
            </a:pPr>
            <a:r>
              <a:rPr b="0" i="0" lang="en-US" sz="2700" u="none" cap="none" strike="noStrike">
                <a:solidFill>
                  <a:srgbClr val="E7EEF8"/>
                </a:solidFill>
                <a:latin typeface="Arial"/>
                <a:ea typeface="Arial"/>
                <a:cs typeface="Arial"/>
                <a:sym typeface="Arial"/>
              </a:rPr>
              <a:t>spatial chromatin data?</a:t>
            </a:r>
            <a:endParaRPr b="0" i="0" sz="2700" u="none" cap="none" strike="noStrike">
              <a:solidFill>
                <a:schemeClr val="dk1"/>
              </a:solidFill>
              <a:latin typeface="Arial"/>
              <a:ea typeface="Arial"/>
              <a:cs typeface="Arial"/>
              <a:sym typeface="Arial"/>
            </a:endParaRPr>
          </a:p>
        </p:txBody>
      </p:sp>
      <p:sp>
        <p:nvSpPr>
          <p:cNvPr id="171" name="Google Shape;171;p27"/>
          <p:cNvSpPr/>
          <p:nvPr/>
        </p:nvSpPr>
        <p:spPr>
          <a:xfrm>
            <a:off x="621792" y="6272784"/>
            <a:ext cx="4114800" cy="2286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E7EEF8"/>
              </a:buClr>
              <a:buSzPts val="1250"/>
              <a:buFont typeface="Arial"/>
              <a:buNone/>
            </a:pPr>
            <a:r>
              <a:rPr b="0" i="0" lang="en-US" sz="1250" u="none" cap="none" strike="noStrike">
                <a:solidFill>
                  <a:srgbClr val="E7EEF8"/>
                </a:solidFill>
                <a:latin typeface="Arial"/>
                <a:ea typeface="Arial"/>
                <a:cs typeface="Arial"/>
                <a:sym typeface="Arial"/>
              </a:rPr>
              <a:t>Andy Zhuang • High School Science Research</a:t>
            </a:r>
            <a:endParaRPr b="0" i="0" sz="1250" u="none" cap="none" strike="noStrike">
              <a:solidFill>
                <a:schemeClr val="dk1"/>
              </a:solidFill>
              <a:latin typeface="Arial"/>
              <a:ea typeface="Arial"/>
              <a:cs typeface="Arial"/>
              <a:sym typeface="Arial"/>
            </a:endParaRPr>
          </a:p>
        </p:txBody>
      </p:sp>
      <p:sp>
        <p:nvSpPr>
          <p:cNvPr id="172" name="Google Shape;172;p27"/>
          <p:cNvSpPr/>
          <p:nvPr/>
        </p:nvSpPr>
        <p:spPr>
          <a:xfrm>
            <a:off x="7936992" y="1170432"/>
            <a:ext cx="3730752" cy="3730752"/>
          </a:xfrm>
          <a:prstGeom prst="ellipse">
            <a:avLst/>
          </a:prstGeom>
          <a:solidFill>
            <a:srgbClr val="0F2339"/>
          </a:solidFill>
          <a:ln cap="flat" cmpd="sng" w="38100">
            <a:solidFill>
              <a:srgbClr val="20B2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7"/>
          <p:cNvSpPr/>
          <p:nvPr/>
        </p:nvSpPr>
        <p:spPr>
          <a:xfrm>
            <a:off x="8321040" y="1737360"/>
            <a:ext cx="457200" cy="457200"/>
          </a:xfrm>
          <a:prstGeom prst="ellipse">
            <a:avLst/>
          </a:prstGeom>
          <a:solidFill>
            <a:srgbClr val="2878F0">
              <a:alpha val="92157"/>
            </a:srgbClr>
          </a:solidFill>
          <a:ln cap="flat" cmpd="sng" w="15225">
            <a:solidFill>
              <a:srgbClr val="287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7"/>
          <p:cNvSpPr/>
          <p:nvPr/>
        </p:nvSpPr>
        <p:spPr>
          <a:xfrm>
            <a:off x="8476488" y="1892808"/>
            <a:ext cx="146304" cy="146304"/>
          </a:xfrm>
          <a:prstGeom prst="ellipse">
            <a:avLst/>
          </a:prstGeom>
          <a:solidFill>
            <a:srgbClr val="FFFFFF"/>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7"/>
          <p:cNvSpPr/>
          <p:nvPr/>
        </p:nvSpPr>
        <p:spPr>
          <a:xfrm>
            <a:off x="9144000" y="1417320"/>
            <a:ext cx="457200" cy="457200"/>
          </a:xfrm>
          <a:prstGeom prst="ellipse">
            <a:avLst/>
          </a:prstGeom>
          <a:solidFill>
            <a:srgbClr val="F04D46">
              <a:alpha val="92157"/>
            </a:srgbClr>
          </a:solidFill>
          <a:ln cap="flat" cmpd="sng" w="15225">
            <a:solidFill>
              <a:srgbClr val="F04D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7"/>
          <p:cNvSpPr/>
          <p:nvPr/>
        </p:nvSpPr>
        <p:spPr>
          <a:xfrm>
            <a:off x="9299448" y="1572768"/>
            <a:ext cx="146304" cy="146304"/>
          </a:xfrm>
          <a:prstGeom prst="ellipse">
            <a:avLst/>
          </a:prstGeom>
          <a:solidFill>
            <a:srgbClr val="FFFFFF"/>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7"/>
          <p:cNvSpPr/>
          <p:nvPr/>
        </p:nvSpPr>
        <p:spPr>
          <a:xfrm>
            <a:off x="10058400" y="2331720"/>
            <a:ext cx="457200" cy="457200"/>
          </a:xfrm>
          <a:prstGeom prst="ellipse">
            <a:avLst/>
          </a:prstGeom>
          <a:solidFill>
            <a:srgbClr val="F7C247">
              <a:alpha val="92157"/>
            </a:srgbClr>
          </a:solidFill>
          <a:ln cap="flat" cmpd="sng" w="15225">
            <a:solidFill>
              <a:srgbClr val="F7C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7"/>
          <p:cNvSpPr/>
          <p:nvPr/>
        </p:nvSpPr>
        <p:spPr>
          <a:xfrm>
            <a:off x="10213848" y="2487168"/>
            <a:ext cx="146304" cy="146304"/>
          </a:xfrm>
          <a:prstGeom prst="ellipse">
            <a:avLst/>
          </a:prstGeom>
          <a:solidFill>
            <a:srgbClr val="FFFFFF"/>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p:nvPr/>
        </p:nvSpPr>
        <p:spPr>
          <a:xfrm>
            <a:off x="8577072" y="3108960"/>
            <a:ext cx="457200" cy="457200"/>
          </a:xfrm>
          <a:prstGeom prst="ellipse">
            <a:avLst/>
          </a:prstGeom>
          <a:solidFill>
            <a:srgbClr val="6C4DDB">
              <a:alpha val="92157"/>
            </a:srgbClr>
          </a:solidFill>
          <a:ln cap="flat" cmpd="sng" w="15225">
            <a:solidFill>
              <a:srgbClr val="6C4D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7"/>
          <p:cNvSpPr/>
          <p:nvPr/>
        </p:nvSpPr>
        <p:spPr>
          <a:xfrm>
            <a:off x="8732520" y="3264408"/>
            <a:ext cx="146304" cy="146304"/>
          </a:xfrm>
          <a:prstGeom prst="ellipse">
            <a:avLst/>
          </a:prstGeom>
          <a:solidFill>
            <a:srgbClr val="FFFFFF"/>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7"/>
          <p:cNvSpPr/>
          <p:nvPr/>
        </p:nvSpPr>
        <p:spPr>
          <a:xfrm>
            <a:off x="9281160" y="2670048"/>
            <a:ext cx="457200" cy="457200"/>
          </a:xfrm>
          <a:prstGeom prst="ellipse">
            <a:avLst/>
          </a:prstGeom>
          <a:solidFill>
            <a:srgbClr val="20B2A6">
              <a:alpha val="92157"/>
            </a:srgbClr>
          </a:solidFill>
          <a:ln cap="flat" cmpd="sng" w="15225">
            <a:solidFill>
              <a:srgbClr val="20B2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7"/>
          <p:cNvSpPr/>
          <p:nvPr/>
        </p:nvSpPr>
        <p:spPr>
          <a:xfrm>
            <a:off x="9436608" y="2825496"/>
            <a:ext cx="146304" cy="146304"/>
          </a:xfrm>
          <a:prstGeom prst="ellipse">
            <a:avLst/>
          </a:prstGeom>
          <a:solidFill>
            <a:srgbClr val="FFFFFF"/>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7"/>
          <p:cNvSpPr/>
          <p:nvPr/>
        </p:nvSpPr>
        <p:spPr>
          <a:xfrm>
            <a:off x="9829800" y="3822192"/>
            <a:ext cx="457200" cy="457200"/>
          </a:xfrm>
          <a:prstGeom prst="ellipse">
            <a:avLst/>
          </a:prstGeom>
          <a:solidFill>
            <a:srgbClr val="F04D46">
              <a:alpha val="92157"/>
            </a:srgbClr>
          </a:solidFill>
          <a:ln cap="flat" cmpd="sng" w="15225">
            <a:solidFill>
              <a:srgbClr val="F04D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9985248" y="3977640"/>
            <a:ext cx="146304" cy="146304"/>
          </a:xfrm>
          <a:prstGeom prst="ellipse">
            <a:avLst/>
          </a:prstGeom>
          <a:solidFill>
            <a:srgbClr val="FFFFFF"/>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7"/>
          <p:cNvSpPr/>
          <p:nvPr/>
        </p:nvSpPr>
        <p:spPr>
          <a:xfrm>
            <a:off x="10378440" y="3657600"/>
            <a:ext cx="457200" cy="457200"/>
          </a:xfrm>
          <a:prstGeom prst="ellipse">
            <a:avLst/>
          </a:prstGeom>
          <a:solidFill>
            <a:srgbClr val="2878F0">
              <a:alpha val="92157"/>
            </a:srgbClr>
          </a:solidFill>
          <a:ln cap="flat" cmpd="sng" w="15225">
            <a:solidFill>
              <a:srgbClr val="287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10533888" y="3813048"/>
            <a:ext cx="146304" cy="146304"/>
          </a:xfrm>
          <a:prstGeom prst="ellipse">
            <a:avLst/>
          </a:prstGeom>
          <a:solidFill>
            <a:srgbClr val="FFFFFF"/>
          </a:solidFill>
          <a:ln cap="flat" cmpd="sng" w="152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8778240" y="5102352"/>
            <a:ext cx="2286000" cy="27432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mixed spatial spot</a:t>
            </a:r>
            <a:endParaRPr b="0" i="0" sz="1350" u="none" cap="none" strike="noStrike">
              <a:solidFill>
                <a:schemeClr val="dk1"/>
              </a:solidFill>
              <a:latin typeface="Arial"/>
              <a:ea typeface="Arial"/>
              <a:cs typeface="Arial"/>
              <a:sym typeface="Arial"/>
            </a:endParaRPr>
          </a:p>
        </p:txBody>
      </p:sp>
      <p:sp>
        <p:nvSpPr>
          <p:cNvPr id="188" name="Google Shape;188;p27"/>
          <p:cNvSpPr/>
          <p:nvPr/>
        </p:nvSpPr>
        <p:spPr>
          <a:xfrm>
            <a:off x="7909560" y="5486400"/>
            <a:ext cx="685800" cy="20116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89" name="Google Shape;189;p27"/>
          <p:cNvSpPr/>
          <p:nvPr/>
        </p:nvSpPr>
        <p:spPr>
          <a:xfrm>
            <a:off x="8001000" y="5806440"/>
            <a:ext cx="155448" cy="155448"/>
          </a:xfrm>
          <a:prstGeom prst="ellipse">
            <a:avLst/>
          </a:prstGeom>
          <a:solidFill>
            <a:srgbClr val="20B2A6"/>
          </a:solidFill>
          <a:ln cap="flat" cmpd="sng" w="15225">
            <a:solidFill>
              <a:srgbClr val="20B2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0" name="Google Shape;190;p27"/>
          <p:cNvCxnSpPr/>
          <p:nvPr/>
        </p:nvCxnSpPr>
        <p:spPr>
          <a:xfrm>
            <a:off x="8129016" y="5884164"/>
            <a:ext cx="310896" cy="0"/>
          </a:xfrm>
          <a:prstGeom prst="straightConnector1">
            <a:avLst/>
          </a:prstGeom>
          <a:noFill/>
          <a:ln cap="flat" cmpd="sng" w="50800">
            <a:solidFill>
              <a:srgbClr val="20B2A6"/>
            </a:solidFill>
            <a:prstDash val="solid"/>
            <a:round/>
            <a:headEnd len="sm" w="sm" type="none"/>
            <a:tailEnd len="sm" w="sm" type="none"/>
          </a:ln>
        </p:spPr>
      </p:cxnSp>
      <p:sp>
        <p:nvSpPr>
          <p:cNvPr id="191" name="Google Shape;191;p27"/>
          <p:cNvSpPr/>
          <p:nvPr/>
        </p:nvSpPr>
        <p:spPr>
          <a:xfrm>
            <a:off x="8439912" y="5806440"/>
            <a:ext cx="155448" cy="155448"/>
          </a:xfrm>
          <a:prstGeom prst="ellipse">
            <a:avLst/>
          </a:prstGeom>
          <a:solidFill>
            <a:srgbClr val="20B2A6"/>
          </a:solidFill>
          <a:ln cap="flat" cmpd="sng" w="15225">
            <a:solidFill>
              <a:srgbClr val="20B2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p:nvPr/>
        </p:nvSpPr>
        <p:spPr>
          <a:xfrm>
            <a:off x="7498080" y="6190488"/>
            <a:ext cx="1463040" cy="256032"/>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t/>
            </a:r>
            <a:endParaRPr b="0" i="0" sz="950" u="none" cap="none" strike="noStrike">
              <a:solidFill>
                <a:schemeClr val="dk1"/>
              </a:solidFill>
              <a:latin typeface="Arial"/>
              <a:ea typeface="Arial"/>
              <a:cs typeface="Arial"/>
              <a:sym typeface="Arial"/>
            </a:endParaRPr>
          </a:p>
        </p:txBody>
      </p:sp>
      <p:sp>
        <p:nvSpPr>
          <p:cNvPr id="193" name="Google Shape;193;p27"/>
          <p:cNvSpPr/>
          <p:nvPr/>
        </p:nvSpPr>
        <p:spPr>
          <a:xfrm>
            <a:off x="9006840" y="5641848"/>
            <a:ext cx="1005840" cy="20116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94" name="Google Shape;194;p27"/>
          <p:cNvSpPr/>
          <p:nvPr/>
        </p:nvSpPr>
        <p:spPr>
          <a:xfrm>
            <a:off x="9098280" y="5961888"/>
            <a:ext cx="155448" cy="155448"/>
          </a:xfrm>
          <a:prstGeom prst="ellipse">
            <a:avLst/>
          </a:prstGeom>
          <a:solidFill>
            <a:srgbClr val="F7C247"/>
          </a:solidFill>
          <a:ln cap="flat" cmpd="sng" w="15225">
            <a:solidFill>
              <a:srgbClr val="F7C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5" name="Google Shape;195;p27"/>
          <p:cNvCxnSpPr/>
          <p:nvPr/>
        </p:nvCxnSpPr>
        <p:spPr>
          <a:xfrm>
            <a:off x="9226296" y="6039612"/>
            <a:ext cx="630936" cy="0"/>
          </a:xfrm>
          <a:prstGeom prst="straightConnector1">
            <a:avLst/>
          </a:prstGeom>
          <a:noFill/>
          <a:ln cap="flat" cmpd="sng" w="50800">
            <a:solidFill>
              <a:srgbClr val="F7C247"/>
            </a:solidFill>
            <a:prstDash val="solid"/>
            <a:round/>
            <a:headEnd len="sm" w="sm" type="none"/>
            <a:tailEnd len="sm" w="sm" type="none"/>
          </a:ln>
        </p:spPr>
      </p:cxnSp>
      <p:sp>
        <p:nvSpPr>
          <p:cNvPr id="196" name="Google Shape;196;p27"/>
          <p:cNvSpPr/>
          <p:nvPr/>
        </p:nvSpPr>
        <p:spPr>
          <a:xfrm>
            <a:off x="9857232" y="5961888"/>
            <a:ext cx="155448" cy="155448"/>
          </a:xfrm>
          <a:prstGeom prst="ellipse">
            <a:avLst/>
          </a:prstGeom>
          <a:solidFill>
            <a:srgbClr val="F7C247"/>
          </a:solidFill>
          <a:ln cap="flat" cmpd="sng" w="15225">
            <a:solidFill>
              <a:srgbClr val="F7C2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nvSpPr>
        <p:spPr>
          <a:xfrm>
            <a:off x="8595360" y="6345936"/>
            <a:ext cx="1783080" cy="256032"/>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t/>
            </a:r>
            <a:endParaRPr b="0" i="0" sz="950" u="none" cap="none" strike="noStrike">
              <a:solidFill>
                <a:schemeClr val="dk1"/>
              </a:solidFill>
              <a:latin typeface="Arial"/>
              <a:ea typeface="Arial"/>
              <a:cs typeface="Arial"/>
              <a:sym typeface="Arial"/>
            </a:endParaRPr>
          </a:p>
        </p:txBody>
      </p:sp>
      <p:sp>
        <p:nvSpPr>
          <p:cNvPr id="198" name="Google Shape;198;p27"/>
          <p:cNvSpPr/>
          <p:nvPr/>
        </p:nvSpPr>
        <p:spPr>
          <a:xfrm>
            <a:off x="10012680" y="5486400"/>
            <a:ext cx="1005840" cy="20116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199" name="Google Shape;199;p27"/>
          <p:cNvSpPr/>
          <p:nvPr/>
        </p:nvSpPr>
        <p:spPr>
          <a:xfrm>
            <a:off x="10104120" y="5806440"/>
            <a:ext cx="155448" cy="155448"/>
          </a:xfrm>
          <a:prstGeom prst="ellipse">
            <a:avLst/>
          </a:prstGeom>
          <a:solidFill>
            <a:srgbClr val="F04D46"/>
          </a:solidFill>
          <a:ln cap="flat" cmpd="sng" w="15225">
            <a:solidFill>
              <a:srgbClr val="F04D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7"/>
          <p:cNvCxnSpPr/>
          <p:nvPr/>
        </p:nvCxnSpPr>
        <p:spPr>
          <a:xfrm>
            <a:off x="10232136" y="5884164"/>
            <a:ext cx="630936" cy="0"/>
          </a:xfrm>
          <a:prstGeom prst="straightConnector1">
            <a:avLst/>
          </a:prstGeom>
          <a:noFill/>
          <a:ln cap="flat" cmpd="sng" w="50800">
            <a:solidFill>
              <a:srgbClr val="F04D46"/>
            </a:solidFill>
            <a:prstDash val="solid"/>
            <a:round/>
            <a:headEnd len="sm" w="sm" type="none"/>
            <a:tailEnd len="sm" w="sm" type="none"/>
          </a:ln>
        </p:spPr>
      </p:cxnSp>
      <p:sp>
        <p:nvSpPr>
          <p:cNvPr id="201" name="Google Shape;201;p27"/>
          <p:cNvSpPr/>
          <p:nvPr/>
        </p:nvSpPr>
        <p:spPr>
          <a:xfrm>
            <a:off x="10863072" y="5806440"/>
            <a:ext cx="155448" cy="155448"/>
          </a:xfrm>
          <a:prstGeom prst="ellipse">
            <a:avLst/>
          </a:prstGeom>
          <a:solidFill>
            <a:srgbClr val="F04D46"/>
          </a:solidFill>
          <a:ln cap="flat" cmpd="sng" w="15225">
            <a:solidFill>
              <a:srgbClr val="F04D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7"/>
          <p:cNvSpPr/>
          <p:nvPr/>
        </p:nvSpPr>
        <p:spPr>
          <a:xfrm>
            <a:off x="9601200" y="6190488"/>
            <a:ext cx="1783080" cy="256032"/>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t/>
            </a:r>
            <a:endParaRPr b="0" i="0" sz="950" u="none" cap="none" strike="noStrike">
              <a:solidFill>
                <a:schemeClr val="dk1"/>
              </a:solidFill>
              <a:latin typeface="Arial"/>
              <a:ea typeface="Arial"/>
              <a:cs typeface="Arial"/>
              <a:sym typeface="Arial"/>
            </a:endParaRPr>
          </a:p>
        </p:txBody>
      </p:sp>
      <p:sp>
        <p:nvSpPr>
          <p:cNvPr id="203" name="Google Shape;203;p27"/>
          <p:cNvSpPr/>
          <p:nvPr/>
        </p:nvSpPr>
        <p:spPr>
          <a:xfrm>
            <a:off x="10671048" y="5715000"/>
            <a:ext cx="795528" cy="20116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1100"/>
              <a:buFont typeface="Arial"/>
              <a:buNone/>
            </a:pPr>
            <a:r>
              <a:t/>
            </a:r>
            <a:endParaRPr b="0" i="0" sz="1100" u="none" cap="none" strike="noStrike">
              <a:solidFill>
                <a:schemeClr val="dk1"/>
              </a:solidFill>
              <a:latin typeface="Arial"/>
              <a:ea typeface="Arial"/>
              <a:cs typeface="Arial"/>
              <a:sym typeface="Arial"/>
            </a:endParaRPr>
          </a:p>
        </p:txBody>
      </p:sp>
      <p:sp>
        <p:nvSpPr>
          <p:cNvPr id="204" name="Google Shape;204;p27"/>
          <p:cNvSpPr/>
          <p:nvPr/>
        </p:nvSpPr>
        <p:spPr>
          <a:xfrm>
            <a:off x="10762488" y="6035040"/>
            <a:ext cx="155448" cy="155448"/>
          </a:xfrm>
          <a:prstGeom prst="ellipse">
            <a:avLst/>
          </a:prstGeom>
          <a:solidFill>
            <a:srgbClr val="2878F0"/>
          </a:solidFill>
          <a:ln cap="flat" cmpd="sng" w="15225">
            <a:solidFill>
              <a:srgbClr val="287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5" name="Google Shape;205;p27"/>
          <p:cNvCxnSpPr/>
          <p:nvPr/>
        </p:nvCxnSpPr>
        <p:spPr>
          <a:xfrm>
            <a:off x="10890504" y="6112764"/>
            <a:ext cx="420624" cy="0"/>
          </a:xfrm>
          <a:prstGeom prst="straightConnector1">
            <a:avLst/>
          </a:prstGeom>
          <a:noFill/>
          <a:ln cap="flat" cmpd="sng" w="50800">
            <a:solidFill>
              <a:srgbClr val="2878F0"/>
            </a:solidFill>
            <a:prstDash val="solid"/>
            <a:round/>
            <a:headEnd len="sm" w="sm" type="none"/>
            <a:tailEnd len="sm" w="sm" type="none"/>
          </a:ln>
        </p:spPr>
      </p:cxnSp>
      <p:sp>
        <p:nvSpPr>
          <p:cNvPr id="206" name="Google Shape;206;p27"/>
          <p:cNvSpPr/>
          <p:nvPr/>
        </p:nvSpPr>
        <p:spPr>
          <a:xfrm>
            <a:off x="11311128" y="6035040"/>
            <a:ext cx="155448" cy="155448"/>
          </a:xfrm>
          <a:prstGeom prst="ellipse">
            <a:avLst/>
          </a:prstGeom>
          <a:solidFill>
            <a:srgbClr val="2878F0"/>
          </a:solidFill>
          <a:ln cap="flat" cmpd="sng" w="15225">
            <a:solidFill>
              <a:srgbClr val="287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p:nvPr/>
        </p:nvSpPr>
        <p:spPr>
          <a:xfrm>
            <a:off x="10259568" y="6419088"/>
            <a:ext cx="1572768" cy="256032"/>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chemeClr val="dk1"/>
              </a:buClr>
              <a:buSzPts val="950"/>
              <a:buFont typeface="Arial"/>
              <a:buNone/>
            </a:pPr>
            <a:r>
              <a:t/>
            </a:r>
            <a:endParaRPr b="0" i="0" sz="950" u="none" cap="none" strike="noStrike">
              <a:solidFill>
                <a:schemeClr val="dk1"/>
              </a:solidFill>
              <a:latin typeface="Arial"/>
              <a:ea typeface="Arial"/>
              <a:cs typeface="Arial"/>
              <a:sym typeface="Arial"/>
            </a:endParaRPr>
          </a:p>
        </p:txBody>
      </p:sp>
      <p:sp>
        <p:nvSpPr>
          <p:cNvPr id="208" name="Google Shape;208;p27"/>
          <p:cNvSpPr/>
          <p:nvPr/>
        </p:nvSpPr>
        <p:spPr>
          <a:xfrm>
            <a:off x="11750040" y="6510528"/>
            <a:ext cx="164592" cy="1371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8D4E2"/>
              </a:buClr>
              <a:buSzPts val="750"/>
              <a:buFont typeface="Arial"/>
              <a:buNone/>
            </a:pPr>
            <a:r>
              <a:rPr b="0" i="0" lang="en-US" sz="750" u="none" cap="none" strike="noStrike">
                <a:solidFill>
                  <a:srgbClr val="C8D4E2"/>
                </a:solidFill>
                <a:latin typeface="Arial"/>
                <a:ea typeface="Arial"/>
                <a:cs typeface="Arial"/>
                <a:sym typeface="Arial"/>
              </a:rPr>
              <a:t>1</a:t>
            </a:r>
            <a:endParaRPr b="0" i="0" sz="75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nvSpPr>
        <p:spPr>
          <a:xfrm>
            <a:off x="2187505" y="72879"/>
            <a:ext cx="7802101" cy="49558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200" u="none" cap="none" strike="noStrike">
                <a:solidFill>
                  <a:srgbClr val="122578"/>
                </a:solidFill>
                <a:latin typeface="Arial"/>
                <a:ea typeface="Arial"/>
                <a:cs typeface="Arial"/>
                <a:sym typeface="Arial"/>
              </a:rPr>
              <a:t>Open and Closed Chromatin</a:t>
            </a:r>
            <a:endParaRPr/>
          </a:p>
        </p:txBody>
      </p:sp>
      <p:pic>
        <p:nvPicPr>
          <p:cNvPr descr="open_panel.png" id="214" name="Google Shape;214;p28"/>
          <p:cNvPicPr preferRelativeResize="0"/>
          <p:nvPr/>
        </p:nvPicPr>
        <p:blipFill rotWithShape="1">
          <a:blip r:embed="rId3">
            <a:alphaModFix/>
          </a:blip>
          <a:srcRect b="0" l="0" r="0" t="0"/>
          <a:stretch/>
        </p:blipFill>
        <p:spPr>
          <a:xfrm>
            <a:off x="175000" y="690486"/>
            <a:ext cx="5782304" cy="2492493"/>
          </a:xfrm>
          <a:prstGeom prst="rect">
            <a:avLst/>
          </a:prstGeom>
          <a:noFill/>
          <a:ln>
            <a:noFill/>
          </a:ln>
        </p:spPr>
      </p:pic>
      <p:pic>
        <p:nvPicPr>
          <p:cNvPr descr="closed_panel.png" id="215" name="Google Shape;215;p28"/>
          <p:cNvPicPr preferRelativeResize="0"/>
          <p:nvPr/>
        </p:nvPicPr>
        <p:blipFill rotWithShape="1">
          <a:blip r:embed="rId4">
            <a:alphaModFix/>
          </a:blip>
          <a:srcRect b="0" l="0" r="0" t="0"/>
          <a:stretch/>
        </p:blipFill>
        <p:spPr>
          <a:xfrm>
            <a:off x="6168330" y="669559"/>
            <a:ext cx="5775013" cy="2492493"/>
          </a:xfrm>
          <a:prstGeom prst="rect">
            <a:avLst/>
          </a:prstGeom>
          <a:noFill/>
          <a:ln>
            <a:noFill/>
          </a:ln>
        </p:spPr>
      </p:pic>
      <p:sp>
        <p:nvSpPr>
          <p:cNvPr id="216" name="Google Shape;216;p28"/>
          <p:cNvSpPr/>
          <p:nvPr/>
        </p:nvSpPr>
        <p:spPr>
          <a:xfrm>
            <a:off x="189583" y="3257202"/>
            <a:ext cx="11622900" cy="2499900"/>
          </a:xfrm>
          <a:prstGeom prst="roundRect">
            <a:avLst>
              <a:gd fmla="val 16667" name="adj"/>
            </a:avLst>
          </a:prstGeom>
          <a:solidFill>
            <a:srgbClr val="FFFFFF"/>
          </a:solidFill>
          <a:ln cap="flat" cmpd="sng" w="15225">
            <a:solidFill>
              <a:srgbClr val="CAE3D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217" name="Google Shape;217;p28"/>
          <p:cNvSpPr/>
          <p:nvPr/>
        </p:nvSpPr>
        <p:spPr>
          <a:xfrm>
            <a:off x="196875" y="3235665"/>
            <a:ext cx="11608500" cy="495600"/>
          </a:xfrm>
          <a:prstGeom prst="rect">
            <a:avLst/>
          </a:prstGeom>
          <a:solidFill>
            <a:srgbClr val="EEF7F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8"/>
          <p:cNvSpPr txBox="1"/>
          <p:nvPr/>
        </p:nvSpPr>
        <p:spPr>
          <a:xfrm>
            <a:off x="2333338" y="3234625"/>
            <a:ext cx="74376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122578"/>
                </a:solidFill>
                <a:latin typeface="Arial"/>
                <a:ea typeface="Arial"/>
                <a:cs typeface="Arial"/>
                <a:sym typeface="Arial"/>
              </a:rPr>
              <a:t>Different cells </a:t>
            </a:r>
            <a:r>
              <a:rPr b="1" lang="en-US" sz="2800">
                <a:solidFill>
                  <a:srgbClr val="122578"/>
                </a:solidFill>
              </a:rPr>
              <a:t>have different</a:t>
            </a:r>
            <a:r>
              <a:rPr b="1" i="0" lang="en-US" sz="2800" u="none" cap="none" strike="noStrike">
                <a:solidFill>
                  <a:srgbClr val="122578"/>
                </a:solidFill>
                <a:latin typeface="Arial"/>
                <a:ea typeface="Arial"/>
                <a:cs typeface="Arial"/>
                <a:sym typeface="Arial"/>
              </a:rPr>
              <a:t> open regions</a:t>
            </a:r>
            <a:endParaRPr/>
          </a:p>
        </p:txBody>
      </p:sp>
      <p:sp>
        <p:nvSpPr>
          <p:cNvPr id="219" name="Google Shape;219;p28"/>
          <p:cNvSpPr txBox="1"/>
          <p:nvPr/>
        </p:nvSpPr>
        <p:spPr>
          <a:xfrm>
            <a:off x="2617714" y="3761234"/>
            <a:ext cx="2625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22578"/>
                </a:solidFill>
                <a:latin typeface="Arial"/>
                <a:ea typeface="Arial"/>
                <a:cs typeface="Arial"/>
                <a:sym typeface="Arial"/>
              </a:rPr>
              <a:t>A</a:t>
            </a:r>
            <a:endParaRPr/>
          </a:p>
        </p:txBody>
      </p:sp>
      <p:sp>
        <p:nvSpPr>
          <p:cNvPr id="220" name="Google Shape;220;p28"/>
          <p:cNvSpPr txBox="1"/>
          <p:nvPr/>
        </p:nvSpPr>
        <p:spPr>
          <a:xfrm>
            <a:off x="3959384" y="3761234"/>
            <a:ext cx="2625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22578"/>
                </a:solidFill>
                <a:latin typeface="Arial"/>
                <a:ea typeface="Arial"/>
                <a:cs typeface="Arial"/>
                <a:sym typeface="Arial"/>
              </a:rPr>
              <a:t>B</a:t>
            </a:r>
            <a:endParaRPr/>
          </a:p>
        </p:txBody>
      </p:sp>
      <p:sp>
        <p:nvSpPr>
          <p:cNvPr id="221" name="Google Shape;221;p28"/>
          <p:cNvSpPr txBox="1"/>
          <p:nvPr/>
        </p:nvSpPr>
        <p:spPr>
          <a:xfrm>
            <a:off x="5344804" y="3761234"/>
            <a:ext cx="2625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22578"/>
                </a:solidFill>
                <a:latin typeface="Arial"/>
                <a:ea typeface="Arial"/>
                <a:cs typeface="Arial"/>
                <a:sym typeface="Arial"/>
              </a:rPr>
              <a:t>C</a:t>
            </a:r>
            <a:endParaRPr/>
          </a:p>
        </p:txBody>
      </p:sp>
      <p:sp>
        <p:nvSpPr>
          <p:cNvPr id="222" name="Google Shape;222;p28"/>
          <p:cNvSpPr txBox="1"/>
          <p:nvPr/>
        </p:nvSpPr>
        <p:spPr>
          <a:xfrm>
            <a:off x="6693765" y="3761234"/>
            <a:ext cx="2625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22578"/>
                </a:solidFill>
                <a:latin typeface="Arial"/>
                <a:ea typeface="Arial"/>
                <a:cs typeface="Arial"/>
                <a:sym typeface="Arial"/>
              </a:rPr>
              <a:t>D</a:t>
            </a:r>
            <a:endParaRPr/>
          </a:p>
        </p:txBody>
      </p:sp>
      <p:sp>
        <p:nvSpPr>
          <p:cNvPr id="223" name="Google Shape;223;p28"/>
          <p:cNvSpPr txBox="1"/>
          <p:nvPr/>
        </p:nvSpPr>
        <p:spPr>
          <a:xfrm>
            <a:off x="8042727" y="3761234"/>
            <a:ext cx="2625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000" u="none" cap="none" strike="noStrike">
                <a:solidFill>
                  <a:srgbClr val="122578"/>
                </a:solidFill>
                <a:latin typeface="Arial"/>
                <a:ea typeface="Arial"/>
                <a:cs typeface="Arial"/>
                <a:sym typeface="Arial"/>
              </a:rPr>
              <a:t>E</a:t>
            </a:r>
            <a:endParaRPr/>
          </a:p>
        </p:txBody>
      </p:sp>
      <p:sp>
        <p:nvSpPr>
          <p:cNvPr id="224" name="Google Shape;224;p28"/>
          <p:cNvSpPr txBox="1"/>
          <p:nvPr/>
        </p:nvSpPr>
        <p:spPr>
          <a:xfrm>
            <a:off x="721138" y="4124800"/>
            <a:ext cx="13125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22578"/>
                </a:solidFill>
                <a:latin typeface="Arial"/>
                <a:ea typeface="Arial"/>
                <a:cs typeface="Arial"/>
                <a:sym typeface="Arial"/>
              </a:rPr>
              <a:t>T cell</a:t>
            </a:r>
            <a:endParaRPr sz="1200"/>
          </a:p>
        </p:txBody>
      </p:sp>
      <p:sp>
        <p:nvSpPr>
          <p:cNvPr id="225" name="Google Shape;225;p28"/>
          <p:cNvSpPr txBox="1"/>
          <p:nvPr/>
        </p:nvSpPr>
        <p:spPr>
          <a:xfrm>
            <a:off x="797763" y="4647662"/>
            <a:ext cx="13125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22578"/>
                </a:solidFill>
                <a:latin typeface="Arial"/>
                <a:ea typeface="Arial"/>
                <a:cs typeface="Arial"/>
                <a:sym typeface="Arial"/>
              </a:rPr>
              <a:t>B cell</a:t>
            </a:r>
            <a:endParaRPr sz="1200"/>
          </a:p>
        </p:txBody>
      </p:sp>
      <p:sp>
        <p:nvSpPr>
          <p:cNvPr id="226" name="Google Shape;226;p28"/>
          <p:cNvSpPr txBox="1"/>
          <p:nvPr/>
        </p:nvSpPr>
        <p:spPr>
          <a:xfrm>
            <a:off x="510417" y="5170524"/>
            <a:ext cx="13125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122578"/>
                </a:solidFill>
                <a:latin typeface="Arial"/>
                <a:ea typeface="Arial"/>
                <a:cs typeface="Arial"/>
                <a:sym typeface="Arial"/>
              </a:rPr>
              <a:t>Cancer cell</a:t>
            </a:r>
            <a:endParaRPr sz="1200"/>
          </a:p>
        </p:txBody>
      </p:sp>
      <p:pic>
        <p:nvPicPr>
          <p:cNvPr descr="trow.png" id="227" name="Google Shape;227;p28"/>
          <p:cNvPicPr preferRelativeResize="0"/>
          <p:nvPr/>
        </p:nvPicPr>
        <p:blipFill rotWithShape="1">
          <a:blip r:embed="rId5">
            <a:alphaModFix/>
          </a:blip>
          <a:srcRect b="0" l="0" r="0" t="0"/>
          <a:stretch/>
        </p:blipFill>
        <p:spPr>
          <a:xfrm>
            <a:off x="1968754" y="4084613"/>
            <a:ext cx="6817723" cy="422703"/>
          </a:xfrm>
          <a:prstGeom prst="rect">
            <a:avLst/>
          </a:prstGeom>
          <a:noFill/>
          <a:ln>
            <a:noFill/>
          </a:ln>
        </p:spPr>
      </p:pic>
      <p:pic>
        <p:nvPicPr>
          <p:cNvPr descr="brow.png" id="228" name="Google Shape;228;p28"/>
          <p:cNvPicPr preferRelativeResize="0"/>
          <p:nvPr/>
        </p:nvPicPr>
        <p:blipFill rotWithShape="1">
          <a:blip r:embed="rId6">
            <a:alphaModFix/>
          </a:blip>
          <a:srcRect b="0" l="0" r="0" t="0"/>
          <a:stretch/>
        </p:blipFill>
        <p:spPr>
          <a:xfrm>
            <a:off x="1968754" y="4645789"/>
            <a:ext cx="6817723" cy="415415"/>
          </a:xfrm>
          <a:prstGeom prst="rect">
            <a:avLst/>
          </a:prstGeom>
          <a:noFill/>
          <a:ln>
            <a:noFill/>
          </a:ln>
        </p:spPr>
      </p:pic>
      <p:pic>
        <p:nvPicPr>
          <p:cNvPr descr="crow.png" id="229" name="Google Shape;229;p28"/>
          <p:cNvPicPr preferRelativeResize="0"/>
          <p:nvPr/>
        </p:nvPicPr>
        <p:blipFill rotWithShape="1">
          <a:blip r:embed="rId7">
            <a:alphaModFix/>
          </a:blip>
          <a:srcRect b="0" l="0" r="0" t="0"/>
          <a:stretch/>
        </p:blipFill>
        <p:spPr>
          <a:xfrm>
            <a:off x="1968754" y="5206964"/>
            <a:ext cx="6817723" cy="415415"/>
          </a:xfrm>
          <a:prstGeom prst="rect">
            <a:avLst/>
          </a:prstGeom>
          <a:noFill/>
          <a:ln>
            <a:noFill/>
          </a:ln>
        </p:spPr>
      </p:pic>
      <p:sp>
        <p:nvSpPr>
          <p:cNvPr id="230" name="Google Shape;230;p28"/>
          <p:cNvSpPr/>
          <p:nvPr/>
        </p:nvSpPr>
        <p:spPr>
          <a:xfrm>
            <a:off x="9005229" y="4132291"/>
            <a:ext cx="9479" cy="1625222"/>
          </a:xfrm>
          <a:prstGeom prst="rect">
            <a:avLst/>
          </a:prstGeom>
          <a:solidFill>
            <a:srgbClr val="D1E6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8"/>
          <p:cNvSpPr/>
          <p:nvPr/>
        </p:nvSpPr>
        <p:spPr>
          <a:xfrm>
            <a:off x="9318771" y="4315121"/>
            <a:ext cx="692700" cy="29100"/>
          </a:xfrm>
          <a:prstGeom prst="rect">
            <a:avLst/>
          </a:prstGeom>
          <a:solidFill>
            <a:srgbClr val="FD202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legend_nucleosome.png" id="232" name="Google Shape;232;p28"/>
          <p:cNvPicPr preferRelativeResize="0"/>
          <p:nvPr/>
        </p:nvPicPr>
        <p:blipFill rotWithShape="1">
          <a:blip r:embed="rId8">
            <a:alphaModFix/>
          </a:blip>
          <a:srcRect b="0" l="0" r="0" t="0"/>
          <a:stretch/>
        </p:blipFill>
        <p:spPr>
          <a:xfrm>
            <a:off x="9209396" y="4733245"/>
            <a:ext cx="765626" cy="772527"/>
          </a:xfrm>
          <a:prstGeom prst="rect">
            <a:avLst/>
          </a:prstGeom>
          <a:noFill/>
          <a:ln>
            <a:noFill/>
          </a:ln>
        </p:spPr>
      </p:pic>
      <p:sp>
        <p:nvSpPr>
          <p:cNvPr id="233" name="Google Shape;233;p28"/>
          <p:cNvSpPr txBox="1"/>
          <p:nvPr/>
        </p:nvSpPr>
        <p:spPr>
          <a:xfrm>
            <a:off x="10106275" y="4145546"/>
            <a:ext cx="12396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122578"/>
                </a:solidFill>
                <a:latin typeface="Arial"/>
                <a:ea typeface="Arial"/>
                <a:cs typeface="Arial"/>
                <a:sym typeface="Arial"/>
              </a:rPr>
              <a:t>= open DNA</a:t>
            </a:r>
            <a:endParaRPr sz="1100"/>
          </a:p>
        </p:txBody>
      </p:sp>
      <p:sp>
        <p:nvSpPr>
          <p:cNvPr id="234" name="Google Shape;234;p28"/>
          <p:cNvSpPr txBox="1"/>
          <p:nvPr/>
        </p:nvSpPr>
        <p:spPr>
          <a:xfrm>
            <a:off x="10145573" y="5006550"/>
            <a:ext cx="171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u="none" cap="none" strike="noStrike">
                <a:solidFill>
                  <a:srgbClr val="122578"/>
                </a:solidFill>
                <a:latin typeface="Arial"/>
                <a:ea typeface="Arial"/>
                <a:cs typeface="Arial"/>
                <a:sym typeface="Arial"/>
              </a:rPr>
              <a:t>= closed DNA</a:t>
            </a:r>
            <a:endParaRPr sz="1200"/>
          </a:p>
        </p:txBody>
      </p:sp>
      <p:sp>
        <p:nvSpPr>
          <p:cNvPr id="235" name="Google Shape;235;p28"/>
          <p:cNvSpPr/>
          <p:nvPr/>
        </p:nvSpPr>
        <p:spPr>
          <a:xfrm>
            <a:off x="189575" y="5852248"/>
            <a:ext cx="11622900" cy="772500"/>
          </a:xfrm>
          <a:prstGeom prst="roundRect">
            <a:avLst>
              <a:gd fmla="val 16667" name="adj"/>
            </a:avLst>
          </a:prstGeom>
          <a:solidFill>
            <a:srgbClr val="FFF9EC"/>
          </a:solidFill>
          <a:ln cap="flat" cmpd="sng" w="12700">
            <a:solidFill>
              <a:srgbClr val="E9CE8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bulb_icon.png" id="236" name="Google Shape;236;p28"/>
          <p:cNvPicPr preferRelativeResize="0"/>
          <p:nvPr/>
        </p:nvPicPr>
        <p:blipFill rotWithShape="1">
          <a:blip r:embed="rId9">
            <a:alphaModFix/>
          </a:blip>
          <a:srcRect b="0" l="0" r="0" t="0"/>
          <a:stretch/>
        </p:blipFill>
        <p:spPr>
          <a:xfrm>
            <a:off x="452084" y="6069023"/>
            <a:ext cx="641668" cy="408127"/>
          </a:xfrm>
          <a:prstGeom prst="rect">
            <a:avLst/>
          </a:prstGeom>
          <a:noFill/>
          <a:ln>
            <a:noFill/>
          </a:ln>
        </p:spPr>
      </p:pic>
      <p:sp>
        <p:nvSpPr>
          <p:cNvPr id="237" name="Google Shape;237;p28"/>
          <p:cNvSpPr txBox="1"/>
          <p:nvPr/>
        </p:nvSpPr>
        <p:spPr>
          <a:xfrm>
            <a:off x="1166669" y="5944924"/>
            <a:ext cx="10208400" cy="615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650"/>
              <a:buNone/>
            </a:pPr>
            <a:r>
              <a:rPr b="1" lang="en-US" sz="1700">
                <a:solidFill>
                  <a:srgbClr val="1A263B"/>
                </a:solidFill>
              </a:rPr>
              <a:t>All cells contain the same DNA. Different cell types open different DNA regions.</a:t>
            </a:r>
            <a:endParaRPr b="1" sz="1700">
              <a:solidFill>
                <a:schemeClr val="dk1"/>
              </a:solidFill>
            </a:endParaRPr>
          </a:p>
          <a:p>
            <a:pPr indent="0" lvl="0" marL="0" rtl="0" algn="l">
              <a:spcBef>
                <a:spcPts val="0"/>
              </a:spcBef>
              <a:spcAft>
                <a:spcPts val="0"/>
              </a:spcAft>
              <a:buSzPts val="1650"/>
              <a:buNone/>
            </a:pPr>
            <a:r>
              <a:rPr b="1" i="0" lang="en-US" sz="1700" u="none" cap="none" strike="noStrike">
                <a:solidFill>
                  <a:srgbClr val="122578"/>
                </a:solidFill>
                <a:latin typeface="Arial"/>
                <a:ea typeface="Arial"/>
                <a:cs typeface="Arial"/>
                <a:sym typeface="Arial"/>
              </a:rPr>
              <a:t>Chromatin accessibility helps control gene expression and </a:t>
            </a:r>
            <a:r>
              <a:rPr b="1" lang="en-US" sz="1700">
                <a:solidFill>
                  <a:srgbClr val="122578"/>
                </a:solidFill>
              </a:rPr>
              <a:t>gene expression is </a:t>
            </a:r>
            <a:r>
              <a:rPr b="1" i="0" lang="en-US" sz="1700" u="none" cap="none" strike="noStrike">
                <a:solidFill>
                  <a:srgbClr val="122578"/>
                </a:solidFill>
                <a:latin typeface="Arial"/>
                <a:ea typeface="Arial"/>
                <a:cs typeface="Arial"/>
                <a:sym typeface="Arial"/>
              </a:rPr>
              <a:t>linked to disease.</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9"/>
          <p:cNvSpPr txBox="1"/>
          <p:nvPr/>
        </p:nvSpPr>
        <p:spPr>
          <a:xfrm>
            <a:off x="1895837" y="131183"/>
            <a:ext cx="8385436" cy="45185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100" u="none" cap="none" strike="noStrike">
                <a:solidFill>
                  <a:srgbClr val="122578"/>
                </a:solidFill>
                <a:latin typeface="Arial"/>
                <a:ea typeface="Arial"/>
                <a:cs typeface="Arial"/>
                <a:sym typeface="Arial"/>
              </a:rPr>
              <a:t>ATAC sequencing and cut profiles</a:t>
            </a:r>
            <a:endParaRPr/>
          </a:p>
        </p:txBody>
      </p:sp>
      <p:pic>
        <p:nvPicPr>
          <p:cNvPr descr="left_clean.png" id="243" name="Google Shape;243;p29"/>
          <p:cNvPicPr preferRelativeResize="0"/>
          <p:nvPr/>
        </p:nvPicPr>
        <p:blipFill rotWithShape="1">
          <a:blip r:embed="rId3">
            <a:alphaModFix/>
          </a:blip>
          <a:srcRect b="0" l="0" r="0" t="0"/>
          <a:stretch/>
        </p:blipFill>
        <p:spPr>
          <a:xfrm>
            <a:off x="94791" y="787103"/>
            <a:ext cx="5964596" cy="5706496"/>
          </a:xfrm>
          <a:prstGeom prst="rect">
            <a:avLst/>
          </a:prstGeom>
          <a:noFill/>
          <a:ln>
            <a:noFill/>
          </a:ln>
        </p:spPr>
      </p:pic>
      <p:pic>
        <p:nvPicPr>
          <p:cNvPr descr="right_clean2.png" id="244" name="Google Shape;244;p29"/>
          <p:cNvPicPr preferRelativeResize="0"/>
          <p:nvPr/>
        </p:nvPicPr>
        <p:blipFill rotWithShape="1">
          <a:blip r:embed="rId4">
            <a:alphaModFix/>
          </a:blip>
          <a:srcRect b="0" l="0" r="0" t="0"/>
          <a:stretch/>
        </p:blipFill>
        <p:spPr>
          <a:xfrm>
            <a:off x="6533348" y="787103"/>
            <a:ext cx="5242720" cy="5713785"/>
          </a:xfrm>
          <a:prstGeom prst="rect">
            <a:avLst/>
          </a:prstGeom>
          <a:noFill/>
          <a:ln>
            <a:noFill/>
          </a:ln>
        </p:spPr>
      </p:pic>
      <p:sp>
        <p:nvSpPr>
          <p:cNvPr id="245" name="Google Shape;245;p29"/>
          <p:cNvSpPr/>
          <p:nvPr/>
        </p:nvSpPr>
        <p:spPr>
          <a:xfrm>
            <a:off x="6001050" y="2107227"/>
            <a:ext cx="627000" cy="550800"/>
          </a:xfrm>
          <a:prstGeom prst="rightArrow">
            <a:avLst>
              <a:gd fmla="val 50000" name="adj1"/>
              <a:gd fmla="val 50000" name="adj2"/>
            </a:avLst>
          </a:prstGeom>
          <a:solidFill>
            <a:srgbClr val="8598B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30"/>
          <p:cNvSpPr/>
          <p:nvPr/>
        </p:nvSpPr>
        <p:spPr>
          <a:xfrm>
            <a:off x="1463040" y="91440"/>
            <a:ext cx="9326880" cy="530352"/>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3100"/>
              <a:buFont typeface="Arial"/>
              <a:buNone/>
            </a:pPr>
            <a:r>
              <a:rPr b="1" i="0" lang="en-US" sz="3100" u="none" cap="none" strike="noStrike">
                <a:solidFill>
                  <a:srgbClr val="122578"/>
                </a:solidFill>
                <a:latin typeface="Arial"/>
                <a:ea typeface="Arial"/>
                <a:cs typeface="Arial"/>
                <a:sym typeface="Arial"/>
              </a:rPr>
              <a:t>Spatial ATAC: Adding Location Information</a:t>
            </a:r>
            <a:endParaRPr b="0" i="0" sz="3100" u="none" cap="none" strike="noStrike">
              <a:solidFill>
                <a:schemeClr val="dk1"/>
              </a:solidFill>
              <a:latin typeface="Arial"/>
              <a:ea typeface="Arial"/>
              <a:cs typeface="Arial"/>
              <a:sym typeface="Arial"/>
            </a:endParaRPr>
          </a:p>
        </p:txBody>
      </p:sp>
      <p:sp>
        <p:nvSpPr>
          <p:cNvPr id="252" name="Google Shape;252;p30"/>
          <p:cNvSpPr/>
          <p:nvPr/>
        </p:nvSpPr>
        <p:spPr>
          <a:xfrm>
            <a:off x="256032" y="777240"/>
            <a:ext cx="5806440" cy="4800600"/>
          </a:xfrm>
          <a:prstGeom prst="roundRect">
            <a:avLst>
              <a:gd fmla="val 1524" name="adj"/>
            </a:avLst>
          </a:prstGeom>
          <a:solidFill>
            <a:srgbClr val="FFFFFF"/>
          </a:solidFill>
          <a:ln cap="flat" cmpd="sng" w="21575">
            <a:solidFill>
              <a:srgbClr val="C8E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0"/>
          <p:cNvSpPr/>
          <p:nvPr/>
        </p:nvSpPr>
        <p:spPr>
          <a:xfrm>
            <a:off x="411480" y="914400"/>
            <a:ext cx="5504688" cy="502920"/>
          </a:xfrm>
          <a:prstGeom prst="roundRect">
            <a:avLst>
              <a:gd fmla="val 14545" name="adj"/>
            </a:avLst>
          </a:prstGeom>
          <a:solidFill>
            <a:srgbClr val="192E8A"/>
          </a:solidFill>
          <a:ln cap="flat" cmpd="sng" w="9525">
            <a:solidFill>
              <a:srgbClr val="3E8A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0"/>
          <p:cNvSpPr/>
          <p:nvPr/>
        </p:nvSpPr>
        <p:spPr>
          <a:xfrm>
            <a:off x="640080" y="987552"/>
            <a:ext cx="5047488" cy="356616"/>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FFFFFF"/>
              </a:buClr>
              <a:buSzPts val="2100"/>
              <a:buFont typeface="Arial"/>
              <a:buNone/>
            </a:pPr>
            <a:r>
              <a:rPr b="1" i="0" lang="en-US" sz="2100" u="none" cap="none" strike="noStrike">
                <a:solidFill>
                  <a:srgbClr val="FFFFFF"/>
                </a:solidFill>
                <a:latin typeface="Arial"/>
                <a:ea typeface="Arial"/>
                <a:cs typeface="Arial"/>
                <a:sym typeface="Arial"/>
              </a:rPr>
              <a:t>1  What Spatial ATAC-seq measures</a:t>
            </a:r>
            <a:endParaRPr b="0" i="0" sz="2100" u="none" cap="none" strike="noStrike">
              <a:solidFill>
                <a:schemeClr val="dk1"/>
              </a:solidFill>
              <a:latin typeface="Arial"/>
              <a:ea typeface="Arial"/>
              <a:cs typeface="Arial"/>
              <a:sym typeface="Arial"/>
            </a:endParaRPr>
          </a:p>
        </p:txBody>
      </p:sp>
      <p:pic>
        <p:nvPicPr>
          <p:cNvPr descr="/mnt/data/tissue_map3.png" id="255" name="Google Shape;255;p30"/>
          <p:cNvPicPr preferRelativeResize="0"/>
          <p:nvPr/>
        </p:nvPicPr>
        <p:blipFill rotWithShape="1">
          <a:blip r:embed="rId3">
            <a:alphaModFix/>
          </a:blip>
          <a:srcRect b="0" l="0" r="0" t="0"/>
          <a:stretch/>
        </p:blipFill>
        <p:spPr>
          <a:xfrm>
            <a:off x="502920" y="2450592"/>
            <a:ext cx="2606040" cy="2395728"/>
          </a:xfrm>
          <a:prstGeom prst="rect">
            <a:avLst/>
          </a:prstGeom>
          <a:noFill/>
          <a:ln>
            <a:noFill/>
          </a:ln>
        </p:spPr>
      </p:pic>
      <p:sp>
        <p:nvSpPr>
          <p:cNvPr id="256" name="Google Shape;256;p30"/>
          <p:cNvSpPr/>
          <p:nvPr/>
        </p:nvSpPr>
        <p:spPr>
          <a:xfrm>
            <a:off x="868680" y="4846320"/>
            <a:ext cx="1920240" cy="41148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1300"/>
              <a:buFont typeface="Arial"/>
              <a:buNone/>
            </a:pPr>
            <a:r>
              <a:rPr b="0" i="0" lang="en-US" sz="1300" u="none" cap="none" strike="noStrike">
                <a:solidFill>
                  <a:srgbClr val="122578"/>
                </a:solidFill>
                <a:latin typeface="Arial"/>
                <a:ea typeface="Arial"/>
                <a:cs typeface="Arial"/>
                <a:sym typeface="Arial"/>
              </a:rPr>
              <a:t>Tissue section</a:t>
            </a:r>
            <a:endParaRPr b="0" i="0" sz="13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22578"/>
              </a:buClr>
              <a:buSzPts val="1300"/>
              <a:buFont typeface="Arial"/>
              <a:buNone/>
            </a:pPr>
            <a:r>
              <a:rPr b="0" i="0" lang="en-US" sz="1300" u="none" cap="none" strike="noStrike">
                <a:solidFill>
                  <a:srgbClr val="122578"/>
                </a:solidFill>
                <a:latin typeface="Arial"/>
                <a:ea typeface="Arial"/>
                <a:cs typeface="Arial"/>
                <a:sym typeface="Arial"/>
              </a:rPr>
              <a:t>(many spatial spots)</a:t>
            </a:r>
            <a:endParaRPr b="0" i="0" sz="1300" u="none" cap="none" strike="noStrike">
              <a:solidFill>
                <a:schemeClr val="dk1"/>
              </a:solidFill>
              <a:latin typeface="Arial"/>
              <a:ea typeface="Arial"/>
              <a:cs typeface="Arial"/>
              <a:sym typeface="Arial"/>
            </a:endParaRPr>
          </a:p>
        </p:txBody>
      </p:sp>
      <p:sp>
        <p:nvSpPr>
          <p:cNvPr id="257" name="Google Shape;257;p30"/>
          <p:cNvSpPr/>
          <p:nvPr/>
        </p:nvSpPr>
        <p:spPr>
          <a:xfrm>
            <a:off x="3337560" y="2240280"/>
            <a:ext cx="2240280" cy="2606040"/>
          </a:xfrm>
          <a:prstGeom prst="roundRect">
            <a:avLst>
              <a:gd fmla="val 3265" name="adj"/>
            </a:avLst>
          </a:prstGeom>
          <a:solidFill>
            <a:srgbClr val="FFFFFF"/>
          </a:solidFill>
          <a:ln cap="flat" cmpd="sng" w="17775">
            <a:solidFill>
              <a:srgbClr val="91D2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0"/>
          <p:cNvSpPr/>
          <p:nvPr/>
        </p:nvSpPr>
        <p:spPr>
          <a:xfrm>
            <a:off x="3493008" y="2331720"/>
            <a:ext cx="1920240" cy="29260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1500"/>
              <a:buFont typeface="Arial"/>
              <a:buNone/>
            </a:pPr>
            <a:r>
              <a:rPr b="1" i="0" lang="en-US" sz="1500" u="none" cap="none" strike="noStrike">
                <a:solidFill>
                  <a:srgbClr val="122578"/>
                </a:solidFill>
                <a:latin typeface="Arial"/>
                <a:ea typeface="Arial"/>
                <a:cs typeface="Arial"/>
                <a:sym typeface="Arial"/>
              </a:rPr>
              <a:t>One spatial spot</a:t>
            </a:r>
            <a:endParaRPr b="0" i="0" sz="1500" u="none" cap="none" strike="noStrike">
              <a:solidFill>
                <a:schemeClr val="dk1"/>
              </a:solidFill>
              <a:latin typeface="Arial"/>
              <a:ea typeface="Arial"/>
              <a:cs typeface="Arial"/>
              <a:sym typeface="Arial"/>
            </a:endParaRPr>
          </a:p>
        </p:txBody>
      </p:sp>
      <p:pic>
        <p:nvPicPr>
          <p:cNvPr descr="/mnt/data/spot_cells3.png" id="259" name="Google Shape;259;p30"/>
          <p:cNvPicPr preferRelativeResize="0"/>
          <p:nvPr/>
        </p:nvPicPr>
        <p:blipFill rotWithShape="1">
          <a:blip r:embed="rId4">
            <a:alphaModFix/>
          </a:blip>
          <a:srcRect b="0" l="0" r="0" t="0"/>
          <a:stretch/>
        </p:blipFill>
        <p:spPr>
          <a:xfrm>
            <a:off x="4023360" y="2670048"/>
            <a:ext cx="822960" cy="713232"/>
          </a:xfrm>
          <a:prstGeom prst="rect">
            <a:avLst/>
          </a:prstGeom>
          <a:noFill/>
          <a:ln>
            <a:noFill/>
          </a:ln>
        </p:spPr>
      </p:pic>
      <p:sp>
        <p:nvSpPr>
          <p:cNvPr id="260" name="Google Shape;260;p30"/>
          <p:cNvSpPr/>
          <p:nvPr/>
        </p:nvSpPr>
        <p:spPr>
          <a:xfrm>
            <a:off x="3767328" y="3310128"/>
            <a:ext cx="1371600" cy="41148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1050"/>
              <a:buFont typeface="Arial"/>
              <a:buNone/>
            </a:pPr>
            <a:r>
              <a:rPr b="0" i="0" lang="en-US" sz="1050" u="none" cap="none" strike="noStrike">
                <a:solidFill>
                  <a:srgbClr val="122578"/>
                </a:solidFill>
                <a:latin typeface="Arial"/>
                <a:ea typeface="Arial"/>
                <a:cs typeface="Arial"/>
                <a:sym typeface="Arial"/>
              </a:rPr>
              <a:t>several cells</a:t>
            </a:r>
            <a:endParaRPr b="0" i="0" sz="105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22578"/>
              </a:buClr>
              <a:buSzPts val="1050"/>
              <a:buFont typeface="Arial"/>
              <a:buNone/>
            </a:pPr>
            <a:r>
              <a:rPr b="0" i="0" lang="en-US" sz="1050" u="none" cap="none" strike="noStrike">
                <a:solidFill>
                  <a:srgbClr val="122578"/>
                </a:solidFill>
                <a:latin typeface="Arial"/>
                <a:ea typeface="Arial"/>
                <a:cs typeface="Arial"/>
                <a:sym typeface="Arial"/>
              </a:rPr>
              <a:t>can be mixed</a:t>
            </a:r>
            <a:endParaRPr b="0" i="0" sz="1050" u="none" cap="none" strike="noStrike">
              <a:solidFill>
                <a:schemeClr val="dk1"/>
              </a:solidFill>
              <a:latin typeface="Arial"/>
              <a:ea typeface="Arial"/>
              <a:cs typeface="Arial"/>
              <a:sym typeface="Arial"/>
            </a:endParaRPr>
          </a:p>
        </p:txBody>
      </p:sp>
      <p:cxnSp>
        <p:nvCxnSpPr>
          <p:cNvPr id="261" name="Google Shape;261;p30"/>
          <p:cNvCxnSpPr/>
          <p:nvPr/>
        </p:nvCxnSpPr>
        <p:spPr>
          <a:xfrm>
            <a:off x="3749040" y="4526280"/>
            <a:ext cx="1417320" cy="0"/>
          </a:xfrm>
          <a:prstGeom prst="straightConnector1">
            <a:avLst/>
          </a:prstGeom>
          <a:noFill/>
          <a:ln cap="flat" cmpd="sng" w="16500">
            <a:solidFill>
              <a:srgbClr val="122578"/>
            </a:solidFill>
            <a:prstDash val="solid"/>
            <a:round/>
            <a:headEnd len="sm" w="sm" type="none"/>
            <a:tailEnd len="sm" w="sm" type="none"/>
          </a:ln>
        </p:spPr>
      </p:cxnSp>
      <p:cxnSp>
        <p:nvCxnSpPr>
          <p:cNvPr id="262" name="Google Shape;262;p30"/>
          <p:cNvCxnSpPr/>
          <p:nvPr/>
        </p:nvCxnSpPr>
        <p:spPr>
          <a:xfrm>
            <a:off x="3749040" y="3840480"/>
            <a:ext cx="0" cy="685800"/>
          </a:xfrm>
          <a:prstGeom prst="straightConnector1">
            <a:avLst/>
          </a:prstGeom>
          <a:noFill/>
          <a:ln cap="flat" cmpd="sng" w="16500">
            <a:solidFill>
              <a:srgbClr val="122578"/>
            </a:solidFill>
            <a:prstDash val="solid"/>
            <a:round/>
            <a:headEnd len="sm" w="sm" type="none"/>
            <a:tailEnd len="sm" w="sm" type="none"/>
          </a:ln>
        </p:spPr>
      </p:cxnSp>
      <p:sp>
        <p:nvSpPr>
          <p:cNvPr id="263" name="Google Shape;263;p30"/>
          <p:cNvSpPr/>
          <p:nvPr/>
        </p:nvSpPr>
        <p:spPr>
          <a:xfrm>
            <a:off x="3913632" y="3886200"/>
            <a:ext cx="146304" cy="640080"/>
          </a:xfrm>
          <a:prstGeom prst="rect">
            <a:avLst/>
          </a:prstGeom>
          <a:solidFill>
            <a:srgbClr val="78C5A2"/>
          </a:solidFill>
          <a:ln cap="flat" cmpd="sng" w="9525">
            <a:solidFill>
              <a:srgbClr val="78C5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0"/>
          <p:cNvSpPr/>
          <p:nvPr/>
        </p:nvSpPr>
        <p:spPr>
          <a:xfrm>
            <a:off x="3895344" y="4553712"/>
            <a:ext cx="201168" cy="10972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700"/>
              <a:buFont typeface="Arial"/>
              <a:buNone/>
            </a:pPr>
            <a:r>
              <a:rPr b="0" i="0" lang="en-US" sz="700" u="none" cap="none" strike="noStrike">
                <a:solidFill>
                  <a:srgbClr val="122578"/>
                </a:solidFill>
                <a:latin typeface="Arial"/>
                <a:ea typeface="Arial"/>
                <a:cs typeface="Arial"/>
                <a:sym typeface="Arial"/>
              </a:rPr>
              <a:t>A</a:t>
            </a:r>
            <a:endParaRPr b="0" i="0" sz="700" u="none" cap="none" strike="noStrike">
              <a:solidFill>
                <a:schemeClr val="dk1"/>
              </a:solidFill>
              <a:latin typeface="Arial"/>
              <a:ea typeface="Arial"/>
              <a:cs typeface="Arial"/>
              <a:sym typeface="Arial"/>
            </a:endParaRPr>
          </a:p>
        </p:txBody>
      </p:sp>
      <p:sp>
        <p:nvSpPr>
          <p:cNvPr id="265" name="Google Shape;265;p30"/>
          <p:cNvSpPr/>
          <p:nvPr/>
        </p:nvSpPr>
        <p:spPr>
          <a:xfrm>
            <a:off x="4169664" y="4389120"/>
            <a:ext cx="146304" cy="137160"/>
          </a:xfrm>
          <a:prstGeom prst="rect">
            <a:avLst/>
          </a:prstGeom>
          <a:solidFill>
            <a:srgbClr val="78C5A2"/>
          </a:solidFill>
          <a:ln cap="flat" cmpd="sng" w="9525">
            <a:solidFill>
              <a:srgbClr val="78C5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0"/>
          <p:cNvSpPr/>
          <p:nvPr/>
        </p:nvSpPr>
        <p:spPr>
          <a:xfrm>
            <a:off x="4151376" y="4553712"/>
            <a:ext cx="201168" cy="10972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700"/>
              <a:buFont typeface="Arial"/>
              <a:buNone/>
            </a:pPr>
            <a:r>
              <a:rPr b="0" i="0" lang="en-US" sz="700" u="none" cap="none" strike="noStrike">
                <a:solidFill>
                  <a:srgbClr val="122578"/>
                </a:solidFill>
                <a:latin typeface="Arial"/>
                <a:ea typeface="Arial"/>
                <a:cs typeface="Arial"/>
                <a:sym typeface="Arial"/>
              </a:rPr>
              <a:t>B</a:t>
            </a:r>
            <a:endParaRPr b="0" i="0" sz="700" u="none" cap="none" strike="noStrike">
              <a:solidFill>
                <a:schemeClr val="dk1"/>
              </a:solidFill>
              <a:latin typeface="Arial"/>
              <a:ea typeface="Arial"/>
              <a:cs typeface="Arial"/>
              <a:sym typeface="Arial"/>
            </a:endParaRPr>
          </a:p>
        </p:txBody>
      </p:sp>
      <p:sp>
        <p:nvSpPr>
          <p:cNvPr id="267" name="Google Shape;267;p30"/>
          <p:cNvSpPr/>
          <p:nvPr/>
        </p:nvSpPr>
        <p:spPr>
          <a:xfrm>
            <a:off x="4425696" y="4114800"/>
            <a:ext cx="146304" cy="411480"/>
          </a:xfrm>
          <a:prstGeom prst="rect">
            <a:avLst/>
          </a:prstGeom>
          <a:solidFill>
            <a:srgbClr val="78C5A2"/>
          </a:solidFill>
          <a:ln cap="flat" cmpd="sng" w="9525">
            <a:solidFill>
              <a:srgbClr val="78C5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0"/>
          <p:cNvSpPr/>
          <p:nvPr/>
        </p:nvSpPr>
        <p:spPr>
          <a:xfrm>
            <a:off x="4407408" y="4553712"/>
            <a:ext cx="201168" cy="10972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700"/>
              <a:buFont typeface="Arial"/>
              <a:buNone/>
            </a:pPr>
            <a:r>
              <a:rPr b="0" i="0" lang="en-US" sz="700" u="none" cap="none" strike="noStrike">
                <a:solidFill>
                  <a:srgbClr val="122578"/>
                </a:solidFill>
                <a:latin typeface="Arial"/>
                <a:ea typeface="Arial"/>
                <a:cs typeface="Arial"/>
                <a:sym typeface="Arial"/>
              </a:rPr>
              <a:t>C</a:t>
            </a:r>
            <a:endParaRPr b="0" i="0" sz="700" u="none" cap="none" strike="noStrike">
              <a:solidFill>
                <a:schemeClr val="dk1"/>
              </a:solidFill>
              <a:latin typeface="Arial"/>
              <a:ea typeface="Arial"/>
              <a:cs typeface="Arial"/>
              <a:sym typeface="Arial"/>
            </a:endParaRPr>
          </a:p>
        </p:txBody>
      </p:sp>
      <p:sp>
        <p:nvSpPr>
          <p:cNvPr id="269" name="Google Shape;269;p30"/>
          <p:cNvSpPr/>
          <p:nvPr/>
        </p:nvSpPr>
        <p:spPr>
          <a:xfrm>
            <a:off x="4681728" y="4160520"/>
            <a:ext cx="146304" cy="365760"/>
          </a:xfrm>
          <a:prstGeom prst="rect">
            <a:avLst/>
          </a:prstGeom>
          <a:solidFill>
            <a:srgbClr val="78C5A2"/>
          </a:solidFill>
          <a:ln cap="flat" cmpd="sng" w="9525">
            <a:solidFill>
              <a:srgbClr val="78C5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0"/>
          <p:cNvSpPr/>
          <p:nvPr/>
        </p:nvSpPr>
        <p:spPr>
          <a:xfrm>
            <a:off x="4663440" y="4553712"/>
            <a:ext cx="201168" cy="10972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700"/>
              <a:buFont typeface="Arial"/>
              <a:buNone/>
            </a:pPr>
            <a:r>
              <a:rPr b="0" i="0" lang="en-US" sz="700" u="none" cap="none" strike="noStrike">
                <a:solidFill>
                  <a:srgbClr val="122578"/>
                </a:solidFill>
                <a:latin typeface="Arial"/>
                <a:ea typeface="Arial"/>
                <a:cs typeface="Arial"/>
                <a:sym typeface="Arial"/>
              </a:rPr>
              <a:t>D</a:t>
            </a:r>
            <a:endParaRPr b="0" i="0" sz="700" u="none" cap="none" strike="noStrike">
              <a:solidFill>
                <a:schemeClr val="dk1"/>
              </a:solidFill>
              <a:latin typeface="Arial"/>
              <a:ea typeface="Arial"/>
              <a:cs typeface="Arial"/>
              <a:sym typeface="Arial"/>
            </a:endParaRPr>
          </a:p>
        </p:txBody>
      </p:sp>
      <p:sp>
        <p:nvSpPr>
          <p:cNvPr id="271" name="Google Shape;271;p30"/>
          <p:cNvSpPr/>
          <p:nvPr/>
        </p:nvSpPr>
        <p:spPr>
          <a:xfrm>
            <a:off x="4937760" y="3977640"/>
            <a:ext cx="146304" cy="548640"/>
          </a:xfrm>
          <a:prstGeom prst="rect">
            <a:avLst/>
          </a:prstGeom>
          <a:solidFill>
            <a:srgbClr val="78C5A2"/>
          </a:solidFill>
          <a:ln cap="flat" cmpd="sng" w="9525">
            <a:solidFill>
              <a:srgbClr val="78C5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
          <p:cNvSpPr/>
          <p:nvPr/>
        </p:nvSpPr>
        <p:spPr>
          <a:xfrm>
            <a:off x="4919472" y="4553712"/>
            <a:ext cx="201168" cy="109728"/>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700"/>
              <a:buFont typeface="Arial"/>
              <a:buNone/>
            </a:pPr>
            <a:r>
              <a:rPr b="0" i="0" lang="en-US" sz="700" u="none" cap="none" strike="noStrike">
                <a:solidFill>
                  <a:srgbClr val="122578"/>
                </a:solidFill>
                <a:latin typeface="Arial"/>
                <a:ea typeface="Arial"/>
                <a:cs typeface="Arial"/>
                <a:sym typeface="Arial"/>
              </a:rPr>
              <a:t>E</a:t>
            </a:r>
            <a:endParaRPr b="0" i="0" sz="700" u="none" cap="none" strike="noStrike">
              <a:solidFill>
                <a:schemeClr val="dk1"/>
              </a:solidFill>
              <a:latin typeface="Arial"/>
              <a:ea typeface="Arial"/>
              <a:cs typeface="Arial"/>
              <a:sym typeface="Arial"/>
            </a:endParaRPr>
          </a:p>
        </p:txBody>
      </p:sp>
      <p:sp>
        <p:nvSpPr>
          <p:cNvPr id="273" name="Google Shape;273;p30"/>
          <p:cNvSpPr/>
          <p:nvPr/>
        </p:nvSpPr>
        <p:spPr>
          <a:xfrm rot="-5400000">
            <a:off x="3432744" y="3968502"/>
            <a:ext cx="228600" cy="43890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800"/>
              <a:buFont typeface="Arial"/>
              <a:buNone/>
            </a:pPr>
            <a:r>
              <a:rPr b="0" i="0" lang="en-US" sz="800" u="none" cap="none" strike="noStrike">
                <a:solidFill>
                  <a:srgbClr val="122578"/>
                </a:solidFill>
                <a:latin typeface="Arial"/>
                <a:ea typeface="Arial"/>
                <a:cs typeface="Arial"/>
                <a:sym typeface="Arial"/>
              </a:rPr>
              <a:t>Tn5 cus</a:t>
            </a:r>
            <a:endParaRPr b="0" i="0" sz="800" u="none" cap="none" strike="noStrike">
              <a:solidFill>
                <a:schemeClr val="dk1"/>
              </a:solidFill>
              <a:latin typeface="Arial"/>
              <a:ea typeface="Arial"/>
              <a:cs typeface="Arial"/>
              <a:sym typeface="Arial"/>
            </a:endParaRPr>
          </a:p>
        </p:txBody>
      </p:sp>
      <p:sp>
        <p:nvSpPr>
          <p:cNvPr id="274" name="Google Shape;274;p30"/>
          <p:cNvSpPr/>
          <p:nvPr/>
        </p:nvSpPr>
        <p:spPr>
          <a:xfrm>
            <a:off x="502930" y="1677932"/>
            <a:ext cx="5074800" cy="30180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1500"/>
              <a:buFont typeface="Arial"/>
              <a:buNone/>
            </a:pPr>
            <a:r>
              <a:rPr b="1" i="0" lang="en-US" sz="1500" u="none" cap="none" strike="noStrike">
                <a:solidFill>
                  <a:srgbClr val="122578"/>
                </a:solidFill>
                <a:latin typeface="Arial"/>
                <a:ea typeface="Arial"/>
                <a:cs typeface="Arial"/>
                <a:sym typeface="Arial"/>
              </a:rPr>
              <a:t>Key idea: ATAC cut profiles + location information</a:t>
            </a:r>
            <a:endParaRPr b="0" i="0" sz="1500" u="none" cap="none" strike="noStrike">
              <a:solidFill>
                <a:schemeClr val="dk1"/>
              </a:solidFill>
              <a:latin typeface="Arial"/>
              <a:ea typeface="Arial"/>
              <a:cs typeface="Arial"/>
              <a:sym typeface="Arial"/>
            </a:endParaRPr>
          </a:p>
        </p:txBody>
      </p:sp>
      <p:sp>
        <p:nvSpPr>
          <p:cNvPr id="275" name="Google Shape;275;p30"/>
          <p:cNvSpPr/>
          <p:nvPr/>
        </p:nvSpPr>
        <p:spPr>
          <a:xfrm>
            <a:off x="6236208" y="777240"/>
            <a:ext cx="5715000" cy="4800600"/>
          </a:xfrm>
          <a:prstGeom prst="roundRect">
            <a:avLst>
              <a:gd fmla="val 1524" name="adj"/>
            </a:avLst>
          </a:prstGeom>
          <a:solidFill>
            <a:srgbClr val="FFFFFF"/>
          </a:solidFill>
          <a:ln cap="flat" cmpd="sng" w="21575">
            <a:solidFill>
              <a:srgbClr val="D7C7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0"/>
          <p:cNvSpPr/>
          <p:nvPr/>
        </p:nvSpPr>
        <p:spPr>
          <a:xfrm>
            <a:off x="6245352" y="804672"/>
            <a:ext cx="5696712" cy="713232"/>
          </a:xfrm>
          <a:prstGeom prst="rect">
            <a:avLst/>
          </a:prstGeom>
          <a:solidFill>
            <a:srgbClr val="F4F0FD"/>
          </a:solidFill>
          <a:ln cap="flat" cmpd="sng" w="12700">
            <a:solidFill>
              <a:srgbClr val="F4F0F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0"/>
          <p:cNvSpPr/>
          <p:nvPr/>
        </p:nvSpPr>
        <p:spPr>
          <a:xfrm>
            <a:off x="6492240" y="914400"/>
            <a:ext cx="3657600" cy="4572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22578"/>
              </a:buClr>
              <a:buSzPts val="2400"/>
              <a:buFont typeface="Arial"/>
              <a:buNone/>
            </a:pPr>
            <a:r>
              <a:rPr b="1" i="0" lang="en-US" sz="2400" u="none" cap="none" strike="noStrike">
                <a:solidFill>
                  <a:srgbClr val="122578"/>
                </a:solidFill>
                <a:latin typeface="Arial"/>
                <a:ea typeface="Arial"/>
                <a:cs typeface="Arial"/>
                <a:sym typeface="Arial"/>
              </a:rPr>
              <a:t>2  Why it matters</a:t>
            </a:r>
            <a:endParaRPr b="0" i="0" sz="2400" u="none" cap="none" strike="noStrike">
              <a:solidFill>
                <a:schemeClr val="dk1"/>
              </a:solidFill>
              <a:latin typeface="Arial"/>
              <a:ea typeface="Arial"/>
              <a:cs typeface="Arial"/>
              <a:sym typeface="Arial"/>
            </a:endParaRPr>
          </a:p>
        </p:txBody>
      </p:sp>
      <p:sp>
        <p:nvSpPr>
          <p:cNvPr id="278" name="Google Shape;278;p30"/>
          <p:cNvSpPr/>
          <p:nvPr/>
        </p:nvSpPr>
        <p:spPr>
          <a:xfrm>
            <a:off x="6583680" y="1828800"/>
            <a:ext cx="4800600" cy="713232"/>
          </a:xfrm>
          <a:prstGeom prst="roundRect">
            <a:avLst>
              <a:gd fmla="val 10256" name="adj"/>
            </a:avLst>
          </a:prstGeom>
          <a:solidFill>
            <a:srgbClr val="FFFFFF"/>
          </a:solidFill>
          <a:ln cap="flat" cmpd="sng" w="12700">
            <a:solidFill>
              <a:srgbClr val="E3DD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0"/>
          <p:cNvSpPr/>
          <p:nvPr/>
        </p:nvSpPr>
        <p:spPr>
          <a:xfrm>
            <a:off x="6784848" y="2057400"/>
            <a:ext cx="164592" cy="164592"/>
          </a:xfrm>
          <a:prstGeom prst="ellipse">
            <a:avLst/>
          </a:prstGeom>
          <a:solidFill>
            <a:schemeClr val="dk1"/>
          </a:solidFill>
          <a:ln cap="flat" cmpd="sng" w="9525">
            <a:solidFill>
              <a:srgbClr val="F2A3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0"/>
          <p:cNvSpPr/>
          <p:nvPr/>
        </p:nvSpPr>
        <p:spPr>
          <a:xfrm>
            <a:off x="7086600" y="1920262"/>
            <a:ext cx="4160400" cy="5487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22578"/>
              </a:buClr>
              <a:buSzPts val="1550"/>
              <a:buFont typeface="Arial"/>
              <a:buNone/>
            </a:pPr>
            <a:r>
              <a:rPr b="1" lang="en-US" sz="1550">
                <a:solidFill>
                  <a:srgbClr val="122578"/>
                </a:solidFill>
              </a:rPr>
              <a:t>Spatial ATAC-seq was introduced in 2022 and is becoming widely used.</a:t>
            </a:r>
            <a:endParaRPr b="1" sz="1550">
              <a:solidFill>
                <a:srgbClr val="122578"/>
              </a:solidFill>
            </a:endParaRPr>
          </a:p>
        </p:txBody>
      </p:sp>
      <p:sp>
        <p:nvSpPr>
          <p:cNvPr id="281" name="Google Shape;281;p30"/>
          <p:cNvSpPr/>
          <p:nvPr/>
        </p:nvSpPr>
        <p:spPr>
          <a:xfrm>
            <a:off x="6583680" y="2697480"/>
            <a:ext cx="4800600" cy="713232"/>
          </a:xfrm>
          <a:prstGeom prst="roundRect">
            <a:avLst>
              <a:gd fmla="val 10256" name="adj"/>
            </a:avLst>
          </a:prstGeom>
          <a:solidFill>
            <a:srgbClr val="FFFFFF"/>
          </a:solidFill>
          <a:ln cap="flat" cmpd="sng" w="12700">
            <a:solidFill>
              <a:srgbClr val="E3DD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0"/>
          <p:cNvSpPr/>
          <p:nvPr/>
        </p:nvSpPr>
        <p:spPr>
          <a:xfrm>
            <a:off x="6784848" y="2926080"/>
            <a:ext cx="164592" cy="164592"/>
          </a:xfrm>
          <a:prstGeom prst="ellipse">
            <a:avLst/>
          </a:prstGeom>
          <a:solidFill>
            <a:schemeClr val="dk1"/>
          </a:solidFill>
          <a:ln cap="flat" cmpd="sng" w="9525">
            <a:solidFill>
              <a:srgbClr val="F26D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0"/>
          <p:cNvSpPr/>
          <p:nvPr/>
        </p:nvSpPr>
        <p:spPr>
          <a:xfrm>
            <a:off x="7086600" y="2926070"/>
            <a:ext cx="4160400" cy="2559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22578"/>
              </a:buClr>
              <a:buSzPts val="1550"/>
              <a:buFont typeface="Arial"/>
              <a:buNone/>
            </a:pPr>
            <a:r>
              <a:rPr b="1" i="0" lang="en-US" sz="1550" u="none" cap="none" strike="noStrike">
                <a:solidFill>
                  <a:srgbClr val="122578"/>
                </a:solidFill>
                <a:latin typeface="Arial"/>
                <a:ea typeface="Arial"/>
                <a:cs typeface="Arial"/>
                <a:sym typeface="Arial"/>
              </a:rPr>
              <a:t>Maps disease regions in tissue</a:t>
            </a:r>
            <a:endParaRPr b="0" i="0" sz="1550" u="none" cap="none" strike="noStrike">
              <a:solidFill>
                <a:schemeClr val="dk1"/>
              </a:solidFill>
              <a:latin typeface="Arial"/>
              <a:ea typeface="Arial"/>
              <a:cs typeface="Arial"/>
              <a:sym typeface="Arial"/>
            </a:endParaRPr>
          </a:p>
        </p:txBody>
      </p:sp>
      <p:sp>
        <p:nvSpPr>
          <p:cNvPr id="284" name="Google Shape;284;p30"/>
          <p:cNvSpPr/>
          <p:nvPr/>
        </p:nvSpPr>
        <p:spPr>
          <a:xfrm>
            <a:off x="6583680" y="3566160"/>
            <a:ext cx="4800600" cy="713232"/>
          </a:xfrm>
          <a:prstGeom prst="roundRect">
            <a:avLst>
              <a:gd fmla="val 10256" name="adj"/>
            </a:avLst>
          </a:prstGeom>
          <a:solidFill>
            <a:srgbClr val="FFFFFF"/>
          </a:solidFill>
          <a:ln cap="flat" cmpd="sng" w="12700">
            <a:solidFill>
              <a:srgbClr val="E3DD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0"/>
          <p:cNvSpPr/>
          <p:nvPr/>
        </p:nvSpPr>
        <p:spPr>
          <a:xfrm>
            <a:off x="6784848" y="3794760"/>
            <a:ext cx="164592" cy="164592"/>
          </a:xfrm>
          <a:prstGeom prst="ellipse">
            <a:avLst/>
          </a:prstGeom>
          <a:solidFill>
            <a:schemeClr val="dk1"/>
          </a:solidFill>
          <a:ln cap="flat" cmpd="sng" w="9525">
            <a:solidFill>
              <a:srgbClr val="6B4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0"/>
          <p:cNvSpPr/>
          <p:nvPr/>
        </p:nvSpPr>
        <p:spPr>
          <a:xfrm>
            <a:off x="7086600" y="3657600"/>
            <a:ext cx="4160400" cy="5028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22578"/>
              </a:buClr>
              <a:buSzPts val="1550"/>
              <a:buFont typeface="Arial"/>
              <a:buNone/>
            </a:pPr>
            <a:r>
              <a:rPr b="1" i="0" lang="en-US" sz="1550" u="none" cap="none" strike="noStrike">
                <a:solidFill>
                  <a:srgbClr val="122578"/>
                </a:solidFill>
                <a:latin typeface="Arial"/>
                <a:ea typeface="Arial"/>
                <a:cs typeface="Arial"/>
                <a:sym typeface="Arial"/>
              </a:rPr>
              <a:t>Stud</a:t>
            </a:r>
            <a:r>
              <a:rPr b="1" lang="en-US" sz="1550">
                <a:solidFill>
                  <a:srgbClr val="122578"/>
                </a:solidFill>
              </a:rPr>
              <a:t>ies </a:t>
            </a:r>
            <a:r>
              <a:rPr b="1" lang="en-US" sz="1550">
                <a:solidFill>
                  <a:srgbClr val="122578"/>
                </a:solidFill>
              </a:rPr>
              <a:t>how nearby cells may influence a cell’s behavior</a:t>
            </a:r>
            <a:endParaRPr b="0" i="0" sz="1550" u="none" cap="none" strike="noStrike">
              <a:solidFill>
                <a:schemeClr val="dk1"/>
              </a:solidFill>
              <a:latin typeface="Arial"/>
              <a:ea typeface="Arial"/>
              <a:cs typeface="Arial"/>
              <a:sym typeface="Arial"/>
            </a:endParaRPr>
          </a:p>
        </p:txBody>
      </p:sp>
      <p:sp>
        <p:nvSpPr>
          <p:cNvPr id="287" name="Google Shape;287;p30"/>
          <p:cNvSpPr/>
          <p:nvPr/>
        </p:nvSpPr>
        <p:spPr>
          <a:xfrm>
            <a:off x="6583680" y="4434840"/>
            <a:ext cx="4800600" cy="713232"/>
          </a:xfrm>
          <a:prstGeom prst="roundRect">
            <a:avLst>
              <a:gd fmla="val 10256" name="adj"/>
            </a:avLst>
          </a:prstGeom>
          <a:solidFill>
            <a:srgbClr val="FFFFFF"/>
          </a:solidFill>
          <a:ln cap="flat" cmpd="sng" w="12700">
            <a:solidFill>
              <a:srgbClr val="E3DD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0"/>
          <p:cNvSpPr/>
          <p:nvPr/>
        </p:nvSpPr>
        <p:spPr>
          <a:xfrm>
            <a:off x="6784848" y="4663440"/>
            <a:ext cx="164592" cy="164592"/>
          </a:xfrm>
          <a:prstGeom prst="ellipse">
            <a:avLst/>
          </a:prstGeom>
          <a:solidFill>
            <a:schemeClr val="dk1"/>
          </a:solidFill>
          <a:ln cap="flat" cmpd="sng" w="9525">
            <a:solidFill>
              <a:srgbClr val="78C5A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0"/>
          <p:cNvSpPr/>
          <p:nvPr/>
        </p:nvSpPr>
        <p:spPr>
          <a:xfrm>
            <a:off x="7086600" y="4526270"/>
            <a:ext cx="4160400" cy="502800"/>
          </a:xfrm>
          <a:prstGeom prst="rect">
            <a:avLst/>
          </a:prstGeom>
          <a:noFill/>
          <a:ln>
            <a:noFill/>
          </a:ln>
        </p:spPr>
        <p:txBody>
          <a:bodyPr anchorCtr="0" anchor="ctr" bIns="500" lIns="500" spcFirstLastPara="1" rIns="500" wrap="square" tIns="500">
            <a:noAutofit/>
          </a:bodyPr>
          <a:lstStyle/>
          <a:p>
            <a:pPr indent="0" lvl="0" marL="0" marR="0" rtl="0" algn="l">
              <a:spcBef>
                <a:spcPts val="0"/>
              </a:spcBef>
              <a:spcAft>
                <a:spcPts val="0"/>
              </a:spcAft>
              <a:buClr>
                <a:srgbClr val="122578"/>
              </a:buClr>
              <a:buSzPts val="1550"/>
              <a:buFont typeface="Arial"/>
              <a:buNone/>
            </a:pPr>
            <a:r>
              <a:rPr b="1" lang="en-US" sz="1550">
                <a:solidFill>
                  <a:srgbClr val="122578"/>
                </a:solidFill>
              </a:rPr>
              <a:t>Connects open DNA regions with the physical structure of tissue.</a:t>
            </a:r>
            <a:endParaRPr b="1" sz="1550">
              <a:solidFill>
                <a:srgbClr val="122578"/>
              </a:solidFill>
            </a:endParaRPr>
          </a:p>
        </p:txBody>
      </p:sp>
      <p:sp>
        <p:nvSpPr>
          <p:cNvPr id="290" name="Google Shape;290;p30"/>
          <p:cNvSpPr/>
          <p:nvPr/>
        </p:nvSpPr>
        <p:spPr>
          <a:xfrm>
            <a:off x="256032" y="5779008"/>
            <a:ext cx="11704320" cy="713232"/>
          </a:xfrm>
          <a:prstGeom prst="roundRect">
            <a:avLst>
              <a:gd fmla="val 10256" name="adj"/>
            </a:avLst>
          </a:prstGeom>
          <a:solidFill>
            <a:srgbClr val="ECF7F4"/>
          </a:solidFill>
          <a:ln cap="flat" cmpd="sng" w="15225">
            <a:solidFill>
              <a:srgbClr val="D1E8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0"/>
          <p:cNvSpPr/>
          <p:nvPr/>
        </p:nvSpPr>
        <p:spPr>
          <a:xfrm>
            <a:off x="960125" y="5925292"/>
            <a:ext cx="10561200" cy="640200"/>
          </a:xfrm>
          <a:prstGeom prst="rect">
            <a:avLst/>
          </a:prstGeom>
          <a:noFill/>
          <a:ln>
            <a:noFill/>
          </a:ln>
        </p:spPr>
        <p:txBody>
          <a:bodyPr anchorCtr="0" anchor="ctr" bIns="500" lIns="500" spcFirstLastPara="1" rIns="500" wrap="square" tIns="500">
            <a:noAutofit/>
          </a:bodyPr>
          <a:lstStyle/>
          <a:p>
            <a:pPr indent="0" lvl="0" marL="0" marR="0" rtl="0" algn="ctr">
              <a:spcBef>
                <a:spcPts val="0"/>
              </a:spcBef>
              <a:spcAft>
                <a:spcPts val="0"/>
              </a:spcAft>
              <a:buClr>
                <a:srgbClr val="122578"/>
              </a:buClr>
              <a:buSzPts val="2000"/>
              <a:buFont typeface="Arial"/>
              <a:buNone/>
            </a:pPr>
            <a:r>
              <a:rPr b="1" i="0" lang="en-US" sz="2000" u="none" cap="none" strike="noStrike">
                <a:solidFill>
                  <a:srgbClr val="122578"/>
                </a:solidFill>
                <a:latin typeface="Arial"/>
                <a:ea typeface="Arial"/>
                <a:cs typeface="Arial"/>
                <a:sym typeface="Arial"/>
              </a:rPr>
              <a:t>Spatial ATAC links chromatin accessibility with location, making it a powerful new tool for studying</a:t>
            </a:r>
            <a:r>
              <a:rPr b="1" lang="en-US" sz="2000">
                <a:solidFill>
                  <a:srgbClr val="122578"/>
                </a:solidFill>
              </a:rPr>
              <a:t> layout of different cells in tissue</a:t>
            </a:r>
            <a:r>
              <a:rPr b="1" i="0" lang="en-US" sz="2000" u="none" cap="none" strike="noStrike">
                <a:solidFill>
                  <a:srgbClr val="122578"/>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1"/>
          <p:cNvSpPr txBox="1"/>
          <p:nvPr/>
        </p:nvSpPr>
        <p:spPr>
          <a:xfrm>
            <a:off x="1142972" y="146304"/>
            <a:ext cx="9875277" cy="5029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300" u="none" cap="none" strike="noStrike">
                <a:solidFill>
                  <a:srgbClr val="091E60"/>
                </a:solidFill>
                <a:latin typeface="Arial"/>
                <a:ea typeface="Arial"/>
                <a:cs typeface="Arial"/>
                <a:sym typeface="Arial"/>
              </a:rPr>
              <a:t>The Deconvolution Problem for Spatial ATAC</a:t>
            </a:r>
            <a:endParaRPr/>
          </a:p>
        </p:txBody>
      </p:sp>
      <p:sp>
        <p:nvSpPr>
          <p:cNvPr id="297" name="Google Shape;297;p31"/>
          <p:cNvSpPr/>
          <p:nvPr/>
        </p:nvSpPr>
        <p:spPr>
          <a:xfrm>
            <a:off x="228594" y="1115568"/>
            <a:ext cx="3474634" cy="3493008"/>
          </a:xfrm>
          <a:prstGeom prst="roundRect">
            <a:avLst>
              <a:gd fmla="val 16667" name="adj"/>
            </a:avLst>
          </a:prstGeom>
          <a:solidFill>
            <a:srgbClr val="F8FBFF"/>
          </a:solidFill>
          <a:ln cap="flat" cmpd="sng" w="15225">
            <a:solidFill>
              <a:srgbClr val="DDE7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31"/>
          <p:cNvSpPr/>
          <p:nvPr/>
        </p:nvSpPr>
        <p:spPr>
          <a:xfrm>
            <a:off x="411470" y="1316736"/>
            <a:ext cx="566914" cy="566928"/>
          </a:xfrm>
          <a:prstGeom prst="ellipse">
            <a:avLst/>
          </a:prstGeom>
          <a:solidFill>
            <a:srgbClr val="192E8A"/>
          </a:solidFill>
          <a:ln cap="flat" cmpd="sng" w="9525">
            <a:solidFill>
              <a:srgbClr val="546FD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500" u="none" cap="none" strike="noStrike">
                <a:solidFill>
                  <a:srgbClr val="FFFFFF"/>
                </a:solidFill>
                <a:latin typeface="Arial"/>
                <a:ea typeface="Arial"/>
                <a:cs typeface="Arial"/>
                <a:sym typeface="Arial"/>
              </a:rPr>
              <a:t>1</a:t>
            </a:r>
            <a:endParaRPr/>
          </a:p>
        </p:txBody>
      </p:sp>
      <p:sp>
        <p:nvSpPr>
          <p:cNvPr id="299" name="Google Shape;299;p31"/>
          <p:cNvSpPr txBox="1"/>
          <p:nvPr/>
        </p:nvSpPr>
        <p:spPr>
          <a:xfrm>
            <a:off x="1097253" y="1435607"/>
            <a:ext cx="24231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091E60"/>
                </a:solidFill>
                <a:latin typeface="Arial"/>
                <a:ea typeface="Arial"/>
                <a:cs typeface="Arial"/>
                <a:sym typeface="Arial"/>
              </a:rPr>
              <a:t>Spots contain many cells</a:t>
            </a:r>
            <a:endParaRPr/>
          </a:p>
        </p:txBody>
      </p:sp>
      <p:sp>
        <p:nvSpPr>
          <p:cNvPr id="300" name="Google Shape;300;p31"/>
          <p:cNvSpPr/>
          <p:nvPr/>
        </p:nvSpPr>
        <p:spPr>
          <a:xfrm>
            <a:off x="4132985" y="1115568"/>
            <a:ext cx="3474634" cy="3493008"/>
          </a:xfrm>
          <a:prstGeom prst="roundRect">
            <a:avLst>
              <a:gd fmla="val 16667" name="adj"/>
            </a:avLst>
          </a:prstGeom>
          <a:solidFill>
            <a:srgbClr val="F8FBFF"/>
          </a:solidFill>
          <a:ln cap="flat" cmpd="sng" w="15225">
            <a:solidFill>
              <a:srgbClr val="DDE7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31"/>
          <p:cNvSpPr/>
          <p:nvPr/>
        </p:nvSpPr>
        <p:spPr>
          <a:xfrm>
            <a:off x="4315862" y="1316736"/>
            <a:ext cx="566914" cy="566928"/>
          </a:xfrm>
          <a:prstGeom prst="ellipse">
            <a:avLst/>
          </a:prstGeom>
          <a:solidFill>
            <a:srgbClr val="192E8A"/>
          </a:solidFill>
          <a:ln cap="flat" cmpd="sng" w="9525">
            <a:solidFill>
              <a:srgbClr val="546FD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500" u="none" cap="none" strike="noStrike">
                <a:solidFill>
                  <a:srgbClr val="FFFFFF"/>
                </a:solidFill>
                <a:latin typeface="Arial"/>
                <a:ea typeface="Arial"/>
                <a:cs typeface="Arial"/>
                <a:sym typeface="Arial"/>
              </a:rPr>
              <a:t>2</a:t>
            </a:r>
            <a:endParaRPr/>
          </a:p>
        </p:txBody>
      </p:sp>
      <p:sp>
        <p:nvSpPr>
          <p:cNvPr id="302" name="Google Shape;302;p31"/>
          <p:cNvSpPr txBox="1"/>
          <p:nvPr/>
        </p:nvSpPr>
        <p:spPr>
          <a:xfrm>
            <a:off x="5001645" y="1435607"/>
            <a:ext cx="24231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091E60"/>
                </a:solidFill>
                <a:latin typeface="Arial"/>
                <a:ea typeface="Arial"/>
                <a:cs typeface="Arial"/>
                <a:sym typeface="Arial"/>
              </a:rPr>
              <a:t>We observe a mixed profile</a:t>
            </a:r>
            <a:endParaRPr/>
          </a:p>
        </p:txBody>
      </p:sp>
      <p:sp>
        <p:nvSpPr>
          <p:cNvPr id="303" name="Google Shape;303;p31"/>
          <p:cNvSpPr/>
          <p:nvPr/>
        </p:nvSpPr>
        <p:spPr>
          <a:xfrm>
            <a:off x="8037377" y="1115568"/>
            <a:ext cx="3474634" cy="3493008"/>
          </a:xfrm>
          <a:prstGeom prst="roundRect">
            <a:avLst>
              <a:gd fmla="val 16667" name="adj"/>
            </a:avLst>
          </a:prstGeom>
          <a:solidFill>
            <a:srgbClr val="F8FBFF"/>
          </a:solidFill>
          <a:ln cap="flat" cmpd="sng" w="15225">
            <a:solidFill>
              <a:srgbClr val="DDE7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31"/>
          <p:cNvSpPr/>
          <p:nvPr/>
        </p:nvSpPr>
        <p:spPr>
          <a:xfrm>
            <a:off x="8220253" y="1316736"/>
            <a:ext cx="566914" cy="566928"/>
          </a:xfrm>
          <a:prstGeom prst="ellipse">
            <a:avLst/>
          </a:prstGeom>
          <a:solidFill>
            <a:srgbClr val="192E8A"/>
          </a:solidFill>
          <a:ln cap="flat" cmpd="sng" w="9525">
            <a:solidFill>
              <a:srgbClr val="546FD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500" u="none" cap="none" strike="noStrike">
                <a:solidFill>
                  <a:srgbClr val="FFFFFF"/>
                </a:solidFill>
                <a:latin typeface="Arial"/>
                <a:ea typeface="Arial"/>
                <a:cs typeface="Arial"/>
                <a:sym typeface="Arial"/>
              </a:rPr>
              <a:t>3</a:t>
            </a:r>
            <a:endParaRPr/>
          </a:p>
        </p:txBody>
      </p:sp>
      <p:sp>
        <p:nvSpPr>
          <p:cNvPr id="305" name="Google Shape;305;p31"/>
          <p:cNvSpPr txBox="1"/>
          <p:nvPr/>
        </p:nvSpPr>
        <p:spPr>
          <a:xfrm>
            <a:off x="8906036" y="1435607"/>
            <a:ext cx="24231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091E60"/>
                </a:solidFill>
                <a:latin typeface="Arial"/>
                <a:ea typeface="Arial"/>
                <a:cs typeface="Arial"/>
                <a:sym typeface="Arial"/>
              </a:rPr>
              <a:t>Deconvolution unmixes it</a:t>
            </a:r>
            <a:endParaRPr/>
          </a:p>
        </p:txBody>
      </p:sp>
      <p:sp>
        <p:nvSpPr>
          <p:cNvPr id="306" name="Google Shape;306;p31"/>
          <p:cNvSpPr txBox="1"/>
          <p:nvPr/>
        </p:nvSpPr>
        <p:spPr>
          <a:xfrm>
            <a:off x="393182" y="2176272"/>
            <a:ext cx="3154500" cy="877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00" u="none" cap="none" strike="noStrike">
                <a:solidFill>
                  <a:srgbClr val="091E60"/>
                </a:solidFill>
                <a:latin typeface="Arial"/>
                <a:ea typeface="Arial"/>
                <a:cs typeface="Arial"/>
                <a:sym typeface="Arial"/>
              </a:rPr>
              <a:t>Each spatial spot is much larger than one cell, so it can include</a:t>
            </a:r>
            <a:r>
              <a:rPr lang="en-US" sz="1900">
                <a:solidFill>
                  <a:srgbClr val="091E60"/>
                </a:solidFill>
              </a:rPr>
              <a:t> </a:t>
            </a:r>
            <a:r>
              <a:rPr b="0" i="0" lang="en-US" sz="1900" u="none" cap="none" strike="noStrike">
                <a:solidFill>
                  <a:srgbClr val="091E60"/>
                </a:solidFill>
                <a:latin typeface="Arial"/>
                <a:ea typeface="Arial"/>
                <a:cs typeface="Arial"/>
                <a:sym typeface="Arial"/>
              </a:rPr>
              <a:t>multiple cell types.</a:t>
            </a:r>
            <a:endParaRPr/>
          </a:p>
        </p:txBody>
      </p:sp>
      <p:sp>
        <p:nvSpPr>
          <p:cNvPr id="307" name="Google Shape;307;p31"/>
          <p:cNvSpPr txBox="1"/>
          <p:nvPr/>
        </p:nvSpPr>
        <p:spPr>
          <a:xfrm>
            <a:off x="4361581" y="2176272"/>
            <a:ext cx="3063164"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091E60"/>
                </a:solidFill>
                <a:latin typeface="Arial"/>
                <a:ea typeface="Arial"/>
                <a:cs typeface="Arial"/>
                <a:sym typeface="Arial"/>
              </a:rPr>
              <a:t>The ATAC cut profile from a spot is a mixture of all cells in that spot.</a:t>
            </a:r>
            <a:endParaRPr/>
          </a:p>
        </p:txBody>
      </p:sp>
      <p:sp>
        <p:nvSpPr>
          <p:cNvPr id="308" name="Google Shape;308;p31"/>
          <p:cNvSpPr txBox="1"/>
          <p:nvPr/>
        </p:nvSpPr>
        <p:spPr>
          <a:xfrm>
            <a:off x="8265972" y="1984248"/>
            <a:ext cx="3017446"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091E60"/>
                </a:solidFill>
                <a:latin typeface="Arial"/>
                <a:ea typeface="Arial"/>
                <a:cs typeface="Arial"/>
                <a:sym typeface="Arial"/>
              </a:rPr>
              <a:t>Estimate how many cells of each type are in the spot.</a:t>
            </a:r>
            <a:endParaRPr/>
          </a:p>
        </p:txBody>
      </p:sp>
      <p:sp>
        <p:nvSpPr>
          <p:cNvPr id="309" name="Google Shape;309;p31"/>
          <p:cNvSpPr/>
          <p:nvPr/>
        </p:nvSpPr>
        <p:spPr>
          <a:xfrm>
            <a:off x="8375697" y="2944368"/>
            <a:ext cx="2797994" cy="1298448"/>
          </a:xfrm>
          <a:prstGeom prst="roundRect">
            <a:avLst>
              <a:gd fmla="val 16667" name="adj"/>
            </a:avLst>
          </a:prstGeom>
          <a:solidFill>
            <a:srgbClr val="FAFCFF"/>
          </a:solidFill>
          <a:ln cap="flat" cmpd="sng" w="12700">
            <a:solidFill>
              <a:srgbClr val="DDE7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31"/>
          <p:cNvSpPr/>
          <p:nvPr/>
        </p:nvSpPr>
        <p:spPr>
          <a:xfrm>
            <a:off x="9482095" y="3108960"/>
            <a:ext cx="10972" cy="960120"/>
          </a:xfrm>
          <a:prstGeom prst="rect">
            <a:avLst/>
          </a:prstGeom>
          <a:solidFill>
            <a:srgbClr val="CDD9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31"/>
          <p:cNvSpPr txBox="1"/>
          <p:nvPr/>
        </p:nvSpPr>
        <p:spPr>
          <a:xfrm>
            <a:off x="9701545" y="3246120"/>
            <a:ext cx="1344135"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091E60"/>
                </a:solidFill>
                <a:latin typeface="Arial"/>
                <a:ea typeface="Arial"/>
                <a:cs typeface="Arial"/>
                <a:sym typeface="Arial"/>
              </a:rPr>
              <a:t>Like identifying</a:t>
            </a:r>
            <a:br>
              <a:rPr b="0" i="0" lang="en-US" sz="1500" u="none" cap="none" strike="noStrike">
                <a:solidFill>
                  <a:srgbClr val="091E60"/>
                </a:solidFill>
                <a:latin typeface="Arial"/>
                <a:ea typeface="Arial"/>
                <a:cs typeface="Arial"/>
                <a:sym typeface="Arial"/>
              </a:rPr>
            </a:br>
            <a:r>
              <a:rPr b="0" i="0" lang="en-US" sz="1500" u="none" cap="none" strike="noStrike">
                <a:solidFill>
                  <a:srgbClr val="091E60"/>
                </a:solidFill>
                <a:latin typeface="Arial"/>
                <a:ea typeface="Arial"/>
                <a:cs typeface="Arial"/>
                <a:sym typeface="Arial"/>
              </a:rPr>
              <a:t>ingredients in</a:t>
            </a:r>
            <a:br>
              <a:rPr b="0" i="0" lang="en-US" sz="1500" u="none" cap="none" strike="noStrike">
                <a:solidFill>
                  <a:srgbClr val="091E60"/>
                </a:solidFill>
                <a:latin typeface="Arial"/>
                <a:ea typeface="Arial"/>
                <a:cs typeface="Arial"/>
                <a:sym typeface="Arial"/>
              </a:rPr>
            </a:br>
            <a:r>
              <a:rPr b="0" i="0" lang="en-US" sz="1500" u="none" cap="none" strike="noStrike">
                <a:solidFill>
                  <a:srgbClr val="091E60"/>
                </a:solidFill>
                <a:latin typeface="Arial"/>
                <a:ea typeface="Arial"/>
                <a:cs typeface="Arial"/>
                <a:sym typeface="Arial"/>
              </a:rPr>
              <a:t>a smoothie.</a:t>
            </a:r>
            <a:endParaRPr/>
          </a:p>
        </p:txBody>
      </p:sp>
      <p:sp>
        <p:nvSpPr>
          <p:cNvPr id="312" name="Google Shape;312;p31"/>
          <p:cNvSpPr/>
          <p:nvPr/>
        </p:nvSpPr>
        <p:spPr>
          <a:xfrm>
            <a:off x="3712372" y="2468880"/>
            <a:ext cx="384039" cy="429768"/>
          </a:xfrm>
          <a:prstGeom prst="rightArrow">
            <a:avLst>
              <a:gd fmla="val 50000" name="adj1"/>
              <a:gd fmla="val 50000" name="adj2"/>
            </a:avLst>
          </a:prstGeom>
          <a:solidFill>
            <a:srgbClr val="7B81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31"/>
          <p:cNvSpPr/>
          <p:nvPr/>
        </p:nvSpPr>
        <p:spPr>
          <a:xfrm>
            <a:off x="7616765" y="2468880"/>
            <a:ext cx="384039" cy="429768"/>
          </a:xfrm>
          <a:prstGeom prst="rightArrow">
            <a:avLst>
              <a:gd fmla="val 50000" name="adj1"/>
              <a:gd fmla="val 50000" name="adj2"/>
            </a:avLst>
          </a:prstGeom>
          <a:solidFill>
            <a:srgbClr val="7B819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31"/>
          <p:cNvSpPr/>
          <p:nvPr/>
        </p:nvSpPr>
        <p:spPr>
          <a:xfrm>
            <a:off x="228594" y="4937760"/>
            <a:ext cx="11731463" cy="1225296"/>
          </a:xfrm>
          <a:prstGeom prst="roundRect">
            <a:avLst>
              <a:gd fmla="val 16667" name="adj"/>
            </a:avLst>
          </a:prstGeom>
          <a:solidFill>
            <a:srgbClr val="F6FAFF"/>
          </a:solidFill>
          <a:ln cap="flat" cmpd="sng" w="15225">
            <a:solidFill>
              <a:srgbClr val="DDE7F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31"/>
          <p:cNvSpPr txBox="1"/>
          <p:nvPr/>
        </p:nvSpPr>
        <p:spPr>
          <a:xfrm>
            <a:off x="530339" y="5257800"/>
            <a:ext cx="548626" cy="5029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400" u="none" cap="none" strike="noStrike">
                <a:solidFill>
                  <a:srgbClr val="091E60"/>
                </a:solidFill>
                <a:latin typeface="Arial"/>
                <a:ea typeface="Arial"/>
                <a:cs typeface="Arial"/>
                <a:sym typeface="Arial"/>
              </a:rPr>
              <a:t>💡</a:t>
            </a:r>
            <a:endParaRPr/>
          </a:p>
        </p:txBody>
      </p:sp>
      <p:sp>
        <p:nvSpPr>
          <p:cNvPr id="316" name="Google Shape;316;p31"/>
          <p:cNvSpPr/>
          <p:nvPr/>
        </p:nvSpPr>
        <p:spPr>
          <a:xfrm>
            <a:off x="1371566" y="5102352"/>
            <a:ext cx="13716" cy="896112"/>
          </a:xfrm>
          <a:prstGeom prst="rect">
            <a:avLst/>
          </a:prstGeom>
          <a:solidFill>
            <a:srgbClr val="546FD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31"/>
          <p:cNvSpPr txBox="1"/>
          <p:nvPr/>
        </p:nvSpPr>
        <p:spPr>
          <a:xfrm>
            <a:off x="1691598" y="5120640"/>
            <a:ext cx="3840385"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091E60"/>
                </a:solidFill>
                <a:latin typeface="Arial"/>
                <a:ea typeface="Arial"/>
                <a:cs typeface="Arial"/>
                <a:sym typeface="Arial"/>
              </a:rPr>
              <a:t>Why this problem is new</a:t>
            </a:r>
            <a:endParaRPr/>
          </a:p>
        </p:txBody>
      </p:sp>
      <p:sp>
        <p:nvSpPr>
          <p:cNvPr id="318" name="Google Shape;318;p31"/>
          <p:cNvSpPr txBox="1"/>
          <p:nvPr/>
        </p:nvSpPr>
        <p:spPr>
          <a:xfrm>
            <a:off x="1691600" y="5504708"/>
            <a:ext cx="94182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091E60"/>
                </a:solidFill>
                <a:latin typeface="Arial"/>
                <a:ea typeface="Arial"/>
                <a:cs typeface="Arial"/>
                <a:sym typeface="Arial"/>
              </a:rPr>
              <a:t>Recent </a:t>
            </a:r>
            <a:r>
              <a:rPr lang="en-US" sz="1600">
                <a:solidFill>
                  <a:srgbClr val="091E60"/>
                </a:solidFill>
              </a:rPr>
              <a:t>study (2025) adapts </a:t>
            </a:r>
            <a:r>
              <a:rPr b="0" i="0" lang="en-US" sz="1600" u="none" cap="none" strike="noStrike">
                <a:solidFill>
                  <a:srgbClr val="091E60"/>
                </a:solidFill>
                <a:latin typeface="Arial"/>
                <a:ea typeface="Arial"/>
                <a:cs typeface="Arial"/>
                <a:sym typeface="Arial"/>
              </a:rPr>
              <a:t>deconvolution me</a:t>
            </a:r>
            <a:r>
              <a:rPr lang="en-US" sz="1600">
                <a:solidFill>
                  <a:srgbClr val="091E60"/>
                </a:solidFill>
              </a:rPr>
              <a:t>thod </a:t>
            </a:r>
            <a:r>
              <a:rPr b="0" i="0" lang="en-US" sz="1600" u="none" cap="none" strike="noStrike">
                <a:solidFill>
                  <a:srgbClr val="091E60"/>
                </a:solidFill>
                <a:latin typeface="Arial"/>
                <a:ea typeface="Arial"/>
                <a:cs typeface="Arial"/>
                <a:sym typeface="Arial"/>
              </a:rPr>
              <a:t>for spatial RNA-seq; methods designed specifically for spatial ATAC are still lacking.</a:t>
            </a:r>
            <a:endParaRPr/>
          </a:p>
        </p:txBody>
      </p:sp>
      <p:pic>
        <p:nvPicPr>
          <p:cNvPr id="319" name="Google Shape;319;p31"/>
          <p:cNvPicPr preferRelativeResize="0"/>
          <p:nvPr/>
        </p:nvPicPr>
        <p:blipFill>
          <a:blip r:embed="rId3">
            <a:alphaModFix/>
          </a:blip>
          <a:stretch>
            <a:fillRect/>
          </a:stretch>
        </p:blipFill>
        <p:spPr>
          <a:xfrm>
            <a:off x="8498629" y="2907770"/>
            <a:ext cx="994446" cy="12253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32"/>
          <p:cNvSpPr/>
          <p:nvPr/>
        </p:nvSpPr>
        <p:spPr>
          <a:xfrm>
            <a:off x="502907" y="155448"/>
            <a:ext cx="11155383" cy="502920"/>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A2E8A"/>
              </a:buClr>
              <a:buSzPts val="3000"/>
              <a:buFont typeface="Arial"/>
              <a:buNone/>
            </a:pPr>
            <a:r>
              <a:rPr b="1" i="0" lang="en-US" sz="3000" u="none" cap="none" strike="noStrike">
                <a:solidFill>
                  <a:srgbClr val="1A2E8A"/>
                </a:solidFill>
                <a:latin typeface="Arial"/>
                <a:ea typeface="Arial"/>
                <a:cs typeface="Arial"/>
                <a:sym typeface="Arial"/>
              </a:rPr>
              <a:t>Current Deconvolution for Spatial RNA-seq</a:t>
            </a:r>
            <a:endParaRPr b="0" i="0" sz="3000" u="none" cap="none" strike="noStrike">
              <a:solidFill>
                <a:schemeClr val="dk1"/>
              </a:solidFill>
              <a:latin typeface="Arial"/>
              <a:ea typeface="Arial"/>
              <a:cs typeface="Arial"/>
              <a:sym typeface="Arial"/>
            </a:endParaRPr>
          </a:p>
        </p:txBody>
      </p:sp>
      <p:sp>
        <p:nvSpPr>
          <p:cNvPr id="326" name="Google Shape;326;p32"/>
          <p:cNvSpPr/>
          <p:nvPr/>
        </p:nvSpPr>
        <p:spPr>
          <a:xfrm>
            <a:off x="0" y="804672"/>
            <a:ext cx="12191370" cy="22860"/>
          </a:xfrm>
          <a:prstGeom prst="rect">
            <a:avLst/>
          </a:prstGeom>
          <a:solidFill>
            <a:srgbClr val="76B7F4"/>
          </a:solidFill>
          <a:ln cap="flat" cmpd="sng" w="12700">
            <a:solidFill>
              <a:srgbClr val="76B7F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2"/>
          <p:cNvSpPr/>
          <p:nvPr/>
        </p:nvSpPr>
        <p:spPr>
          <a:xfrm>
            <a:off x="256025" y="1042416"/>
            <a:ext cx="5321666" cy="4754880"/>
          </a:xfrm>
          <a:prstGeom prst="roundRect">
            <a:avLst>
              <a:gd fmla="val 1538" name="adj"/>
            </a:avLst>
          </a:prstGeom>
          <a:solidFill>
            <a:srgbClr val="FFFFFF"/>
          </a:solidFill>
          <a:ln cap="flat" cmpd="sng" w="15225">
            <a:solidFill>
              <a:srgbClr val="76B7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2"/>
          <p:cNvSpPr/>
          <p:nvPr/>
        </p:nvSpPr>
        <p:spPr>
          <a:xfrm>
            <a:off x="5989160" y="1042416"/>
            <a:ext cx="5321666" cy="4754880"/>
          </a:xfrm>
          <a:prstGeom prst="roundRect">
            <a:avLst>
              <a:gd fmla="val 1538" name="adj"/>
            </a:avLst>
          </a:prstGeom>
          <a:solidFill>
            <a:srgbClr val="FFFFFF"/>
          </a:solidFill>
          <a:ln cap="flat" cmpd="sng" w="15225">
            <a:solidFill>
              <a:srgbClr val="76B7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2"/>
          <p:cNvSpPr/>
          <p:nvPr/>
        </p:nvSpPr>
        <p:spPr>
          <a:xfrm>
            <a:off x="256025" y="1042416"/>
            <a:ext cx="5321666" cy="658368"/>
          </a:xfrm>
          <a:prstGeom prst="rect">
            <a:avLst/>
          </a:prstGeom>
          <a:solidFill>
            <a:srgbClr val="E9F2FC"/>
          </a:solidFill>
          <a:ln cap="flat" cmpd="sng" w="12700">
            <a:solidFill>
              <a:srgbClr val="E9F2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2"/>
          <p:cNvSpPr/>
          <p:nvPr/>
        </p:nvSpPr>
        <p:spPr>
          <a:xfrm>
            <a:off x="1033244" y="1188720"/>
            <a:ext cx="4361572" cy="42062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A2E8A"/>
              </a:buClr>
              <a:buSzPts val="2000"/>
              <a:buFont typeface="Arial"/>
              <a:buNone/>
            </a:pPr>
            <a:r>
              <a:rPr b="1" i="0" lang="en-US" sz="2000" u="none" cap="none" strike="noStrike">
                <a:solidFill>
                  <a:srgbClr val="1A2E8A"/>
                </a:solidFill>
                <a:latin typeface="Arial"/>
                <a:ea typeface="Arial"/>
                <a:cs typeface="Arial"/>
                <a:sym typeface="Arial"/>
              </a:rPr>
              <a:t>Mixed spatial spot</a:t>
            </a:r>
            <a:endParaRPr b="0" i="0" sz="2000" u="none" cap="none" strike="noStrike">
              <a:solidFill>
                <a:schemeClr val="dk1"/>
              </a:solidFill>
              <a:latin typeface="Arial"/>
              <a:ea typeface="Arial"/>
              <a:cs typeface="Arial"/>
              <a:sym typeface="Arial"/>
            </a:endParaRPr>
          </a:p>
        </p:txBody>
      </p:sp>
      <p:sp>
        <p:nvSpPr>
          <p:cNvPr id="331" name="Google Shape;331;p32"/>
          <p:cNvSpPr/>
          <p:nvPr/>
        </p:nvSpPr>
        <p:spPr>
          <a:xfrm>
            <a:off x="5989160" y="1042416"/>
            <a:ext cx="5321666" cy="658368"/>
          </a:xfrm>
          <a:prstGeom prst="rect">
            <a:avLst/>
          </a:prstGeom>
          <a:solidFill>
            <a:srgbClr val="E9F2FC"/>
          </a:solidFill>
          <a:ln cap="flat" cmpd="sng" w="12700">
            <a:solidFill>
              <a:srgbClr val="E9F2F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2"/>
          <p:cNvSpPr/>
          <p:nvPr/>
        </p:nvSpPr>
        <p:spPr>
          <a:xfrm>
            <a:off x="6766380" y="1188720"/>
            <a:ext cx="4361572" cy="42062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A2E8A"/>
              </a:buClr>
              <a:buSzPts val="2000"/>
              <a:buFont typeface="Arial"/>
              <a:buNone/>
            </a:pPr>
            <a:r>
              <a:rPr b="1" i="0" lang="en-US" sz="2000" u="none" cap="none" strike="noStrike">
                <a:solidFill>
                  <a:srgbClr val="1A2E8A"/>
                </a:solidFill>
                <a:latin typeface="Arial"/>
                <a:ea typeface="Arial"/>
                <a:cs typeface="Arial"/>
                <a:sym typeface="Arial"/>
              </a:rPr>
              <a:t>Estimate cell-type composition</a:t>
            </a:r>
            <a:endParaRPr b="0" i="0" sz="2000" u="none" cap="none" strike="noStrike">
              <a:solidFill>
                <a:schemeClr val="dk1"/>
              </a:solidFill>
              <a:latin typeface="Arial"/>
              <a:ea typeface="Arial"/>
              <a:cs typeface="Arial"/>
              <a:sym typeface="Arial"/>
            </a:endParaRPr>
          </a:p>
        </p:txBody>
      </p:sp>
      <p:sp>
        <p:nvSpPr>
          <p:cNvPr id="333" name="Google Shape;333;p32"/>
          <p:cNvSpPr/>
          <p:nvPr/>
        </p:nvSpPr>
        <p:spPr>
          <a:xfrm>
            <a:off x="2340802" y="1883664"/>
            <a:ext cx="1419600" cy="1419600"/>
          </a:xfrm>
          <a:prstGeom prst="ellipse">
            <a:avLst/>
          </a:prstGeom>
          <a:solidFill>
            <a:srgbClr val="F2F6FF">
              <a:alpha val="85098"/>
            </a:srgbClr>
          </a:solidFill>
          <a:ln cap="flat" cmpd="sng" w="15225">
            <a:solidFill>
              <a:srgbClr val="B2BA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2"/>
          <p:cNvSpPr/>
          <p:nvPr/>
        </p:nvSpPr>
        <p:spPr>
          <a:xfrm>
            <a:off x="2556366" y="2078203"/>
            <a:ext cx="357520" cy="357530"/>
          </a:xfrm>
          <a:prstGeom prst="ellipse">
            <a:avLst/>
          </a:prstGeom>
          <a:solidFill>
            <a:srgbClr val="F39A9A">
              <a:alpha val="70196"/>
            </a:srgbClr>
          </a:solidFill>
          <a:ln cap="flat" cmpd="sng" w="15225">
            <a:solidFill>
              <a:srgbClr val="E36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2"/>
          <p:cNvSpPr/>
          <p:nvPr/>
        </p:nvSpPr>
        <p:spPr>
          <a:xfrm>
            <a:off x="2670773" y="2192612"/>
            <a:ext cx="128708" cy="128711"/>
          </a:xfrm>
          <a:prstGeom prst="ellipse">
            <a:avLst/>
          </a:prstGeom>
          <a:solidFill>
            <a:srgbClr val="E36A6A">
              <a:alpha val="90196"/>
            </a:srgbClr>
          </a:solidFill>
          <a:ln cap="flat" cmpd="sng" w="12700">
            <a:solidFill>
              <a:srgbClr val="E36A6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2"/>
          <p:cNvSpPr/>
          <p:nvPr/>
        </p:nvSpPr>
        <p:spPr>
          <a:xfrm>
            <a:off x="2367090" y="2519858"/>
            <a:ext cx="357520" cy="357530"/>
          </a:xfrm>
          <a:prstGeom prst="ellipse">
            <a:avLst/>
          </a:prstGeom>
          <a:solidFill>
            <a:srgbClr val="F39A9A">
              <a:alpha val="70196"/>
            </a:srgbClr>
          </a:solidFill>
          <a:ln cap="flat" cmpd="sng" w="15225">
            <a:solidFill>
              <a:srgbClr val="E36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p:nvPr/>
        </p:nvSpPr>
        <p:spPr>
          <a:xfrm>
            <a:off x="2481497" y="2634268"/>
            <a:ext cx="128708" cy="128711"/>
          </a:xfrm>
          <a:prstGeom prst="ellipse">
            <a:avLst/>
          </a:prstGeom>
          <a:solidFill>
            <a:srgbClr val="E36A6A">
              <a:alpha val="90196"/>
            </a:srgbClr>
          </a:solidFill>
          <a:ln cap="flat" cmpd="sng" w="12700">
            <a:solidFill>
              <a:srgbClr val="E36A6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2"/>
          <p:cNvSpPr/>
          <p:nvPr/>
        </p:nvSpPr>
        <p:spPr>
          <a:xfrm>
            <a:off x="3029555" y="2866873"/>
            <a:ext cx="357520" cy="357530"/>
          </a:xfrm>
          <a:prstGeom prst="ellipse">
            <a:avLst/>
          </a:prstGeom>
          <a:solidFill>
            <a:srgbClr val="F39A9A">
              <a:alpha val="70196"/>
            </a:srgbClr>
          </a:solidFill>
          <a:ln cap="flat" cmpd="sng" w="15225">
            <a:solidFill>
              <a:srgbClr val="E36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2"/>
          <p:cNvSpPr/>
          <p:nvPr/>
        </p:nvSpPr>
        <p:spPr>
          <a:xfrm>
            <a:off x="3143962" y="2981282"/>
            <a:ext cx="128708" cy="128711"/>
          </a:xfrm>
          <a:prstGeom prst="ellipse">
            <a:avLst/>
          </a:prstGeom>
          <a:solidFill>
            <a:srgbClr val="E36A6A">
              <a:alpha val="90196"/>
            </a:srgbClr>
          </a:solidFill>
          <a:ln cap="flat" cmpd="sng" w="12700">
            <a:solidFill>
              <a:srgbClr val="E36A6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2"/>
          <p:cNvSpPr/>
          <p:nvPr/>
        </p:nvSpPr>
        <p:spPr>
          <a:xfrm>
            <a:off x="3187285" y="2204390"/>
            <a:ext cx="357520" cy="357530"/>
          </a:xfrm>
          <a:prstGeom prst="ellipse">
            <a:avLst/>
          </a:prstGeom>
          <a:solidFill>
            <a:srgbClr val="79AEEF">
              <a:alpha val="70196"/>
            </a:srgbClr>
          </a:solidFill>
          <a:ln cap="flat" cmpd="sng" w="15225">
            <a:solidFill>
              <a:srgbClr val="4A8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2"/>
          <p:cNvSpPr/>
          <p:nvPr/>
        </p:nvSpPr>
        <p:spPr>
          <a:xfrm>
            <a:off x="3301692" y="2318800"/>
            <a:ext cx="128708" cy="128711"/>
          </a:xfrm>
          <a:prstGeom prst="ellipse">
            <a:avLst/>
          </a:prstGeom>
          <a:solidFill>
            <a:srgbClr val="4A86D9">
              <a:alpha val="90196"/>
            </a:srgbClr>
          </a:solidFill>
          <a:ln cap="flat" cmpd="sng" w="12700">
            <a:solidFill>
              <a:srgbClr val="4A86D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2"/>
          <p:cNvSpPr/>
          <p:nvPr/>
        </p:nvSpPr>
        <p:spPr>
          <a:xfrm>
            <a:off x="2608942" y="2887904"/>
            <a:ext cx="357520" cy="357530"/>
          </a:xfrm>
          <a:prstGeom prst="ellipse">
            <a:avLst/>
          </a:prstGeom>
          <a:solidFill>
            <a:srgbClr val="79AEEF">
              <a:alpha val="70196"/>
            </a:srgbClr>
          </a:solidFill>
          <a:ln cap="flat" cmpd="sng" w="15225">
            <a:solidFill>
              <a:srgbClr val="4A8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2"/>
          <p:cNvSpPr/>
          <p:nvPr/>
        </p:nvSpPr>
        <p:spPr>
          <a:xfrm>
            <a:off x="2723349" y="3002314"/>
            <a:ext cx="128708" cy="128711"/>
          </a:xfrm>
          <a:prstGeom prst="ellipse">
            <a:avLst/>
          </a:prstGeom>
          <a:solidFill>
            <a:srgbClr val="4A86D9">
              <a:alpha val="90196"/>
            </a:srgbClr>
          </a:solidFill>
          <a:ln cap="flat" cmpd="sng" w="12700">
            <a:solidFill>
              <a:srgbClr val="4A86D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2"/>
          <p:cNvSpPr/>
          <p:nvPr/>
        </p:nvSpPr>
        <p:spPr>
          <a:xfrm>
            <a:off x="2841856" y="2531951"/>
            <a:ext cx="375397" cy="375407"/>
          </a:xfrm>
          <a:prstGeom prst="ellipse">
            <a:avLst/>
          </a:prstGeom>
          <a:solidFill>
            <a:srgbClr val="79AEEF">
              <a:alpha val="70196"/>
            </a:srgbClr>
          </a:solidFill>
          <a:ln cap="flat" cmpd="sng" w="15225">
            <a:solidFill>
              <a:srgbClr val="4A8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2"/>
          <p:cNvSpPr/>
          <p:nvPr/>
        </p:nvSpPr>
        <p:spPr>
          <a:xfrm>
            <a:off x="2961984" y="2652081"/>
            <a:ext cx="135142" cy="135146"/>
          </a:xfrm>
          <a:prstGeom prst="ellipse">
            <a:avLst/>
          </a:prstGeom>
          <a:solidFill>
            <a:srgbClr val="4A86D9">
              <a:alpha val="90196"/>
            </a:srgbClr>
          </a:solidFill>
          <a:ln cap="flat" cmpd="sng" w="12700">
            <a:solidFill>
              <a:srgbClr val="4A86D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2"/>
          <p:cNvSpPr/>
          <p:nvPr/>
        </p:nvSpPr>
        <p:spPr>
          <a:xfrm>
            <a:off x="3401166" y="2628589"/>
            <a:ext cx="350371" cy="350380"/>
          </a:xfrm>
          <a:prstGeom prst="ellipse">
            <a:avLst/>
          </a:prstGeom>
          <a:solidFill>
            <a:srgbClr val="8AD39A">
              <a:alpha val="70196"/>
            </a:srgbClr>
          </a:solidFill>
          <a:ln cap="flat" cmpd="sng" w="15225">
            <a:solidFill>
              <a:srgbClr val="5AAB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2"/>
          <p:cNvSpPr/>
          <p:nvPr/>
        </p:nvSpPr>
        <p:spPr>
          <a:xfrm>
            <a:off x="3513285" y="2740711"/>
            <a:ext cx="126134" cy="126137"/>
          </a:xfrm>
          <a:prstGeom prst="ellipse">
            <a:avLst/>
          </a:prstGeom>
          <a:solidFill>
            <a:srgbClr val="5AAB72">
              <a:alpha val="90196"/>
            </a:srgbClr>
          </a:solidFill>
          <a:ln cap="flat" cmpd="sng" w="12700">
            <a:solidFill>
              <a:srgbClr val="5AAB7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2"/>
          <p:cNvSpPr/>
          <p:nvPr/>
        </p:nvSpPr>
        <p:spPr>
          <a:xfrm>
            <a:off x="667494" y="3356580"/>
            <a:ext cx="4498800" cy="274200"/>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600"/>
              <a:buFont typeface="Arial"/>
              <a:buNone/>
            </a:pPr>
            <a:r>
              <a:rPr b="0" i="0" lang="en-US" sz="1600" u="none" cap="none" strike="noStrike">
                <a:solidFill>
                  <a:srgbClr val="182970"/>
                </a:solidFill>
                <a:latin typeface="Arial"/>
                <a:ea typeface="Arial"/>
                <a:cs typeface="Arial"/>
                <a:sym typeface="Arial"/>
              </a:rPr>
              <a:t>Several cells are mixed in one spot.</a:t>
            </a:r>
            <a:endParaRPr b="0" i="0" sz="1600" u="none" cap="none" strike="noStrike">
              <a:solidFill>
                <a:schemeClr val="dk1"/>
              </a:solidFill>
              <a:latin typeface="Arial"/>
              <a:ea typeface="Arial"/>
              <a:cs typeface="Arial"/>
              <a:sym typeface="Arial"/>
            </a:endParaRPr>
          </a:p>
        </p:txBody>
      </p:sp>
      <p:cxnSp>
        <p:nvCxnSpPr>
          <p:cNvPr id="349" name="Google Shape;349;p32"/>
          <p:cNvCxnSpPr/>
          <p:nvPr/>
        </p:nvCxnSpPr>
        <p:spPr>
          <a:xfrm>
            <a:off x="1737314" y="3785616"/>
            <a:ext cx="0" cy="1188720"/>
          </a:xfrm>
          <a:prstGeom prst="straightConnector1">
            <a:avLst/>
          </a:prstGeom>
          <a:noFill/>
          <a:ln cap="flat" cmpd="sng" w="15225">
            <a:solidFill>
              <a:srgbClr val="1A2E8A"/>
            </a:solidFill>
            <a:prstDash val="solid"/>
            <a:round/>
            <a:headEnd len="sm" w="sm" type="none"/>
            <a:tailEnd len="sm" w="sm" type="none"/>
          </a:ln>
        </p:spPr>
      </p:cxnSp>
      <p:cxnSp>
        <p:nvCxnSpPr>
          <p:cNvPr id="350" name="Google Shape;350;p32"/>
          <p:cNvCxnSpPr/>
          <p:nvPr/>
        </p:nvCxnSpPr>
        <p:spPr>
          <a:xfrm>
            <a:off x="1737314" y="4974336"/>
            <a:ext cx="2587683" cy="0"/>
          </a:xfrm>
          <a:prstGeom prst="straightConnector1">
            <a:avLst/>
          </a:prstGeom>
          <a:noFill/>
          <a:ln cap="flat" cmpd="sng" w="15225">
            <a:solidFill>
              <a:srgbClr val="1A2E8A"/>
            </a:solidFill>
            <a:prstDash val="solid"/>
            <a:round/>
            <a:headEnd len="sm" w="sm" type="none"/>
            <a:tailEnd len="sm" w="sm" type="none"/>
          </a:ln>
        </p:spPr>
      </p:cxnSp>
      <p:sp>
        <p:nvSpPr>
          <p:cNvPr id="351" name="Google Shape;351;p32"/>
          <p:cNvSpPr/>
          <p:nvPr/>
        </p:nvSpPr>
        <p:spPr>
          <a:xfrm>
            <a:off x="1472145" y="4901184"/>
            <a:ext cx="182875" cy="146304"/>
          </a:xfrm>
          <a:prstGeom prst="rect">
            <a:avLst/>
          </a:prstGeom>
          <a:noFill/>
          <a:ln>
            <a:noFill/>
          </a:ln>
        </p:spPr>
        <p:txBody>
          <a:bodyPr anchorCtr="0" anchor="ctr" bIns="375" lIns="375" spcFirstLastPara="1" rIns="375" wrap="square" tIns="375">
            <a:noAutofit/>
          </a:bodyPr>
          <a:lstStyle/>
          <a:p>
            <a:pPr indent="0" lvl="0" marL="0" marR="0" rtl="0" algn="r">
              <a:spcBef>
                <a:spcPts val="0"/>
              </a:spcBef>
              <a:spcAft>
                <a:spcPts val="0"/>
              </a:spcAft>
              <a:buClr>
                <a:srgbClr val="182970"/>
              </a:buClr>
              <a:buSzPts val="900"/>
              <a:buFont typeface="Arial"/>
              <a:buNone/>
            </a:pPr>
            <a:r>
              <a:rPr b="0" i="0" lang="en-US" sz="900" u="none" cap="none" strike="noStrike">
                <a:solidFill>
                  <a:srgbClr val="182970"/>
                </a:solidFill>
                <a:latin typeface="Arial"/>
                <a:ea typeface="Arial"/>
                <a:cs typeface="Arial"/>
                <a:sym typeface="Arial"/>
              </a:rPr>
              <a:t>0</a:t>
            </a:r>
            <a:endParaRPr b="0" i="0" sz="900" u="none" cap="none" strike="noStrike">
              <a:solidFill>
                <a:schemeClr val="dk1"/>
              </a:solidFill>
              <a:latin typeface="Arial"/>
              <a:ea typeface="Arial"/>
              <a:cs typeface="Arial"/>
              <a:sym typeface="Arial"/>
            </a:endParaRPr>
          </a:p>
        </p:txBody>
      </p:sp>
      <p:sp>
        <p:nvSpPr>
          <p:cNvPr id="352" name="Google Shape;352;p32"/>
          <p:cNvSpPr/>
          <p:nvPr/>
        </p:nvSpPr>
        <p:spPr>
          <a:xfrm>
            <a:off x="1472145" y="4727448"/>
            <a:ext cx="182875" cy="146304"/>
          </a:xfrm>
          <a:prstGeom prst="rect">
            <a:avLst/>
          </a:prstGeom>
          <a:noFill/>
          <a:ln>
            <a:noFill/>
          </a:ln>
        </p:spPr>
        <p:txBody>
          <a:bodyPr anchorCtr="0" anchor="ctr" bIns="375" lIns="375" spcFirstLastPara="1" rIns="375" wrap="square" tIns="375">
            <a:noAutofit/>
          </a:bodyPr>
          <a:lstStyle/>
          <a:p>
            <a:pPr indent="0" lvl="0" marL="0" marR="0" rtl="0" algn="r">
              <a:spcBef>
                <a:spcPts val="0"/>
              </a:spcBef>
              <a:spcAft>
                <a:spcPts val="0"/>
              </a:spcAft>
              <a:buClr>
                <a:srgbClr val="182970"/>
              </a:buClr>
              <a:buSzPts val="900"/>
              <a:buFont typeface="Arial"/>
              <a:buNone/>
            </a:pPr>
            <a:r>
              <a:rPr b="0" i="0" lang="en-US" sz="900" u="none" cap="none" strike="noStrike">
                <a:solidFill>
                  <a:srgbClr val="182970"/>
                </a:solidFill>
                <a:latin typeface="Arial"/>
                <a:ea typeface="Arial"/>
                <a:cs typeface="Arial"/>
                <a:sym typeface="Arial"/>
              </a:rPr>
              <a:t>1</a:t>
            </a:r>
            <a:endParaRPr b="0" i="0" sz="900" u="none" cap="none" strike="noStrike">
              <a:solidFill>
                <a:schemeClr val="dk1"/>
              </a:solidFill>
              <a:latin typeface="Arial"/>
              <a:ea typeface="Arial"/>
              <a:cs typeface="Arial"/>
              <a:sym typeface="Arial"/>
            </a:endParaRPr>
          </a:p>
        </p:txBody>
      </p:sp>
      <p:sp>
        <p:nvSpPr>
          <p:cNvPr id="353" name="Google Shape;353;p32"/>
          <p:cNvSpPr/>
          <p:nvPr/>
        </p:nvSpPr>
        <p:spPr>
          <a:xfrm>
            <a:off x="1472145" y="4553712"/>
            <a:ext cx="182875" cy="146304"/>
          </a:xfrm>
          <a:prstGeom prst="rect">
            <a:avLst/>
          </a:prstGeom>
          <a:noFill/>
          <a:ln>
            <a:noFill/>
          </a:ln>
        </p:spPr>
        <p:txBody>
          <a:bodyPr anchorCtr="0" anchor="ctr" bIns="375" lIns="375" spcFirstLastPara="1" rIns="375" wrap="square" tIns="375">
            <a:noAutofit/>
          </a:bodyPr>
          <a:lstStyle/>
          <a:p>
            <a:pPr indent="0" lvl="0" marL="0" marR="0" rtl="0" algn="r">
              <a:spcBef>
                <a:spcPts val="0"/>
              </a:spcBef>
              <a:spcAft>
                <a:spcPts val="0"/>
              </a:spcAft>
              <a:buClr>
                <a:srgbClr val="182970"/>
              </a:buClr>
              <a:buSzPts val="900"/>
              <a:buFont typeface="Arial"/>
              <a:buNone/>
            </a:pPr>
            <a:r>
              <a:rPr b="0" i="0" lang="en-US" sz="900" u="none" cap="none" strike="noStrike">
                <a:solidFill>
                  <a:srgbClr val="182970"/>
                </a:solidFill>
                <a:latin typeface="Arial"/>
                <a:ea typeface="Arial"/>
                <a:cs typeface="Arial"/>
                <a:sym typeface="Arial"/>
              </a:rPr>
              <a:t>2</a:t>
            </a:r>
            <a:endParaRPr b="0" i="0" sz="900" u="none" cap="none" strike="noStrike">
              <a:solidFill>
                <a:schemeClr val="dk1"/>
              </a:solidFill>
              <a:latin typeface="Arial"/>
              <a:ea typeface="Arial"/>
              <a:cs typeface="Arial"/>
              <a:sym typeface="Arial"/>
            </a:endParaRPr>
          </a:p>
        </p:txBody>
      </p:sp>
      <p:sp>
        <p:nvSpPr>
          <p:cNvPr id="354" name="Google Shape;354;p32"/>
          <p:cNvSpPr/>
          <p:nvPr/>
        </p:nvSpPr>
        <p:spPr>
          <a:xfrm>
            <a:off x="1472145" y="4379976"/>
            <a:ext cx="182875" cy="146304"/>
          </a:xfrm>
          <a:prstGeom prst="rect">
            <a:avLst/>
          </a:prstGeom>
          <a:noFill/>
          <a:ln>
            <a:noFill/>
          </a:ln>
        </p:spPr>
        <p:txBody>
          <a:bodyPr anchorCtr="0" anchor="ctr" bIns="375" lIns="375" spcFirstLastPara="1" rIns="375" wrap="square" tIns="375">
            <a:noAutofit/>
          </a:bodyPr>
          <a:lstStyle/>
          <a:p>
            <a:pPr indent="0" lvl="0" marL="0" marR="0" rtl="0" algn="r">
              <a:spcBef>
                <a:spcPts val="0"/>
              </a:spcBef>
              <a:spcAft>
                <a:spcPts val="0"/>
              </a:spcAft>
              <a:buClr>
                <a:srgbClr val="182970"/>
              </a:buClr>
              <a:buSzPts val="900"/>
              <a:buFont typeface="Arial"/>
              <a:buNone/>
            </a:pPr>
            <a:r>
              <a:rPr b="0" i="0" lang="en-US" sz="900" u="none" cap="none" strike="noStrike">
                <a:solidFill>
                  <a:srgbClr val="182970"/>
                </a:solidFill>
                <a:latin typeface="Arial"/>
                <a:ea typeface="Arial"/>
                <a:cs typeface="Arial"/>
                <a:sym typeface="Arial"/>
              </a:rPr>
              <a:t>3</a:t>
            </a:r>
            <a:endParaRPr b="0" i="0" sz="900" u="none" cap="none" strike="noStrike">
              <a:solidFill>
                <a:schemeClr val="dk1"/>
              </a:solidFill>
              <a:latin typeface="Arial"/>
              <a:ea typeface="Arial"/>
              <a:cs typeface="Arial"/>
              <a:sym typeface="Arial"/>
            </a:endParaRPr>
          </a:p>
        </p:txBody>
      </p:sp>
      <p:sp>
        <p:nvSpPr>
          <p:cNvPr id="355" name="Google Shape;355;p32"/>
          <p:cNvSpPr/>
          <p:nvPr/>
        </p:nvSpPr>
        <p:spPr>
          <a:xfrm>
            <a:off x="1472145" y="4206240"/>
            <a:ext cx="182875" cy="146304"/>
          </a:xfrm>
          <a:prstGeom prst="rect">
            <a:avLst/>
          </a:prstGeom>
          <a:noFill/>
          <a:ln>
            <a:noFill/>
          </a:ln>
        </p:spPr>
        <p:txBody>
          <a:bodyPr anchorCtr="0" anchor="ctr" bIns="375" lIns="375" spcFirstLastPara="1" rIns="375" wrap="square" tIns="375">
            <a:noAutofit/>
          </a:bodyPr>
          <a:lstStyle/>
          <a:p>
            <a:pPr indent="0" lvl="0" marL="0" marR="0" rtl="0" algn="r">
              <a:spcBef>
                <a:spcPts val="0"/>
              </a:spcBef>
              <a:spcAft>
                <a:spcPts val="0"/>
              </a:spcAft>
              <a:buClr>
                <a:srgbClr val="182970"/>
              </a:buClr>
              <a:buSzPts val="900"/>
              <a:buFont typeface="Arial"/>
              <a:buNone/>
            </a:pPr>
            <a:r>
              <a:rPr b="0" i="0" lang="en-US" sz="900" u="none" cap="none" strike="noStrike">
                <a:solidFill>
                  <a:srgbClr val="182970"/>
                </a:solidFill>
                <a:latin typeface="Arial"/>
                <a:ea typeface="Arial"/>
                <a:cs typeface="Arial"/>
                <a:sym typeface="Arial"/>
              </a:rPr>
              <a:t>4</a:t>
            </a:r>
            <a:endParaRPr b="0" i="0" sz="900" u="none" cap="none" strike="noStrike">
              <a:solidFill>
                <a:schemeClr val="dk1"/>
              </a:solidFill>
              <a:latin typeface="Arial"/>
              <a:ea typeface="Arial"/>
              <a:cs typeface="Arial"/>
              <a:sym typeface="Arial"/>
            </a:endParaRPr>
          </a:p>
        </p:txBody>
      </p:sp>
      <p:sp>
        <p:nvSpPr>
          <p:cNvPr id="356" name="Google Shape;356;p32"/>
          <p:cNvSpPr/>
          <p:nvPr/>
        </p:nvSpPr>
        <p:spPr>
          <a:xfrm>
            <a:off x="1472145" y="4032504"/>
            <a:ext cx="182875" cy="146304"/>
          </a:xfrm>
          <a:prstGeom prst="rect">
            <a:avLst/>
          </a:prstGeom>
          <a:noFill/>
          <a:ln>
            <a:noFill/>
          </a:ln>
        </p:spPr>
        <p:txBody>
          <a:bodyPr anchorCtr="0" anchor="ctr" bIns="375" lIns="375" spcFirstLastPara="1" rIns="375" wrap="square" tIns="375">
            <a:noAutofit/>
          </a:bodyPr>
          <a:lstStyle/>
          <a:p>
            <a:pPr indent="0" lvl="0" marL="0" marR="0" rtl="0" algn="r">
              <a:spcBef>
                <a:spcPts val="0"/>
              </a:spcBef>
              <a:spcAft>
                <a:spcPts val="0"/>
              </a:spcAft>
              <a:buClr>
                <a:srgbClr val="182970"/>
              </a:buClr>
              <a:buSzPts val="900"/>
              <a:buFont typeface="Arial"/>
              <a:buNone/>
            </a:pPr>
            <a:r>
              <a:rPr b="0" i="0" lang="en-US" sz="900" u="none" cap="none" strike="noStrike">
                <a:solidFill>
                  <a:srgbClr val="182970"/>
                </a:solidFill>
                <a:latin typeface="Arial"/>
                <a:ea typeface="Arial"/>
                <a:cs typeface="Arial"/>
                <a:sym typeface="Arial"/>
              </a:rPr>
              <a:t>5</a:t>
            </a:r>
            <a:endParaRPr b="0" i="0" sz="900" u="none" cap="none" strike="noStrike">
              <a:solidFill>
                <a:schemeClr val="dk1"/>
              </a:solidFill>
              <a:latin typeface="Arial"/>
              <a:ea typeface="Arial"/>
              <a:cs typeface="Arial"/>
              <a:sym typeface="Arial"/>
            </a:endParaRPr>
          </a:p>
        </p:txBody>
      </p:sp>
      <p:sp>
        <p:nvSpPr>
          <p:cNvPr id="357" name="Google Shape;357;p32"/>
          <p:cNvSpPr/>
          <p:nvPr/>
        </p:nvSpPr>
        <p:spPr>
          <a:xfrm>
            <a:off x="1472145" y="3858768"/>
            <a:ext cx="182875" cy="146304"/>
          </a:xfrm>
          <a:prstGeom prst="rect">
            <a:avLst/>
          </a:prstGeom>
          <a:noFill/>
          <a:ln>
            <a:noFill/>
          </a:ln>
        </p:spPr>
        <p:txBody>
          <a:bodyPr anchorCtr="0" anchor="ctr" bIns="375" lIns="375" spcFirstLastPara="1" rIns="375" wrap="square" tIns="375">
            <a:noAutofit/>
          </a:bodyPr>
          <a:lstStyle/>
          <a:p>
            <a:pPr indent="0" lvl="0" marL="0" marR="0" rtl="0" algn="r">
              <a:spcBef>
                <a:spcPts val="0"/>
              </a:spcBef>
              <a:spcAft>
                <a:spcPts val="0"/>
              </a:spcAft>
              <a:buClr>
                <a:srgbClr val="182970"/>
              </a:buClr>
              <a:buSzPts val="900"/>
              <a:buFont typeface="Arial"/>
              <a:buNone/>
            </a:pPr>
            <a:r>
              <a:rPr b="0" i="0" lang="en-US" sz="900" u="none" cap="none" strike="noStrike">
                <a:solidFill>
                  <a:srgbClr val="182970"/>
                </a:solidFill>
                <a:latin typeface="Arial"/>
                <a:ea typeface="Arial"/>
                <a:cs typeface="Arial"/>
                <a:sym typeface="Arial"/>
              </a:rPr>
              <a:t>6</a:t>
            </a:r>
            <a:endParaRPr b="0" i="0" sz="900" u="none" cap="none" strike="noStrike">
              <a:solidFill>
                <a:schemeClr val="dk1"/>
              </a:solidFill>
              <a:latin typeface="Arial"/>
              <a:ea typeface="Arial"/>
              <a:cs typeface="Arial"/>
              <a:sym typeface="Arial"/>
            </a:endParaRPr>
          </a:p>
        </p:txBody>
      </p:sp>
      <p:sp>
        <p:nvSpPr>
          <p:cNvPr id="358" name="Google Shape;358;p32"/>
          <p:cNvSpPr/>
          <p:nvPr/>
        </p:nvSpPr>
        <p:spPr>
          <a:xfrm rot="-5400000">
            <a:off x="1097241" y="4498850"/>
            <a:ext cx="749808" cy="18287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2970"/>
              </a:buClr>
              <a:buSzPts val="1200"/>
              <a:buFont typeface="Arial"/>
              <a:buNone/>
            </a:pPr>
            <a:r>
              <a:rPr b="0" i="0" lang="en-US" sz="1200" u="none" cap="none" strike="noStrike">
                <a:solidFill>
                  <a:srgbClr val="182970"/>
                </a:solidFill>
                <a:latin typeface="Arial"/>
                <a:ea typeface="Arial"/>
                <a:cs typeface="Arial"/>
                <a:sym typeface="Arial"/>
              </a:rPr>
              <a:t>Counts</a:t>
            </a:r>
            <a:endParaRPr b="0" i="0" sz="1200" u="none" cap="none" strike="noStrike">
              <a:solidFill>
                <a:schemeClr val="dk1"/>
              </a:solidFill>
              <a:latin typeface="Arial"/>
              <a:ea typeface="Arial"/>
              <a:cs typeface="Arial"/>
              <a:sym typeface="Arial"/>
            </a:endParaRPr>
          </a:p>
        </p:txBody>
      </p:sp>
      <p:sp>
        <p:nvSpPr>
          <p:cNvPr id="359" name="Google Shape;359;p32"/>
          <p:cNvSpPr/>
          <p:nvPr/>
        </p:nvSpPr>
        <p:spPr>
          <a:xfrm>
            <a:off x="1993339" y="4120896"/>
            <a:ext cx="274313" cy="853440"/>
          </a:xfrm>
          <a:prstGeom prst="rect">
            <a:avLst/>
          </a:prstGeom>
          <a:solidFill>
            <a:srgbClr val="94C9A6"/>
          </a:solidFill>
          <a:ln cap="flat" cmpd="sng" w="12700">
            <a:solidFill>
              <a:srgbClr val="94C9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2"/>
          <p:cNvSpPr/>
          <p:nvPr/>
        </p:nvSpPr>
        <p:spPr>
          <a:xfrm>
            <a:off x="1965908" y="5047488"/>
            <a:ext cx="329175" cy="164592"/>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000"/>
              <a:buFont typeface="Arial"/>
              <a:buNone/>
            </a:pPr>
            <a:r>
              <a:rPr b="0" i="0" lang="en-US" sz="1000" u="none" cap="none" strike="noStrike">
                <a:solidFill>
                  <a:srgbClr val="182970"/>
                </a:solidFill>
                <a:latin typeface="Arial"/>
                <a:ea typeface="Arial"/>
                <a:cs typeface="Arial"/>
                <a:sym typeface="Arial"/>
              </a:rPr>
              <a:t>A</a:t>
            </a:r>
            <a:endParaRPr b="0" i="0" sz="1000" u="none" cap="none" strike="noStrike">
              <a:solidFill>
                <a:schemeClr val="dk1"/>
              </a:solidFill>
              <a:latin typeface="Arial"/>
              <a:ea typeface="Arial"/>
              <a:cs typeface="Arial"/>
              <a:sym typeface="Arial"/>
            </a:endParaRPr>
          </a:p>
        </p:txBody>
      </p:sp>
      <p:sp>
        <p:nvSpPr>
          <p:cNvPr id="361" name="Google Shape;361;p32"/>
          <p:cNvSpPr/>
          <p:nvPr/>
        </p:nvSpPr>
        <p:spPr>
          <a:xfrm>
            <a:off x="2468814" y="4803648"/>
            <a:ext cx="274313" cy="170688"/>
          </a:xfrm>
          <a:prstGeom prst="rect">
            <a:avLst/>
          </a:prstGeom>
          <a:solidFill>
            <a:srgbClr val="94C9A6"/>
          </a:solidFill>
          <a:ln cap="flat" cmpd="sng" w="12700">
            <a:solidFill>
              <a:srgbClr val="94C9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2"/>
          <p:cNvSpPr/>
          <p:nvPr/>
        </p:nvSpPr>
        <p:spPr>
          <a:xfrm>
            <a:off x="2441383" y="5047488"/>
            <a:ext cx="329175" cy="164592"/>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000"/>
              <a:buFont typeface="Arial"/>
              <a:buNone/>
            </a:pPr>
            <a:r>
              <a:rPr b="0" i="0" lang="en-US" sz="1000" u="none" cap="none" strike="noStrike">
                <a:solidFill>
                  <a:srgbClr val="182970"/>
                </a:solidFill>
                <a:latin typeface="Arial"/>
                <a:ea typeface="Arial"/>
                <a:cs typeface="Arial"/>
                <a:sym typeface="Arial"/>
              </a:rPr>
              <a:t>B</a:t>
            </a:r>
            <a:endParaRPr b="0" i="0" sz="1000" u="none" cap="none" strike="noStrike">
              <a:solidFill>
                <a:schemeClr val="dk1"/>
              </a:solidFill>
              <a:latin typeface="Arial"/>
              <a:ea typeface="Arial"/>
              <a:cs typeface="Arial"/>
              <a:sym typeface="Arial"/>
            </a:endParaRPr>
          </a:p>
        </p:txBody>
      </p:sp>
      <p:sp>
        <p:nvSpPr>
          <p:cNvPr id="363" name="Google Shape;363;p32"/>
          <p:cNvSpPr/>
          <p:nvPr/>
        </p:nvSpPr>
        <p:spPr>
          <a:xfrm>
            <a:off x="2944290" y="4462272"/>
            <a:ext cx="274313" cy="512064"/>
          </a:xfrm>
          <a:prstGeom prst="rect">
            <a:avLst/>
          </a:prstGeom>
          <a:solidFill>
            <a:srgbClr val="94C9A6"/>
          </a:solidFill>
          <a:ln cap="flat" cmpd="sng" w="12700">
            <a:solidFill>
              <a:srgbClr val="94C9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2"/>
          <p:cNvSpPr/>
          <p:nvPr/>
        </p:nvSpPr>
        <p:spPr>
          <a:xfrm>
            <a:off x="2916858" y="5047488"/>
            <a:ext cx="329175" cy="164592"/>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000"/>
              <a:buFont typeface="Arial"/>
              <a:buNone/>
            </a:pPr>
            <a:r>
              <a:rPr b="0" i="0" lang="en-US" sz="1000" u="none" cap="none" strike="noStrike">
                <a:solidFill>
                  <a:srgbClr val="182970"/>
                </a:solidFill>
                <a:latin typeface="Arial"/>
                <a:ea typeface="Arial"/>
                <a:cs typeface="Arial"/>
                <a:sym typeface="Arial"/>
              </a:rPr>
              <a:t>C</a:t>
            </a:r>
            <a:endParaRPr b="0" i="0" sz="1000" u="none" cap="none" strike="noStrike">
              <a:solidFill>
                <a:schemeClr val="dk1"/>
              </a:solidFill>
              <a:latin typeface="Arial"/>
              <a:ea typeface="Arial"/>
              <a:cs typeface="Arial"/>
              <a:sym typeface="Arial"/>
            </a:endParaRPr>
          </a:p>
        </p:txBody>
      </p:sp>
      <p:sp>
        <p:nvSpPr>
          <p:cNvPr id="365" name="Google Shape;365;p32"/>
          <p:cNvSpPr/>
          <p:nvPr/>
        </p:nvSpPr>
        <p:spPr>
          <a:xfrm>
            <a:off x="3419765" y="4462272"/>
            <a:ext cx="274313" cy="512064"/>
          </a:xfrm>
          <a:prstGeom prst="rect">
            <a:avLst/>
          </a:prstGeom>
          <a:solidFill>
            <a:srgbClr val="94C9A6"/>
          </a:solidFill>
          <a:ln cap="flat" cmpd="sng" w="12700">
            <a:solidFill>
              <a:srgbClr val="94C9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2"/>
          <p:cNvSpPr/>
          <p:nvPr/>
        </p:nvSpPr>
        <p:spPr>
          <a:xfrm>
            <a:off x="3392334" y="5047488"/>
            <a:ext cx="329175" cy="164592"/>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000"/>
              <a:buFont typeface="Arial"/>
              <a:buNone/>
            </a:pPr>
            <a:r>
              <a:rPr b="0" i="0" lang="en-US" sz="1000" u="none" cap="none" strike="noStrike">
                <a:solidFill>
                  <a:srgbClr val="182970"/>
                </a:solidFill>
                <a:latin typeface="Arial"/>
                <a:ea typeface="Arial"/>
                <a:cs typeface="Arial"/>
                <a:sym typeface="Arial"/>
              </a:rPr>
              <a:t>D</a:t>
            </a:r>
            <a:endParaRPr b="0" i="0" sz="1000" u="none" cap="none" strike="noStrike">
              <a:solidFill>
                <a:schemeClr val="dk1"/>
              </a:solidFill>
              <a:latin typeface="Arial"/>
              <a:ea typeface="Arial"/>
              <a:cs typeface="Arial"/>
              <a:sym typeface="Arial"/>
            </a:endParaRPr>
          </a:p>
        </p:txBody>
      </p:sp>
      <p:sp>
        <p:nvSpPr>
          <p:cNvPr id="367" name="Google Shape;367;p32"/>
          <p:cNvSpPr/>
          <p:nvPr/>
        </p:nvSpPr>
        <p:spPr>
          <a:xfrm>
            <a:off x="3895240" y="4291584"/>
            <a:ext cx="274313" cy="682752"/>
          </a:xfrm>
          <a:prstGeom prst="rect">
            <a:avLst/>
          </a:prstGeom>
          <a:solidFill>
            <a:srgbClr val="94C9A6"/>
          </a:solidFill>
          <a:ln cap="flat" cmpd="sng" w="12700">
            <a:solidFill>
              <a:srgbClr val="94C9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2"/>
          <p:cNvSpPr/>
          <p:nvPr/>
        </p:nvSpPr>
        <p:spPr>
          <a:xfrm>
            <a:off x="3867809" y="5047488"/>
            <a:ext cx="329175" cy="164592"/>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000"/>
              <a:buFont typeface="Arial"/>
              <a:buNone/>
            </a:pPr>
            <a:r>
              <a:rPr b="0" i="0" lang="en-US" sz="1000" u="none" cap="none" strike="noStrike">
                <a:solidFill>
                  <a:srgbClr val="182970"/>
                </a:solidFill>
                <a:latin typeface="Arial"/>
                <a:ea typeface="Arial"/>
                <a:cs typeface="Arial"/>
                <a:sym typeface="Arial"/>
              </a:rPr>
              <a:t>E</a:t>
            </a:r>
            <a:endParaRPr b="0" i="0" sz="1000" u="none" cap="none" strike="noStrike">
              <a:solidFill>
                <a:schemeClr val="dk1"/>
              </a:solidFill>
              <a:latin typeface="Arial"/>
              <a:ea typeface="Arial"/>
              <a:cs typeface="Arial"/>
              <a:sym typeface="Arial"/>
            </a:endParaRPr>
          </a:p>
        </p:txBody>
      </p:sp>
      <p:sp>
        <p:nvSpPr>
          <p:cNvPr id="369" name="Google Shape;369;p32"/>
          <p:cNvSpPr/>
          <p:nvPr/>
        </p:nvSpPr>
        <p:spPr>
          <a:xfrm>
            <a:off x="1482988" y="5244618"/>
            <a:ext cx="3157200" cy="292500"/>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300"/>
              <a:buFont typeface="Arial"/>
              <a:buNone/>
            </a:pPr>
            <a:r>
              <a:rPr b="1" i="0" lang="en-US" sz="1300" u="none" cap="none" strike="noStrike">
                <a:solidFill>
                  <a:srgbClr val="182970"/>
                </a:solidFill>
                <a:latin typeface="Arial"/>
                <a:ea typeface="Arial"/>
                <a:cs typeface="Arial"/>
                <a:sym typeface="Arial"/>
              </a:rPr>
              <a:t>Observed </a:t>
            </a:r>
            <a:r>
              <a:rPr b="1" lang="en-US" sz="1300">
                <a:solidFill>
                  <a:srgbClr val="182970"/>
                </a:solidFill>
              </a:rPr>
              <a:t>gene expression </a:t>
            </a:r>
            <a:r>
              <a:rPr b="1" i="0" lang="en-US" sz="1300" u="none" cap="none" strike="noStrike">
                <a:solidFill>
                  <a:srgbClr val="182970"/>
                </a:solidFill>
                <a:latin typeface="Arial"/>
                <a:ea typeface="Arial"/>
                <a:cs typeface="Arial"/>
                <a:sym typeface="Arial"/>
              </a:rPr>
              <a:t>profile</a:t>
            </a:r>
            <a:endParaRPr b="0" i="0" sz="1300" u="none" cap="none" strike="noStrike">
              <a:solidFill>
                <a:schemeClr val="dk1"/>
              </a:solidFill>
              <a:latin typeface="Arial"/>
              <a:ea typeface="Arial"/>
              <a:cs typeface="Arial"/>
              <a:sym typeface="Arial"/>
            </a:endParaRPr>
          </a:p>
        </p:txBody>
      </p:sp>
      <p:sp>
        <p:nvSpPr>
          <p:cNvPr id="370" name="Google Shape;370;p32"/>
          <p:cNvSpPr/>
          <p:nvPr/>
        </p:nvSpPr>
        <p:spPr>
          <a:xfrm>
            <a:off x="5650841" y="2944368"/>
            <a:ext cx="274313" cy="292608"/>
          </a:xfrm>
          <a:prstGeom prst="rightArrow">
            <a:avLst>
              <a:gd fmla="val 50000" name="adj1"/>
              <a:gd fmla="val 50000" name="adj2"/>
            </a:avLst>
          </a:prstGeom>
          <a:solidFill>
            <a:srgbClr val="747C91"/>
          </a:solidFill>
          <a:ln cap="flat" cmpd="sng" w="12700">
            <a:solidFill>
              <a:srgbClr val="747C9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2"/>
          <p:cNvSpPr/>
          <p:nvPr/>
        </p:nvSpPr>
        <p:spPr>
          <a:xfrm>
            <a:off x="6492067" y="1883664"/>
            <a:ext cx="4315853" cy="475488"/>
          </a:xfrm>
          <a:prstGeom prst="rect">
            <a:avLst/>
          </a:prstGeom>
          <a:noFill/>
          <a:ln>
            <a:noFill/>
          </a:ln>
        </p:spPr>
        <p:txBody>
          <a:bodyPr anchorCtr="0" anchor="ctr" bIns="375" lIns="375" spcFirstLastPara="1" rIns="375" wrap="square" tIns="375">
            <a:noAutofit/>
          </a:bodyPr>
          <a:lstStyle/>
          <a:p>
            <a:pPr indent="0" lvl="0" marL="0" marR="0" rtl="0" algn="ctr">
              <a:spcBef>
                <a:spcPts val="0"/>
              </a:spcBef>
              <a:spcAft>
                <a:spcPts val="0"/>
              </a:spcAft>
              <a:buClr>
                <a:srgbClr val="182970"/>
              </a:buClr>
              <a:buSzPts val="1400"/>
              <a:buFont typeface="Arial"/>
              <a:buNone/>
            </a:pPr>
            <a:r>
              <a:rPr b="0" i="0" lang="en-US" sz="1400" u="none" cap="none" strike="noStrike">
                <a:solidFill>
                  <a:srgbClr val="182970"/>
                </a:solidFill>
                <a:latin typeface="Arial"/>
                <a:ea typeface="Arial"/>
                <a:cs typeface="Arial"/>
                <a:sym typeface="Arial"/>
              </a:rPr>
              <a:t>Current deconvolution matches the mixed spot</a:t>
            </a:r>
            <a:endParaRPr b="0" i="0" sz="14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82970"/>
              </a:buClr>
              <a:buSzPts val="1400"/>
              <a:buFont typeface="Arial"/>
              <a:buNone/>
            </a:pPr>
            <a:r>
              <a:rPr b="0" i="0" lang="en-US" sz="1400" u="none" cap="none" strike="noStrike">
                <a:solidFill>
                  <a:srgbClr val="182970"/>
                </a:solidFill>
                <a:latin typeface="Arial"/>
                <a:ea typeface="Arial"/>
                <a:cs typeface="Arial"/>
                <a:sym typeface="Arial"/>
              </a:rPr>
              <a:t>to reference </a:t>
            </a:r>
            <a:r>
              <a:rPr lang="en-US">
                <a:solidFill>
                  <a:srgbClr val="182970"/>
                </a:solidFill>
              </a:rPr>
              <a:t>gene expression </a:t>
            </a:r>
            <a:r>
              <a:rPr b="0" i="0" lang="en-US" sz="1400" u="none" cap="none" strike="noStrike">
                <a:solidFill>
                  <a:srgbClr val="182970"/>
                </a:solidFill>
                <a:latin typeface="Arial"/>
                <a:ea typeface="Arial"/>
                <a:cs typeface="Arial"/>
                <a:sym typeface="Arial"/>
              </a:rPr>
              <a:t>profiles.</a:t>
            </a:r>
            <a:endParaRPr b="0" i="0" sz="1400" u="none" cap="none" strike="noStrike">
              <a:solidFill>
                <a:schemeClr val="dk1"/>
              </a:solidFill>
              <a:latin typeface="Arial"/>
              <a:ea typeface="Arial"/>
              <a:cs typeface="Arial"/>
              <a:sym typeface="Arial"/>
            </a:endParaRPr>
          </a:p>
        </p:txBody>
      </p:sp>
      <p:sp>
        <p:nvSpPr>
          <p:cNvPr id="372" name="Google Shape;372;p32"/>
          <p:cNvSpPr/>
          <p:nvPr/>
        </p:nvSpPr>
        <p:spPr>
          <a:xfrm>
            <a:off x="6994974" y="2487168"/>
            <a:ext cx="512050" cy="512064"/>
          </a:xfrm>
          <a:prstGeom prst="ellipse">
            <a:avLst/>
          </a:prstGeom>
          <a:solidFill>
            <a:srgbClr val="79AEEF">
              <a:alpha val="70196"/>
            </a:srgbClr>
          </a:solidFill>
          <a:ln cap="flat" cmpd="sng" w="15225">
            <a:solidFill>
              <a:srgbClr val="4A8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2"/>
          <p:cNvSpPr/>
          <p:nvPr/>
        </p:nvSpPr>
        <p:spPr>
          <a:xfrm>
            <a:off x="7158829" y="2651028"/>
            <a:ext cx="184338" cy="184343"/>
          </a:xfrm>
          <a:prstGeom prst="ellipse">
            <a:avLst/>
          </a:prstGeom>
          <a:solidFill>
            <a:srgbClr val="4A86D9">
              <a:alpha val="90196"/>
            </a:srgbClr>
          </a:solidFill>
          <a:ln cap="flat" cmpd="sng" w="12700">
            <a:solidFill>
              <a:srgbClr val="4A86D9">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2"/>
          <p:cNvSpPr/>
          <p:nvPr/>
        </p:nvSpPr>
        <p:spPr>
          <a:xfrm>
            <a:off x="7772193" y="2578608"/>
            <a:ext cx="1417282" cy="32918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82970"/>
              </a:buClr>
              <a:buSzPts val="2200"/>
              <a:buFont typeface="Arial"/>
              <a:buNone/>
            </a:pPr>
            <a:r>
              <a:rPr b="0" i="0" lang="en-US" sz="2200" u="none" cap="none" strike="noStrike">
                <a:solidFill>
                  <a:srgbClr val="182970"/>
                </a:solidFill>
                <a:latin typeface="Arial"/>
                <a:ea typeface="Arial"/>
                <a:cs typeface="Arial"/>
                <a:sym typeface="Arial"/>
              </a:rPr>
              <a:t>T cells</a:t>
            </a:r>
            <a:endParaRPr b="0" i="0" sz="2200" u="none" cap="none" strike="noStrike">
              <a:solidFill>
                <a:schemeClr val="dk1"/>
              </a:solidFill>
              <a:latin typeface="Arial"/>
              <a:ea typeface="Arial"/>
              <a:cs typeface="Arial"/>
              <a:sym typeface="Arial"/>
            </a:endParaRPr>
          </a:p>
        </p:txBody>
      </p:sp>
      <p:sp>
        <p:nvSpPr>
          <p:cNvPr id="375" name="Google Shape;375;p32"/>
          <p:cNvSpPr/>
          <p:nvPr/>
        </p:nvSpPr>
        <p:spPr>
          <a:xfrm>
            <a:off x="9829538" y="2578608"/>
            <a:ext cx="777219" cy="32918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A2E8A"/>
              </a:buClr>
              <a:buSzPts val="2200"/>
              <a:buFont typeface="Arial"/>
              <a:buNone/>
            </a:pPr>
            <a:r>
              <a:rPr b="1" i="0" lang="en-US" sz="2200" u="none" cap="none" strike="noStrike">
                <a:solidFill>
                  <a:srgbClr val="1A2E8A"/>
                </a:solidFill>
                <a:latin typeface="Arial"/>
                <a:ea typeface="Arial"/>
                <a:cs typeface="Arial"/>
                <a:sym typeface="Arial"/>
              </a:rPr>
              <a:t>= 3</a:t>
            </a:r>
            <a:endParaRPr b="0" i="0" sz="2200" u="none" cap="none" strike="noStrike">
              <a:solidFill>
                <a:schemeClr val="dk1"/>
              </a:solidFill>
              <a:latin typeface="Arial"/>
              <a:ea typeface="Arial"/>
              <a:cs typeface="Arial"/>
              <a:sym typeface="Arial"/>
            </a:endParaRPr>
          </a:p>
        </p:txBody>
      </p:sp>
      <p:sp>
        <p:nvSpPr>
          <p:cNvPr id="376" name="Google Shape;376;p32"/>
          <p:cNvSpPr/>
          <p:nvPr/>
        </p:nvSpPr>
        <p:spPr>
          <a:xfrm>
            <a:off x="6994974" y="3447288"/>
            <a:ext cx="512050" cy="512064"/>
          </a:xfrm>
          <a:prstGeom prst="ellipse">
            <a:avLst/>
          </a:prstGeom>
          <a:solidFill>
            <a:srgbClr val="8AD39A">
              <a:alpha val="70196"/>
            </a:srgbClr>
          </a:solidFill>
          <a:ln cap="flat" cmpd="sng" w="15225">
            <a:solidFill>
              <a:srgbClr val="5AAB7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2"/>
          <p:cNvSpPr/>
          <p:nvPr/>
        </p:nvSpPr>
        <p:spPr>
          <a:xfrm>
            <a:off x="7158829" y="3611148"/>
            <a:ext cx="184338" cy="184343"/>
          </a:xfrm>
          <a:prstGeom prst="ellipse">
            <a:avLst/>
          </a:prstGeom>
          <a:solidFill>
            <a:srgbClr val="5AAB72">
              <a:alpha val="90196"/>
            </a:srgbClr>
          </a:solidFill>
          <a:ln cap="flat" cmpd="sng" w="12700">
            <a:solidFill>
              <a:srgbClr val="5AAB7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2"/>
          <p:cNvSpPr/>
          <p:nvPr/>
        </p:nvSpPr>
        <p:spPr>
          <a:xfrm>
            <a:off x="7772193" y="3538728"/>
            <a:ext cx="1417282" cy="32918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82970"/>
              </a:buClr>
              <a:buSzPts val="2200"/>
              <a:buFont typeface="Arial"/>
              <a:buNone/>
            </a:pPr>
            <a:r>
              <a:rPr b="0" i="0" lang="en-US" sz="2200" u="none" cap="none" strike="noStrike">
                <a:solidFill>
                  <a:srgbClr val="182970"/>
                </a:solidFill>
                <a:latin typeface="Arial"/>
                <a:ea typeface="Arial"/>
                <a:cs typeface="Arial"/>
                <a:sym typeface="Arial"/>
              </a:rPr>
              <a:t>B cell</a:t>
            </a:r>
            <a:endParaRPr b="0" i="0" sz="2200" u="none" cap="none" strike="noStrike">
              <a:solidFill>
                <a:schemeClr val="dk1"/>
              </a:solidFill>
              <a:latin typeface="Arial"/>
              <a:ea typeface="Arial"/>
              <a:cs typeface="Arial"/>
              <a:sym typeface="Arial"/>
            </a:endParaRPr>
          </a:p>
        </p:txBody>
      </p:sp>
      <p:sp>
        <p:nvSpPr>
          <p:cNvPr id="379" name="Google Shape;379;p32"/>
          <p:cNvSpPr/>
          <p:nvPr/>
        </p:nvSpPr>
        <p:spPr>
          <a:xfrm>
            <a:off x="9829538" y="3538728"/>
            <a:ext cx="777219" cy="32918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A2E8A"/>
              </a:buClr>
              <a:buSzPts val="2200"/>
              <a:buFont typeface="Arial"/>
              <a:buNone/>
            </a:pPr>
            <a:r>
              <a:rPr b="1" i="0" lang="en-US" sz="2200" u="none" cap="none" strike="noStrike">
                <a:solidFill>
                  <a:srgbClr val="1A2E8A"/>
                </a:solidFill>
                <a:latin typeface="Arial"/>
                <a:ea typeface="Arial"/>
                <a:cs typeface="Arial"/>
                <a:sym typeface="Arial"/>
              </a:rPr>
              <a:t>= 1</a:t>
            </a:r>
            <a:endParaRPr b="0" i="0" sz="2200" u="none" cap="none" strike="noStrike">
              <a:solidFill>
                <a:schemeClr val="dk1"/>
              </a:solidFill>
              <a:latin typeface="Arial"/>
              <a:ea typeface="Arial"/>
              <a:cs typeface="Arial"/>
              <a:sym typeface="Arial"/>
            </a:endParaRPr>
          </a:p>
        </p:txBody>
      </p:sp>
      <p:sp>
        <p:nvSpPr>
          <p:cNvPr id="380" name="Google Shape;380;p32"/>
          <p:cNvSpPr/>
          <p:nvPr/>
        </p:nvSpPr>
        <p:spPr>
          <a:xfrm>
            <a:off x="6994974" y="4389120"/>
            <a:ext cx="512050" cy="512064"/>
          </a:xfrm>
          <a:prstGeom prst="ellipse">
            <a:avLst/>
          </a:prstGeom>
          <a:solidFill>
            <a:srgbClr val="F39A9A">
              <a:alpha val="70196"/>
            </a:srgbClr>
          </a:solidFill>
          <a:ln cap="flat" cmpd="sng" w="15225">
            <a:solidFill>
              <a:srgbClr val="E36A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2"/>
          <p:cNvSpPr/>
          <p:nvPr/>
        </p:nvSpPr>
        <p:spPr>
          <a:xfrm>
            <a:off x="7158829" y="4552980"/>
            <a:ext cx="184338" cy="184343"/>
          </a:xfrm>
          <a:prstGeom prst="ellipse">
            <a:avLst/>
          </a:prstGeom>
          <a:solidFill>
            <a:srgbClr val="E36A6A">
              <a:alpha val="90196"/>
            </a:srgbClr>
          </a:solidFill>
          <a:ln cap="flat" cmpd="sng" w="12700">
            <a:solidFill>
              <a:srgbClr val="E36A6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2"/>
          <p:cNvSpPr/>
          <p:nvPr/>
        </p:nvSpPr>
        <p:spPr>
          <a:xfrm>
            <a:off x="7772193" y="4480560"/>
            <a:ext cx="1920189" cy="32918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82970"/>
              </a:buClr>
              <a:buSzPts val="2200"/>
              <a:buFont typeface="Arial"/>
              <a:buNone/>
            </a:pPr>
            <a:r>
              <a:rPr b="0" i="0" lang="en-US" sz="2200" u="none" cap="none" strike="noStrike">
                <a:solidFill>
                  <a:srgbClr val="182970"/>
                </a:solidFill>
                <a:latin typeface="Arial"/>
                <a:ea typeface="Arial"/>
                <a:cs typeface="Arial"/>
                <a:sym typeface="Arial"/>
              </a:rPr>
              <a:t>Cancer cells</a:t>
            </a:r>
            <a:endParaRPr b="0" i="0" sz="2200" u="none" cap="none" strike="noStrike">
              <a:solidFill>
                <a:schemeClr val="dk1"/>
              </a:solidFill>
              <a:latin typeface="Arial"/>
              <a:ea typeface="Arial"/>
              <a:cs typeface="Arial"/>
              <a:sym typeface="Arial"/>
            </a:endParaRPr>
          </a:p>
        </p:txBody>
      </p:sp>
      <p:sp>
        <p:nvSpPr>
          <p:cNvPr id="383" name="Google Shape;383;p32"/>
          <p:cNvSpPr/>
          <p:nvPr/>
        </p:nvSpPr>
        <p:spPr>
          <a:xfrm>
            <a:off x="9829538" y="4480560"/>
            <a:ext cx="777219" cy="329184"/>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A2E8A"/>
              </a:buClr>
              <a:buSzPts val="2200"/>
              <a:buFont typeface="Arial"/>
              <a:buNone/>
            </a:pPr>
            <a:r>
              <a:rPr b="1" i="0" lang="en-US" sz="2200" u="none" cap="none" strike="noStrike">
                <a:solidFill>
                  <a:srgbClr val="1A2E8A"/>
                </a:solidFill>
                <a:latin typeface="Arial"/>
                <a:ea typeface="Arial"/>
                <a:cs typeface="Arial"/>
                <a:sym typeface="Arial"/>
              </a:rPr>
              <a:t>= 3</a:t>
            </a:r>
            <a:endParaRPr b="0" i="0" sz="2200" u="none" cap="none" strike="noStrike">
              <a:solidFill>
                <a:schemeClr val="dk1"/>
              </a:solidFill>
              <a:latin typeface="Arial"/>
              <a:ea typeface="Arial"/>
              <a:cs typeface="Arial"/>
              <a:sym typeface="Arial"/>
            </a:endParaRPr>
          </a:p>
        </p:txBody>
      </p:sp>
      <p:sp>
        <p:nvSpPr>
          <p:cNvPr id="384" name="Google Shape;384;p32"/>
          <p:cNvSpPr/>
          <p:nvPr/>
        </p:nvSpPr>
        <p:spPr>
          <a:xfrm>
            <a:off x="256025" y="5989320"/>
            <a:ext cx="11063945" cy="548640"/>
          </a:xfrm>
          <a:prstGeom prst="roundRect">
            <a:avLst>
              <a:gd fmla="val 8333" name="adj"/>
            </a:avLst>
          </a:prstGeom>
          <a:solidFill>
            <a:srgbClr val="FFF7EA"/>
          </a:solidFill>
          <a:ln cap="flat" cmpd="sng" w="12700">
            <a:solidFill>
              <a:srgbClr val="F1D3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2"/>
          <p:cNvSpPr/>
          <p:nvPr/>
        </p:nvSpPr>
        <p:spPr>
          <a:xfrm>
            <a:off x="566913" y="6108192"/>
            <a:ext cx="292600" cy="292608"/>
          </a:xfrm>
          <a:prstGeom prst="ellipse">
            <a:avLst/>
          </a:prstGeom>
          <a:solidFill>
            <a:srgbClr val="F9CB62"/>
          </a:solidFill>
          <a:ln cap="flat" cmpd="sng" w="12700">
            <a:solidFill>
              <a:srgbClr val="F9CB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2"/>
          <p:cNvSpPr/>
          <p:nvPr/>
        </p:nvSpPr>
        <p:spPr>
          <a:xfrm>
            <a:off x="658350" y="6373368"/>
            <a:ext cx="109725" cy="137160"/>
          </a:xfrm>
          <a:prstGeom prst="rect">
            <a:avLst/>
          </a:prstGeom>
          <a:solidFill>
            <a:srgbClr val="606A80"/>
          </a:solidFill>
          <a:ln cap="flat" cmpd="sng" w="12700">
            <a:solidFill>
              <a:srgbClr val="606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7" name="Google Shape;387;p32"/>
          <p:cNvCxnSpPr/>
          <p:nvPr/>
        </p:nvCxnSpPr>
        <p:spPr>
          <a:xfrm>
            <a:off x="713213" y="5998464"/>
            <a:ext cx="0" cy="73152"/>
          </a:xfrm>
          <a:prstGeom prst="straightConnector1">
            <a:avLst/>
          </a:prstGeom>
          <a:noFill/>
          <a:ln cap="flat" cmpd="sng" w="15225">
            <a:solidFill>
              <a:srgbClr val="F9CB62"/>
            </a:solidFill>
            <a:prstDash val="solid"/>
            <a:round/>
            <a:headEnd len="sm" w="sm" type="none"/>
            <a:tailEnd len="sm" w="sm" type="none"/>
          </a:ln>
        </p:spPr>
      </p:cxnSp>
      <p:cxnSp>
        <p:nvCxnSpPr>
          <p:cNvPr id="388" name="Google Shape;388;p32"/>
          <p:cNvCxnSpPr/>
          <p:nvPr/>
        </p:nvCxnSpPr>
        <p:spPr>
          <a:xfrm rot="10800000">
            <a:off x="438900" y="6163056"/>
            <a:ext cx="73150" cy="36576"/>
          </a:xfrm>
          <a:prstGeom prst="straightConnector1">
            <a:avLst/>
          </a:prstGeom>
          <a:noFill/>
          <a:ln cap="flat" cmpd="sng" w="15225">
            <a:solidFill>
              <a:srgbClr val="F9CB62"/>
            </a:solidFill>
            <a:prstDash val="solid"/>
            <a:round/>
            <a:headEnd len="sm" w="sm" type="none"/>
            <a:tailEnd len="sm" w="sm" type="none"/>
          </a:ln>
        </p:spPr>
      </p:cxnSp>
      <p:cxnSp>
        <p:nvCxnSpPr>
          <p:cNvPr id="389" name="Google Shape;389;p32"/>
          <p:cNvCxnSpPr/>
          <p:nvPr/>
        </p:nvCxnSpPr>
        <p:spPr>
          <a:xfrm flipH="1" rot="10800000">
            <a:off x="914376" y="6163056"/>
            <a:ext cx="73150" cy="36576"/>
          </a:xfrm>
          <a:prstGeom prst="straightConnector1">
            <a:avLst/>
          </a:prstGeom>
          <a:noFill/>
          <a:ln cap="flat" cmpd="sng" w="15225">
            <a:solidFill>
              <a:srgbClr val="F9CB62"/>
            </a:solidFill>
            <a:prstDash val="solid"/>
            <a:round/>
            <a:headEnd len="sm" w="sm" type="none"/>
            <a:tailEnd len="sm" w="sm" type="none"/>
          </a:ln>
        </p:spPr>
      </p:cxnSp>
      <p:cxnSp>
        <p:nvCxnSpPr>
          <p:cNvPr id="390" name="Google Shape;390;p32"/>
          <p:cNvCxnSpPr/>
          <p:nvPr/>
        </p:nvCxnSpPr>
        <p:spPr>
          <a:xfrm>
            <a:off x="1142970" y="6089904"/>
            <a:ext cx="0" cy="347472"/>
          </a:xfrm>
          <a:prstGeom prst="straightConnector1">
            <a:avLst/>
          </a:prstGeom>
          <a:noFill/>
          <a:ln cap="flat" cmpd="sng" w="12700">
            <a:solidFill>
              <a:srgbClr val="E6C470"/>
            </a:solidFill>
            <a:prstDash val="solid"/>
            <a:round/>
            <a:headEnd len="sm" w="sm" type="none"/>
            <a:tailEnd len="sm" w="sm" type="none"/>
          </a:ln>
        </p:spPr>
      </p:cxnSp>
      <p:sp>
        <p:nvSpPr>
          <p:cNvPr id="391" name="Google Shape;391;p32"/>
          <p:cNvSpPr/>
          <p:nvPr/>
        </p:nvSpPr>
        <p:spPr>
          <a:xfrm>
            <a:off x="1325845" y="6071616"/>
            <a:ext cx="1142970" cy="384048"/>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A2E8A"/>
              </a:buClr>
              <a:buSzPts val="1800"/>
              <a:buFont typeface="Arial"/>
              <a:buNone/>
            </a:pPr>
            <a:r>
              <a:rPr b="1" i="0" lang="en-US" sz="1800" u="none" cap="none" strike="noStrike">
                <a:solidFill>
                  <a:srgbClr val="1A2E8A"/>
                </a:solidFill>
                <a:latin typeface="Arial"/>
                <a:ea typeface="Arial"/>
                <a:cs typeface="Arial"/>
                <a:sym typeface="Arial"/>
              </a:rPr>
              <a:t>Limitation</a:t>
            </a:r>
            <a:endParaRPr b="0" i="0" sz="1800" u="none" cap="none" strike="noStrike">
              <a:solidFill>
                <a:schemeClr val="dk1"/>
              </a:solidFill>
              <a:latin typeface="Arial"/>
              <a:ea typeface="Arial"/>
              <a:cs typeface="Arial"/>
              <a:sym typeface="Arial"/>
            </a:endParaRPr>
          </a:p>
        </p:txBody>
      </p:sp>
      <p:sp>
        <p:nvSpPr>
          <p:cNvPr id="392" name="Google Shape;392;p32"/>
          <p:cNvSpPr/>
          <p:nvPr/>
        </p:nvSpPr>
        <p:spPr>
          <a:xfrm>
            <a:off x="2743127" y="6071616"/>
            <a:ext cx="4389003" cy="384048"/>
          </a:xfrm>
          <a:prstGeom prst="rect">
            <a:avLst/>
          </a:prstGeom>
          <a:noFill/>
          <a:ln>
            <a:noFill/>
          </a:ln>
        </p:spPr>
        <p:txBody>
          <a:bodyPr anchorCtr="0" anchor="ctr" bIns="375" lIns="375" spcFirstLastPara="1" rIns="375" wrap="square" tIns="375">
            <a:noAutofit/>
          </a:bodyPr>
          <a:lstStyle/>
          <a:p>
            <a:pPr indent="0" lvl="0" marL="0" marR="0" rtl="0" algn="l">
              <a:spcBef>
                <a:spcPts val="0"/>
              </a:spcBef>
              <a:spcAft>
                <a:spcPts val="0"/>
              </a:spcAft>
              <a:buClr>
                <a:srgbClr val="182970"/>
              </a:buClr>
              <a:buSzPts val="1700"/>
              <a:buFont typeface="Arial"/>
              <a:buNone/>
            </a:pPr>
            <a:r>
              <a:rPr lang="en-US" sz="1700">
                <a:solidFill>
                  <a:srgbClr val="182970"/>
                </a:solidFill>
              </a:rPr>
              <a:t>Adapts</a:t>
            </a:r>
            <a:r>
              <a:rPr b="0" i="0" lang="en-US" sz="1700" u="none" cap="none" strike="noStrike">
                <a:solidFill>
                  <a:srgbClr val="182970"/>
                </a:solidFill>
                <a:latin typeface="Arial"/>
                <a:ea typeface="Arial"/>
                <a:cs typeface="Arial"/>
                <a:sym typeface="Arial"/>
              </a:rPr>
              <a:t> gene</a:t>
            </a:r>
            <a:r>
              <a:rPr lang="en-US" sz="1700">
                <a:solidFill>
                  <a:srgbClr val="182970"/>
                </a:solidFill>
              </a:rPr>
              <a:t> </a:t>
            </a:r>
            <a:r>
              <a:rPr b="0" i="0" lang="en-US" sz="1700" u="none" cap="none" strike="noStrike">
                <a:solidFill>
                  <a:srgbClr val="182970"/>
                </a:solidFill>
                <a:latin typeface="Arial"/>
                <a:ea typeface="Arial"/>
                <a:cs typeface="Arial"/>
                <a:sym typeface="Arial"/>
              </a:rPr>
              <a:t>expression profile to cut profile.</a:t>
            </a:r>
            <a:endParaRPr b="0" i="0" sz="1700" u="none" cap="none" strike="noStrike">
              <a:solidFill>
                <a:schemeClr val="dk1"/>
              </a:solidFill>
              <a:latin typeface="Arial"/>
              <a:ea typeface="Arial"/>
              <a:cs typeface="Arial"/>
              <a:sym typeface="Arial"/>
            </a:endParaRPr>
          </a:p>
        </p:txBody>
      </p:sp>
      <p:sp>
        <p:nvSpPr>
          <p:cNvPr id="393" name="Google Shape;393;p32"/>
          <p:cNvSpPr/>
          <p:nvPr/>
        </p:nvSpPr>
        <p:spPr>
          <a:xfrm>
            <a:off x="468948" y="1144326"/>
            <a:ext cx="475500" cy="475500"/>
          </a:xfrm>
          <a:prstGeom prst="ellipse">
            <a:avLst/>
          </a:prstGeom>
          <a:solidFill>
            <a:srgbClr val="192E8A"/>
          </a:solidFill>
          <a:ln cap="flat" cmpd="sng" w="9525">
            <a:solidFill>
              <a:srgbClr val="546F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500" u="none" cap="none" strike="noStrike">
                <a:solidFill>
                  <a:srgbClr val="FFFFFF"/>
                </a:solidFill>
                <a:latin typeface="Arial"/>
                <a:ea typeface="Arial"/>
                <a:cs typeface="Arial"/>
                <a:sym typeface="Arial"/>
              </a:rPr>
              <a:t>1</a:t>
            </a:r>
            <a:endParaRPr/>
          </a:p>
        </p:txBody>
      </p:sp>
      <p:sp>
        <p:nvSpPr>
          <p:cNvPr id="394" name="Google Shape;394;p32"/>
          <p:cNvSpPr/>
          <p:nvPr/>
        </p:nvSpPr>
        <p:spPr>
          <a:xfrm>
            <a:off x="6176712" y="1143475"/>
            <a:ext cx="475500" cy="475500"/>
          </a:xfrm>
          <a:prstGeom prst="ellipse">
            <a:avLst/>
          </a:prstGeom>
          <a:solidFill>
            <a:srgbClr val="192E8A"/>
          </a:solidFill>
          <a:ln cap="flat" cmpd="sng" w="9525">
            <a:solidFill>
              <a:srgbClr val="546F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500">
                <a:solidFill>
                  <a:srgbClr val="FFFFFF"/>
                </a:solidFill>
              </a:rPr>
              <a:t>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3"/>
          <p:cNvSpPr/>
          <p:nvPr/>
        </p:nvSpPr>
        <p:spPr>
          <a:xfrm>
            <a:off x="6995160" y="960120"/>
            <a:ext cx="5138928" cy="685800"/>
          </a:xfrm>
          <a:prstGeom prst="rect">
            <a:avLst/>
          </a:prstGeom>
          <a:solidFill>
            <a:srgbClr val="E6F2F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0" name="Google Shape;400;p33"/>
          <p:cNvSpPr/>
          <p:nvPr/>
        </p:nvSpPr>
        <p:spPr>
          <a:xfrm>
            <a:off x="54864" y="960120"/>
            <a:ext cx="6784848" cy="685800"/>
          </a:xfrm>
          <a:prstGeom prst="rect">
            <a:avLst/>
          </a:prstGeom>
          <a:solidFill>
            <a:srgbClr val="E6F2F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33"/>
          <p:cNvSpPr txBox="1"/>
          <p:nvPr/>
        </p:nvSpPr>
        <p:spPr>
          <a:xfrm>
            <a:off x="457200" y="36576"/>
            <a:ext cx="11247120" cy="5029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2800" u="none" cap="none" strike="noStrike">
                <a:solidFill>
                  <a:srgbClr val="142687"/>
                </a:solidFill>
                <a:latin typeface="Arial"/>
                <a:ea typeface="Arial"/>
                <a:cs typeface="Arial"/>
                <a:sym typeface="Arial"/>
              </a:rPr>
              <a:t>ShapeMix-ATAC: Key Idea and Hypothesis</a:t>
            </a:r>
            <a:endParaRPr/>
          </a:p>
        </p:txBody>
      </p:sp>
      <p:sp>
        <p:nvSpPr>
          <p:cNvPr id="402" name="Google Shape;402;p33"/>
          <p:cNvSpPr/>
          <p:nvPr/>
        </p:nvSpPr>
        <p:spPr>
          <a:xfrm>
            <a:off x="36576" y="685800"/>
            <a:ext cx="12115800" cy="18288"/>
          </a:xfrm>
          <a:prstGeom prst="rect">
            <a:avLst/>
          </a:prstGeom>
          <a:solidFill>
            <a:srgbClr val="71B9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3" name="Google Shape;403;p33"/>
          <p:cNvSpPr/>
          <p:nvPr/>
        </p:nvSpPr>
        <p:spPr>
          <a:xfrm>
            <a:off x="59471" y="960063"/>
            <a:ext cx="6784800" cy="5687700"/>
          </a:xfrm>
          <a:prstGeom prst="roundRect">
            <a:avLst>
              <a:gd fmla="val 3500" name="adj"/>
            </a:avLst>
          </a:prstGeom>
          <a:noFill/>
          <a:ln cap="flat" cmpd="sng" w="20300">
            <a:solidFill>
              <a:srgbClr val="71B9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p33"/>
          <p:cNvSpPr txBox="1"/>
          <p:nvPr/>
        </p:nvSpPr>
        <p:spPr>
          <a:xfrm>
            <a:off x="813816" y="1033272"/>
            <a:ext cx="5916300" cy="5028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00" u="none" cap="none" strike="noStrike">
                <a:solidFill>
                  <a:srgbClr val="142687"/>
                </a:solidFill>
                <a:latin typeface="Arial"/>
                <a:ea typeface="Arial"/>
                <a:cs typeface="Arial"/>
                <a:sym typeface="Arial"/>
              </a:rPr>
              <a:t>ATAC cut length</a:t>
            </a:r>
            <a:endParaRPr/>
          </a:p>
        </p:txBody>
      </p:sp>
      <p:sp>
        <p:nvSpPr>
          <p:cNvPr id="405" name="Google Shape;405;p33"/>
          <p:cNvSpPr/>
          <p:nvPr/>
        </p:nvSpPr>
        <p:spPr>
          <a:xfrm>
            <a:off x="6995160" y="960120"/>
            <a:ext cx="5138928" cy="5687568"/>
          </a:xfrm>
          <a:prstGeom prst="roundRect">
            <a:avLst>
              <a:gd fmla="val 3500" name="adj"/>
            </a:avLst>
          </a:prstGeom>
          <a:noFill/>
          <a:ln cap="flat" cmpd="sng" w="20300">
            <a:solidFill>
              <a:srgbClr val="71B9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6" name="Google Shape;406;p33"/>
          <p:cNvSpPr txBox="1"/>
          <p:nvPr/>
        </p:nvSpPr>
        <p:spPr>
          <a:xfrm>
            <a:off x="7754112" y="1033272"/>
            <a:ext cx="4270248" cy="50292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500" u="none" cap="none" strike="noStrike">
                <a:solidFill>
                  <a:srgbClr val="142687"/>
                </a:solidFill>
                <a:latin typeface="Arial"/>
                <a:ea typeface="Arial"/>
                <a:cs typeface="Arial"/>
                <a:sym typeface="Arial"/>
              </a:rPr>
              <a:t>Hypothesis</a:t>
            </a:r>
            <a:endParaRPr/>
          </a:p>
        </p:txBody>
      </p:sp>
      <p:sp>
        <p:nvSpPr>
          <p:cNvPr id="407" name="Google Shape;407;p33"/>
          <p:cNvSpPr txBox="1"/>
          <p:nvPr/>
        </p:nvSpPr>
        <p:spPr>
          <a:xfrm>
            <a:off x="585216" y="5056632"/>
            <a:ext cx="5733288" cy="2743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en-US" sz="1700" u="none" cap="none" strike="noStrike">
                <a:solidFill>
                  <a:srgbClr val="142687"/>
                </a:solidFill>
                <a:latin typeface="Arial"/>
                <a:ea typeface="Arial"/>
                <a:cs typeface="Arial"/>
                <a:sym typeface="Arial"/>
              </a:rPr>
              <a:t>cut length = distance between two nearby cut points</a:t>
            </a:r>
            <a:endParaRPr/>
          </a:p>
        </p:txBody>
      </p:sp>
      <p:sp>
        <p:nvSpPr>
          <p:cNvPr id="408" name="Google Shape;408;p33"/>
          <p:cNvSpPr/>
          <p:nvPr/>
        </p:nvSpPr>
        <p:spPr>
          <a:xfrm>
            <a:off x="1109387" y="5577840"/>
            <a:ext cx="393300" cy="393300"/>
          </a:xfrm>
          <a:prstGeom prst="ellipse">
            <a:avLst/>
          </a:prstGeom>
          <a:solidFill>
            <a:srgbClr val="2DB05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09" name="Google Shape;409;p33"/>
          <p:cNvCxnSpPr/>
          <p:nvPr/>
        </p:nvCxnSpPr>
        <p:spPr>
          <a:xfrm>
            <a:off x="1180802" y="5788152"/>
            <a:ext cx="63900" cy="73200"/>
          </a:xfrm>
          <a:prstGeom prst="straightConnector1">
            <a:avLst/>
          </a:prstGeom>
          <a:noFill/>
          <a:ln cap="flat" cmpd="sng" w="43175">
            <a:solidFill>
              <a:srgbClr val="FFFFFF"/>
            </a:solidFill>
            <a:prstDash val="solid"/>
            <a:round/>
            <a:headEnd len="sm" w="sm" type="none"/>
            <a:tailEnd len="sm" w="sm" type="none"/>
          </a:ln>
          <a:effectLst>
            <a:outerShdw blurRad="40000" rotWithShape="0" dir="5400000" dist="20000">
              <a:srgbClr val="000000">
                <a:alpha val="38039"/>
              </a:srgbClr>
            </a:outerShdw>
          </a:effectLst>
        </p:spPr>
      </p:cxnSp>
      <p:cxnSp>
        <p:nvCxnSpPr>
          <p:cNvPr id="410" name="Google Shape;410;p33"/>
          <p:cNvCxnSpPr/>
          <p:nvPr/>
        </p:nvCxnSpPr>
        <p:spPr>
          <a:xfrm flipH="1" rot="10800000">
            <a:off x="1283123" y="5687604"/>
            <a:ext cx="118800" cy="173700"/>
          </a:xfrm>
          <a:prstGeom prst="straightConnector1">
            <a:avLst/>
          </a:prstGeom>
          <a:noFill/>
          <a:ln cap="flat" cmpd="sng" w="43175">
            <a:solidFill>
              <a:srgbClr val="FFFFFF"/>
            </a:solidFill>
            <a:prstDash val="solid"/>
            <a:round/>
            <a:headEnd len="sm" w="sm" type="none"/>
            <a:tailEnd len="sm" w="sm" type="none"/>
          </a:ln>
          <a:effectLst>
            <a:outerShdw blurRad="40000" rotWithShape="0" dir="5400000" dist="20000">
              <a:srgbClr val="000000">
                <a:alpha val="38039"/>
              </a:srgbClr>
            </a:outerShdw>
          </a:effectLst>
        </p:spPr>
      </p:cxnSp>
      <p:sp>
        <p:nvSpPr>
          <p:cNvPr id="411" name="Google Shape;411;p33"/>
          <p:cNvSpPr txBox="1"/>
          <p:nvPr/>
        </p:nvSpPr>
        <p:spPr>
          <a:xfrm>
            <a:off x="1692866" y="5623560"/>
            <a:ext cx="4755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32376"/>
                </a:solidFill>
                <a:latin typeface="Arial"/>
                <a:ea typeface="Arial"/>
                <a:cs typeface="Arial"/>
                <a:sym typeface="Arial"/>
              </a:rPr>
              <a:t>Available in spatial ATAC-seq</a:t>
            </a:r>
            <a:endParaRPr/>
          </a:p>
        </p:txBody>
      </p:sp>
      <p:sp>
        <p:nvSpPr>
          <p:cNvPr id="412" name="Google Shape;412;p33"/>
          <p:cNvSpPr/>
          <p:nvPr/>
        </p:nvSpPr>
        <p:spPr>
          <a:xfrm>
            <a:off x="1109387" y="6172200"/>
            <a:ext cx="393300" cy="393300"/>
          </a:xfrm>
          <a:prstGeom prst="ellipse">
            <a:avLst/>
          </a:prstGeom>
          <a:solidFill>
            <a:srgbClr val="EE1C2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cxnSp>
        <p:nvCxnSpPr>
          <p:cNvPr id="413" name="Google Shape;413;p33"/>
          <p:cNvCxnSpPr/>
          <p:nvPr/>
        </p:nvCxnSpPr>
        <p:spPr>
          <a:xfrm>
            <a:off x="1219115" y="6281928"/>
            <a:ext cx="164700" cy="164700"/>
          </a:xfrm>
          <a:prstGeom prst="straightConnector1">
            <a:avLst/>
          </a:prstGeom>
          <a:noFill/>
          <a:ln cap="flat" cmpd="sng" w="43175">
            <a:solidFill>
              <a:srgbClr val="FFFFFF"/>
            </a:solidFill>
            <a:prstDash val="solid"/>
            <a:round/>
            <a:headEnd len="sm" w="sm" type="none"/>
            <a:tailEnd len="sm" w="sm" type="none"/>
          </a:ln>
          <a:effectLst>
            <a:outerShdw blurRad="40000" rotWithShape="0" dir="5400000" dist="20000">
              <a:srgbClr val="000000">
                <a:alpha val="38039"/>
              </a:srgbClr>
            </a:outerShdw>
          </a:effectLst>
        </p:spPr>
      </p:cxnSp>
      <p:cxnSp>
        <p:nvCxnSpPr>
          <p:cNvPr id="414" name="Google Shape;414;p33"/>
          <p:cNvCxnSpPr/>
          <p:nvPr/>
        </p:nvCxnSpPr>
        <p:spPr>
          <a:xfrm flipH="1">
            <a:off x="1219007" y="6281928"/>
            <a:ext cx="164700" cy="164700"/>
          </a:xfrm>
          <a:prstGeom prst="straightConnector1">
            <a:avLst/>
          </a:prstGeom>
          <a:noFill/>
          <a:ln cap="flat" cmpd="sng" w="43175">
            <a:solidFill>
              <a:srgbClr val="FFFFFF"/>
            </a:solidFill>
            <a:prstDash val="solid"/>
            <a:round/>
            <a:headEnd len="sm" w="sm" type="none"/>
            <a:tailEnd len="sm" w="sm" type="none"/>
          </a:ln>
          <a:effectLst>
            <a:outerShdw blurRad="40000" rotWithShape="0" dir="5400000" dist="20000">
              <a:srgbClr val="000000">
                <a:alpha val="38039"/>
              </a:srgbClr>
            </a:outerShdw>
          </a:effectLst>
        </p:spPr>
      </p:cxnSp>
      <p:sp>
        <p:nvSpPr>
          <p:cNvPr id="415" name="Google Shape;415;p33"/>
          <p:cNvSpPr txBox="1"/>
          <p:nvPr/>
        </p:nvSpPr>
        <p:spPr>
          <a:xfrm>
            <a:off x="1731179" y="6217920"/>
            <a:ext cx="4755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32376"/>
                </a:solidFill>
                <a:latin typeface="Arial"/>
                <a:ea typeface="Arial"/>
                <a:cs typeface="Arial"/>
                <a:sym typeface="Arial"/>
              </a:rPr>
              <a:t>Not available in spatial RNA-seq</a:t>
            </a:r>
            <a:endParaRPr/>
          </a:p>
        </p:txBody>
      </p:sp>
      <p:sp>
        <p:nvSpPr>
          <p:cNvPr id="416" name="Google Shape;416;p33"/>
          <p:cNvSpPr/>
          <p:nvPr/>
        </p:nvSpPr>
        <p:spPr>
          <a:xfrm>
            <a:off x="7251200" y="2560324"/>
            <a:ext cx="4626900" cy="2657100"/>
          </a:xfrm>
          <a:prstGeom prst="roundRect">
            <a:avLst>
              <a:gd fmla="val 8000" name="adj"/>
            </a:avLst>
          </a:prstGeom>
          <a:solidFill>
            <a:srgbClr val="E7F4F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33"/>
          <p:cNvSpPr txBox="1"/>
          <p:nvPr/>
        </p:nvSpPr>
        <p:spPr>
          <a:xfrm>
            <a:off x="7479792" y="2980944"/>
            <a:ext cx="4169700" cy="21243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i="0" lang="en-US" sz="2300" u="none" cap="none" strike="noStrike">
                <a:solidFill>
                  <a:srgbClr val="132376"/>
                </a:solidFill>
              </a:rPr>
              <a:t>Using </a:t>
            </a:r>
            <a:r>
              <a:rPr b="1" i="0" lang="en-US" sz="2300" u="none" cap="none" strike="noStrike">
                <a:solidFill>
                  <a:srgbClr val="132376"/>
                </a:solidFill>
              </a:rPr>
              <a:t>cut counts + </a:t>
            </a:r>
            <a:r>
              <a:rPr b="1" lang="en-US" sz="2300">
                <a:solidFill>
                  <a:srgbClr val="132376"/>
                </a:solidFill>
              </a:rPr>
              <a:t>cut-length signals</a:t>
            </a:r>
            <a:r>
              <a:rPr lang="en-US" sz="2300">
                <a:solidFill>
                  <a:srgbClr val="132376"/>
                </a:solidFill>
              </a:rPr>
              <a:t> </a:t>
            </a:r>
            <a:r>
              <a:rPr lang="en-US" sz="2200">
                <a:solidFill>
                  <a:srgbClr val="132376"/>
                </a:solidFill>
              </a:rPr>
              <a:t>will estimate</a:t>
            </a:r>
            <a:endParaRPr>
              <a:solidFill>
                <a:schemeClr val="dk1"/>
              </a:solidFill>
            </a:endParaRPr>
          </a:p>
          <a:p>
            <a:pPr indent="0" lvl="0" marL="0" marR="0" rtl="0" algn="ctr">
              <a:spcBef>
                <a:spcPts val="0"/>
              </a:spcBef>
              <a:spcAft>
                <a:spcPts val="0"/>
              </a:spcAft>
              <a:buNone/>
            </a:pPr>
            <a:r>
              <a:rPr lang="en-US" sz="2300">
                <a:solidFill>
                  <a:srgbClr val="132376"/>
                </a:solidFill>
              </a:rPr>
              <a:t>cell-type composition </a:t>
            </a:r>
            <a:r>
              <a:rPr b="1" lang="en-US" sz="2300">
                <a:solidFill>
                  <a:srgbClr val="132376"/>
                </a:solidFill>
              </a:rPr>
              <a:t>more accurately</a:t>
            </a:r>
            <a:r>
              <a:rPr lang="en-US" sz="2300">
                <a:solidFill>
                  <a:srgbClr val="132376"/>
                </a:solidFill>
              </a:rPr>
              <a:t> than using cut counts alone</a:t>
            </a:r>
            <a:endParaRPr sz="2300">
              <a:solidFill>
                <a:srgbClr val="132376"/>
              </a:solidFill>
            </a:endParaRPr>
          </a:p>
          <a:p>
            <a:pPr indent="0" lvl="0" marL="0" marR="0" rtl="0" algn="ctr">
              <a:spcBef>
                <a:spcPts val="0"/>
              </a:spcBef>
              <a:spcAft>
                <a:spcPts val="0"/>
              </a:spcAft>
              <a:buNone/>
            </a:pPr>
            <a:r>
              <a:t/>
            </a:r>
            <a:endParaRPr b="1" sz="2300">
              <a:solidFill>
                <a:srgbClr val="132376"/>
              </a:solidFill>
            </a:endParaRPr>
          </a:p>
        </p:txBody>
      </p:sp>
      <p:pic>
        <p:nvPicPr>
          <p:cNvPr id="418" name="Google Shape;418;p33"/>
          <p:cNvPicPr preferRelativeResize="0"/>
          <p:nvPr/>
        </p:nvPicPr>
        <p:blipFill>
          <a:blip r:embed="rId3">
            <a:alphaModFix/>
          </a:blip>
          <a:stretch>
            <a:fillRect/>
          </a:stretch>
        </p:blipFill>
        <p:spPr>
          <a:xfrm>
            <a:off x="133865" y="2054114"/>
            <a:ext cx="6624426" cy="2532047"/>
          </a:xfrm>
          <a:prstGeom prst="rect">
            <a:avLst/>
          </a:prstGeom>
          <a:noFill/>
          <a:ln>
            <a:noFill/>
          </a:ln>
        </p:spPr>
      </p:pic>
      <p:sp>
        <p:nvSpPr>
          <p:cNvPr id="419" name="Google Shape;419;p33"/>
          <p:cNvSpPr/>
          <p:nvPr/>
        </p:nvSpPr>
        <p:spPr>
          <a:xfrm>
            <a:off x="258228" y="1048544"/>
            <a:ext cx="475500" cy="475500"/>
          </a:xfrm>
          <a:prstGeom prst="ellipse">
            <a:avLst/>
          </a:prstGeom>
          <a:solidFill>
            <a:srgbClr val="192E8A"/>
          </a:solidFill>
          <a:ln cap="flat" cmpd="sng" w="9525">
            <a:solidFill>
              <a:srgbClr val="546F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500" u="none" cap="none" strike="noStrike">
                <a:solidFill>
                  <a:srgbClr val="FFFFFF"/>
                </a:solidFill>
                <a:latin typeface="Arial"/>
                <a:ea typeface="Arial"/>
                <a:cs typeface="Arial"/>
                <a:sym typeface="Arial"/>
              </a:rPr>
              <a:t>1</a:t>
            </a:r>
            <a:endParaRPr/>
          </a:p>
        </p:txBody>
      </p:sp>
      <p:sp>
        <p:nvSpPr>
          <p:cNvPr id="420" name="Google Shape;420;p33"/>
          <p:cNvSpPr/>
          <p:nvPr/>
        </p:nvSpPr>
        <p:spPr>
          <a:xfrm>
            <a:off x="7205361" y="1046926"/>
            <a:ext cx="475500" cy="475500"/>
          </a:xfrm>
          <a:prstGeom prst="ellipse">
            <a:avLst/>
          </a:prstGeom>
          <a:solidFill>
            <a:srgbClr val="192E8A"/>
          </a:solidFill>
          <a:ln cap="flat" cmpd="sng" w="9525">
            <a:solidFill>
              <a:srgbClr val="546F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500">
                <a:solidFill>
                  <a:srgbClr val="FFFFFF"/>
                </a:solidFill>
              </a:rPr>
              <a:t>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4"/>
          <p:cNvSpPr txBox="1"/>
          <p:nvPr/>
        </p:nvSpPr>
        <p:spPr>
          <a:xfrm>
            <a:off x="1097280" y="109728"/>
            <a:ext cx="9966960" cy="4389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2600" u="none" cap="none" strike="noStrike">
                <a:solidFill>
                  <a:srgbClr val="192E8A"/>
                </a:solidFill>
                <a:latin typeface="Arial"/>
                <a:ea typeface="Arial"/>
                <a:cs typeface="Arial"/>
                <a:sym typeface="Arial"/>
              </a:rPr>
              <a:t>Experiments and Project Status</a:t>
            </a:r>
            <a:endParaRPr/>
          </a:p>
        </p:txBody>
      </p:sp>
      <p:sp>
        <p:nvSpPr>
          <p:cNvPr id="426" name="Google Shape;426;p34"/>
          <p:cNvSpPr/>
          <p:nvPr/>
        </p:nvSpPr>
        <p:spPr>
          <a:xfrm>
            <a:off x="0" y="786384"/>
            <a:ext cx="12191695" cy="27432"/>
          </a:xfrm>
          <a:prstGeom prst="rect">
            <a:avLst/>
          </a:prstGeom>
          <a:solidFill>
            <a:srgbClr val="71B0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7" name="Google Shape;427;p34"/>
          <p:cNvSpPr txBox="1"/>
          <p:nvPr/>
        </p:nvSpPr>
        <p:spPr>
          <a:xfrm>
            <a:off x="548640" y="841248"/>
            <a:ext cx="11064300" cy="3657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rgbClr val="192E8A"/>
                </a:solidFill>
                <a:latin typeface="Arial"/>
                <a:ea typeface="Arial"/>
                <a:cs typeface="Arial"/>
                <a:sym typeface="Arial"/>
              </a:rPr>
              <a:t>Test whether adding cut-length information improves deconvolution accuracy</a:t>
            </a:r>
            <a:endParaRPr/>
          </a:p>
        </p:txBody>
      </p:sp>
      <p:sp>
        <p:nvSpPr>
          <p:cNvPr id="428" name="Google Shape;428;p34"/>
          <p:cNvSpPr/>
          <p:nvPr/>
        </p:nvSpPr>
        <p:spPr>
          <a:xfrm>
            <a:off x="510276" y="1417320"/>
            <a:ext cx="2395800" cy="567000"/>
          </a:xfrm>
          <a:prstGeom prst="rect">
            <a:avLst/>
          </a:prstGeom>
          <a:solidFill>
            <a:srgbClr val="E8F1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9" name="Google Shape;429;p34"/>
          <p:cNvSpPr/>
          <p:nvPr/>
        </p:nvSpPr>
        <p:spPr>
          <a:xfrm>
            <a:off x="601716" y="1508760"/>
            <a:ext cx="420600" cy="4206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0" name="Google Shape;430;p34"/>
          <p:cNvSpPr txBox="1"/>
          <p:nvPr/>
        </p:nvSpPr>
        <p:spPr>
          <a:xfrm>
            <a:off x="601716" y="1499616"/>
            <a:ext cx="420600" cy="354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1</a:t>
            </a:r>
            <a:endParaRPr/>
          </a:p>
        </p:txBody>
      </p:sp>
      <p:sp>
        <p:nvSpPr>
          <p:cNvPr id="431" name="Google Shape;431;p34"/>
          <p:cNvSpPr txBox="1"/>
          <p:nvPr/>
        </p:nvSpPr>
        <p:spPr>
          <a:xfrm>
            <a:off x="1150356" y="1446594"/>
            <a:ext cx="1645800" cy="4926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92E8A"/>
                </a:solidFill>
                <a:latin typeface="Arial"/>
                <a:ea typeface="Arial"/>
                <a:cs typeface="Arial"/>
                <a:sym typeface="Arial"/>
              </a:rPr>
              <a:t>Use public</a:t>
            </a:r>
            <a:endParaRPr sz="1300"/>
          </a:p>
          <a:p>
            <a:pPr indent="0" lvl="0" marL="0" marR="0" rtl="0" algn="l">
              <a:spcBef>
                <a:spcPts val="0"/>
              </a:spcBef>
              <a:spcAft>
                <a:spcPts val="0"/>
              </a:spcAft>
              <a:buNone/>
            </a:pPr>
            <a:r>
              <a:rPr b="1" i="0" lang="en-US" sz="1300" u="none" cap="none" strike="noStrike">
                <a:solidFill>
                  <a:srgbClr val="192E8A"/>
                </a:solidFill>
                <a:latin typeface="Arial"/>
                <a:ea typeface="Arial"/>
                <a:cs typeface="Arial"/>
                <a:sym typeface="Arial"/>
              </a:rPr>
              <a:t>datasets</a:t>
            </a:r>
            <a:endParaRPr sz="1300"/>
          </a:p>
        </p:txBody>
      </p:sp>
      <p:sp>
        <p:nvSpPr>
          <p:cNvPr id="432" name="Google Shape;432;p34"/>
          <p:cNvSpPr/>
          <p:nvPr/>
        </p:nvSpPr>
        <p:spPr>
          <a:xfrm>
            <a:off x="3357942" y="1417320"/>
            <a:ext cx="2395800" cy="567000"/>
          </a:xfrm>
          <a:prstGeom prst="rect">
            <a:avLst/>
          </a:prstGeom>
          <a:solidFill>
            <a:srgbClr val="E8F1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34"/>
          <p:cNvSpPr/>
          <p:nvPr/>
        </p:nvSpPr>
        <p:spPr>
          <a:xfrm>
            <a:off x="3449382" y="1508760"/>
            <a:ext cx="420600" cy="4206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4" name="Google Shape;434;p34"/>
          <p:cNvSpPr txBox="1"/>
          <p:nvPr/>
        </p:nvSpPr>
        <p:spPr>
          <a:xfrm>
            <a:off x="3449382" y="1499616"/>
            <a:ext cx="420600" cy="354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2</a:t>
            </a:r>
            <a:endParaRPr/>
          </a:p>
        </p:txBody>
      </p:sp>
      <p:sp>
        <p:nvSpPr>
          <p:cNvPr id="435" name="Google Shape;435;p34"/>
          <p:cNvSpPr txBox="1"/>
          <p:nvPr/>
        </p:nvSpPr>
        <p:spPr>
          <a:xfrm>
            <a:off x="3727213" y="1500213"/>
            <a:ext cx="2010000" cy="4926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en-US" sz="1300">
                <a:solidFill>
                  <a:srgbClr val="192E8A"/>
                </a:solidFill>
              </a:rPr>
              <a:t>M</a:t>
            </a:r>
            <a:r>
              <a:rPr b="1" i="0" lang="en-US" sz="1300" u="none" cap="none" strike="noStrike">
                <a:solidFill>
                  <a:srgbClr val="192E8A"/>
                </a:solidFill>
                <a:latin typeface="Arial"/>
                <a:ea typeface="Arial"/>
                <a:cs typeface="Arial"/>
                <a:sym typeface="Arial"/>
              </a:rPr>
              <a:t>ixed spots with</a:t>
            </a:r>
            <a:endParaRPr b="1" sz="1300">
              <a:solidFill>
                <a:srgbClr val="192E8A"/>
              </a:solidFill>
            </a:endParaRPr>
          </a:p>
          <a:p>
            <a:pPr indent="0" lvl="0" marL="0" marR="0" rtl="0" algn="l">
              <a:spcBef>
                <a:spcPts val="0"/>
              </a:spcBef>
              <a:spcAft>
                <a:spcPts val="0"/>
              </a:spcAft>
              <a:buNone/>
            </a:pPr>
            <a:r>
              <a:rPr b="1" i="0" lang="en-US" sz="1300" u="none" cap="none" strike="noStrike">
                <a:solidFill>
                  <a:srgbClr val="192E8A"/>
                </a:solidFill>
                <a:latin typeface="Arial"/>
                <a:ea typeface="Arial"/>
                <a:cs typeface="Arial"/>
                <a:sym typeface="Arial"/>
              </a:rPr>
              <a:t>known cell</a:t>
            </a:r>
            <a:r>
              <a:rPr lang="en-US" sz="1300"/>
              <a:t> </a:t>
            </a:r>
            <a:r>
              <a:rPr b="1" i="0" lang="en-US" sz="1300" u="none" cap="none" strike="noStrike">
                <a:solidFill>
                  <a:srgbClr val="192E8A"/>
                </a:solidFill>
                <a:latin typeface="Arial"/>
                <a:ea typeface="Arial"/>
                <a:cs typeface="Arial"/>
                <a:sym typeface="Arial"/>
              </a:rPr>
              <a:t>proportions</a:t>
            </a:r>
            <a:endParaRPr sz="1300"/>
          </a:p>
        </p:txBody>
      </p:sp>
      <p:sp>
        <p:nvSpPr>
          <p:cNvPr id="436" name="Google Shape;436;p34"/>
          <p:cNvSpPr/>
          <p:nvPr/>
        </p:nvSpPr>
        <p:spPr>
          <a:xfrm>
            <a:off x="6205609" y="1417320"/>
            <a:ext cx="2395800" cy="567000"/>
          </a:xfrm>
          <a:prstGeom prst="rect">
            <a:avLst/>
          </a:prstGeom>
          <a:solidFill>
            <a:srgbClr val="E8F1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7" name="Google Shape;437;p34"/>
          <p:cNvSpPr/>
          <p:nvPr/>
        </p:nvSpPr>
        <p:spPr>
          <a:xfrm>
            <a:off x="6297049" y="1508760"/>
            <a:ext cx="420600" cy="4206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8" name="Google Shape;438;p34"/>
          <p:cNvSpPr txBox="1"/>
          <p:nvPr/>
        </p:nvSpPr>
        <p:spPr>
          <a:xfrm>
            <a:off x="6297049" y="1499616"/>
            <a:ext cx="420600" cy="354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3</a:t>
            </a:r>
            <a:endParaRPr/>
          </a:p>
        </p:txBody>
      </p:sp>
      <p:sp>
        <p:nvSpPr>
          <p:cNvPr id="439" name="Google Shape;439;p34"/>
          <p:cNvSpPr txBox="1"/>
          <p:nvPr/>
        </p:nvSpPr>
        <p:spPr>
          <a:xfrm>
            <a:off x="6845689" y="1430148"/>
            <a:ext cx="1645800" cy="4926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92E8A"/>
                </a:solidFill>
                <a:latin typeface="Arial"/>
                <a:ea typeface="Arial"/>
                <a:cs typeface="Arial"/>
                <a:sym typeface="Arial"/>
              </a:rPr>
              <a:t>Compare two</a:t>
            </a:r>
            <a:endParaRPr sz="1300"/>
          </a:p>
          <a:p>
            <a:pPr indent="0" lvl="0" marL="0" marR="0" rtl="0" algn="l">
              <a:spcBef>
                <a:spcPts val="0"/>
              </a:spcBef>
              <a:spcAft>
                <a:spcPts val="0"/>
              </a:spcAft>
              <a:buNone/>
            </a:pPr>
            <a:r>
              <a:rPr b="1" i="0" lang="en-US" sz="1300" u="none" cap="none" strike="noStrike">
                <a:solidFill>
                  <a:srgbClr val="192E8A"/>
                </a:solidFill>
                <a:latin typeface="Arial"/>
                <a:ea typeface="Arial"/>
                <a:cs typeface="Arial"/>
                <a:sym typeface="Arial"/>
              </a:rPr>
              <a:t>methods</a:t>
            </a:r>
            <a:endParaRPr sz="1300"/>
          </a:p>
        </p:txBody>
      </p:sp>
      <p:sp>
        <p:nvSpPr>
          <p:cNvPr id="440" name="Google Shape;440;p34"/>
          <p:cNvSpPr/>
          <p:nvPr/>
        </p:nvSpPr>
        <p:spPr>
          <a:xfrm>
            <a:off x="8995806" y="1417320"/>
            <a:ext cx="2395800" cy="567000"/>
          </a:xfrm>
          <a:prstGeom prst="rect">
            <a:avLst/>
          </a:prstGeom>
          <a:solidFill>
            <a:srgbClr val="E8F1F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34"/>
          <p:cNvSpPr/>
          <p:nvPr/>
        </p:nvSpPr>
        <p:spPr>
          <a:xfrm>
            <a:off x="9087246" y="1508760"/>
            <a:ext cx="420600" cy="4206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2" name="Google Shape;442;p34"/>
          <p:cNvSpPr txBox="1"/>
          <p:nvPr/>
        </p:nvSpPr>
        <p:spPr>
          <a:xfrm>
            <a:off x="9087246" y="1499616"/>
            <a:ext cx="420600" cy="3540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700" u="none" cap="none" strike="noStrike">
                <a:solidFill>
                  <a:srgbClr val="FFFFFF"/>
                </a:solidFill>
                <a:latin typeface="Arial"/>
                <a:ea typeface="Arial"/>
                <a:cs typeface="Arial"/>
                <a:sym typeface="Arial"/>
              </a:rPr>
              <a:t>4</a:t>
            </a:r>
            <a:endParaRPr/>
          </a:p>
        </p:txBody>
      </p:sp>
      <p:sp>
        <p:nvSpPr>
          <p:cNvPr id="443" name="Google Shape;443;p34"/>
          <p:cNvSpPr txBox="1"/>
          <p:nvPr/>
        </p:nvSpPr>
        <p:spPr>
          <a:xfrm>
            <a:off x="9635886" y="1430148"/>
            <a:ext cx="1645800" cy="4926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192E8A"/>
                </a:solidFill>
                <a:latin typeface="Arial"/>
                <a:ea typeface="Arial"/>
                <a:cs typeface="Arial"/>
                <a:sym typeface="Arial"/>
              </a:rPr>
              <a:t>Evaluate</a:t>
            </a:r>
            <a:endParaRPr sz="1300"/>
          </a:p>
          <a:p>
            <a:pPr indent="0" lvl="0" marL="0" marR="0" rtl="0" algn="l">
              <a:spcBef>
                <a:spcPts val="0"/>
              </a:spcBef>
              <a:spcAft>
                <a:spcPts val="0"/>
              </a:spcAft>
              <a:buNone/>
            </a:pPr>
            <a:r>
              <a:rPr b="1" i="0" lang="en-US" sz="1300" u="none" cap="none" strike="noStrike">
                <a:solidFill>
                  <a:srgbClr val="192E8A"/>
                </a:solidFill>
                <a:latin typeface="Arial"/>
                <a:ea typeface="Arial"/>
                <a:cs typeface="Arial"/>
                <a:sym typeface="Arial"/>
              </a:rPr>
              <a:t>accuracy</a:t>
            </a:r>
            <a:endParaRPr sz="1300"/>
          </a:p>
        </p:txBody>
      </p:sp>
      <p:sp>
        <p:nvSpPr>
          <p:cNvPr id="444" name="Google Shape;444;p34"/>
          <p:cNvSpPr/>
          <p:nvPr/>
        </p:nvSpPr>
        <p:spPr>
          <a:xfrm>
            <a:off x="638292" y="2276856"/>
            <a:ext cx="91500" cy="915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34"/>
          <p:cNvSpPr txBox="1"/>
          <p:nvPr/>
        </p:nvSpPr>
        <p:spPr>
          <a:xfrm>
            <a:off x="839460" y="2185416"/>
            <a:ext cx="1874400" cy="5541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1C2A78"/>
                </a:solidFill>
                <a:latin typeface="Arial"/>
                <a:ea typeface="Arial"/>
                <a:cs typeface="Arial"/>
                <a:sym typeface="Arial"/>
              </a:rPr>
              <a:t>PBMC (human</a:t>
            </a:r>
            <a:endParaRPr sz="1600"/>
          </a:p>
          <a:p>
            <a:pPr indent="0" lvl="0" marL="0" marR="0" rtl="0" algn="l">
              <a:spcBef>
                <a:spcPts val="0"/>
              </a:spcBef>
              <a:spcAft>
                <a:spcPts val="0"/>
              </a:spcAft>
              <a:buNone/>
            </a:pPr>
            <a:r>
              <a:rPr b="0" i="0" lang="en-US" sz="1500" u="none" cap="none" strike="noStrike">
                <a:solidFill>
                  <a:srgbClr val="1C2A78"/>
                </a:solidFill>
                <a:latin typeface="Arial"/>
                <a:ea typeface="Arial"/>
                <a:cs typeface="Arial"/>
                <a:sym typeface="Arial"/>
              </a:rPr>
              <a:t>immune cells)</a:t>
            </a:r>
            <a:endParaRPr sz="1600"/>
          </a:p>
        </p:txBody>
      </p:sp>
      <p:sp>
        <p:nvSpPr>
          <p:cNvPr id="446" name="Google Shape;446;p34"/>
          <p:cNvSpPr/>
          <p:nvPr/>
        </p:nvSpPr>
        <p:spPr>
          <a:xfrm>
            <a:off x="638292" y="3163824"/>
            <a:ext cx="91500" cy="915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34"/>
          <p:cNvSpPr txBox="1"/>
          <p:nvPr/>
        </p:nvSpPr>
        <p:spPr>
          <a:xfrm>
            <a:off x="839460" y="3072384"/>
            <a:ext cx="1874400" cy="7851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1C2A78"/>
                </a:solidFill>
                <a:latin typeface="Arial"/>
                <a:ea typeface="Arial"/>
                <a:cs typeface="Arial"/>
                <a:sym typeface="Arial"/>
              </a:rPr>
              <a:t>Human tumor /</a:t>
            </a:r>
            <a:endParaRPr sz="1600"/>
          </a:p>
          <a:p>
            <a:pPr indent="0" lvl="0" marL="0" marR="0" rtl="0" algn="l">
              <a:spcBef>
                <a:spcPts val="0"/>
              </a:spcBef>
              <a:spcAft>
                <a:spcPts val="0"/>
              </a:spcAft>
              <a:buNone/>
            </a:pPr>
            <a:r>
              <a:rPr b="0" i="0" lang="en-US" sz="1500" u="none" cap="none" strike="noStrike">
                <a:solidFill>
                  <a:srgbClr val="1C2A78"/>
                </a:solidFill>
                <a:latin typeface="Arial"/>
                <a:ea typeface="Arial"/>
                <a:cs typeface="Arial"/>
                <a:sym typeface="Arial"/>
              </a:rPr>
              <a:t>bone marrow /</a:t>
            </a:r>
            <a:endParaRPr sz="1600"/>
          </a:p>
          <a:p>
            <a:pPr indent="0" lvl="0" marL="0" marR="0" rtl="0" algn="l">
              <a:spcBef>
                <a:spcPts val="0"/>
              </a:spcBef>
              <a:spcAft>
                <a:spcPts val="0"/>
              </a:spcAft>
              <a:buNone/>
            </a:pPr>
            <a:r>
              <a:rPr b="0" i="0" lang="en-US" sz="1500" u="none" cap="none" strike="noStrike">
                <a:solidFill>
                  <a:srgbClr val="1C2A78"/>
                </a:solidFill>
                <a:latin typeface="Arial"/>
                <a:ea typeface="Arial"/>
                <a:cs typeface="Arial"/>
                <a:sym typeface="Arial"/>
              </a:rPr>
              <a:t>immune tissue</a:t>
            </a:r>
            <a:endParaRPr sz="1600"/>
          </a:p>
        </p:txBody>
      </p:sp>
      <p:sp>
        <p:nvSpPr>
          <p:cNvPr id="448" name="Google Shape;448;p34"/>
          <p:cNvSpPr/>
          <p:nvPr/>
        </p:nvSpPr>
        <p:spPr>
          <a:xfrm>
            <a:off x="638292" y="4279392"/>
            <a:ext cx="91500" cy="915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9" name="Google Shape;449;p34"/>
          <p:cNvSpPr txBox="1"/>
          <p:nvPr/>
        </p:nvSpPr>
        <p:spPr>
          <a:xfrm>
            <a:off x="839460" y="4187952"/>
            <a:ext cx="1874400" cy="3231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500" u="none" cap="none" strike="noStrike">
                <a:solidFill>
                  <a:srgbClr val="1C2A78"/>
                </a:solidFill>
                <a:latin typeface="Arial"/>
                <a:ea typeface="Arial"/>
                <a:cs typeface="Arial"/>
                <a:sym typeface="Arial"/>
              </a:rPr>
              <a:t>Mouse tissues</a:t>
            </a:r>
            <a:endParaRPr sz="1600"/>
          </a:p>
        </p:txBody>
      </p:sp>
      <p:sp>
        <p:nvSpPr>
          <p:cNvPr id="450" name="Google Shape;450;p34"/>
          <p:cNvSpPr/>
          <p:nvPr/>
        </p:nvSpPr>
        <p:spPr>
          <a:xfrm>
            <a:off x="4025454" y="3236976"/>
            <a:ext cx="329100" cy="329100"/>
          </a:xfrm>
          <a:prstGeom prst="ellipse">
            <a:avLst/>
          </a:prstGeom>
          <a:solidFill>
            <a:srgbClr val="81A6EF"/>
          </a:solidFill>
          <a:ln cap="flat" cmpd="sng" w="9525">
            <a:solidFill>
              <a:srgbClr val="81A6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34"/>
          <p:cNvSpPr/>
          <p:nvPr/>
        </p:nvSpPr>
        <p:spPr>
          <a:xfrm>
            <a:off x="4391214" y="2944368"/>
            <a:ext cx="329100" cy="329100"/>
          </a:xfrm>
          <a:prstGeom prst="ellipse">
            <a:avLst/>
          </a:prstGeom>
          <a:solidFill>
            <a:srgbClr val="7A5FDF"/>
          </a:solidFill>
          <a:ln cap="flat" cmpd="sng" w="9525">
            <a:solidFill>
              <a:srgbClr val="7A5FD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2" name="Google Shape;452;p34"/>
          <p:cNvSpPr/>
          <p:nvPr/>
        </p:nvSpPr>
        <p:spPr>
          <a:xfrm>
            <a:off x="4756974" y="3236976"/>
            <a:ext cx="329100" cy="329100"/>
          </a:xfrm>
          <a:prstGeom prst="ellipse">
            <a:avLst/>
          </a:prstGeom>
          <a:solidFill>
            <a:srgbClr val="81A6EF"/>
          </a:solidFill>
          <a:ln cap="flat" cmpd="sng" w="9525">
            <a:solidFill>
              <a:srgbClr val="81A6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3" name="Google Shape;453;p34"/>
          <p:cNvSpPr/>
          <p:nvPr/>
        </p:nvSpPr>
        <p:spPr>
          <a:xfrm>
            <a:off x="4226622" y="3584448"/>
            <a:ext cx="329100" cy="329100"/>
          </a:xfrm>
          <a:prstGeom prst="ellipse">
            <a:avLst/>
          </a:prstGeom>
          <a:solidFill>
            <a:srgbClr val="81A6EF"/>
          </a:solidFill>
          <a:ln cap="flat" cmpd="sng" w="9525">
            <a:solidFill>
              <a:srgbClr val="81A6E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4" name="Google Shape;454;p34"/>
          <p:cNvSpPr/>
          <p:nvPr/>
        </p:nvSpPr>
        <p:spPr>
          <a:xfrm>
            <a:off x="4555806" y="3584448"/>
            <a:ext cx="329100" cy="329100"/>
          </a:xfrm>
          <a:prstGeom prst="ellipse">
            <a:avLst/>
          </a:prstGeom>
          <a:solidFill>
            <a:srgbClr val="AEA6EE"/>
          </a:solidFill>
          <a:ln cap="flat" cmpd="sng" w="9525">
            <a:solidFill>
              <a:srgbClr val="AEA6E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34"/>
          <p:cNvSpPr txBox="1"/>
          <p:nvPr/>
        </p:nvSpPr>
        <p:spPr>
          <a:xfrm>
            <a:off x="3586542" y="4233738"/>
            <a:ext cx="1920300" cy="7851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500">
                <a:solidFill>
                  <a:srgbClr val="1C2A78"/>
                </a:solidFill>
              </a:rPr>
              <a:t>S</a:t>
            </a:r>
            <a:r>
              <a:rPr b="0" i="0" lang="en-US" sz="1500" u="none" cap="none" strike="noStrike">
                <a:solidFill>
                  <a:srgbClr val="1C2A78"/>
                </a:solidFill>
                <a:latin typeface="Arial"/>
                <a:ea typeface="Arial"/>
                <a:cs typeface="Arial"/>
                <a:sym typeface="Arial"/>
              </a:rPr>
              <a:t>patial spots</a:t>
            </a:r>
            <a:endParaRPr sz="1600"/>
          </a:p>
          <a:p>
            <a:pPr indent="0" lvl="0" marL="0" marR="0" rtl="0" algn="ctr">
              <a:spcBef>
                <a:spcPts val="0"/>
              </a:spcBef>
              <a:spcAft>
                <a:spcPts val="0"/>
              </a:spcAft>
              <a:buNone/>
            </a:pPr>
            <a:r>
              <a:rPr b="0" i="0" lang="en-US" sz="1500" u="none" cap="none" strike="noStrike">
                <a:solidFill>
                  <a:srgbClr val="1C2A78"/>
                </a:solidFill>
                <a:latin typeface="Arial"/>
                <a:ea typeface="Arial"/>
                <a:cs typeface="Arial"/>
                <a:sym typeface="Arial"/>
              </a:rPr>
              <a:t>with known</a:t>
            </a:r>
            <a:endParaRPr sz="1600"/>
          </a:p>
          <a:p>
            <a:pPr indent="0" lvl="0" marL="0" marR="0" rtl="0" algn="ctr">
              <a:spcBef>
                <a:spcPts val="0"/>
              </a:spcBef>
              <a:spcAft>
                <a:spcPts val="0"/>
              </a:spcAft>
              <a:buNone/>
            </a:pPr>
            <a:r>
              <a:rPr b="0" i="0" lang="en-US" sz="1500" u="none" cap="none" strike="noStrike">
                <a:solidFill>
                  <a:srgbClr val="1C2A78"/>
                </a:solidFill>
                <a:latin typeface="Arial"/>
                <a:ea typeface="Arial"/>
                <a:cs typeface="Arial"/>
                <a:sym typeface="Arial"/>
              </a:rPr>
              <a:t>composition</a:t>
            </a:r>
            <a:endParaRPr sz="1600"/>
          </a:p>
        </p:txBody>
      </p:sp>
      <p:sp>
        <p:nvSpPr>
          <p:cNvPr id="456" name="Google Shape;456;p34"/>
          <p:cNvSpPr/>
          <p:nvPr/>
        </p:nvSpPr>
        <p:spPr>
          <a:xfrm>
            <a:off x="6397690" y="2916925"/>
            <a:ext cx="2057400" cy="1051500"/>
          </a:xfrm>
          <a:prstGeom prst="roundRect">
            <a:avLst>
              <a:gd fmla="val 16667" name="adj"/>
            </a:avLst>
          </a:prstGeom>
          <a:solidFill>
            <a:srgbClr val="F1F0FB"/>
          </a:solidFill>
          <a:ln cap="flat" cmpd="sng" w="15225">
            <a:solidFill>
              <a:srgbClr val="71B0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7" name="Google Shape;457;p34"/>
          <p:cNvSpPr/>
          <p:nvPr/>
        </p:nvSpPr>
        <p:spPr>
          <a:xfrm>
            <a:off x="7440049" y="2916936"/>
            <a:ext cx="9000" cy="1051500"/>
          </a:xfrm>
          <a:prstGeom prst="rect">
            <a:avLst/>
          </a:prstGeom>
          <a:solidFill>
            <a:srgbClr val="71B0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8" name="Google Shape;458;p34"/>
          <p:cNvSpPr txBox="1"/>
          <p:nvPr/>
        </p:nvSpPr>
        <p:spPr>
          <a:xfrm>
            <a:off x="6553081" y="2990088"/>
            <a:ext cx="786300" cy="7389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400" u="none" cap="none" strike="noStrike">
                <a:solidFill>
                  <a:srgbClr val="1C2A78"/>
                </a:solidFill>
                <a:latin typeface="Arial"/>
                <a:ea typeface="Arial"/>
                <a:cs typeface="Arial"/>
                <a:sym typeface="Arial"/>
              </a:rPr>
              <a:t>Cut counts</a:t>
            </a:r>
            <a:endParaRPr/>
          </a:p>
          <a:p>
            <a:pPr indent="0" lvl="0" marL="0" marR="0" rtl="0" algn="ctr">
              <a:spcBef>
                <a:spcPts val="0"/>
              </a:spcBef>
              <a:spcAft>
                <a:spcPts val="0"/>
              </a:spcAft>
              <a:buNone/>
            </a:pPr>
            <a:r>
              <a:rPr b="1" i="0" lang="en-US" sz="1400" u="none" cap="none" strike="noStrike">
                <a:solidFill>
                  <a:srgbClr val="1C2A78"/>
                </a:solidFill>
                <a:latin typeface="Arial"/>
                <a:ea typeface="Arial"/>
                <a:cs typeface="Arial"/>
                <a:sym typeface="Arial"/>
              </a:rPr>
              <a:t>only</a:t>
            </a:r>
            <a:endParaRPr/>
          </a:p>
        </p:txBody>
      </p:sp>
      <p:sp>
        <p:nvSpPr>
          <p:cNvPr id="459" name="Google Shape;459;p34"/>
          <p:cNvSpPr txBox="1"/>
          <p:nvPr/>
        </p:nvSpPr>
        <p:spPr>
          <a:xfrm>
            <a:off x="7430696" y="2990100"/>
            <a:ext cx="951300" cy="8928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0" lang="en-US" sz="1300" u="none" cap="none" strike="noStrike">
                <a:solidFill>
                  <a:srgbClr val="1C2A78"/>
                </a:solidFill>
                <a:latin typeface="Arial"/>
                <a:ea typeface="Arial"/>
                <a:cs typeface="Arial"/>
                <a:sym typeface="Arial"/>
              </a:rPr>
              <a:t>Cut counts +</a:t>
            </a:r>
            <a:endParaRPr/>
          </a:p>
          <a:p>
            <a:pPr indent="0" lvl="0" marL="0" marR="0" rtl="0" algn="ctr">
              <a:spcBef>
                <a:spcPts val="0"/>
              </a:spcBef>
              <a:spcAft>
                <a:spcPts val="0"/>
              </a:spcAft>
              <a:buNone/>
            </a:pPr>
            <a:r>
              <a:rPr b="1" i="0" lang="en-US" sz="1300" u="none" cap="none" strike="noStrike">
                <a:solidFill>
                  <a:srgbClr val="1C2A78"/>
                </a:solidFill>
                <a:latin typeface="Arial"/>
                <a:ea typeface="Arial"/>
                <a:cs typeface="Arial"/>
                <a:sym typeface="Arial"/>
              </a:rPr>
              <a:t>cut length</a:t>
            </a:r>
            <a:endParaRPr/>
          </a:p>
        </p:txBody>
      </p:sp>
      <p:sp>
        <p:nvSpPr>
          <p:cNvPr id="460" name="Google Shape;460;p34"/>
          <p:cNvSpPr/>
          <p:nvPr/>
        </p:nvSpPr>
        <p:spPr>
          <a:xfrm>
            <a:off x="9750186" y="2967228"/>
            <a:ext cx="868800" cy="868800"/>
          </a:xfrm>
          <a:prstGeom prst="ellipse">
            <a:avLst/>
          </a:prstGeom>
          <a:noFill/>
          <a:ln cap="flat" cmpd="sng" w="35550">
            <a:solidFill>
              <a:srgbClr val="3466E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34"/>
          <p:cNvSpPr/>
          <p:nvPr/>
        </p:nvSpPr>
        <p:spPr>
          <a:xfrm>
            <a:off x="9882774" y="3099816"/>
            <a:ext cx="603600" cy="603600"/>
          </a:xfrm>
          <a:prstGeom prst="ellipse">
            <a:avLst/>
          </a:prstGeom>
          <a:noFill/>
          <a:ln cap="flat" cmpd="sng" w="33000">
            <a:solidFill>
              <a:srgbClr val="3466E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34"/>
          <p:cNvSpPr/>
          <p:nvPr/>
        </p:nvSpPr>
        <p:spPr>
          <a:xfrm>
            <a:off x="10029078" y="3246120"/>
            <a:ext cx="310800" cy="310800"/>
          </a:xfrm>
          <a:prstGeom prst="ellipse">
            <a:avLst/>
          </a:prstGeom>
          <a:noFill/>
          <a:ln cap="flat" cmpd="sng" w="30475">
            <a:solidFill>
              <a:srgbClr val="3466E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34"/>
          <p:cNvSpPr/>
          <p:nvPr/>
        </p:nvSpPr>
        <p:spPr>
          <a:xfrm>
            <a:off x="10115946" y="3332988"/>
            <a:ext cx="137100" cy="137100"/>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34"/>
          <p:cNvSpPr/>
          <p:nvPr/>
        </p:nvSpPr>
        <p:spPr>
          <a:xfrm rot="-2700000">
            <a:off x="10257705" y="3063238"/>
            <a:ext cx="530330" cy="146371"/>
          </a:xfrm>
          <a:prstGeom prst="rightArrow">
            <a:avLst>
              <a:gd fmla="val 50000" name="adj1"/>
              <a:gd fmla="val 50000" name="adj2"/>
            </a:avLst>
          </a:prstGeom>
          <a:solidFill>
            <a:srgbClr val="7980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34"/>
          <p:cNvSpPr txBox="1"/>
          <p:nvPr/>
        </p:nvSpPr>
        <p:spPr>
          <a:xfrm>
            <a:off x="9160398" y="4133088"/>
            <a:ext cx="2057400" cy="7851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0" i="0" lang="en-US" sz="1500" u="none" cap="none" strike="noStrike">
                <a:solidFill>
                  <a:srgbClr val="1C2A78"/>
                </a:solidFill>
                <a:latin typeface="Arial"/>
                <a:ea typeface="Arial"/>
                <a:cs typeface="Arial"/>
                <a:sym typeface="Arial"/>
              </a:rPr>
              <a:t>Compare estimates</a:t>
            </a:r>
            <a:endParaRPr/>
          </a:p>
          <a:p>
            <a:pPr indent="0" lvl="0" marL="0" marR="0" rtl="0" algn="ctr">
              <a:spcBef>
                <a:spcPts val="0"/>
              </a:spcBef>
              <a:spcAft>
                <a:spcPts val="0"/>
              </a:spcAft>
              <a:buNone/>
            </a:pPr>
            <a:r>
              <a:rPr b="0" i="0" lang="en-US" sz="1500" u="none" cap="none" strike="noStrike">
                <a:solidFill>
                  <a:srgbClr val="1C2A78"/>
                </a:solidFill>
                <a:latin typeface="Arial"/>
                <a:ea typeface="Arial"/>
                <a:cs typeface="Arial"/>
                <a:sym typeface="Arial"/>
              </a:rPr>
              <a:t>with the known</a:t>
            </a:r>
            <a:endParaRPr/>
          </a:p>
          <a:p>
            <a:pPr indent="0" lvl="0" marL="0" marR="0" rtl="0" algn="ctr">
              <a:spcBef>
                <a:spcPts val="0"/>
              </a:spcBef>
              <a:spcAft>
                <a:spcPts val="0"/>
              </a:spcAft>
              <a:buNone/>
            </a:pPr>
            <a:r>
              <a:rPr b="0" i="0" lang="en-US" sz="1500" u="none" cap="none" strike="noStrike">
                <a:solidFill>
                  <a:srgbClr val="1C2A78"/>
                </a:solidFill>
                <a:latin typeface="Arial"/>
                <a:ea typeface="Arial"/>
                <a:cs typeface="Arial"/>
                <a:sym typeface="Arial"/>
              </a:rPr>
              <a:t>true composition</a:t>
            </a:r>
            <a:endParaRPr/>
          </a:p>
        </p:txBody>
      </p:sp>
      <p:sp>
        <p:nvSpPr>
          <p:cNvPr id="466" name="Google Shape;466;p34"/>
          <p:cNvSpPr/>
          <p:nvPr/>
        </p:nvSpPr>
        <p:spPr>
          <a:xfrm>
            <a:off x="2919730" y="3063260"/>
            <a:ext cx="420600" cy="365700"/>
          </a:xfrm>
          <a:prstGeom prst="rightArrow">
            <a:avLst>
              <a:gd fmla="val 50000" name="adj1"/>
              <a:gd fmla="val 50000" name="adj2"/>
            </a:avLst>
          </a:prstGeom>
          <a:solidFill>
            <a:srgbClr val="79809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34"/>
          <p:cNvSpPr/>
          <p:nvPr/>
        </p:nvSpPr>
        <p:spPr>
          <a:xfrm>
            <a:off x="164592" y="5532120"/>
            <a:ext cx="11841480" cy="987552"/>
          </a:xfrm>
          <a:prstGeom prst="roundRect">
            <a:avLst>
              <a:gd fmla="val 16667" name="adj"/>
            </a:avLst>
          </a:prstGeom>
          <a:solidFill>
            <a:srgbClr val="F1F0FB"/>
          </a:solidFill>
          <a:ln cap="flat" cmpd="sng" w="15225">
            <a:solidFill>
              <a:srgbClr val="71B0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8" name="Google Shape;468;p34"/>
          <p:cNvSpPr txBox="1"/>
          <p:nvPr/>
        </p:nvSpPr>
        <p:spPr>
          <a:xfrm>
            <a:off x="347472" y="5641848"/>
            <a:ext cx="1828800" cy="41148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rgbClr val="192E8A"/>
                </a:solidFill>
                <a:latin typeface="Arial"/>
                <a:ea typeface="Arial"/>
                <a:cs typeface="Arial"/>
                <a:sym typeface="Arial"/>
              </a:rPr>
              <a:t>Current status:</a:t>
            </a:r>
            <a:endParaRPr/>
          </a:p>
        </p:txBody>
      </p:sp>
      <p:sp>
        <p:nvSpPr>
          <p:cNvPr id="469" name="Google Shape;469;p34"/>
          <p:cNvSpPr/>
          <p:nvPr/>
        </p:nvSpPr>
        <p:spPr>
          <a:xfrm>
            <a:off x="2331720" y="5678424"/>
            <a:ext cx="9144" cy="658368"/>
          </a:xfrm>
          <a:prstGeom prst="rect">
            <a:avLst/>
          </a:prstGeom>
          <a:solidFill>
            <a:srgbClr val="71B0F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0" name="Google Shape;470;p34"/>
          <p:cNvSpPr/>
          <p:nvPr/>
        </p:nvSpPr>
        <p:spPr>
          <a:xfrm>
            <a:off x="2633472" y="5733288"/>
            <a:ext cx="82296" cy="82296"/>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34"/>
          <p:cNvSpPr txBox="1"/>
          <p:nvPr/>
        </p:nvSpPr>
        <p:spPr>
          <a:xfrm>
            <a:off x="2834640" y="5623560"/>
            <a:ext cx="8595300" cy="3540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1C2A78"/>
                </a:solidFill>
                <a:latin typeface="Arial"/>
                <a:ea typeface="Arial"/>
                <a:cs typeface="Arial"/>
                <a:sym typeface="Arial"/>
              </a:rPr>
              <a:t>Implemented the Bayesian model with cut-length information</a:t>
            </a:r>
            <a:endParaRPr sz="1800"/>
          </a:p>
        </p:txBody>
      </p:sp>
      <p:sp>
        <p:nvSpPr>
          <p:cNvPr id="472" name="Google Shape;472;p34"/>
          <p:cNvSpPr/>
          <p:nvPr/>
        </p:nvSpPr>
        <p:spPr>
          <a:xfrm>
            <a:off x="2633472" y="6053328"/>
            <a:ext cx="82296" cy="82296"/>
          </a:xfrm>
          <a:prstGeom prst="ellipse">
            <a:avLst/>
          </a:prstGeom>
          <a:solidFill>
            <a:srgbClr val="3466E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34"/>
          <p:cNvSpPr txBox="1"/>
          <p:nvPr/>
        </p:nvSpPr>
        <p:spPr>
          <a:xfrm>
            <a:off x="2834640" y="5943600"/>
            <a:ext cx="8595300" cy="3540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1C2A78"/>
                </a:solidFill>
                <a:latin typeface="Arial"/>
                <a:ea typeface="Arial"/>
                <a:cs typeface="Arial"/>
                <a:sym typeface="Arial"/>
              </a:rPr>
              <a:t>Tested on PBMC datasets; results look promising</a:t>
            </a:r>
            <a:endParaRPr sz="1800"/>
          </a:p>
        </p:txBody>
      </p:sp>
      <p:sp>
        <p:nvSpPr>
          <p:cNvPr id="474" name="Google Shape;474;p34"/>
          <p:cNvSpPr/>
          <p:nvPr/>
        </p:nvSpPr>
        <p:spPr>
          <a:xfrm>
            <a:off x="8995806" y="1417320"/>
            <a:ext cx="2395800" cy="3794700"/>
          </a:xfrm>
          <a:prstGeom prst="roundRect">
            <a:avLst>
              <a:gd fmla="val 16667" name="adj"/>
            </a:avLst>
          </a:prstGeom>
          <a:noFill/>
          <a:ln cap="flat" cmpd="sng" w="17775">
            <a:solidFill>
              <a:srgbClr val="71B0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5" name="Google Shape;475;p34"/>
          <p:cNvSpPr/>
          <p:nvPr/>
        </p:nvSpPr>
        <p:spPr>
          <a:xfrm>
            <a:off x="6205609" y="1417320"/>
            <a:ext cx="2395800" cy="3794700"/>
          </a:xfrm>
          <a:prstGeom prst="roundRect">
            <a:avLst>
              <a:gd fmla="val 16667" name="adj"/>
            </a:avLst>
          </a:prstGeom>
          <a:noFill/>
          <a:ln cap="flat" cmpd="sng" w="17775">
            <a:solidFill>
              <a:srgbClr val="71B0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6" name="Google Shape;476;p34"/>
          <p:cNvSpPr/>
          <p:nvPr/>
        </p:nvSpPr>
        <p:spPr>
          <a:xfrm>
            <a:off x="3357950" y="1417300"/>
            <a:ext cx="2395800" cy="3794700"/>
          </a:xfrm>
          <a:prstGeom prst="roundRect">
            <a:avLst>
              <a:gd fmla="val 16667" name="adj"/>
            </a:avLst>
          </a:prstGeom>
          <a:noFill/>
          <a:ln cap="flat" cmpd="sng" w="17775">
            <a:solidFill>
              <a:srgbClr val="71B0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7" name="Google Shape;477;p34"/>
          <p:cNvSpPr/>
          <p:nvPr/>
        </p:nvSpPr>
        <p:spPr>
          <a:xfrm>
            <a:off x="491120" y="1417320"/>
            <a:ext cx="2395800" cy="3794700"/>
          </a:xfrm>
          <a:prstGeom prst="roundRect">
            <a:avLst>
              <a:gd fmla="val 16667" name="adj"/>
            </a:avLst>
          </a:prstGeom>
          <a:noFill/>
          <a:ln cap="flat" cmpd="sng" w="17775">
            <a:solidFill>
              <a:srgbClr val="71B0F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8" name="Google Shape;478;p34"/>
          <p:cNvSpPr/>
          <p:nvPr/>
        </p:nvSpPr>
        <p:spPr>
          <a:xfrm>
            <a:off x="5811499" y="3043252"/>
            <a:ext cx="420600" cy="365700"/>
          </a:xfrm>
          <a:prstGeom prst="rightArrow">
            <a:avLst>
              <a:gd fmla="val 50000" name="adj1"/>
              <a:gd fmla="val 50000" name="adj2"/>
            </a:avLst>
          </a:prstGeom>
          <a:solidFill>
            <a:srgbClr val="79809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34"/>
          <p:cNvSpPr/>
          <p:nvPr/>
        </p:nvSpPr>
        <p:spPr>
          <a:xfrm>
            <a:off x="8607485" y="3023244"/>
            <a:ext cx="420600" cy="365700"/>
          </a:xfrm>
          <a:prstGeom prst="rightArrow">
            <a:avLst>
              <a:gd fmla="val 50000" name="adj1"/>
              <a:gd fmla="val 50000" name="adj2"/>
            </a:avLst>
          </a:prstGeom>
          <a:solidFill>
            <a:srgbClr val="79809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3" name="Shape 483"/>
        <p:cNvGrpSpPr/>
        <p:nvPr/>
      </p:nvGrpSpPr>
      <p:grpSpPr>
        <a:xfrm>
          <a:off x="0" y="0"/>
          <a:ext cx="0" cy="0"/>
          <a:chOff x="0" y="0"/>
          <a:chExt cx="0" cy="0"/>
        </a:xfrm>
      </p:grpSpPr>
      <p:pic>
        <p:nvPicPr>
          <p:cNvPr descr="shapemix_atac_cut_length_hypothesis.png" id="484" name="Google Shape;484;p35"/>
          <p:cNvPicPr preferRelativeResize="0"/>
          <p:nvPr/>
        </p:nvPicPr>
        <p:blipFill rotWithShape="1">
          <a:blip r:embed="rId3">
            <a:alphaModFix/>
          </a:blip>
          <a:srcRect b="0" l="0" r="0" t="0"/>
          <a:stretch/>
        </p:blipFill>
        <p:spPr>
          <a:xfrm>
            <a:off x="3087" y="0"/>
            <a:ext cx="12185521"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